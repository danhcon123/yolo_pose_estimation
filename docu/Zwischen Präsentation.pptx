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1" r:id="rId2"/>
    <p:sldMasterId id="2147483711" r:id="rId3"/>
  </p:sldMasterIdLst>
  <p:notesMasterIdLst>
    <p:notesMasterId r:id="rId16"/>
  </p:notesMasterIdLst>
  <p:handoutMasterIdLst>
    <p:handoutMasterId r:id="rId17"/>
  </p:handoutMasterIdLst>
  <p:sldIdLst>
    <p:sldId id="287" r:id="rId4"/>
    <p:sldId id="256" r:id="rId5"/>
    <p:sldId id="296" r:id="rId6"/>
    <p:sldId id="300" r:id="rId7"/>
    <p:sldId id="302" r:id="rId8"/>
    <p:sldId id="288" r:id="rId9"/>
    <p:sldId id="298" r:id="rId10"/>
    <p:sldId id="297" r:id="rId11"/>
    <p:sldId id="291" r:id="rId12"/>
    <p:sldId id="290" r:id="rId13"/>
    <p:sldId id="301" r:id="rId14"/>
    <p:sldId id="292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C"/>
    <a:srgbClr val="323F4B"/>
    <a:srgbClr val="FFFFFF"/>
    <a:srgbClr val="000000"/>
    <a:srgbClr val="00005A"/>
    <a:srgbClr val="97C6FF"/>
    <a:srgbClr val="C8C8FF"/>
    <a:srgbClr val="FFB9FF"/>
    <a:srgbClr val="FFAAA5"/>
    <a:srgbClr val="FFB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5137" autoAdjust="0"/>
  </p:normalViewPr>
  <p:slideViewPr>
    <p:cSldViewPr snapToGrid="0" showGuides="1">
      <p:cViewPr varScale="1">
        <p:scale>
          <a:sx n="68" d="100"/>
          <a:sy n="68" d="100"/>
        </p:scale>
        <p:origin x="90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403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84260DF-C685-4FF6-A43E-7F93FB3E64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901AA-A65C-4D7D-B03E-B88B42C81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7984-F0B9-4D31-A8F6-8AF021B9C2E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3CA3E7-8995-4D33-854F-35DAE52EA9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351F65-D033-4BD6-A4AB-E115D806FB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D436-8D5A-47CC-AED7-9827D8D39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2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960CC-0992-4111-87D3-C02B03B2EA6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EEB764-55E2-4077-8C7A-EB9EFE71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336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7645A5-8081-48C3-B5F8-643B270F4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E3C1A-CB2F-4CD1-90ED-300793FB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900D5406-B789-4FDC-AF8E-BA50BEF4269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Dresden, // ??.??.2026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5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3AC041-1A6E-42F5-81A2-02C98A0F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DA15133A-699F-4D35-8F40-4E67A2D2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67F0855C-B0D9-41CD-97A7-F4E38BC217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solidFill>
                  <a:srgbClr val="00008C"/>
                </a:solidFill>
              </a:rPr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1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Blau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9BDB7B-ED04-48F9-A597-5D65D94A3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-5154294" y="-4145914"/>
            <a:ext cx="17099914" cy="17099914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7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6E57C58-43E6-4DA0-BC7D-0DB0606AB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E516721-5786-4D57-87BF-FB724C98C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7F963C2-5833-44AC-B450-8D1C60C7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5C0215D-C2A9-4288-A167-D96DA6BA38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10984857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9" name="Grafik 8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CB286486-4081-46A3-8FB1-838C770D44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729833"/>
            <a:ext cx="8487697" cy="8933116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660C67F-FED1-4A52-8BB6-68160285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3733800" cy="2196296"/>
          </a:xfrm>
          <a:prstGeom prst="rect">
            <a:avLst/>
          </a:prstGeom>
        </p:spPr>
        <p:txBody>
          <a:bodyPr anchor="t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479E72A-70A9-4EE1-A77B-8E907C4A2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3733800" cy="1404937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C549F246-3DE0-4A33-89D1-F3F79D06D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 userDrawn="1"/>
        </p:nvSpPr>
        <p:spPr>
          <a:xfrm>
            <a:off x="597543" y="6057900"/>
            <a:ext cx="3737903" cy="395287"/>
          </a:xfrm>
          <a:prstGeom prst="rect">
            <a:avLst/>
          </a:prstGeom>
        </p:spPr>
        <p:txBody>
          <a:bodyPr vert="horz" wrap="none" lIns="0" tIns="25200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Master-Untertitelformat bearbeiten</a:t>
            </a:r>
          </a:p>
        </p:txBody>
      </p:sp>
      <p:pic>
        <p:nvPicPr>
          <p:cNvPr id="14" name="Grafik 1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2ABD550D-91E8-47A8-B795-738A4BCA9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404813"/>
            <a:ext cx="1980000" cy="660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BBB40F93-65D6-4149-B050-3391578239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62475" y="-1"/>
            <a:ext cx="11220449" cy="6867666"/>
          </a:xfrm>
          <a:custGeom>
            <a:avLst/>
            <a:gdLst>
              <a:gd name="connsiteX0" fmla="*/ 0 w 11204656"/>
              <a:gd name="connsiteY0" fmla="*/ 0 h 6858000"/>
              <a:gd name="connsiteX1" fmla="*/ 11204656 w 11204656"/>
              <a:gd name="connsiteY1" fmla="*/ 0 h 6858000"/>
              <a:gd name="connsiteX2" fmla="*/ 11204656 w 11204656"/>
              <a:gd name="connsiteY2" fmla="*/ 6858000 h 6858000"/>
              <a:gd name="connsiteX3" fmla="*/ 1215824 w 1120465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04656" h="6858000">
                <a:moveTo>
                  <a:pt x="0" y="0"/>
                </a:moveTo>
                <a:lnTo>
                  <a:pt x="11204656" y="0"/>
                </a:lnTo>
                <a:lnTo>
                  <a:pt x="11204656" y="6858000"/>
                </a:lnTo>
                <a:lnTo>
                  <a:pt x="1215824" y="685800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7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vorga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Schriftgröße 32pt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" y="1736725"/>
            <a:ext cx="10972801" cy="410527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/>
              <a:t>Mastertextformat Schriftgröße 20pt</a:t>
            </a:r>
            <a:br>
              <a:rPr lang="de-DE" dirty="0"/>
            </a:br>
            <a:r>
              <a:rPr lang="de-DE" dirty="0"/>
              <a:t>(Kann vergrößert werden auf 24pt, Minimum Schriftgröße 16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Die Schriftgrößen wurde in folgenden Räumen getestet</a:t>
            </a:r>
          </a:p>
          <a:p>
            <a:pPr lvl="2"/>
            <a:r>
              <a:rPr lang="de-DE" dirty="0"/>
              <a:t>HSZ Audimax</a:t>
            </a:r>
          </a:p>
          <a:p>
            <a:pPr lvl="2"/>
            <a:r>
              <a:rPr lang="de-DE" dirty="0"/>
              <a:t>HSZ Hörsaal 3</a:t>
            </a:r>
          </a:p>
          <a:p>
            <a:pPr lvl="2"/>
            <a:r>
              <a:rPr lang="de-DE" dirty="0"/>
              <a:t>HSZ Seminarraum klein</a:t>
            </a:r>
          </a:p>
          <a:p>
            <a:pPr lvl="1"/>
            <a:r>
              <a:rPr lang="de-DE" dirty="0"/>
              <a:t>In allen drei Räumen ist 20 und 24 </a:t>
            </a:r>
            <a:r>
              <a:rPr lang="de-DE" dirty="0" err="1"/>
              <a:t>pt</a:t>
            </a:r>
            <a:r>
              <a:rPr lang="de-DE" dirty="0"/>
              <a:t> gut lesbar. Im </a:t>
            </a:r>
            <a:r>
              <a:rPr lang="de-DE" dirty="0" err="1"/>
              <a:t>Seminaraum</a:t>
            </a:r>
            <a:r>
              <a:rPr lang="de-DE" dirty="0"/>
              <a:t> ist 16 </a:t>
            </a:r>
            <a:r>
              <a:rPr lang="de-DE" dirty="0" err="1"/>
              <a:t>pt</a:t>
            </a:r>
            <a:r>
              <a:rPr lang="de-DE" dirty="0"/>
              <a:t> grenzwertig klein.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6E97365-2970-48C5-8643-B05B104BD1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8075614" y="6057900"/>
            <a:ext cx="3506786" cy="3952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Platz für Zweitlogos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471FF40-B767-4E15-B8F5-6DAC252E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052513"/>
            <a:ext cx="12192000" cy="684212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07D106F-3835-4287-88EB-AAAD315A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42000"/>
            <a:ext cx="12192000" cy="215900"/>
          </a:xfrm>
          <a:prstGeom prst="rect">
            <a:avLst/>
          </a:prstGeom>
          <a:solidFill>
            <a:srgbClr val="FFB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BC1589"/>
                </a:solidFill>
              </a:rPr>
              <a:t>Schutzraum</a:t>
            </a:r>
            <a:endParaRPr lang="en-US" dirty="0">
              <a:solidFill>
                <a:srgbClr val="BC1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2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E24BA-B819-4480-B7C5-BEEF871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AB754-52DE-483E-9141-006ADE49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6725"/>
            <a:ext cx="10972801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563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6"/>
            <a:ext cx="5378450" cy="38877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2538BF5-19DF-4B5C-80A3-4548339C13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951" y="404813"/>
            <a:ext cx="5378450" cy="52197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BE6F2D-5EC5-4864-A9A0-FC3ECA391A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5624513"/>
            <a:ext cx="5378449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238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5E3CC9-E682-422B-B7B9-2A2A3E0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8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5378450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5378450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5378450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404814"/>
            <a:ext cx="5378449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0" y="3429000"/>
            <a:ext cx="5378449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8520" y="5624513"/>
            <a:ext cx="5363880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82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1736725"/>
            <a:ext cx="3516313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1736724"/>
            <a:ext cx="3506787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23506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404814"/>
            <a:ext cx="3506788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429000"/>
            <a:ext cx="3506788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80716C9-98F3-44C3-A27D-E96BE6D11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3399" y="404814"/>
            <a:ext cx="3516313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FEFC7CA1-8B2C-4227-AB03-708CA25B752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399" y="3429000"/>
            <a:ext cx="3516313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CF89BD5-C523-4AD3-9AF6-B6AABF612D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925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75613" y="404813"/>
            <a:ext cx="3506787" cy="2755076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6FE31676-EF83-4ECE-8009-0FC4D5A718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75613" y="3429000"/>
            <a:ext cx="3506787" cy="219551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A4BDBAA4-F784-4AF6-8050-D275CB31D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5612" y="5624513"/>
            <a:ext cx="35067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32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2606675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1736725"/>
            <a:ext cx="2592387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1736724"/>
            <a:ext cx="25923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1736724"/>
            <a:ext cx="2606675" cy="41052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718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 -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404813"/>
            <a:ext cx="2606675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6F1AB9C3-872C-41DD-AAFB-12824DBEE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E9E05B2F-0577-47C9-8146-C4868416C5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5624513"/>
            <a:ext cx="2606674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71CA00-13E3-4CD8-95FE-107C69DD6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5663" y="404813"/>
            <a:ext cx="2592387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9EF6DC9D-F43A-4B05-BC55-F3417C310F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5663" y="3429000"/>
            <a:ext cx="2592387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9C69ADDD-319E-4394-8BC9-FC045CE072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95663" y="5624513"/>
            <a:ext cx="2592387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2870569-2112-4A6F-963E-3D12B28F16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404812"/>
            <a:ext cx="2592388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D28AB6FB-FFC3-4AE6-90AB-D58E7C728B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49" y="3429000"/>
            <a:ext cx="2592388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744C123A-AE63-4AD9-ACB1-ADF4103150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6651BA5-A3F0-4102-8AB5-302B2F2EFD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975725" y="404812"/>
            <a:ext cx="2606675" cy="27368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F80E9119-D6F6-4FA2-9F16-025406D0F8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75725" y="3429000"/>
            <a:ext cx="2606675" cy="219551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55313796-962D-4CF1-AC12-A82B83090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0012" y="5624513"/>
            <a:ext cx="2592388" cy="433387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66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D54C4-ACE0-4B7B-B43C-B80F732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41816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27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D0AE451-788D-480F-872A-9EB3DCE41B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950" y="6057900"/>
            <a:ext cx="5378450" cy="44158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53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648956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733801"/>
            <a:ext cx="10972800" cy="914400"/>
          </a:xfr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4968241"/>
            <a:ext cx="10972800" cy="873760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4173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Blau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2268539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8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455023C-E286-4137-97BF-103515D643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7706136"/>
            <a:ext cx="14132540" cy="14874190"/>
          </a:xfrm>
          <a:custGeom>
            <a:avLst/>
            <a:gdLst>
              <a:gd name="connsiteX0" fmla="*/ 14132540 w 14132540"/>
              <a:gd name="connsiteY0" fmla="*/ 0 h 14874190"/>
              <a:gd name="connsiteX1" fmla="*/ 14132540 w 14132540"/>
              <a:gd name="connsiteY1" fmla="*/ 8549569 h 14874190"/>
              <a:gd name="connsiteX2" fmla="*/ 7807920 w 14132540"/>
              <a:gd name="connsiteY2" fmla="*/ 14874190 h 14874190"/>
              <a:gd name="connsiteX3" fmla="*/ 1318488 w 14132540"/>
              <a:gd name="connsiteY3" fmla="*/ 14874190 h 14874190"/>
              <a:gd name="connsiteX4" fmla="*/ 0 w 14132540"/>
              <a:gd name="connsiteY4" fmla="*/ 7437096 h 14874190"/>
              <a:gd name="connsiteX5" fmla="*/ 6695444 w 14132540"/>
              <a:gd name="connsiteY5" fmla="*/ 7437096 h 1487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32540" h="14874190">
                <a:moveTo>
                  <a:pt x="14132540" y="0"/>
                </a:moveTo>
                <a:lnTo>
                  <a:pt x="14132540" y="8549569"/>
                </a:lnTo>
                <a:lnTo>
                  <a:pt x="7807920" y="14874190"/>
                </a:lnTo>
                <a:lnTo>
                  <a:pt x="1318488" y="14874190"/>
                </a:lnTo>
                <a:lnTo>
                  <a:pt x="0" y="7437096"/>
                </a:lnTo>
                <a:lnTo>
                  <a:pt x="6695444" y="743709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08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Weiß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5378450" cy="863601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3141662"/>
            <a:ext cx="3506788" cy="2700337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D9D1B83-BB64-4D87-85E3-7B792A9EDE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3400" y="-2537398"/>
            <a:ext cx="13780478" cy="14516845"/>
          </a:xfrm>
          <a:custGeom>
            <a:avLst/>
            <a:gdLst>
              <a:gd name="connsiteX0" fmla="*/ 6162192 w 13780478"/>
              <a:gd name="connsiteY0" fmla="*/ 0 h 14516845"/>
              <a:gd name="connsiteX1" fmla="*/ 12500658 w 13780478"/>
              <a:gd name="connsiteY1" fmla="*/ 0 h 14516845"/>
              <a:gd name="connsiteX2" fmla="*/ 13780478 w 13780478"/>
              <a:gd name="connsiteY2" fmla="*/ 7258316 h 14516845"/>
              <a:gd name="connsiteX3" fmla="*/ 7258530 w 13780478"/>
              <a:gd name="connsiteY3" fmla="*/ 7258316 h 14516845"/>
              <a:gd name="connsiteX4" fmla="*/ 0 w 13780478"/>
              <a:gd name="connsiteY4" fmla="*/ 14516845 h 14516845"/>
              <a:gd name="connsiteX5" fmla="*/ 212 w 13780478"/>
              <a:gd name="connsiteY5" fmla="*/ 6162191 h 1451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80478" h="14516845">
                <a:moveTo>
                  <a:pt x="6162192" y="0"/>
                </a:moveTo>
                <a:lnTo>
                  <a:pt x="12500658" y="0"/>
                </a:lnTo>
                <a:lnTo>
                  <a:pt x="13780478" y="7258316"/>
                </a:lnTo>
                <a:lnTo>
                  <a:pt x="7258530" y="7258316"/>
                </a:lnTo>
                <a:lnTo>
                  <a:pt x="0" y="14516845"/>
                </a:lnTo>
                <a:lnTo>
                  <a:pt x="212" y="6162191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8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beginn_Farb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" y="2461846"/>
            <a:ext cx="3506789" cy="1254492"/>
          </a:xfrm>
          <a:prstGeom prst="rect">
            <a:avLst/>
          </a:prstGeom>
        </p:spPr>
        <p:txBody>
          <a:bodyPr anchor="t" anchorCtr="0"/>
          <a:lstStyle>
            <a:lvl1pPr>
              <a:defRPr lang="de-DE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D725AF-5383-4E5D-A2D3-3FABBEC0B6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768456" y="-9550923"/>
            <a:ext cx="13977778" cy="25385171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0753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3">
            <a:extLst>
              <a:ext uri="{FF2B5EF4-FFF2-40B4-BE49-F238E27FC236}">
                <a16:creationId xmlns:a16="http://schemas.microsoft.com/office/drawing/2014/main" id="{2664A485-C158-4BFC-B46D-7201DF28B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16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_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79737FE-1C79-470F-BA5B-0406C5992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061B13-C907-4A87-B55A-8284A73D5D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10972800" cy="4173438"/>
          </a:xfrm>
        </p:spPr>
        <p:txBody>
          <a:bodyPr/>
          <a:lstStyle>
            <a:lvl1pPr>
              <a:defRPr lang="de-DE" sz="3200" i="1" dirty="0">
                <a:solidFill>
                  <a:schemeClr val="bg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354320"/>
            <a:ext cx="10972800" cy="487680"/>
          </a:xfrm>
        </p:spPr>
        <p:txBody>
          <a:bodyPr anchor="b" anchorCtr="0"/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048EAF-9787-48D5-83DB-543645FD8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55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itat_Farb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4E10E8-4BB9-460B-9BDB-62195F7C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C75E21A-6BBF-4B32-A70F-301838EEE2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73125"/>
            <a:ext cx="5378450" cy="4173438"/>
          </a:xfrm>
        </p:spPr>
        <p:txBody>
          <a:bodyPr/>
          <a:lstStyle>
            <a:lvl1pPr>
              <a:defRPr lang="de-DE" sz="3600" b="0" i="1" kern="1200" dirty="0">
                <a:solidFill>
                  <a:schemeClr val="tx1"/>
                </a:solidFill>
                <a:latin typeface="Noto Serif Light" panose="02020502060505020204" pitchFamily="18"/>
                <a:ea typeface="Noto Serif Light" panose="02020502060505020204" pitchFamily="18"/>
                <a:cs typeface="Noto Serif Light" panose="02020502060505020204" pitchFamily="18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26026BCD-A072-422C-AB4B-2FA548C4F7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624512"/>
            <a:ext cx="5378450" cy="433387"/>
          </a:xfrm>
        </p:spPr>
        <p:txBody>
          <a:bodyPr anchor="b" anchorCtr="0"/>
          <a:lstStyle>
            <a:lvl1pPr>
              <a:defRPr sz="1400" i="0">
                <a:latin typeface="+mj-lt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Wer wird zitiert, Quelle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A73340-69A4-498B-8B80-80BE3D077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B2E58B-9728-4374-A113-BCFD69F635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5598" y="-4693921"/>
            <a:ext cx="10770898" cy="19561127"/>
          </a:xfrm>
          <a:custGeom>
            <a:avLst/>
            <a:gdLst>
              <a:gd name="connsiteX0" fmla="*/ 6127784 w 13977778"/>
              <a:gd name="connsiteY0" fmla="*/ 0 h 25385171"/>
              <a:gd name="connsiteX1" fmla="*/ 13977778 w 13977778"/>
              <a:gd name="connsiteY1" fmla="*/ 7849993 h 25385171"/>
              <a:gd name="connsiteX2" fmla="*/ 13977778 w 13977778"/>
              <a:gd name="connsiteY2" fmla="*/ 19429729 h 25385171"/>
              <a:gd name="connsiteX3" fmla="*/ 8022336 w 13977778"/>
              <a:gd name="connsiteY3" fmla="*/ 25385171 h 25385171"/>
              <a:gd name="connsiteX4" fmla="*/ 0 w 13977778"/>
              <a:gd name="connsiteY4" fmla="*/ 19767992 h 25385171"/>
              <a:gd name="connsiteX5" fmla="*/ 6127960 w 13977778"/>
              <a:gd name="connsiteY5" fmla="*/ 13640034 h 25385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77778" h="25385171">
                <a:moveTo>
                  <a:pt x="6127784" y="0"/>
                </a:moveTo>
                <a:lnTo>
                  <a:pt x="13977778" y="7849993"/>
                </a:lnTo>
                <a:lnTo>
                  <a:pt x="13977778" y="19429729"/>
                </a:lnTo>
                <a:lnTo>
                  <a:pt x="8022336" y="25385171"/>
                </a:lnTo>
                <a:lnTo>
                  <a:pt x="0" y="19767992"/>
                </a:lnTo>
                <a:lnTo>
                  <a:pt x="6127960" y="136400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30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7056120"/>
            <a:ext cx="23070503" cy="230705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97200"/>
            <a:ext cx="10972800" cy="719138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4297679"/>
            <a:ext cx="10972800" cy="1544321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9017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3FB50-6373-4EEB-AE2A-E41E5293A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58240" y="-6925627"/>
            <a:ext cx="14660880" cy="146608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88D79D-95E0-48C6-B019-1226D5FFE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F6757A7-BF21-40B3-87C7-F536EB12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8A27A73C-FDCC-408D-8A9B-5EBAC191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93732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69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afik 7">
            <a:extLst>
              <a:ext uri="{FF2B5EF4-FFF2-40B4-BE49-F238E27FC236}">
                <a16:creationId xmlns:a16="http://schemas.microsoft.com/office/drawing/2014/main" id="{ACAEB40F-408E-4739-B8F1-87C3D3468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-5498743" y="-5465484"/>
            <a:ext cx="17788812" cy="17788968"/>
            <a:chOff x="-14264640" y="-3715061"/>
            <a:chExt cx="22488583" cy="22488781"/>
          </a:xfrm>
          <a:solidFill>
            <a:schemeClr val="accent2"/>
          </a:solidFill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195269A-E3C2-4E88-93E3-F49E631252D9}"/>
                </a:ext>
              </a:extLst>
            </p:cNvPr>
            <p:cNvSpPr/>
            <p:nvPr/>
          </p:nvSpPr>
          <p:spPr>
            <a:xfrm>
              <a:off x="-7293192" y="-3715061"/>
              <a:ext cx="15517136" cy="14730115"/>
            </a:xfrm>
            <a:custGeom>
              <a:avLst/>
              <a:gdLst>
                <a:gd name="connsiteX0" fmla="*/ 15517137 w 15517136"/>
                <a:gd name="connsiteY0" fmla="*/ 13362007 h 14730115"/>
                <a:gd name="connsiteX1" fmla="*/ 7758668 w 15517136"/>
                <a:gd name="connsiteY1" fmla="*/ 14730115 h 14730115"/>
                <a:gd name="connsiteX2" fmla="*/ 7758668 w 15517136"/>
                <a:gd name="connsiteY2" fmla="*/ 7758667 h 14730115"/>
                <a:gd name="connsiteX3" fmla="*/ 0 w 15517136"/>
                <a:gd name="connsiteY3" fmla="*/ 0 h 14730115"/>
                <a:gd name="connsiteX4" fmla="*/ 8930316 w 15517136"/>
                <a:gd name="connsiteY4" fmla="*/ 198 h 14730115"/>
                <a:gd name="connsiteX5" fmla="*/ 15517137 w 15517136"/>
                <a:gd name="connsiteY5" fmla="*/ 6586821 h 14730115"/>
                <a:gd name="connsiteX6" fmla="*/ 15517137 w 15517136"/>
                <a:gd name="connsiteY6" fmla="*/ 13362007 h 14730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136" h="14730115">
                  <a:moveTo>
                    <a:pt x="15517137" y="13362007"/>
                  </a:moveTo>
                  <a:lnTo>
                    <a:pt x="7758668" y="14730115"/>
                  </a:lnTo>
                  <a:lnTo>
                    <a:pt x="7758668" y="7758667"/>
                  </a:lnTo>
                  <a:lnTo>
                    <a:pt x="0" y="0"/>
                  </a:lnTo>
                  <a:lnTo>
                    <a:pt x="8930316" y="198"/>
                  </a:lnTo>
                  <a:lnTo>
                    <a:pt x="15517137" y="6586821"/>
                  </a:lnTo>
                  <a:lnTo>
                    <a:pt x="15517137" y="13362007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539E4E4-5E00-4985-8757-11EFDE979DB4}"/>
                </a:ext>
              </a:extLst>
            </p:cNvPr>
            <p:cNvSpPr/>
            <p:nvPr/>
          </p:nvSpPr>
          <p:spPr>
            <a:xfrm>
              <a:off x="-14264640" y="4043604"/>
              <a:ext cx="15517334" cy="14730114"/>
            </a:xfrm>
            <a:custGeom>
              <a:avLst/>
              <a:gdLst>
                <a:gd name="connsiteX0" fmla="*/ 0 w 15517334"/>
                <a:gd name="connsiteY0" fmla="*/ 1368109 h 14730114"/>
                <a:gd name="connsiteX1" fmla="*/ 7758470 w 15517334"/>
                <a:gd name="connsiteY1" fmla="*/ 0 h 14730114"/>
                <a:gd name="connsiteX2" fmla="*/ 7758470 w 15517334"/>
                <a:gd name="connsiteY2" fmla="*/ 6971449 h 14730114"/>
                <a:gd name="connsiteX3" fmla="*/ 15517335 w 15517334"/>
                <a:gd name="connsiteY3" fmla="*/ 14730115 h 14730114"/>
                <a:gd name="connsiteX4" fmla="*/ 6586822 w 15517334"/>
                <a:gd name="connsiteY4" fmla="*/ 14730115 h 14730114"/>
                <a:gd name="connsiteX5" fmla="*/ 0 w 15517334"/>
                <a:gd name="connsiteY5" fmla="*/ 8143294 h 14730114"/>
                <a:gd name="connsiteX6" fmla="*/ 0 w 15517334"/>
                <a:gd name="connsiteY6" fmla="*/ 1368109 h 1473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17334" h="14730114">
                  <a:moveTo>
                    <a:pt x="0" y="1368109"/>
                  </a:moveTo>
                  <a:lnTo>
                    <a:pt x="7758470" y="0"/>
                  </a:lnTo>
                  <a:lnTo>
                    <a:pt x="7758470" y="6971449"/>
                  </a:lnTo>
                  <a:lnTo>
                    <a:pt x="15517335" y="14730115"/>
                  </a:lnTo>
                  <a:lnTo>
                    <a:pt x="6586822" y="14730115"/>
                  </a:lnTo>
                  <a:lnTo>
                    <a:pt x="0" y="8143294"/>
                  </a:lnTo>
                  <a:lnTo>
                    <a:pt x="0" y="1368109"/>
                  </a:lnTo>
                  <a:close/>
                </a:path>
              </a:pathLst>
            </a:custGeom>
            <a:grpFill/>
            <a:ln w="197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599" y="1052513"/>
            <a:ext cx="7250113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599" y="2286952"/>
            <a:ext cx="7250113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6512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1607CC-7926-42F8-A9D4-9EB30CCC4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4874240" y="-12475330"/>
            <a:ext cx="44978353" cy="3180865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1052513"/>
            <a:ext cx="4441826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609600" y="2286952"/>
            <a:ext cx="4441826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72FC72-0865-4AAF-8322-C3045B84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039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8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26BB01A-29ED-4144-A31A-DD51B5606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445953" y="-7589795"/>
            <a:ext cx="39323474" cy="233685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52513"/>
            <a:ext cx="53340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5334000" cy="108965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C077647-9C5F-4C27-93BC-289003A5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64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A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85B0F-EAE3-4972-B2DD-61B691A3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568399" y="-22289839"/>
            <a:ext cx="37239647" cy="5396725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53F19BAF-18FD-44C8-85CA-F8853215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2513"/>
            <a:ext cx="10972800" cy="9144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7CA3D32E-E2F8-4C0E-AF41-451C832967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286952"/>
            <a:ext cx="10972800" cy="1142048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A0901FF-14F3-43C6-9205-4A412557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29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_vV_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BE95944-ACF5-4BF5-8A9C-A6B4D5A92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BB6767-F2B8-4BAA-BF07-3F9A160B3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484427" y="-5069549"/>
            <a:ext cx="18380919" cy="182111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C91A62C-18CD-4962-933C-7CEB68A0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5"/>
            <a:ext cx="10972800" cy="914400"/>
          </a:xfrm>
          <a:prstGeom prst="rect">
            <a:avLst/>
          </a:prstGeom>
        </p:spPr>
        <p:txBody>
          <a:bodyPr tIns="0"/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DD549F4-C90A-437D-902A-3E9CE85D8A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107565"/>
            <a:ext cx="10972800" cy="87376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1879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9AD44A7-FBE6-494B-B2A9-85542E1AE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-2633468" y="-5918273"/>
            <a:ext cx="18354113" cy="18354113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1CBF57BC-B38C-414F-92BB-F40579F88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B2B44DCF-A510-4A00-82ED-05FBF8B59E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16388" y="6207760"/>
            <a:ext cx="5599112" cy="286068"/>
          </a:xfrm>
        </p:spPr>
        <p:txBody>
          <a:bodyPr anchor="b" anchorCtr="0"/>
          <a:lstStyle>
            <a:lvl1pPr>
              <a:defRPr sz="1200" i="0">
                <a:solidFill>
                  <a:schemeClr val="bg1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8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1974DA36-F6FF-4071-9FE9-C71612DFE9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ED2FBAC-C92F-4FEA-8170-E94EC94CC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500000">
            <a:off x="-4681402" y="-7532589"/>
            <a:ext cx="21582744" cy="21582744"/>
          </a:xfrm>
          <a:prstGeom prst="rect">
            <a:avLst/>
          </a:prstGeom>
        </p:spPr>
      </p:pic>
      <p:pic>
        <p:nvPicPr>
          <p:cNvPr id="4" name="Grafik 3" descr="Logo der TUD: einfarbig blau, Bildelement (punktsymetrische Anordnung zweier gleicher flächiger Winkelelemente) rechts daneben dreizeiliger Text: Technische Universität Dresden">
            <a:extLst>
              <a:ext uri="{FF2B5EF4-FFF2-40B4-BE49-F238E27FC236}">
                <a16:creationId xmlns:a16="http://schemas.microsoft.com/office/drawing/2014/main" id="{79C7FCDB-8A5F-4D8C-B998-2CC83B8C89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1" y="404813"/>
            <a:ext cx="1981199" cy="660400"/>
          </a:xfrm>
          <a:prstGeom prst="rect">
            <a:avLst/>
          </a:prstGeom>
        </p:spPr>
      </p:pic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FB4AAEC-A7C5-4365-B424-8E68D40435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8926" y="6177280"/>
            <a:ext cx="5581650" cy="31654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576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eite_vV + Bi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8DD5EDA3-D92A-4B08-8595-D60EA53E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A055B95-2710-46A2-8317-9CAA31D4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73124"/>
            <a:ext cx="3506788" cy="1382897"/>
          </a:xfrm>
          <a:prstGeom prst="rect">
            <a:avLst/>
          </a:prstGeom>
        </p:spPr>
        <p:txBody>
          <a:bodyPr tIns="0"/>
          <a:lstStyle>
            <a:lvl1pPr>
              <a:defRPr lang="de-D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522852-F16F-46A0-B72D-3039550F8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997200"/>
            <a:ext cx="3506788" cy="2844800"/>
          </a:xfrm>
          <a:prstGeom prst="rect">
            <a:avLst/>
          </a:prstGeom>
        </p:spPr>
        <p:txBody>
          <a:bodyPr anchor="b" anchorCtr="0"/>
          <a:lstStyle>
            <a:lvl1pPr>
              <a:defRPr lang="de-DE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144DEC0-CBFA-4BDA-A78C-86ED757F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7B07D508-A251-41EA-8DE7-63892057591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3400" y="0"/>
            <a:ext cx="10255588" cy="6858000"/>
          </a:xfrm>
          <a:custGeom>
            <a:avLst/>
            <a:gdLst>
              <a:gd name="connsiteX0" fmla="*/ 0 w 10255588"/>
              <a:gd name="connsiteY0" fmla="*/ 0 h 6858000"/>
              <a:gd name="connsiteX1" fmla="*/ 10255588 w 10255588"/>
              <a:gd name="connsiteY1" fmla="*/ 0 h 6858000"/>
              <a:gd name="connsiteX2" fmla="*/ 10255588 w 10255588"/>
              <a:gd name="connsiteY2" fmla="*/ 6858000 h 6858000"/>
              <a:gd name="connsiteX3" fmla="*/ 1215823 w 102555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55588" h="6858000">
                <a:moveTo>
                  <a:pt x="0" y="0"/>
                </a:moveTo>
                <a:lnTo>
                  <a:pt x="10255588" y="0"/>
                </a:lnTo>
                <a:lnTo>
                  <a:pt x="10255588" y="6858000"/>
                </a:lnTo>
                <a:lnTo>
                  <a:pt x="1215823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5365122-AA94-4D9A-8BDB-BC7E3297F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 (Textkörper)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1651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60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72009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736725"/>
            <a:ext cx="7250113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75613" y="0"/>
            <a:ext cx="4116387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49D69647-48F8-4B90-9CC3-E65255E92C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96338" y="6057900"/>
            <a:ext cx="2786062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37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50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5378450" cy="1331912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3950" y="-1"/>
            <a:ext cx="5988050" cy="685800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F372E1-253E-419E-B4D6-7D0068DC7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24675" y="6057900"/>
            <a:ext cx="4657725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3557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_30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3506788" cy="1331912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3506788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43400" y="0"/>
            <a:ext cx="78486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507C9BA0-A1AB-441D-8DBE-C0CF26A821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1425" y="6057900"/>
            <a:ext cx="6530975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78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30-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404814"/>
            <a:ext cx="72390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400" y="1736725"/>
            <a:ext cx="723900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116388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30BC2D8-9972-4382-AB9E-D0E258B13A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400" y="6057900"/>
            <a:ext cx="7239000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DF051B-43FA-419C-8BC2-E0F70D76F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184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50-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950" y="404814"/>
            <a:ext cx="537845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3950" y="1736725"/>
            <a:ext cx="5378450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98805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D763E79-9848-472D-A208-36D672491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3950" y="6057900"/>
            <a:ext cx="5378450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DFCE1DD-45F2-4133-8BC5-E0BD70008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8392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_60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613" y="404813"/>
            <a:ext cx="3506787" cy="824547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75613" y="1736725"/>
            <a:ext cx="3506787" cy="4105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7859713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EE076A1-CD22-4F15-967A-BCBA15F42E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5612" y="6057900"/>
            <a:ext cx="3506787" cy="435928"/>
          </a:xfrm>
        </p:spPr>
        <p:txBody>
          <a:bodyPr anchor="b" anchorCtr="0"/>
          <a:lstStyle>
            <a:lvl1pPr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B9E920F-1A3F-42B1-BCE6-1145087E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159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 + 1 Bild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4590A-6975-42D1-908C-CE5FC455952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395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733800"/>
            <a:ext cx="12192000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4760AFB2-59A0-403C-8E84-5030275AE8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9815EB-9327-48CD-96B3-43DC5F54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21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 + 2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09D3A-1DA9-42E3-BD19-D18DF18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4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4590A-6975-42D1-908C-CE5FC455952D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03950" y="1736724"/>
            <a:ext cx="537845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BC227089-21FE-41A6-BC10-34BEFF1D47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733800"/>
            <a:ext cx="6062472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4C311CE4-AD5A-44B9-BD6C-84A8F5D94B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7324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A061FE1-7C03-48BD-996F-3B2AE8580D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29528" y="3733801"/>
            <a:ext cx="6062472" cy="312419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B58018AB-F062-405D-B819-907E0DB753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D783A2B-51C5-4C95-9003-3F3482637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02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3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D3B9-D281-41BC-9A6E-EBA632B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1097280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1018B3E5-DFDA-4E50-80B0-8583C84118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6275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F2458F30-68A9-4380-94A9-377AD7D48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83473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2791F6B-95C8-49BE-B8B9-8F04CE1AC9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7258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3B9AAEC-8800-42FB-8E44-B81C048BC7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6947" y="3733800"/>
            <a:ext cx="4025053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C8A0F81A-CDA0-49D4-9423-A9300D95CF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3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21D2608-1818-4D42-B89A-D605C4F84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909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4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D3B9-D281-41BC-9A6E-EBA632B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12EFA-292C-4FDE-8669-ECF55A14A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36725"/>
            <a:ext cx="10972800" cy="1692275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CBECC23C-3AC7-4872-8833-394650436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A413D657-1B5E-406D-8617-E2E725A52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99005" y="6057900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1</a:t>
            </a:r>
            <a:endParaRPr lang="en-US" dirty="0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F2458F30-68A9-4380-94A9-377AD7D48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61547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0509D82A-4ACB-44BB-A6BC-2597416A16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0552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2</a:t>
            </a:r>
            <a:endParaRPr lang="en-US" dirty="0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43B9AAEC-8800-42FB-8E44-B81C048BC7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3094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21635FF8-DA1B-41D1-AFFE-F750A584CD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18712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3</a:t>
            </a:r>
            <a:endParaRPr lang="en-US" dirty="0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A9BF99E2-F099-4BD6-8080-40827C91C32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4640" y="3733800"/>
            <a:ext cx="3007360" cy="31242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CF308826-6824-4C9B-9041-059D7052D5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83645" y="6053138"/>
            <a:ext cx="808355" cy="800100"/>
          </a:xfrm>
        </p:spPr>
        <p:txBody>
          <a:bodyPr lIns="0" rIns="180000" bIns="360000"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4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F6BFEE9-F7EB-43C7-9F30-97F48E372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404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7AA28B-E0BB-4588-9126-08A9723C3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40DD1341-867C-486E-884D-435F6D877C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6501" y="6057900"/>
            <a:ext cx="9105900" cy="435928"/>
          </a:xfrm>
        </p:spPr>
        <p:txBody>
          <a:bodyPr anchor="b" anchorCtr="0"/>
          <a:lstStyle>
            <a:lvl1pPr algn="r">
              <a:defRPr sz="1200" i="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Bildunterschrift und © Copyright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D899A4-C882-4DED-9C15-ACC467479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5E54477-AC5B-4EB3-AE9F-0854A752BD2F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OSAT SS2026 • </a:t>
            </a:r>
            <a:r>
              <a:rPr lang="de-DE" sz="1200" b="0" dirty="0">
                <a:solidFill>
                  <a:srgbClr val="00008C"/>
                </a:solidFill>
              </a:rPr>
              <a:t>YOLO26: Detektion von Objekten in Bildern mit Orientierung</a:t>
            </a:r>
            <a:r>
              <a:rPr lang="de-DE" sz="1200" b="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• Seite </a:t>
            </a:r>
            <a:fld id="{BB345A75-B580-4544-AA90-56924E4BB115}" type="slidenum">
              <a:rPr lang="de-DE" sz="1200" kern="1200" smtClean="0">
                <a:solidFill>
                  <a:srgbClr val="00008C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rgbClr val="00008C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15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776" r:id="rId4"/>
    <p:sldLayoutId id="2147483769" r:id="rId5"/>
    <p:sldLayoutId id="2147483778" r:id="rId6"/>
    <p:sldLayoutId id="2147483650" r:id="rId7"/>
    <p:sldLayoutId id="2147483710" r:id="rId8"/>
    <p:sldLayoutId id="2147483709" r:id="rId9"/>
    <p:sldLayoutId id="2147483652" r:id="rId10"/>
    <p:sldLayoutId id="2147483779" r:id="rId11"/>
    <p:sldLayoutId id="2147483656" r:id="rId12"/>
    <p:sldLayoutId id="2147483665" r:id="rId13"/>
    <p:sldLayoutId id="2147483657" r:id="rId14"/>
    <p:sldLayoutId id="2147483666" r:id="rId15"/>
    <p:sldLayoutId id="2147483654" r:id="rId16"/>
    <p:sldLayoutId id="2147483655" r:id="rId17"/>
    <p:sldLayoutId id="2147483694" r:id="rId18"/>
    <p:sldLayoutId id="2147483695" r:id="rId19"/>
    <p:sldLayoutId id="2147483696" r:id="rId20"/>
    <p:sldLayoutId id="2147483777" r:id="rId21"/>
    <p:sldLayoutId id="2147483771" r:id="rId22"/>
    <p:sldLayoutId id="2147483772" r:id="rId23"/>
    <p:sldLayoutId id="2147483773" r:id="rId24"/>
    <p:sldLayoutId id="2147483775" r:id="rId25"/>
    <p:sldLayoutId id="2147483774" r:id="rId2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  <p15:guide id="36" orient="horz" pos="3543" userDrawn="1">
          <p15:clr>
            <a:srgbClr val="F26B43"/>
          </p15:clr>
        </p15:guide>
        <p15:guide id="37" orient="horz" pos="19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1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7" r:id="rId8"/>
    <p:sldLayoutId id="2147483768" r:id="rId9"/>
    <p:sldLayoutId id="2147483770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platzhalter 25">
            <a:extLst>
              <a:ext uri="{FF2B5EF4-FFF2-40B4-BE49-F238E27FC236}">
                <a16:creationId xmlns:a16="http://schemas.microsoft.com/office/drawing/2014/main" id="{A5CE2D21-B81F-483B-9FE8-AF317984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813"/>
            <a:ext cx="10972800" cy="647700"/>
          </a:xfrm>
          <a:prstGeom prst="rect">
            <a:avLst/>
          </a:prstGeom>
        </p:spPr>
        <p:txBody>
          <a:bodyPr vert="horz" lIns="0" tIns="10800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6FA640-4158-403C-98E2-E7FCEBC5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36725"/>
            <a:ext cx="10972801" cy="43168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 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F0A8DA4-796C-4D83-A511-7E33ECC1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6288480"/>
            <a:ext cx="514349" cy="16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5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333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90563" indent="-17303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indent="-342900" algn="l" defTabSz="914400" rtl="0" eaLnBrk="1" latinLnBrk="0" hangingPunct="1">
        <a:lnSpc>
          <a:spcPct val="100000"/>
        </a:lnSpc>
        <a:spcBef>
          <a:spcPts val="1200"/>
        </a:spcBef>
        <a:buFont typeface="Open Sans" panose="020B0606030504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" indent="-17145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114300" algn="l" defTabSz="914400" rtl="0" eaLnBrk="1" latinLnBrk="0" hangingPunct="1">
        <a:lnSpc>
          <a:spcPct val="100000"/>
        </a:lnSpc>
        <a:spcBef>
          <a:spcPts val="500"/>
        </a:spcBef>
        <a:buFont typeface="Open Sans" panose="020B0606030504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800100" indent="-1143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pos="846" userDrawn="1">
          <p15:clr>
            <a:srgbClr val="F26B43"/>
          </p15:clr>
        </p15:guide>
        <p15:guide id="6" pos="982" userDrawn="1">
          <p15:clr>
            <a:srgbClr val="F26B43"/>
          </p15:clr>
        </p15:guide>
        <p15:guide id="7" pos="1436" userDrawn="1">
          <p15:clr>
            <a:srgbClr val="F26B43"/>
          </p15:clr>
        </p15:guide>
        <p15:guide id="8" pos="1560" userDrawn="1">
          <p15:clr>
            <a:srgbClr val="F26B43"/>
          </p15:clr>
        </p15:guide>
        <p15:guide id="9" pos="2026" userDrawn="1">
          <p15:clr>
            <a:srgbClr val="F26B43"/>
          </p15:clr>
        </p15:guide>
        <p15:guide id="10" pos="2139" userDrawn="1">
          <p15:clr>
            <a:srgbClr val="F26B43"/>
          </p15:clr>
        </p15:guide>
        <p15:guide id="11" pos="2593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3182" userDrawn="1">
          <p15:clr>
            <a:srgbClr val="F26B43"/>
          </p15:clr>
        </p15:guide>
        <p15:guide id="14" pos="3318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62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51" userDrawn="1">
          <p15:clr>
            <a:srgbClr val="F26B43"/>
          </p15:clr>
        </p15:guide>
        <p15:guide id="20" pos="5087" userDrawn="1">
          <p15:clr>
            <a:srgbClr val="F26B43"/>
          </p15:clr>
        </p15:guide>
        <p15:guide id="21" pos="5541" userDrawn="1">
          <p15:clr>
            <a:srgbClr val="F26B43"/>
          </p15:clr>
        </p15:guide>
        <p15:guide id="22" pos="5654" userDrawn="1">
          <p15:clr>
            <a:srgbClr val="F26B43"/>
          </p15:clr>
        </p15:guide>
        <p15:guide id="23" pos="6120" userDrawn="1">
          <p15:clr>
            <a:srgbClr val="F26B43"/>
          </p15:clr>
        </p15:guide>
        <p15:guide id="24" pos="6244" userDrawn="1">
          <p15:clr>
            <a:srgbClr val="F26B43"/>
          </p15:clr>
        </p15:guide>
        <p15:guide id="25" pos="6698" userDrawn="1">
          <p15:clr>
            <a:srgbClr val="F26B43"/>
          </p15:clr>
        </p15:guide>
        <p15:guide id="26" pos="6834" userDrawn="1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orient="horz" pos="4065" userDrawn="1">
          <p15:clr>
            <a:srgbClr val="F26B43"/>
          </p15:clr>
        </p15:guide>
        <p15:guide id="29" orient="horz" pos="3816" userDrawn="1">
          <p15:clr>
            <a:srgbClr val="F26B43"/>
          </p15:clr>
        </p15:guide>
        <p15:guide id="30" orient="horz" pos="663" userDrawn="1">
          <p15:clr>
            <a:srgbClr val="F26B43"/>
          </p15:clr>
        </p15:guide>
        <p15:guide id="31" orient="horz" pos="550" userDrawn="1">
          <p15:clr>
            <a:srgbClr val="F26B43"/>
          </p15:clr>
        </p15:guide>
        <p15:guide id="32" orient="horz" pos="2341" userDrawn="1">
          <p15:clr>
            <a:srgbClr val="F26B43"/>
          </p15:clr>
        </p15:guide>
        <p15:guide id="33" orient="horz" pos="1888" userDrawn="1">
          <p15:clr>
            <a:srgbClr val="F26B43"/>
          </p15:clr>
        </p15:guide>
        <p15:guide id="34" orient="horz" pos="3680" userDrawn="1">
          <p15:clr>
            <a:srgbClr val="F26B43"/>
          </p15:clr>
        </p15:guide>
        <p15:guide id="35" orient="horz" pos="109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mixed-reality/mrtk-unity/mrtk2/features/ux-building-blocks/object-manipulator?view=mrtkunity-2022-05" TargetMode="External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mdpi.com/2076-3417/9/13/2683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5FC11-7D54-D1C3-1393-4B81AEA4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OSAT-Hinweise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6AFE8-E700-1C36-F96B-E178EBF43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dirty="0"/>
              <a:t>Abschließende Folien stammen aus dem Corporate Design der TU Dresden ab 2025. Beachten Sie bitte diese Vorlagen bei der Gestaltung Ihrer Folien! 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Verwenden Sie bitte Bilder zur anschaulichen Darstellung!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Bilder aus anderen Quellen müssen referenziert werden!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Wählen Sie keine zu kleine Schriftgröße! Kontrollieren Sie dies auch bei eingefügten Diagrammen! </a:t>
            </a:r>
          </a:p>
          <a:p>
            <a:pPr marL="285750" indent="-285750">
              <a:spcBef>
                <a:spcPts val="450"/>
              </a:spcBef>
              <a:buClr>
                <a:srgbClr val="0B2A51"/>
              </a:buClr>
              <a:buFont typeface="Arial" panose="020B0604020202020204" pitchFamily="34" charset="0"/>
              <a:buChar char="•"/>
              <a:tabLst>
                <a:tab pos="341313" algn="l"/>
                <a:tab pos="911225" algn="l"/>
                <a:tab pos="1825625" algn="l"/>
                <a:tab pos="1968500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de-DE" b="0" dirty="0">
                <a:solidFill>
                  <a:srgbClr val="0B2A51"/>
                </a:solidFill>
              </a:rPr>
              <a:t>Versuchen Sie die Zeitvorgabe einzuhalten!</a:t>
            </a:r>
            <a:endParaRPr lang="de-DE" b="0" dirty="0"/>
          </a:p>
          <a:p>
            <a:endParaRPr lang="de-DE" dirty="0"/>
          </a:p>
        </p:txBody>
      </p:sp>
      <p:sp>
        <p:nvSpPr>
          <p:cNvPr id="4" name="Rechteckige Legende 4">
            <a:extLst>
              <a:ext uri="{FF2B5EF4-FFF2-40B4-BE49-F238E27FC236}">
                <a16:creationId xmlns:a16="http://schemas.microsoft.com/office/drawing/2014/main" id="{52B07C44-8F3B-816D-6627-CDAC5F81AD86}"/>
              </a:ext>
            </a:extLst>
          </p:cNvPr>
          <p:cNvSpPr/>
          <p:nvPr/>
        </p:nvSpPr>
        <p:spPr>
          <a:xfrm>
            <a:off x="5741927" y="4481735"/>
            <a:ext cx="2833884" cy="1360265"/>
          </a:xfrm>
          <a:prstGeom prst="wedgeRectCallout">
            <a:avLst>
              <a:gd name="adj1" fmla="val -129218"/>
              <a:gd name="adj2" fmla="val 8165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Fußzeile bitte anpassen: über Ansicht, Folienmaster,  1. Folie links </a:t>
            </a:r>
          </a:p>
        </p:txBody>
      </p:sp>
    </p:spTree>
    <p:extLst>
      <p:ext uri="{BB962C8B-B14F-4D97-AF65-F5344CB8AC3E}">
        <p14:creationId xmlns:p14="http://schemas.microsoft.com/office/powerpoint/2010/main" val="2889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92127-A6D4-4DE7-B042-2AE843D73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2196295"/>
          </a:xfrm>
        </p:spPr>
        <p:txBody>
          <a:bodyPr/>
          <a:lstStyle/>
          <a:p>
            <a:r>
              <a:rPr lang="de-DE" b="1" dirty="0"/>
              <a:t>YOLO26: Bestimmung von Objekt-Posen in Bildern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1F6330-C39B-4485-AD3C-BF8578A25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36725"/>
            <a:ext cx="10972800" cy="1387475"/>
          </a:xfrm>
        </p:spPr>
        <p:txBody>
          <a:bodyPr/>
          <a:lstStyle/>
          <a:p>
            <a:r>
              <a:rPr lang="de-DE" dirty="0"/>
              <a:t>Nguyen, Duc Hai, Richard Loewe (Gruppe Nr.4)</a:t>
            </a:r>
          </a:p>
          <a:p>
            <a:r>
              <a:rPr lang="de-DE" dirty="0"/>
              <a:t>Professur für Automatisierungstechnik</a:t>
            </a:r>
          </a:p>
          <a:p>
            <a:r>
              <a:rPr lang="de-DE" dirty="0"/>
              <a:t>Zwischenpräsentation/Verteidigung im Oberseminar Automatisierungstechnik in SS2026</a:t>
            </a:r>
          </a:p>
        </p:txBody>
      </p:sp>
    </p:spTree>
    <p:extLst>
      <p:ext uri="{BB962C8B-B14F-4D97-AF65-F5344CB8AC3E}">
        <p14:creationId xmlns:p14="http://schemas.microsoft.com/office/powerpoint/2010/main" val="2213360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7CFD-9479-52D5-9CD7-1DD42DE5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8F005-8EE4-06E8-A6B0-30264E42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- 1. Welche Teilaufgabe in der Navigation mobiler Roboter wird gelöst?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49424B-BCFB-5432-19AF-7E3FF0E81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0097" y="1536191"/>
            <a:ext cx="6031806" cy="44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30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DD55-4BC2-B2B9-F356-B0FBEC48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5CE12-E826-3258-2DF7-98701F22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736B31-6A91-414B-E40A-9021706BD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13382"/>
            <a:ext cx="5388864" cy="30312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0F39F8-2C2A-6D69-C4DE-D7804570AC47}"/>
              </a:ext>
            </a:extLst>
          </p:cNvPr>
          <p:cNvSpPr txBox="1"/>
          <p:nvPr/>
        </p:nvSpPr>
        <p:spPr>
          <a:xfrm>
            <a:off x="3786564" y="5620821"/>
            <a:ext cx="4423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Quelle: </a:t>
            </a:r>
            <a:r>
              <a:rPr lang="en-US" dirty="0">
                <a:hlinkClick r:id="rId3"/>
              </a:rPr>
              <a:t>Object manipulator — MRTK2</a:t>
            </a:r>
            <a:endParaRPr lang="en-US" dirty="0"/>
          </a:p>
        </p:txBody>
      </p:sp>
      <p:pic>
        <p:nvPicPr>
          <p:cNvPr id="1026" name="Picture 2" descr="No Rigid Body">
            <a:extLst>
              <a:ext uri="{FF2B5EF4-FFF2-40B4-BE49-F238E27FC236}">
                <a16:creationId xmlns:a16="http://schemas.microsoft.com/office/drawing/2014/main" id="{8058CA4E-975B-EDDA-2D07-94B68A9E5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214" y="1328304"/>
            <a:ext cx="4619186" cy="407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8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D071-62C7-F853-B522-1F055C50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978D3-BEF6-A120-0418-B2157D1B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Cases</a:t>
            </a:r>
          </a:p>
        </p:txBody>
      </p:sp>
      <p:pic>
        <p:nvPicPr>
          <p:cNvPr id="2050" name="Picture 2" descr="Applsci 09 02683 g003">
            <a:hlinkClick r:id="rId2"/>
            <a:extLst>
              <a:ext uri="{FF2B5EF4-FFF2-40B4-BE49-F238E27FC236}">
                <a16:creationId xmlns:a16="http://schemas.microsoft.com/office/drawing/2014/main" id="{B930B763-8350-EB30-CBBE-A94066CF49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840" y="1289288"/>
            <a:ext cx="3317375" cy="427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55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4BF398-A951-2B2B-004E-89A95FB1B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Analyse der Datenfluss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5B4D9-2A90-97D4-A06E-DFF997CE81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702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32A2-71DC-AC0C-3EB3-56EA8944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2CF9F-9E4B-7EB8-265C-EBD60086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Eingangsdaten mathematisch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DD5917-EECA-3834-F92D-4CC90E5A4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W</a:t>
            </a:r>
            <a:r>
              <a:rPr lang="en-US" dirty="0" err="1"/>
              <a:t>ährend</a:t>
            </a:r>
            <a:r>
              <a:rPr lang="en-US" dirty="0"/>
              <a:t> Training:</a:t>
            </a:r>
          </a:p>
          <a:p>
            <a:r>
              <a:rPr lang="de-DE" dirty="0"/>
              <a:t>	</a:t>
            </a:r>
          </a:p>
          <a:p>
            <a:r>
              <a:rPr lang="de-DE" dirty="0"/>
              <a:t>Während Inferenz: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6236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F07D-B2B4-93D1-2057-685FB792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17342A-C6B1-FA02-3F36-4CEEAC4B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Ausgangsdaten mathematisch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514DF6-2131-551D-60C0-B711A5774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0138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E173C8-A862-7773-0177-4B0B347E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Einsatz von YOLO 26 – Pose </a:t>
            </a:r>
            <a:r>
              <a:rPr lang="de-DE" dirty="0" err="1"/>
              <a:t>estimation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E653CC-30B2-BEA6-5C9A-C78534BCB2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07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5FC11-7D54-D1C3-1393-4B81AEA4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wird</a:t>
            </a:r>
            <a:r>
              <a:rPr lang="en-US" dirty="0"/>
              <a:t> das Netz </a:t>
            </a:r>
            <a:r>
              <a:rPr lang="en-US" dirty="0" err="1"/>
              <a:t>softwaretechnisch</a:t>
            </a:r>
            <a:r>
              <a:rPr lang="en-US" dirty="0"/>
              <a:t> </a:t>
            </a:r>
            <a:r>
              <a:rPr lang="en-US" dirty="0" err="1"/>
              <a:t>realisiert</a:t>
            </a:r>
            <a:r>
              <a:rPr lang="en-US" dirty="0"/>
              <a:t>? (python - </a:t>
            </a:r>
            <a:r>
              <a:rPr lang="en-US" dirty="0" err="1"/>
              <a:t>ultralytics</a:t>
            </a:r>
            <a:r>
              <a:rPr lang="en-US" dirty="0"/>
              <a:t>)</a:t>
            </a:r>
            <a:br>
              <a:rPr lang="en-US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6AFE8-E700-1C36-F96B-E178EBF43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dirty="0"/>
              <a:t>Die Folien in diesem Abschnitt </a:t>
            </a:r>
            <a:r>
              <a:rPr lang="de-DE" b="1" dirty="0"/>
              <a:t>können </a:t>
            </a:r>
            <a:r>
              <a:rPr lang="de-DE" b="0" dirty="0"/>
              <a:t>zur </a:t>
            </a:r>
            <a:r>
              <a:rPr lang="de-DE" b="1" dirty="0"/>
              <a:t>begleitenden </a:t>
            </a:r>
            <a:r>
              <a:rPr lang="de-DE" b="0" dirty="0"/>
              <a:t>Darstellung der Ergebnisse der Teilaufgabe „Verstehen der Lösung der Navigation-Teilaufgabe mithilfe des verwendeten neuronalen Netzes“ in der </a:t>
            </a:r>
            <a:r>
              <a:rPr lang="de-DE" b="1" dirty="0"/>
              <a:t>Verteidigung</a:t>
            </a:r>
            <a:r>
              <a:rPr lang="de-DE" b="0" dirty="0"/>
              <a:t> benutzt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dirty="0"/>
              <a:t>Beachten Sie dabei die Fragestellungen in der Aufgabenstellung!</a:t>
            </a:r>
            <a:r>
              <a:rPr lang="de-DE" b="0" dirty="0">
                <a:solidFill>
                  <a:srgbClr val="0B2A51"/>
                </a:solidFill>
              </a:rPr>
              <a:t>!</a:t>
            </a:r>
            <a:endParaRPr lang="de-DE" b="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685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415C-78FC-5C24-4ADA-9F15A072A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wird</a:t>
            </a:r>
            <a:r>
              <a:rPr lang="en-US" dirty="0"/>
              <a:t> die </a:t>
            </a:r>
            <a:r>
              <a:rPr lang="en-US" dirty="0" err="1"/>
              <a:t>Nachbearbeitung</a:t>
            </a:r>
            <a:r>
              <a:rPr lang="en-US" dirty="0"/>
              <a:t> </a:t>
            </a:r>
            <a:r>
              <a:rPr lang="en-US" dirty="0" err="1"/>
              <a:t>softwaretechnisch</a:t>
            </a:r>
            <a:r>
              <a:rPr lang="en-US" dirty="0"/>
              <a:t> </a:t>
            </a:r>
            <a:r>
              <a:rPr lang="en-US" dirty="0" err="1"/>
              <a:t>realisiert</a:t>
            </a:r>
            <a:r>
              <a:rPr lang="en-US" dirty="0"/>
              <a:t>? (NMS </a:t>
            </a:r>
            <a:r>
              <a:rPr lang="en-US" dirty="0" err="1"/>
              <a:t>weg</a:t>
            </a:r>
            <a:r>
              <a:rPr lang="en-US" dirty="0"/>
              <a:t>,  </a:t>
            </a:r>
            <a:r>
              <a:rPr lang="en-US" dirty="0" err="1"/>
              <a:t>keypoints</a:t>
            </a:r>
            <a:r>
              <a:rPr lang="en-US" dirty="0"/>
              <a:t> connector, </a:t>
            </a:r>
            <a:r>
              <a:rPr lang="en-US" dirty="0" err="1"/>
              <a:t>bbox</a:t>
            </a:r>
            <a:r>
              <a:rPr lang="en-US" dirty="0"/>
              <a:t> )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7F7A-18C9-2458-A677-6E5D8D435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5095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B0969-53CF-A02D-2047-4E5FD980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Prinzipien zur Lösung ähnlicher Aufgaben (optional)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721222-9A76-F9FE-41FD-9BE6165781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1166597"/>
      </p:ext>
    </p:extLst>
  </p:cSld>
  <p:clrMapOvr>
    <a:masterClrMapping/>
  </p:clrMapOvr>
</p:sld>
</file>

<file path=ppt/theme/theme1.xml><?xml version="1.0" encoding="utf-8"?>
<a:theme xmlns:a="http://schemas.openxmlformats.org/drawingml/2006/main" name="TUD Standard_20 pt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Zwischenseiten mit Shape">
  <a:themeElements>
    <a:clrScheme name="TUD_2025_Blau-Türkis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005A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hne Fusszeile - Bilder randabfallend">
  <a:themeElements>
    <a:clrScheme name="TUD-2025__Test_GRK2250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BC1589"/>
      </a:accent4>
      <a:accent5>
        <a:srgbClr val="C85000"/>
      </a:accent5>
      <a:accent6>
        <a:srgbClr val="007D4B"/>
      </a:accent6>
      <a:hlink>
        <a:srgbClr val="00008C"/>
      </a:hlink>
      <a:folHlink>
        <a:srgbClr val="2F57B2"/>
      </a:folHlink>
    </a:clrScheme>
    <a:fontScheme name="TUD_2025_Noto Sans">
      <a:majorFont>
        <a:latin typeface="Noto Sans Medium"/>
        <a:ea typeface=""/>
        <a:cs typeface=""/>
      </a:majorFont>
      <a:minorFont>
        <a:latin typeface="Noto Sans"/>
        <a:ea typeface=""/>
        <a:cs typeface=""/>
      </a:minorFont>
    </a:fontScheme>
    <a:fmtScheme name="Subtile Körper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Noto Sans</vt:lpstr>
      <vt:lpstr>Noto Sans Medium</vt:lpstr>
      <vt:lpstr>Noto Serif</vt:lpstr>
      <vt:lpstr>Noto Serif (Textkörper)</vt:lpstr>
      <vt:lpstr>Noto Serif Light</vt:lpstr>
      <vt:lpstr>Open Sans</vt:lpstr>
      <vt:lpstr>Symbol</vt:lpstr>
      <vt:lpstr>TUD Standard_20 pt</vt:lpstr>
      <vt:lpstr>Zwischenseiten mit Shape</vt:lpstr>
      <vt:lpstr>ohne Fusszeile - Bilder randabfallend</vt:lpstr>
      <vt:lpstr>OSAT-Hinweise</vt:lpstr>
      <vt:lpstr>YOLO26: Bestimmung von Objekt-Posen in Bildern</vt:lpstr>
      <vt:lpstr>Motivation - 1. Welche Teilaufgabe in der Navigation mobiler Roboter wird gelöst?</vt:lpstr>
      <vt:lpstr>Use Cases</vt:lpstr>
      <vt:lpstr>Use Cases</vt:lpstr>
      <vt:lpstr>Analyse der Datenfluss</vt:lpstr>
      <vt:lpstr>Eingangsdaten mathematisch</vt:lpstr>
      <vt:lpstr>Ausgangsdaten mathematisch</vt:lpstr>
      <vt:lpstr>Einsatz von YOLO 26 – Pose estimation</vt:lpstr>
      <vt:lpstr>Wie wird das Netz softwaretechnisch realisiert? (python - ultralytics) </vt:lpstr>
      <vt:lpstr>Wie wird die Nachbearbeitung softwaretechnisch realisiert? (NMS weg,  keypoints connector, bbox )</vt:lpstr>
      <vt:lpstr>Prinzipien zur Lösung ähnlicher Aufgaben (optional)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250805_TUD-Präsentationsvorlage</dc:title>
  <dc:creator>Corporate Design</dc:creator>
  <cp:lastModifiedBy>Duc Hai Nguyen</cp:lastModifiedBy>
  <cp:revision>152</cp:revision>
  <dcterms:created xsi:type="dcterms:W3CDTF">2025-06-02T21:07:03Z</dcterms:created>
  <dcterms:modified xsi:type="dcterms:W3CDTF">2026-05-17T22:10:40Z</dcterms:modified>
</cp:coreProperties>
</file>