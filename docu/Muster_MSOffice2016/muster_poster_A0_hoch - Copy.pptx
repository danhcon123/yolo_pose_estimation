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omments/modernComment_100_C6949F3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7" userDrawn="1">
          <p15:clr>
            <a:srgbClr val="A4A3A4"/>
          </p15:clr>
        </p15:guide>
        <p15:guide id="2" pos="959" userDrawn="1">
          <p15:clr>
            <a:srgbClr val="A4A3A4"/>
          </p15:clr>
        </p15:guide>
        <p15:guide id="3" pos="3342" userDrawn="1">
          <p15:clr>
            <a:srgbClr val="A4A3A4"/>
          </p15:clr>
        </p15:guide>
        <p15:guide id="4" pos="3908" userDrawn="1">
          <p15:clr>
            <a:srgbClr val="A4A3A4"/>
          </p15:clr>
        </p15:guide>
        <p15:guide id="5" pos="6291" userDrawn="1">
          <p15:clr>
            <a:srgbClr val="A4A3A4"/>
          </p15:clr>
        </p15:guide>
        <p15:guide id="6" pos="6857" userDrawn="1">
          <p15:clr>
            <a:srgbClr val="A4A3A4"/>
          </p15:clr>
        </p15:guide>
        <p15:guide id="7" pos="9239" userDrawn="1">
          <p15:clr>
            <a:srgbClr val="A4A3A4"/>
          </p15:clr>
        </p15:guide>
        <p15:guide id="8" pos="9804" userDrawn="1">
          <p15:clr>
            <a:srgbClr val="A4A3A4"/>
          </p15:clr>
        </p15:guide>
        <p15:guide id="9" pos="12186" userDrawn="1">
          <p15:clr>
            <a:srgbClr val="A4A3A4"/>
          </p15:clr>
        </p15:guide>
        <p15:guide id="10" pos="12753" userDrawn="1">
          <p15:clr>
            <a:srgbClr val="A4A3A4"/>
          </p15:clr>
        </p15:guide>
        <p15:guide id="11" pos="15137" userDrawn="1">
          <p15:clr>
            <a:srgbClr val="A4A3A4"/>
          </p15:clr>
        </p15:guide>
        <p15:guide id="12" pos="18086" userDrawn="1">
          <p15:clr>
            <a:srgbClr val="A4A3A4"/>
          </p15:clr>
        </p15:guide>
        <p15:guide id="13" pos="1570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3C701C-0B02-F39B-CF72-564DBC6FBC27}" name="Duc Hai Nguyen" initials="DN" userId="b80d323cb1f4b6b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-678" y="-6690"/>
      </p:cViewPr>
      <p:guideLst>
        <p:guide orient="horz" pos="957"/>
        <p:guide pos="959"/>
        <p:guide pos="3342"/>
        <p:guide pos="3908"/>
        <p:guide pos="6291"/>
        <p:guide pos="6857"/>
        <p:guide pos="9239"/>
        <p:guide pos="9804"/>
        <p:guide pos="12186"/>
        <p:guide pos="12753"/>
        <p:guide pos="15137"/>
        <p:guide pos="18086"/>
        <p:guide pos="157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0_C6949F3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5DD2BB-3183-4DE9-9893-598A65EDDE99}" authorId="{883C701C-0B02-F39B-CF72-564DBC6FBC27}" created="2026-07-11T18:32:58.37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331628853" sldId="256"/>
      <ac:spMk id="42" creationId="{93CD316B-FC80-4188-968B-2D1ECE913012}"/>
      <ac:txMk cp="281" len="666">
        <ac:context len="949" hash="1653845312"/>
      </ac:txMk>
    </ac:txMkLst>
    <p188:pos x="8543925" y="1284673"/>
    <p188:txBody>
      <a:bodyPr/>
      <a:lstStyle/>
      <a:p>
        <a:r>
          <a:rPr lang="en-DE"/>
          <a:t>Später Weglöschen</a:t>
        </a:r>
      </a:p>
    </p188:txBody>
  </p188:cm>
  <p188:cm id="{B1BF582B-577E-4EE5-9CDE-F08F13FE9580}" authorId="{883C701C-0B02-F39B-CF72-564DBC6FBC27}" created="2026-07-11T18:40:26.6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31628853" sldId="256"/>
      <ac:spMk id="40" creationId="{485B190A-D15B-403F-995A-1487C63CCEB7}"/>
    </ac:deMkLst>
    <p188:txBody>
      <a:bodyPr/>
      <a:lstStyle/>
      <a:p>
        <a:r>
          <a:rPr lang="en-DE"/>
          <a:t>Warum funktioniert es? [TA2 Kernfrage]
	• Hierarchische Merkmalsextraktion: frühe Schichten lernen Kanten &amp; Konturen, tiefe Schichten abstrakte Körperteil-Repräsentationen
	• Multi-Skalen-Fusion im Neck: kombiniert feine räumliche Details (P3) mit semantisch starken Merkmalen (P5) → Personen aller Größen erkennbar
	• Attention (C2PSA): gewichtet Bildbereiche kontextabhängig → relevante Körperregionen werden verstärkt
	• Gemeinsames Training von Detektion + Keypoints: Box liefert räumlichen Anker, Keypoints werden relativ dazu regressiert
NMS-Ersatz durch Training: One-to-One-Zuordnung wird gelernt statt nachträglich gefiltert → durchgängig differenzierbare End-to-End-Kette</a:t>
        </a:r>
      </a:p>
    </p188:txBody>
  </p188:cm>
  <p188:cm id="{701E0792-E67E-4332-BAD2-1990A3C471D6}" authorId="{883C701C-0B02-F39B-CF72-564DBC6FBC27}" created="2026-07-11T19:56:42.20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31628853" sldId="256"/>
      <ac:spMk id="35" creationId="{503456D7-DDF4-4275-B7AD-C952118E96B6}"/>
    </ac:deMkLst>
    <p188:txBody>
      <a:bodyPr/>
      <a:lstStyle/>
      <a:p>
        <a:r>
          <a:rPr lang="en-DE"/>
          <a:t>Richard’s Aufgaben
Lösch einfach die Texte, die du nicht brauchst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175" y="6127333"/>
            <a:ext cx="27217688" cy="2278904"/>
          </a:xfrm>
        </p:spPr>
        <p:txBody>
          <a:bodyPr anchor="t" anchorCtr="0"/>
          <a:lstStyle>
            <a:lvl1pPr algn="l">
              <a:defRPr sz="99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175" y="7908120"/>
            <a:ext cx="27217688" cy="365461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900">
                <a:solidFill>
                  <a:schemeClr val="accent1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D2C15A-C5CC-479E-95DE-6C257D4DB5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27176" y="16932085"/>
            <a:ext cx="3787774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74EEC0A-3A97-451C-9C5F-25EEF114359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27176" y="15861650"/>
            <a:ext cx="3787774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12392B7-B1C8-4E48-9106-E4FB9A3F6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15744" y="39854927"/>
            <a:ext cx="2577156" cy="151214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8442930-DC10-448F-B2AB-26FFEC815E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7424063" y="40157400"/>
            <a:ext cx="1320800" cy="12096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QR</a:t>
            </a: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59F9714F-DF20-4C39-B73B-CE4D5E16E46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527176" y="12241213"/>
            <a:ext cx="3787774" cy="2998787"/>
          </a:xfrm>
        </p:spPr>
        <p:txBody>
          <a:bodyPr/>
          <a:lstStyle/>
          <a:p>
            <a:endParaRPr lang="de-DE"/>
          </a:p>
        </p:txBody>
      </p:sp>
      <p:sp>
        <p:nvSpPr>
          <p:cNvPr id="23" name="Bildplatzhalter 20">
            <a:extLst>
              <a:ext uri="{FF2B5EF4-FFF2-40B4-BE49-F238E27FC236}">
                <a16:creationId xmlns:a16="http://schemas.microsoft.com/office/drawing/2014/main" id="{082380FB-8629-4890-82B5-73026606211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52717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43DBC68F-8D02-4E37-9548-4445621576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52717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4" name="Bildplatzhalter 20">
            <a:extLst>
              <a:ext uri="{FF2B5EF4-FFF2-40B4-BE49-F238E27FC236}">
                <a16:creationId xmlns:a16="http://schemas.microsoft.com/office/drawing/2014/main" id="{820229CB-00B4-4881-9B43-614DCB303814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21506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5" name="Textplatzhalter 24">
            <a:extLst>
              <a:ext uri="{FF2B5EF4-FFF2-40B4-BE49-F238E27FC236}">
                <a16:creationId xmlns:a16="http://schemas.microsoft.com/office/drawing/2014/main" id="{F928C13A-0874-4025-BCD7-79B62C650F9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21506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6" name="Bildplatzhalter 20">
            <a:extLst>
              <a:ext uri="{FF2B5EF4-FFF2-40B4-BE49-F238E27FC236}">
                <a16:creationId xmlns:a16="http://schemas.microsoft.com/office/drawing/2014/main" id="{7F9044BE-69AD-427C-83BE-D9EA68BAF7C1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929937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7" name="Textplatzhalter 24">
            <a:extLst>
              <a:ext uri="{FF2B5EF4-FFF2-40B4-BE49-F238E27FC236}">
                <a16:creationId xmlns:a16="http://schemas.microsoft.com/office/drawing/2014/main" id="{194F3A0E-8BE7-4041-BF3F-96B4380AF59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0929937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8" name="Bildplatzhalter 20">
            <a:extLst>
              <a:ext uri="{FF2B5EF4-FFF2-40B4-BE49-F238E27FC236}">
                <a16:creationId xmlns:a16="http://schemas.microsoft.com/office/drawing/2014/main" id="{589BAC79-E1EC-4CB2-9776-6B10FB67903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561782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9" name="Textplatzhalter 24">
            <a:extLst>
              <a:ext uri="{FF2B5EF4-FFF2-40B4-BE49-F238E27FC236}">
                <a16:creationId xmlns:a16="http://schemas.microsoft.com/office/drawing/2014/main" id="{F13201F5-3439-4098-929A-786FAB649B8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561782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0" name="Bildplatzhalter 20">
            <a:extLst>
              <a:ext uri="{FF2B5EF4-FFF2-40B4-BE49-F238E27FC236}">
                <a16:creationId xmlns:a16="http://schemas.microsoft.com/office/drawing/2014/main" id="{894F3E62-4262-4BCD-A309-8AEE4AC3844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2024062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1" name="Textplatzhalter 24">
            <a:extLst>
              <a:ext uri="{FF2B5EF4-FFF2-40B4-BE49-F238E27FC236}">
                <a16:creationId xmlns:a16="http://schemas.microsoft.com/office/drawing/2014/main" id="{E703CCBE-E5CB-4992-8C70-B0E1EF25CD2F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024062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2" name="Bildplatzhalter 20">
            <a:extLst>
              <a:ext uri="{FF2B5EF4-FFF2-40B4-BE49-F238E27FC236}">
                <a16:creationId xmlns:a16="http://schemas.microsoft.com/office/drawing/2014/main" id="{560EE534-AB7E-4174-AAFA-904CBD52816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4928511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A873CC91-4F0E-4C14-9479-DBB5B7D1395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24928511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7" name="Textplatzhalter 8">
            <a:extLst>
              <a:ext uri="{FF2B5EF4-FFF2-40B4-BE49-F238E27FC236}">
                <a16:creationId xmlns:a16="http://schemas.microsoft.com/office/drawing/2014/main" id="{FE86947B-B380-4168-B2C6-6D588F4FF498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215064" y="16932085"/>
            <a:ext cx="3787774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8" name="Textplatzhalter 10">
            <a:extLst>
              <a:ext uri="{FF2B5EF4-FFF2-40B4-BE49-F238E27FC236}">
                <a16:creationId xmlns:a16="http://schemas.microsoft.com/office/drawing/2014/main" id="{E3048539-9747-4AE4-844D-82605FF843C1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215064" y="15861650"/>
            <a:ext cx="3787774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Bildplatzhalter 20">
            <a:extLst>
              <a:ext uri="{FF2B5EF4-FFF2-40B4-BE49-F238E27FC236}">
                <a16:creationId xmlns:a16="http://schemas.microsoft.com/office/drawing/2014/main" id="{CC6569E0-D1A6-4C8C-A2AF-AA22B43C25F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6215064" y="12241213"/>
            <a:ext cx="3787774" cy="2998787"/>
          </a:xfrm>
        </p:spPr>
        <p:txBody>
          <a:bodyPr/>
          <a:lstStyle/>
          <a:p>
            <a:endParaRPr lang="de-DE"/>
          </a:p>
        </p:txBody>
      </p:sp>
      <p:sp>
        <p:nvSpPr>
          <p:cNvPr id="30" name="Textplatzhalter 8">
            <a:extLst>
              <a:ext uri="{FF2B5EF4-FFF2-40B4-BE49-F238E27FC236}">
                <a16:creationId xmlns:a16="http://schemas.microsoft.com/office/drawing/2014/main" id="{CA7635B7-8B6E-4DAD-9503-EBD4B17E2EE3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10929938" y="16932085"/>
            <a:ext cx="3787774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1" name="Textplatzhalter 10">
            <a:extLst>
              <a:ext uri="{FF2B5EF4-FFF2-40B4-BE49-F238E27FC236}">
                <a16:creationId xmlns:a16="http://schemas.microsoft.com/office/drawing/2014/main" id="{CC0819F6-6651-4936-8BAE-ADF90CA46DB1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10929938" y="15861650"/>
            <a:ext cx="3787774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2" name="Bildplatzhalter 20">
            <a:extLst>
              <a:ext uri="{FF2B5EF4-FFF2-40B4-BE49-F238E27FC236}">
                <a16:creationId xmlns:a16="http://schemas.microsoft.com/office/drawing/2014/main" id="{8BFD94FD-6F3C-4178-802B-DFE880DD0DD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0929938" y="12241213"/>
            <a:ext cx="3787774" cy="2998787"/>
          </a:xfrm>
        </p:spPr>
        <p:txBody>
          <a:bodyPr/>
          <a:lstStyle/>
          <a:p>
            <a:endParaRPr lang="de-DE"/>
          </a:p>
        </p:txBody>
      </p:sp>
      <p:sp>
        <p:nvSpPr>
          <p:cNvPr id="33" name="Textplatzhalter 8">
            <a:extLst>
              <a:ext uri="{FF2B5EF4-FFF2-40B4-BE49-F238E27FC236}">
                <a16:creationId xmlns:a16="http://schemas.microsoft.com/office/drawing/2014/main" id="{E28C2E31-045C-4878-8E5D-E34733BC725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15617826" y="16932085"/>
            <a:ext cx="3787774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4" name="Textplatzhalter 10">
            <a:extLst>
              <a:ext uri="{FF2B5EF4-FFF2-40B4-BE49-F238E27FC236}">
                <a16:creationId xmlns:a16="http://schemas.microsoft.com/office/drawing/2014/main" id="{513AB96F-7C08-4025-AC97-FEBCA22ECA0D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15617826" y="15861650"/>
            <a:ext cx="3787774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Bildplatzhalter 20">
            <a:extLst>
              <a:ext uri="{FF2B5EF4-FFF2-40B4-BE49-F238E27FC236}">
                <a16:creationId xmlns:a16="http://schemas.microsoft.com/office/drawing/2014/main" id="{2FD43F75-1260-4060-9989-2830BB07F2B0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15617826" y="12241213"/>
            <a:ext cx="3787774" cy="2998787"/>
          </a:xfrm>
        </p:spPr>
        <p:txBody>
          <a:bodyPr/>
          <a:lstStyle/>
          <a:p>
            <a:endParaRPr lang="de-DE"/>
          </a:p>
        </p:txBody>
      </p:sp>
      <p:sp>
        <p:nvSpPr>
          <p:cNvPr id="36" name="Textplatzhalter 8">
            <a:extLst>
              <a:ext uri="{FF2B5EF4-FFF2-40B4-BE49-F238E27FC236}">
                <a16:creationId xmlns:a16="http://schemas.microsoft.com/office/drawing/2014/main" id="{1C8D302D-BB80-4A5F-B627-BCEAC28D9BE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20305714" y="16932085"/>
            <a:ext cx="3787774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7" name="Textplatzhalter 10">
            <a:extLst>
              <a:ext uri="{FF2B5EF4-FFF2-40B4-BE49-F238E27FC236}">
                <a16:creationId xmlns:a16="http://schemas.microsoft.com/office/drawing/2014/main" id="{92AC6313-7295-4439-AFC2-C7526CCBD181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20305714" y="15861650"/>
            <a:ext cx="3787774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4" name="Bildplatzhalter 20">
            <a:extLst>
              <a:ext uri="{FF2B5EF4-FFF2-40B4-BE49-F238E27FC236}">
                <a16:creationId xmlns:a16="http://schemas.microsoft.com/office/drawing/2014/main" id="{43AFB24E-B6B6-4FFA-97A7-4E65CA9A9246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20305714" y="12241213"/>
            <a:ext cx="3787774" cy="2998787"/>
          </a:xfrm>
        </p:spPr>
        <p:txBody>
          <a:bodyPr/>
          <a:lstStyle/>
          <a:p>
            <a:endParaRPr lang="de-DE"/>
          </a:p>
        </p:txBody>
      </p:sp>
      <p:sp>
        <p:nvSpPr>
          <p:cNvPr id="55" name="Textplatzhalter 8">
            <a:extLst>
              <a:ext uri="{FF2B5EF4-FFF2-40B4-BE49-F238E27FC236}">
                <a16:creationId xmlns:a16="http://schemas.microsoft.com/office/drawing/2014/main" id="{D485A252-9206-4868-9E36-E34097CA7F2B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24993602" y="16932085"/>
            <a:ext cx="3787774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6" name="Textplatzhalter 10">
            <a:extLst>
              <a:ext uri="{FF2B5EF4-FFF2-40B4-BE49-F238E27FC236}">
                <a16:creationId xmlns:a16="http://schemas.microsoft.com/office/drawing/2014/main" id="{FA3202FB-CDDB-4EAF-9E23-39253F9427C8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24993602" y="15861650"/>
            <a:ext cx="3787774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7" name="Bildplatzhalter 20">
            <a:extLst>
              <a:ext uri="{FF2B5EF4-FFF2-40B4-BE49-F238E27FC236}">
                <a16:creationId xmlns:a16="http://schemas.microsoft.com/office/drawing/2014/main" id="{E162986F-6BC1-42F6-A855-E4F4D551CDBD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4993602" y="12241213"/>
            <a:ext cx="3787774" cy="2998787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2854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175" y="6127333"/>
            <a:ext cx="27217688" cy="2278904"/>
          </a:xfrm>
        </p:spPr>
        <p:txBody>
          <a:bodyPr anchor="t" anchorCtr="0"/>
          <a:lstStyle>
            <a:lvl1pPr algn="l">
              <a:defRPr sz="99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175" y="7908120"/>
            <a:ext cx="27217688" cy="365461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900">
                <a:solidFill>
                  <a:schemeClr val="accent1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D2C15A-C5CC-479E-95DE-6C257D4DB5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27176" y="20072979"/>
            <a:ext cx="8472488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74EEC0A-3A97-451C-9C5F-25EEF114359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27176" y="19002544"/>
            <a:ext cx="8472488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12392B7-B1C8-4E48-9106-E4FB9A3F6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15744" y="39854927"/>
            <a:ext cx="2577156" cy="151214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8442930-DC10-448F-B2AB-26FFEC815E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7424063" y="40157400"/>
            <a:ext cx="1320800" cy="12096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QR</a:t>
            </a: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59F9714F-DF20-4C39-B73B-CE4D5E16E46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527176" y="12241213"/>
            <a:ext cx="8472488" cy="5840412"/>
          </a:xfrm>
        </p:spPr>
        <p:txBody>
          <a:bodyPr/>
          <a:lstStyle/>
          <a:p>
            <a:endParaRPr lang="de-DE"/>
          </a:p>
        </p:txBody>
      </p:sp>
      <p:sp>
        <p:nvSpPr>
          <p:cNvPr id="23" name="Bildplatzhalter 20">
            <a:extLst>
              <a:ext uri="{FF2B5EF4-FFF2-40B4-BE49-F238E27FC236}">
                <a16:creationId xmlns:a16="http://schemas.microsoft.com/office/drawing/2014/main" id="{082380FB-8629-4890-82B5-73026606211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52717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43DBC68F-8D02-4E37-9548-4445621576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52717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38" name="Bildplatzhalter 20">
            <a:extLst>
              <a:ext uri="{FF2B5EF4-FFF2-40B4-BE49-F238E27FC236}">
                <a16:creationId xmlns:a16="http://schemas.microsoft.com/office/drawing/2014/main" id="{5CE716E0-3005-433E-A2AF-FBFEFF08499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920412" y="12241213"/>
            <a:ext cx="8472488" cy="5840412"/>
          </a:xfrm>
        </p:spPr>
        <p:txBody>
          <a:bodyPr/>
          <a:lstStyle/>
          <a:p>
            <a:endParaRPr lang="de-DE"/>
          </a:p>
        </p:txBody>
      </p:sp>
      <p:sp>
        <p:nvSpPr>
          <p:cNvPr id="39" name="Bildplatzhalter 20">
            <a:extLst>
              <a:ext uri="{FF2B5EF4-FFF2-40B4-BE49-F238E27FC236}">
                <a16:creationId xmlns:a16="http://schemas.microsoft.com/office/drawing/2014/main" id="{DFA93CF6-E69D-4693-B488-5A8B554EAB0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0243799" y="12241213"/>
            <a:ext cx="8472488" cy="5840412"/>
          </a:xfrm>
        </p:spPr>
        <p:txBody>
          <a:bodyPr/>
          <a:lstStyle/>
          <a:p>
            <a:endParaRPr lang="de-DE"/>
          </a:p>
        </p:txBody>
      </p:sp>
      <p:sp>
        <p:nvSpPr>
          <p:cNvPr id="40" name="Textplatzhalter 8">
            <a:extLst>
              <a:ext uri="{FF2B5EF4-FFF2-40B4-BE49-F238E27FC236}">
                <a16:creationId xmlns:a16="http://schemas.microsoft.com/office/drawing/2014/main" id="{04EACFA9-FA3A-4307-BE09-96F4EC629C4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0929937" y="20072979"/>
            <a:ext cx="8472488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1" name="Textplatzhalter 10">
            <a:extLst>
              <a:ext uri="{FF2B5EF4-FFF2-40B4-BE49-F238E27FC236}">
                <a16:creationId xmlns:a16="http://schemas.microsoft.com/office/drawing/2014/main" id="{A014DD47-6961-4934-BFA1-3AC053778D5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929937" y="19002544"/>
            <a:ext cx="8472488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2" name="Textplatzhalter 8">
            <a:extLst>
              <a:ext uri="{FF2B5EF4-FFF2-40B4-BE49-F238E27FC236}">
                <a16:creationId xmlns:a16="http://schemas.microsoft.com/office/drawing/2014/main" id="{A4E386FA-7EF6-4D1D-99A9-C9AAB23180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0272375" y="20072979"/>
            <a:ext cx="8472488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3" name="Textplatzhalter 10">
            <a:extLst>
              <a:ext uri="{FF2B5EF4-FFF2-40B4-BE49-F238E27FC236}">
                <a16:creationId xmlns:a16="http://schemas.microsoft.com/office/drawing/2014/main" id="{C6A53706-557A-4841-A654-261F215CF78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20272375" y="19002544"/>
            <a:ext cx="8472488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4" name="Bildplatzhalter 20">
            <a:extLst>
              <a:ext uri="{FF2B5EF4-FFF2-40B4-BE49-F238E27FC236}">
                <a16:creationId xmlns:a16="http://schemas.microsoft.com/office/drawing/2014/main" id="{820229CB-00B4-4881-9B43-614DCB303814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21506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5" name="Textplatzhalter 24">
            <a:extLst>
              <a:ext uri="{FF2B5EF4-FFF2-40B4-BE49-F238E27FC236}">
                <a16:creationId xmlns:a16="http://schemas.microsoft.com/office/drawing/2014/main" id="{F928C13A-0874-4025-BCD7-79B62C650F9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21506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6" name="Bildplatzhalter 20">
            <a:extLst>
              <a:ext uri="{FF2B5EF4-FFF2-40B4-BE49-F238E27FC236}">
                <a16:creationId xmlns:a16="http://schemas.microsoft.com/office/drawing/2014/main" id="{7F9044BE-69AD-427C-83BE-D9EA68BAF7C1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929937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7" name="Textplatzhalter 24">
            <a:extLst>
              <a:ext uri="{FF2B5EF4-FFF2-40B4-BE49-F238E27FC236}">
                <a16:creationId xmlns:a16="http://schemas.microsoft.com/office/drawing/2014/main" id="{194F3A0E-8BE7-4041-BF3F-96B4380AF59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0929937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8" name="Bildplatzhalter 20">
            <a:extLst>
              <a:ext uri="{FF2B5EF4-FFF2-40B4-BE49-F238E27FC236}">
                <a16:creationId xmlns:a16="http://schemas.microsoft.com/office/drawing/2014/main" id="{589BAC79-E1EC-4CB2-9776-6B10FB67903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561782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9" name="Textplatzhalter 24">
            <a:extLst>
              <a:ext uri="{FF2B5EF4-FFF2-40B4-BE49-F238E27FC236}">
                <a16:creationId xmlns:a16="http://schemas.microsoft.com/office/drawing/2014/main" id="{F13201F5-3439-4098-929A-786FAB649B8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561782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0" name="Bildplatzhalter 20">
            <a:extLst>
              <a:ext uri="{FF2B5EF4-FFF2-40B4-BE49-F238E27FC236}">
                <a16:creationId xmlns:a16="http://schemas.microsoft.com/office/drawing/2014/main" id="{894F3E62-4262-4BCD-A309-8AEE4AC3844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2024062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1" name="Textplatzhalter 24">
            <a:extLst>
              <a:ext uri="{FF2B5EF4-FFF2-40B4-BE49-F238E27FC236}">
                <a16:creationId xmlns:a16="http://schemas.microsoft.com/office/drawing/2014/main" id="{E703CCBE-E5CB-4992-8C70-B0E1EF25CD2F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024062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2" name="Bildplatzhalter 20">
            <a:extLst>
              <a:ext uri="{FF2B5EF4-FFF2-40B4-BE49-F238E27FC236}">
                <a16:creationId xmlns:a16="http://schemas.microsoft.com/office/drawing/2014/main" id="{560EE534-AB7E-4174-AAFA-904CBD52816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4928511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A873CC91-4F0E-4C14-9479-DBB5B7D1395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24928511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516121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175" y="6127333"/>
            <a:ext cx="27217688" cy="2278904"/>
          </a:xfrm>
        </p:spPr>
        <p:txBody>
          <a:bodyPr anchor="t" anchorCtr="0"/>
          <a:lstStyle>
            <a:lvl1pPr algn="l">
              <a:defRPr sz="99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175" y="7908120"/>
            <a:ext cx="27217688" cy="365461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900">
                <a:solidFill>
                  <a:schemeClr val="accent1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D2C15A-C5CC-479E-95DE-6C257D4DB5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27176" y="20072979"/>
            <a:ext cx="13163548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74EEC0A-3A97-451C-9C5F-25EEF114359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27176" y="19002544"/>
            <a:ext cx="13163548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12392B7-B1C8-4E48-9106-E4FB9A3F6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15744" y="39854927"/>
            <a:ext cx="2577156" cy="151214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8442930-DC10-448F-B2AB-26FFEC815E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7424063" y="40157400"/>
            <a:ext cx="1320800" cy="12096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QR</a:t>
            </a: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59F9714F-DF20-4C39-B73B-CE4D5E16E46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527175" y="12241213"/>
            <a:ext cx="13163549" cy="5840412"/>
          </a:xfrm>
        </p:spPr>
        <p:txBody>
          <a:bodyPr/>
          <a:lstStyle/>
          <a:p>
            <a:endParaRPr lang="de-DE"/>
          </a:p>
        </p:txBody>
      </p:sp>
      <p:sp>
        <p:nvSpPr>
          <p:cNvPr id="23" name="Bildplatzhalter 20">
            <a:extLst>
              <a:ext uri="{FF2B5EF4-FFF2-40B4-BE49-F238E27FC236}">
                <a16:creationId xmlns:a16="http://schemas.microsoft.com/office/drawing/2014/main" id="{082380FB-8629-4890-82B5-73026606211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52717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43DBC68F-8D02-4E37-9548-4445621576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52717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4" name="Bildplatzhalter 20">
            <a:extLst>
              <a:ext uri="{FF2B5EF4-FFF2-40B4-BE49-F238E27FC236}">
                <a16:creationId xmlns:a16="http://schemas.microsoft.com/office/drawing/2014/main" id="{820229CB-00B4-4881-9B43-614DCB303814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21506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5" name="Textplatzhalter 24">
            <a:extLst>
              <a:ext uri="{FF2B5EF4-FFF2-40B4-BE49-F238E27FC236}">
                <a16:creationId xmlns:a16="http://schemas.microsoft.com/office/drawing/2014/main" id="{F928C13A-0874-4025-BCD7-79B62C650F9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21506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6" name="Bildplatzhalter 20">
            <a:extLst>
              <a:ext uri="{FF2B5EF4-FFF2-40B4-BE49-F238E27FC236}">
                <a16:creationId xmlns:a16="http://schemas.microsoft.com/office/drawing/2014/main" id="{7F9044BE-69AD-427C-83BE-D9EA68BAF7C1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929937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7" name="Textplatzhalter 24">
            <a:extLst>
              <a:ext uri="{FF2B5EF4-FFF2-40B4-BE49-F238E27FC236}">
                <a16:creationId xmlns:a16="http://schemas.microsoft.com/office/drawing/2014/main" id="{194F3A0E-8BE7-4041-BF3F-96B4380AF59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0929937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8" name="Bildplatzhalter 20">
            <a:extLst>
              <a:ext uri="{FF2B5EF4-FFF2-40B4-BE49-F238E27FC236}">
                <a16:creationId xmlns:a16="http://schemas.microsoft.com/office/drawing/2014/main" id="{589BAC79-E1EC-4CB2-9776-6B10FB67903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561782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9" name="Textplatzhalter 24">
            <a:extLst>
              <a:ext uri="{FF2B5EF4-FFF2-40B4-BE49-F238E27FC236}">
                <a16:creationId xmlns:a16="http://schemas.microsoft.com/office/drawing/2014/main" id="{F13201F5-3439-4098-929A-786FAB649B8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561782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0" name="Bildplatzhalter 20">
            <a:extLst>
              <a:ext uri="{FF2B5EF4-FFF2-40B4-BE49-F238E27FC236}">
                <a16:creationId xmlns:a16="http://schemas.microsoft.com/office/drawing/2014/main" id="{894F3E62-4262-4BCD-A309-8AEE4AC3844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2024062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1" name="Textplatzhalter 24">
            <a:extLst>
              <a:ext uri="{FF2B5EF4-FFF2-40B4-BE49-F238E27FC236}">
                <a16:creationId xmlns:a16="http://schemas.microsoft.com/office/drawing/2014/main" id="{E703CCBE-E5CB-4992-8C70-B0E1EF25CD2F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024062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2" name="Bildplatzhalter 20">
            <a:extLst>
              <a:ext uri="{FF2B5EF4-FFF2-40B4-BE49-F238E27FC236}">
                <a16:creationId xmlns:a16="http://schemas.microsoft.com/office/drawing/2014/main" id="{560EE534-AB7E-4174-AAFA-904CBD52816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4928511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A873CC91-4F0E-4C14-9479-DBB5B7D1395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24928511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27" name="Textplatzhalter 8">
            <a:extLst>
              <a:ext uri="{FF2B5EF4-FFF2-40B4-BE49-F238E27FC236}">
                <a16:creationId xmlns:a16="http://schemas.microsoft.com/office/drawing/2014/main" id="{8D3EFA92-8397-49B8-A184-88E22031199B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15617825" y="20072979"/>
            <a:ext cx="13163548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8" name="Textplatzhalter 10">
            <a:extLst>
              <a:ext uri="{FF2B5EF4-FFF2-40B4-BE49-F238E27FC236}">
                <a16:creationId xmlns:a16="http://schemas.microsoft.com/office/drawing/2014/main" id="{1396AE20-1E1B-4A46-8ADA-7374BF1436CD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5617825" y="19002544"/>
            <a:ext cx="13163548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Bildplatzhalter 20">
            <a:extLst>
              <a:ext uri="{FF2B5EF4-FFF2-40B4-BE49-F238E27FC236}">
                <a16:creationId xmlns:a16="http://schemas.microsoft.com/office/drawing/2014/main" id="{468A17C8-511B-4D3F-BC2F-BECCB4B8D5C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15617825" y="12241213"/>
            <a:ext cx="13163549" cy="5840412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614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175" y="6127333"/>
            <a:ext cx="27217688" cy="2278904"/>
          </a:xfrm>
        </p:spPr>
        <p:txBody>
          <a:bodyPr anchor="t" anchorCtr="0"/>
          <a:lstStyle>
            <a:lvl1pPr algn="l">
              <a:defRPr sz="99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175" y="7908120"/>
            <a:ext cx="27217688" cy="365461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900">
                <a:solidFill>
                  <a:schemeClr val="accent1"/>
                </a:solidFill>
                <a:latin typeface="Noto Sans Medium" panose="020B0502040504020204" pitchFamily="34" charset="0"/>
                <a:ea typeface="Noto Sans Medium" panose="020B0502040504020204" pitchFamily="34" charset="0"/>
                <a:cs typeface="Noto Sans Medium" panose="020B0502040504020204" pitchFamily="34" charset="0"/>
              </a:defRPr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D2C15A-C5CC-479E-95DE-6C257D4DB5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27176" y="20072979"/>
            <a:ext cx="27189110" cy="4837778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74EEC0A-3A97-451C-9C5F-25EEF114359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27176" y="19002544"/>
            <a:ext cx="27189110" cy="1070435"/>
          </a:xfrm>
        </p:spPr>
        <p:txBody>
          <a:bodyPr/>
          <a:lstStyle>
            <a:lvl1pPr>
              <a:defRPr sz="3500">
                <a:latin typeface="+mj-lt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12392B7-B1C8-4E48-9106-E4FB9A3F6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15744" y="39854927"/>
            <a:ext cx="2577156" cy="1512148"/>
          </a:xfrm>
          <a:prstGeom prst="rect">
            <a:avLst/>
          </a:prstGeom>
        </p:spPr>
      </p:pic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D8442930-DC10-448F-B2AB-26FFEC815EA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7424063" y="40157400"/>
            <a:ext cx="1320800" cy="1209675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QR</a:t>
            </a:r>
          </a:p>
        </p:txBody>
      </p:sp>
      <p:sp>
        <p:nvSpPr>
          <p:cNvPr id="21" name="Bildplatzhalter 20">
            <a:extLst>
              <a:ext uri="{FF2B5EF4-FFF2-40B4-BE49-F238E27FC236}">
                <a16:creationId xmlns:a16="http://schemas.microsoft.com/office/drawing/2014/main" id="{59F9714F-DF20-4C39-B73B-CE4D5E16E46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527175" y="12241213"/>
            <a:ext cx="27189111" cy="5840412"/>
          </a:xfrm>
        </p:spPr>
        <p:txBody>
          <a:bodyPr/>
          <a:lstStyle/>
          <a:p>
            <a:endParaRPr lang="de-DE"/>
          </a:p>
        </p:txBody>
      </p:sp>
      <p:sp>
        <p:nvSpPr>
          <p:cNvPr id="23" name="Bildplatzhalter 20">
            <a:extLst>
              <a:ext uri="{FF2B5EF4-FFF2-40B4-BE49-F238E27FC236}">
                <a16:creationId xmlns:a16="http://schemas.microsoft.com/office/drawing/2014/main" id="{082380FB-8629-4890-82B5-73026606211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52717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43DBC68F-8D02-4E37-9548-44456215765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52717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4" name="Bildplatzhalter 20">
            <a:extLst>
              <a:ext uri="{FF2B5EF4-FFF2-40B4-BE49-F238E27FC236}">
                <a16:creationId xmlns:a16="http://schemas.microsoft.com/office/drawing/2014/main" id="{820229CB-00B4-4881-9B43-614DCB303814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21506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5" name="Textplatzhalter 24">
            <a:extLst>
              <a:ext uri="{FF2B5EF4-FFF2-40B4-BE49-F238E27FC236}">
                <a16:creationId xmlns:a16="http://schemas.microsoft.com/office/drawing/2014/main" id="{F928C13A-0874-4025-BCD7-79B62C650F9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21506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6" name="Bildplatzhalter 20">
            <a:extLst>
              <a:ext uri="{FF2B5EF4-FFF2-40B4-BE49-F238E27FC236}">
                <a16:creationId xmlns:a16="http://schemas.microsoft.com/office/drawing/2014/main" id="{7F9044BE-69AD-427C-83BE-D9EA68BAF7C1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10929937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7" name="Textplatzhalter 24">
            <a:extLst>
              <a:ext uri="{FF2B5EF4-FFF2-40B4-BE49-F238E27FC236}">
                <a16:creationId xmlns:a16="http://schemas.microsoft.com/office/drawing/2014/main" id="{194F3A0E-8BE7-4041-BF3F-96B4380AF59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0929937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48" name="Bildplatzhalter 20">
            <a:extLst>
              <a:ext uri="{FF2B5EF4-FFF2-40B4-BE49-F238E27FC236}">
                <a16:creationId xmlns:a16="http://schemas.microsoft.com/office/drawing/2014/main" id="{589BAC79-E1EC-4CB2-9776-6B10FB679035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15617825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49" name="Textplatzhalter 24">
            <a:extLst>
              <a:ext uri="{FF2B5EF4-FFF2-40B4-BE49-F238E27FC236}">
                <a16:creationId xmlns:a16="http://schemas.microsoft.com/office/drawing/2014/main" id="{F13201F5-3439-4098-929A-786FAB649B8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5617825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0" name="Bildplatzhalter 20">
            <a:extLst>
              <a:ext uri="{FF2B5EF4-FFF2-40B4-BE49-F238E27FC236}">
                <a16:creationId xmlns:a16="http://schemas.microsoft.com/office/drawing/2014/main" id="{894F3E62-4262-4BCD-A309-8AEE4AC3844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20240623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1" name="Textplatzhalter 24">
            <a:extLst>
              <a:ext uri="{FF2B5EF4-FFF2-40B4-BE49-F238E27FC236}">
                <a16:creationId xmlns:a16="http://schemas.microsoft.com/office/drawing/2014/main" id="{E703CCBE-E5CB-4992-8C70-B0E1EF25CD2F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0240623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  <p:sp>
        <p:nvSpPr>
          <p:cNvPr id="52" name="Bildplatzhalter 20">
            <a:extLst>
              <a:ext uri="{FF2B5EF4-FFF2-40B4-BE49-F238E27FC236}">
                <a16:creationId xmlns:a16="http://schemas.microsoft.com/office/drawing/2014/main" id="{560EE534-AB7E-4174-AAFA-904CBD52816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4928511" y="25750735"/>
            <a:ext cx="3787776" cy="3864026"/>
          </a:xfrm>
        </p:spPr>
        <p:txBody>
          <a:bodyPr/>
          <a:lstStyle/>
          <a:p>
            <a:endParaRPr lang="de-DE"/>
          </a:p>
        </p:txBody>
      </p:sp>
      <p:sp>
        <p:nvSpPr>
          <p:cNvPr id="53" name="Textplatzhalter 24">
            <a:extLst>
              <a:ext uri="{FF2B5EF4-FFF2-40B4-BE49-F238E27FC236}">
                <a16:creationId xmlns:a16="http://schemas.microsoft.com/office/drawing/2014/main" id="{A873CC91-4F0E-4C14-9479-DBB5B7D1395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24928511" y="30027563"/>
            <a:ext cx="3787775" cy="318611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91285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1913" y="2278913"/>
            <a:ext cx="27211388" cy="827341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98ABACA-2EC6-4F9F-A361-2152D6054A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31912" y="1523974"/>
            <a:ext cx="9326593" cy="311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0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  <p:sldLayoutId id="2147483662" r:id="rId3"/>
    <p:sldLayoutId id="2147483663" r:id="rId4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0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2563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74625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0" userDrawn="1">
          <p15:clr>
            <a:srgbClr val="F26B43"/>
          </p15:clr>
        </p15:guide>
        <p15:guide id="2" pos="9819" userDrawn="1">
          <p15:clr>
            <a:srgbClr val="F26B43"/>
          </p15:clr>
        </p15:guide>
        <p15:guide id="3" pos="962" userDrawn="1">
          <p15:clr>
            <a:srgbClr val="F26B43"/>
          </p15:clr>
        </p15:guide>
        <p15:guide id="4" pos="3348" userDrawn="1">
          <p15:clr>
            <a:srgbClr val="F26B43"/>
          </p15:clr>
        </p15:guide>
        <p15:guide id="5" pos="3915" userDrawn="1">
          <p15:clr>
            <a:srgbClr val="F26B43"/>
          </p15:clr>
        </p15:guide>
        <p15:guide id="6" pos="6299" userDrawn="1">
          <p15:clr>
            <a:srgbClr val="F26B43"/>
          </p15:clr>
        </p15:guide>
        <p15:guide id="7" pos="6866" userDrawn="1">
          <p15:clr>
            <a:srgbClr val="F26B43"/>
          </p15:clr>
        </p15:guide>
        <p15:guide id="8" pos="9254" userDrawn="1">
          <p15:clr>
            <a:srgbClr val="F26B43"/>
          </p15:clr>
        </p15:guide>
        <p15:guide id="9" pos="12216" userDrawn="1">
          <p15:clr>
            <a:srgbClr val="F26B43"/>
          </p15:clr>
        </p15:guide>
        <p15:guide id="10" pos="12770" userDrawn="1">
          <p15:clr>
            <a:srgbClr val="F26B43"/>
          </p15:clr>
        </p15:guide>
        <p15:guide id="11" pos="15167" userDrawn="1">
          <p15:clr>
            <a:srgbClr val="F26B43"/>
          </p15:clr>
        </p15:guide>
        <p15:guide id="12" pos="15725" userDrawn="1">
          <p15:clr>
            <a:srgbClr val="F26B43"/>
          </p15:clr>
        </p15:guide>
        <p15:guide id="13" pos="18107" userDrawn="1">
          <p15:clr>
            <a:srgbClr val="F26B43"/>
          </p15:clr>
        </p15:guide>
        <p15:guide id="14" orient="horz" pos="260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606.03748?utm_source=chatgpt.com" TargetMode="External"/><Relationship Id="rId2" Type="http://schemas.microsoft.com/office/2018/10/relationships/comments" Target="../comments/modernComment_100_C6949F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 29">
            <a:extLst>
              <a:ext uri="{FF2B5EF4-FFF2-40B4-BE49-F238E27FC236}">
                <a16:creationId xmlns:a16="http://schemas.microsoft.com/office/drawing/2014/main" id="{3AAEF427-67D6-4A4F-93BC-D905D8767F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Oberseminar Automatisierungstechnik SS2026</a:t>
            </a:r>
          </a:p>
        </p:txBody>
      </p:sp>
      <p:sp>
        <p:nvSpPr>
          <p:cNvPr id="31" name="Untertitel 30">
            <a:extLst>
              <a:ext uri="{FF2B5EF4-FFF2-40B4-BE49-F238E27FC236}">
                <a16:creationId xmlns:a16="http://schemas.microsoft.com/office/drawing/2014/main" id="{B7483B40-386D-49D1-AD33-83DA3F38D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sz="6600" dirty="0"/>
              <a:t>YOLO26: </a:t>
            </a:r>
            <a:r>
              <a:rPr lang="en-DE" sz="6600" dirty="0" err="1"/>
              <a:t>Bestimmung</a:t>
            </a:r>
            <a:r>
              <a:rPr lang="en-DE" sz="6600" dirty="0"/>
              <a:t> von </a:t>
            </a:r>
            <a:r>
              <a:rPr lang="en-DE" sz="6600" dirty="0" err="1"/>
              <a:t>Objekt</a:t>
            </a:r>
            <a:r>
              <a:rPr lang="en-DE" sz="6600" dirty="0"/>
              <a:t>-Posen in </a:t>
            </a:r>
            <a:r>
              <a:rPr lang="en-DE" sz="6600" dirty="0" err="1"/>
              <a:t>Bildern</a:t>
            </a:r>
            <a:endParaRPr lang="en-US" sz="6600" dirty="0"/>
          </a:p>
          <a:p>
            <a:r>
              <a:rPr lang="de-DE" dirty="0"/>
              <a:t>Nguyen, Duc Hai; Loewe, Richard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1F03E8BB-F1F8-49EF-A744-B11EEB25B0C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27176" y="22019770"/>
            <a:ext cx="8472488" cy="6726680"/>
          </a:xfrm>
        </p:spPr>
        <p:txBody>
          <a:bodyPr/>
          <a:lstStyle/>
          <a:p>
            <a:r>
              <a:rPr lang="en-DE" b="1" dirty="0" err="1">
                <a:highlight>
                  <a:srgbClr val="00FFFF"/>
                </a:highlight>
              </a:rPr>
              <a:t>Eingangsdaten</a:t>
            </a:r>
            <a:r>
              <a:rPr lang="en-DE" b="1" dirty="0">
                <a:highlight>
                  <a:srgbClr val="00FFFF"/>
                </a:highlight>
              </a:rPr>
              <a:t> des </a:t>
            </a:r>
            <a:r>
              <a:rPr lang="en-DE" b="1" dirty="0" err="1">
                <a:highlight>
                  <a:srgbClr val="00FFFF"/>
                </a:highlight>
              </a:rPr>
              <a:t>Netzes</a:t>
            </a:r>
            <a:r>
              <a:rPr lang="en-DE" b="1" dirty="0">
                <a:highlight>
                  <a:srgbClr val="00FFFF"/>
                </a:highlight>
              </a:rPr>
              <a:t> [F2]</a:t>
            </a:r>
          </a:p>
          <a:p>
            <a:pPr algn="ctr"/>
            <a:r>
              <a:rPr lang="en-DE" b="1" dirty="0">
                <a:highlight>
                  <a:srgbClr val="00FFFF"/>
                </a:highlight>
              </a:rPr>
              <a:t>float32 [640, 640, 3]</a:t>
            </a:r>
            <a:r>
              <a:rPr lang="en-DE" dirty="0">
                <a:highlight>
                  <a:srgbClr val="00FFFF"/>
                </a:highlight>
              </a:rPr>
              <a:t> </a:t>
            </a:r>
            <a:endParaRPr lang="en-US" dirty="0">
              <a:highlight>
                <a:srgbClr val="00FFFF"/>
              </a:highlight>
            </a:endParaRPr>
          </a:p>
          <a:p>
            <a:pPr algn="ctr"/>
            <a:r>
              <a:rPr lang="en-DE" dirty="0" err="1">
                <a:highlight>
                  <a:srgbClr val="00FFFF"/>
                </a:highlight>
              </a:rPr>
              <a:t>Höhe</a:t>
            </a:r>
            <a:r>
              <a:rPr lang="en-DE" dirty="0">
                <a:highlight>
                  <a:srgbClr val="00FFFF"/>
                </a:highlight>
              </a:rPr>
              <a:t> × Breite × RGB-</a:t>
            </a:r>
            <a:r>
              <a:rPr lang="en-DE" dirty="0" err="1">
                <a:highlight>
                  <a:srgbClr val="00FFFF"/>
                </a:highlight>
              </a:rPr>
              <a:t>Farbkanäle</a:t>
            </a:r>
            <a:endParaRPr lang="en-DE" dirty="0">
              <a:highlight>
                <a:srgbClr val="00FFFF"/>
              </a:highlight>
            </a:endParaRPr>
          </a:p>
          <a:p>
            <a:r>
              <a:rPr lang="en-DE" b="1" dirty="0" err="1">
                <a:highlight>
                  <a:srgbClr val="00FFFF"/>
                </a:highlight>
              </a:rPr>
              <a:t>Vorverarbeitung</a:t>
            </a:r>
            <a:r>
              <a:rPr lang="en-DE" b="1" dirty="0">
                <a:highlight>
                  <a:srgbClr val="00FFFF"/>
                </a:highlight>
              </a:rPr>
              <a:t>:</a:t>
            </a:r>
            <a:endParaRPr lang="en-DE" dirty="0">
              <a:highlight>
                <a:srgbClr val="00FFFF"/>
              </a:highlight>
            </a:endParaRPr>
          </a:p>
          <a:p>
            <a:r>
              <a:rPr lang="en-DE" dirty="0" err="1">
                <a:highlight>
                  <a:srgbClr val="00FFFF"/>
                </a:highlight>
              </a:rPr>
              <a:t>Skalierung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unter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Beibehaltung</a:t>
            </a:r>
            <a:r>
              <a:rPr lang="en-DE" dirty="0">
                <a:highlight>
                  <a:srgbClr val="00FFFF"/>
                </a:highlight>
              </a:rPr>
              <a:t> des </a:t>
            </a:r>
            <a:r>
              <a:rPr lang="en-DE" dirty="0" err="1">
                <a:highlight>
                  <a:srgbClr val="00FFFF"/>
                </a:highlight>
              </a:rPr>
              <a:t>Seitenverhältnisses</a:t>
            </a:r>
            <a:r>
              <a:rPr lang="en-DE" dirty="0">
                <a:highlight>
                  <a:srgbClr val="00FFFF"/>
                </a:highlight>
              </a:rPr>
              <a:t> → </a:t>
            </a:r>
            <a:r>
              <a:rPr lang="en-DE" dirty="0" err="1">
                <a:highlight>
                  <a:srgbClr val="00FFFF"/>
                </a:highlight>
              </a:rPr>
              <a:t>längere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Seite</a:t>
            </a:r>
            <a:r>
              <a:rPr lang="en-DE" dirty="0">
                <a:highlight>
                  <a:srgbClr val="00FFFF"/>
                </a:highlight>
              </a:rPr>
              <a:t> = 640 </a:t>
            </a:r>
            <a:r>
              <a:rPr lang="en-DE" dirty="0" err="1">
                <a:highlight>
                  <a:srgbClr val="00FFFF"/>
                </a:highlight>
              </a:rPr>
              <a:t>px</a:t>
            </a:r>
            <a:endParaRPr lang="en-DE" dirty="0">
              <a:highlight>
                <a:srgbClr val="00FFFF"/>
              </a:highlight>
            </a:endParaRPr>
          </a:p>
          <a:p>
            <a:r>
              <a:rPr lang="en-DE" dirty="0">
                <a:highlight>
                  <a:srgbClr val="00FFFF"/>
                </a:highlight>
              </a:rPr>
              <a:t>Padding der </a:t>
            </a:r>
            <a:r>
              <a:rPr lang="en-DE" dirty="0" err="1">
                <a:highlight>
                  <a:srgbClr val="00FFFF"/>
                </a:highlight>
              </a:rPr>
              <a:t>Randbereiche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mit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Nullwerten</a:t>
            </a:r>
            <a:r>
              <a:rPr lang="en-DE" dirty="0">
                <a:highlight>
                  <a:srgbClr val="00FFFF"/>
                </a:highlight>
              </a:rPr>
              <a:t> (schwarz) → </a:t>
            </a:r>
            <a:r>
              <a:rPr lang="en-DE" dirty="0" err="1">
                <a:highlight>
                  <a:srgbClr val="00FFFF"/>
                </a:highlight>
              </a:rPr>
              <a:t>quadratisches</a:t>
            </a:r>
            <a:r>
              <a:rPr lang="en-DE" dirty="0">
                <a:highlight>
                  <a:srgbClr val="00FFFF"/>
                </a:highlight>
              </a:rPr>
              <a:t> Format</a:t>
            </a:r>
          </a:p>
          <a:p>
            <a:r>
              <a:rPr lang="en-DE" dirty="0" err="1">
                <a:highlight>
                  <a:srgbClr val="00FFFF"/>
                </a:highlight>
              </a:rPr>
              <a:t>Normierung</a:t>
            </a:r>
            <a:r>
              <a:rPr lang="en-DE" dirty="0">
                <a:highlight>
                  <a:srgbClr val="00FFFF"/>
                </a:highlight>
              </a:rPr>
              <a:t> der </a:t>
            </a:r>
            <a:r>
              <a:rPr lang="en-DE" dirty="0" err="1">
                <a:highlight>
                  <a:srgbClr val="00FFFF"/>
                </a:highlight>
              </a:rPr>
              <a:t>Pixelwerte</a:t>
            </a:r>
            <a:r>
              <a:rPr lang="en-DE" dirty="0">
                <a:highlight>
                  <a:srgbClr val="00FFFF"/>
                </a:highlight>
              </a:rPr>
              <a:t> auf float32</a:t>
            </a:r>
          </a:p>
        </p:txBody>
      </p:sp>
      <p:sp>
        <p:nvSpPr>
          <p:cNvPr id="35" name="Bildplatzhalter 34">
            <a:extLst>
              <a:ext uri="{FF2B5EF4-FFF2-40B4-BE49-F238E27FC236}">
                <a16:creationId xmlns:a16="http://schemas.microsoft.com/office/drawing/2014/main" id="{503456D7-DDF4-4275-B7AD-C952118E96B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527176" y="12241212"/>
            <a:ext cx="8472488" cy="9160669"/>
          </a:xfrm>
        </p:spPr>
        <p:txBody>
          <a:bodyPr/>
          <a:lstStyle/>
          <a:p>
            <a:r>
              <a:rPr lang="en-US" b="1" dirty="0">
                <a:highlight>
                  <a:srgbClr val="00FFFF"/>
                </a:highlight>
              </a:rPr>
              <a:t>Motivation &amp; </a:t>
            </a:r>
            <a:r>
              <a:rPr lang="en-US" b="1" dirty="0" err="1">
                <a:highlight>
                  <a:srgbClr val="00FFFF"/>
                </a:highlight>
              </a:rPr>
              <a:t>Einordnung</a:t>
            </a:r>
            <a:endParaRPr lang="en-US" b="1" dirty="0">
              <a:highlight>
                <a:srgbClr val="00FFFF"/>
              </a:highlight>
            </a:endParaRPr>
          </a:p>
          <a:p>
            <a:r>
              <a:rPr lang="en-DE" b="1" dirty="0" err="1">
                <a:highlight>
                  <a:srgbClr val="00FFFF"/>
                </a:highlight>
              </a:rPr>
              <a:t>Posenbestimmung</a:t>
            </a:r>
            <a:r>
              <a:rPr lang="en-DE" b="1" dirty="0">
                <a:highlight>
                  <a:srgbClr val="00FFFF"/>
                </a:highlight>
              </a:rPr>
              <a:t> in der Navigation </a:t>
            </a:r>
            <a:r>
              <a:rPr lang="en-DE" b="1" dirty="0" err="1">
                <a:highlight>
                  <a:srgbClr val="00FFFF"/>
                </a:highlight>
              </a:rPr>
              <a:t>mobiler</a:t>
            </a:r>
            <a:r>
              <a:rPr lang="en-DE" b="1" dirty="0">
                <a:highlight>
                  <a:srgbClr val="00FFFF"/>
                </a:highlight>
              </a:rPr>
              <a:t> </a:t>
            </a:r>
            <a:r>
              <a:rPr lang="en-DE" b="1" dirty="0" err="1">
                <a:highlight>
                  <a:srgbClr val="00FFFF"/>
                </a:highlight>
              </a:rPr>
              <a:t>Roboter</a:t>
            </a:r>
            <a:endParaRPr lang="en-DE" dirty="0">
              <a:highlight>
                <a:srgbClr val="00FFFF"/>
              </a:highlight>
            </a:endParaRPr>
          </a:p>
          <a:p>
            <a:r>
              <a:rPr lang="en-DE" dirty="0">
                <a:highlight>
                  <a:srgbClr val="00FFFF"/>
                </a:highlight>
              </a:rPr>
              <a:t>Navigation = </a:t>
            </a:r>
            <a:r>
              <a:rPr lang="en-DE" dirty="0" err="1">
                <a:highlight>
                  <a:srgbClr val="00FFFF"/>
                </a:highlight>
              </a:rPr>
              <a:t>Wahrnehmung</a:t>
            </a:r>
            <a:r>
              <a:rPr lang="en-DE" dirty="0">
                <a:highlight>
                  <a:srgbClr val="00FFFF"/>
                </a:highlight>
              </a:rPr>
              <a:t> &amp; Interpretation der </a:t>
            </a:r>
            <a:r>
              <a:rPr lang="en-DE" dirty="0" err="1">
                <a:highlight>
                  <a:srgbClr val="00FFFF"/>
                </a:highlight>
              </a:rPr>
              <a:t>Umgebung</a:t>
            </a:r>
            <a:r>
              <a:rPr lang="en-DE" dirty="0">
                <a:highlight>
                  <a:srgbClr val="00FFFF"/>
                </a:highlight>
              </a:rPr>
              <a:t> (Localization &amp; Mapping) → </a:t>
            </a:r>
            <a:r>
              <a:rPr lang="en-DE" dirty="0" err="1">
                <a:highlight>
                  <a:srgbClr val="00FFFF"/>
                </a:highlight>
              </a:rPr>
              <a:t>Grundlage</a:t>
            </a:r>
            <a:r>
              <a:rPr lang="en-DE" dirty="0">
                <a:highlight>
                  <a:srgbClr val="00FFFF"/>
                </a:highlight>
              </a:rPr>
              <a:t> für Guidance &amp; Control</a:t>
            </a:r>
          </a:p>
          <a:p>
            <a:r>
              <a:rPr lang="en-DE" dirty="0" err="1">
                <a:highlight>
                  <a:srgbClr val="00FFFF"/>
                </a:highlight>
              </a:rPr>
              <a:t>Personen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sind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b="1" dirty="0" err="1">
                <a:highlight>
                  <a:srgbClr val="00FFFF"/>
                </a:highlight>
              </a:rPr>
              <a:t>dynamische</a:t>
            </a:r>
            <a:r>
              <a:rPr lang="en-DE" b="1" dirty="0">
                <a:highlight>
                  <a:srgbClr val="00FFFF"/>
                </a:highlight>
              </a:rPr>
              <a:t> </a:t>
            </a:r>
            <a:r>
              <a:rPr lang="en-DE" b="1" dirty="0" err="1">
                <a:highlight>
                  <a:srgbClr val="00FFFF"/>
                </a:highlight>
              </a:rPr>
              <a:t>Objekte</a:t>
            </a:r>
            <a:r>
              <a:rPr lang="en-DE" dirty="0">
                <a:highlight>
                  <a:srgbClr val="00FFFF"/>
                </a:highlight>
              </a:rPr>
              <a:t>: </a:t>
            </a:r>
            <a:r>
              <a:rPr lang="en-DE" dirty="0" err="1">
                <a:highlight>
                  <a:srgbClr val="00FFFF"/>
                </a:highlight>
              </a:rPr>
              <a:t>Roboter</a:t>
            </a:r>
            <a:r>
              <a:rPr lang="en-DE" dirty="0">
                <a:highlight>
                  <a:srgbClr val="00FFFF"/>
                </a:highlight>
              </a:rPr>
              <a:t> muss nicht </a:t>
            </a:r>
            <a:r>
              <a:rPr lang="en-DE" dirty="0" err="1">
                <a:highlight>
                  <a:srgbClr val="00FFFF"/>
                </a:highlight>
              </a:rPr>
              <a:t>nur</a:t>
            </a:r>
            <a:r>
              <a:rPr lang="en-DE" dirty="0">
                <a:highlight>
                  <a:srgbClr val="00FFFF"/>
                </a:highlight>
              </a:rPr>
              <a:t> Position, </a:t>
            </a:r>
            <a:r>
              <a:rPr lang="en-DE" dirty="0" err="1">
                <a:highlight>
                  <a:srgbClr val="00FFFF"/>
                </a:highlight>
              </a:rPr>
              <a:t>sondern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auch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b="1" dirty="0" err="1">
                <a:highlight>
                  <a:srgbClr val="00FFFF"/>
                </a:highlight>
              </a:rPr>
              <a:t>Haltung</a:t>
            </a:r>
            <a:r>
              <a:rPr lang="en-DE" b="1" dirty="0">
                <a:highlight>
                  <a:srgbClr val="00FFFF"/>
                </a:highlight>
              </a:rPr>
              <a:t> &amp; </a:t>
            </a:r>
            <a:r>
              <a:rPr lang="en-DE" b="1" dirty="0" err="1">
                <a:highlight>
                  <a:srgbClr val="00FFFF"/>
                </a:highlight>
              </a:rPr>
              <a:t>Bewegungsabsicht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erfassen</a:t>
            </a:r>
            <a:endParaRPr lang="en-DE" dirty="0">
              <a:highlight>
                <a:srgbClr val="00FFFF"/>
              </a:highlight>
            </a:endParaRPr>
          </a:p>
          <a:p>
            <a:r>
              <a:rPr lang="en-DE" dirty="0" err="1">
                <a:highlight>
                  <a:srgbClr val="00FFFF"/>
                </a:highlight>
              </a:rPr>
              <a:t>Keypoint-basierte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Körperposen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ermöglichen</a:t>
            </a:r>
            <a:r>
              <a:rPr lang="en-DE" dirty="0">
                <a:highlight>
                  <a:srgbClr val="00FFFF"/>
                </a:highlight>
              </a:rPr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DE" dirty="0" err="1">
                <a:highlight>
                  <a:srgbClr val="00FFFF"/>
                </a:highlight>
              </a:rPr>
              <a:t>vorausschauende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Bahnplanung</a:t>
            </a:r>
            <a:r>
              <a:rPr lang="en-DE" dirty="0">
                <a:highlight>
                  <a:srgbClr val="00FFFF"/>
                </a:highlight>
              </a:rPr>
              <a:t> &amp; </a:t>
            </a:r>
            <a:r>
              <a:rPr lang="en-DE" dirty="0" err="1">
                <a:highlight>
                  <a:srgbClr val="00FFFF"/>
                </a:highlight>
              </a:rPr>
              <a:t>Kollisionsvermeidung</a:t>
            </a:r>
            <a:endParaRPr lang="en-DE" dirty="0">
              <a:highlight>
                <a:srgbClr val="00FFFF"/>
              </a:highligh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DE" dirty="0">
                <a:highlight>
                  <a:srgbClr val="00FFFF"/>
                </a:highlight>
              </a:rPr>
              <a:t>Mensch-Roboter-Interaktion (</a:t>
            </a:r>
            <a:r>
              <a:rPr lang="en-DE" dirty="0" err="1">
                <a:highlight>
                  <a:srgbClr val="00FFFF"/>
                </a:highlight>
              </a:rPr>
              <a:t>Gestenerkennung</a:t>
            </a:r>
            <a:r>
              <a:rPr lang="en-DE" dirty="0">
                <a:highlight>
                  <a:srgbClr val="00FFFF"/>
                </a:highlight>
              </a:rPr>
              <a:t>, </a:t>
            </a:r>
            <a:r>
              <a:rPr lang="en-DE" dirty="0" err="1">
                <a:highlight>
                  <a:srgbClr val="00FFFF"/>
                </a:highlight>
              </a:rPr>
              <a:t>Annäherungsposition</a:t>
            </a:r>
            <a:r>
              <a:rPr lang="en-DE" dirty="0">
                <a:highlight>
                  <a:srgbClr val="00FFFF"/>
                </a:highlight>
              </a:rPr>
              <a:t>)</a:t>
            </a:r>
          </a:p>
          <a:p>
            <a:r>
              <a:rPr lang="en-DE" dirty="0" err="1">
                <a:highlight>
                  <a:srgbClr val="00FFFF"/>
                </a:highlight>
              </a:rPr>
              <a:t>Gelöste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Teilaufgabe</a:t>
            </a:r>
            <a:r>
              <a:rPr lang="en-DE" dirty="0">
                <a:highlight>
                  <a:srgbClr val="00FFFF"/>
                </a:highlight>
              </a:rPr>
              <a:t>: </a:t>
            </a:r>
            <a:r>
              <a:rPr lang="en-DE" b="1" dirty="0" err="1">
                <a:highlight>
                  <a:srgbClr val="00FFFF"/>
                </a:highlight>
              </a:rPr>
              <a:t>Detektion</a:t>
            </a:r>
            <a:r>
              <a:rPr lang="en-DE" b="1" dirty="0">
                <a:highlight>
                  <a:srgbClr val="00FFFF"/>
                </a:highlight>
              </a:rPr>
              <a:t> von </a:t>
            </a:r>
            <a:r>
              <a:rPr lang="en-DE" b="1" dirty="0" err="1">
                <a:highlight>
                  <a:srgbClr val="00FFFF"/>
                </a:highlight>
              </a:rPr>
              <a:t>Personen</a:t>
            </a:r>
            <a:r>
              <a:rPr lang="en-DE" b="1" dirty="0">
                <a:highlight>
                  <a:srgbClr val="00FFFF"/>
                </a:highlight>
              </a:rPr>
              <a:t> + </a:t>
            </a:r>
            <a:r>
              <a:rPr lang="en-DE" b="1" dirty="0" err="1">
                <a:highlight>
                  <a:srgbClr val="00FFFF"/>
                </a:highlight>
              </a:rPr>
              <a:t>Schätzung</a:t>
            </a:r>
            <a:r>
              <a:rPr lang="en-DE" b="1" dirty="0">
                <a:highlight>
                  <a:srgbClr val="00FFFF"/>
                </a:highlight>
              </a:rPr>
              <a:t> von 17 Körper-</a:t>
            </a:r>
            <a:r>
              <a:rPr lang="en-DE" b="1" dirty="0" err="1">
                <a:highlight>
                  <a:srgbClr val="00FFFF"/>
                </a:highlight>
              </a:rPr>
              <a:t>Keypoints</a:t>
            </a:r>
            <a:r>
              <a:rPr lang="en-DE" b="1" dirty="0">
                <a:highlight>
                  <a:srgbClr val="00FFFF"/>
                </a:highlight>
              </a:rPr>
              <a:t> in 2D-Bildern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mit</a:t>
            </a:r>
            <a:r>
              <a:rPr lang="en-DE" dirty="0">
                <a:highlight>
                  <a:srgbClr val="00FFFF"/>
                </a:highlight>
              </a:rPr>
              <a:t> YOLO26-Pose</a:t>
            </a:r>
          </a:p>
          <a:p>
            <a:endParaRPr lang="en-DE" b="1" dirty="0">
              <a:highlight>
                <a:srgbClr val="00FFFF"/>
              </a:highlight>
            </a:endParaRP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8EC6961F-AACA-42A2-BB4B-DE2EB624374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r>
              <a:rPr lang="en-US" b="1" dirty="0" err="1"/>
              <a:t>Gesamtarchitektur</a:t>
            </a:r>
            <a:endParaRPr lang="en-DE" b="1" dirty="0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9B8E2267-F344-4AC7-A939-1FC3C2E407A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0243799" y="12241212"/>
            <a:ext cx="8472488" cy="14276387"/>
          </a:xfrm>
        </p:spPr>
        <p:txBody>
          <a:bodyPr/>
          <a:lstStyle/>
          <a:p>
            <a:r>
              <a:rPr lang="en-DE" b="1" dirty="0"/>
              <a:t>Training</a:t>
            </a:r>
          </a:p>
          <a:p>
            <a:r>
              <a:rPr lang="en-DE" b="1" dirty="0" err="1"/>
              <a:t>Datensatz</a:t>
            </a:r>
            <a:r>
              <a:rPr lang="en-DE" b="1" dirty="0"/>
              <a:t>:</a:t>
            </a:r>
            <a:r>
              <a:rPr lang="en-DE" dirty="0"/>
              <a:t> COCO-Pose (COCO </a:t>
            </a:r>
            <a:r>
              <a:rPr lang="en-DE" dirty="0" err="1"/>
              <a:t>Keypoints</a:t>
            </a:r>
            <a:r>
              <a:rPr lang="en-DE" dirty="0"/>
              <a:t> 2017), </a:t>
            </a:r>
            <a:r>
              <a:rPr lang="en-DE" dirty="0" err="1"/>
              <a:t>nur</a:t>
            </a:r>
            <a:r>
              <a:rPr lang="en-DE" dirty="0"/>
              <a:t> Klasse „Person", pro Person: Bounding Box + 17 </a:t>
            </a:r>
            <a:r>
              <a:rPr lang="en-DE" dirty="0" err="1"/>
              <a:t>Keypoints</a:t>
            </a:r>
            <a:endParaRPr lang="en-DE" dirty="0"/>
          </a:p>
          <a:p>
            <a:r>
              <a:rPr lang="en-DE" b="1" dirty="0"/>
              <a:t>Label-Format (YOLO-Pose, </a:t>
            </a:r>
            <a:r>
              <a:rPr lang="en-DE" b="1" dirty="0" err="1"/>
              <a:t>normiert</a:t>
            </a:r>
            <a:r>
              <a:rPr lang="en-DE" b="1" dirty="0"/>
              <a:t>):</a:t>
            </a:r>
            <a:endParaRPr lang="en-DE" dirty="0"/>
          </a:p>
          <a:p>
            <a:r>
              <a:rPr lang="en-DE" dirty="0"/>
              <a:t>class, </a:t>
            </a:r>
            <a:r>
              <a:rPr lang="en-DE" dirty="0" err="1"/>
              <a:t>x_c</a:t>
            </a:r>
            <a:r>
              <a:rPr lang="en-DE" dirty="0"/>
              <a:t>, </a:t>
            </a:r>
            <a:r>
              <a:rPr lang="en-DE" dirty="0" err="1"/>
              <a:t>y_c</a:t>
            </a:r>
            <a:r>
              <a:rPr lang="en-DE" dirty="0"/>
              <a:t>, w, h, x₁, y₁, v₁, …, x₁₇, y₁₇, v₁₇</a:t>
            </a:r>
          </a:p>
          <a:p>
            <a:r>
              <a:rPr lang="en-DE" b="1" dirty="0" err="1"/>
              <a:t>Gesamtverlustfunktion</a:t>
            </a:r>
            <a:r>
              <a:rPr lang="en-DE" b="1" dirty="0"/>
              <a:t>:</a:t>
            </a:r>
            <a:endParaRPr lang="en-DE" dirty="0"/>
          </a:p>
          <a:p>
            <a:r>
              <a:rPr lang="en-DE" dirty="0" err="1"/>
              <a:t>L_total</a:t>
            </a:r>
            <a:r>
              <a:rPr lang="en-DE" dirty="0"/>
              <a:t> = </a:t>
            </a:r>
            <a:r>
              <a:rPr lang="en-DE" dirty="0" err="1"/>
              <a:t>λ_box·L_box</a:t>
            </a:r>
            <a:r>
              <a:rPr lang="en-DE" dirty="0"/>
              <a:t> + </a:t>
            </a:r>
            <a:r>
              <a:rPr lang="en-DE" dirty="0" err="1"/>
              <a:t>λ_cls·L_cls</a:t>
            </a:r>
            <a:r>
              <a:rPr lang="en-DE" dirty="0"/>
              <a:t> + </a:t>
            </a:r>
            <a:r>
              <a:rPr lang="en-DE" dirty="0" err="1"/>
              <a:t>λ_pose·L_pose</a:t>
            </a:r>
            <a:r>
              <a:rPr lang="en-DE" dirty="0"/>
              <a:t> + </a:t>
            </a:r>
            <a:r>
              <a:rPr lang="en-DE" dirty="0" err="1"/>
              <a:t>λ_kobj·L_kobj</a:t>
            </a:r>
            <a:r>
              <a:rPr lang="en-DE" dirty="0"/>
              <a:t> + </a:t>
            </a:r>
            <a:r>
              <a:rPr lang="en-DE" dirty="0" err="1"/>
              <a:t>λ_RLE·L_RLE</a:t>
            </a:r>
            <a:endParaRPr lang="en-DE" dirty="0"/>
          </a:p>
          <a:p>
            <a:r>
              <a:rPr lang="en-DE" b="1" dirty="0" err="1"/>
              <a:t>L_pose</a:t>
            </a:r>
            <a:r>
              <a:rPr lang="en-DE" b="1" dirty="0"/>
              <a:t>:</a:t>
            </a:r>
            <a:r>
              <a:rPr lang="en-DE" dirty="0"/>
              <a:t> </a:t>
            </a:r>
            <a:r>
              <a:rPr lang="en-DE" dirty="0" err="1"/>
              <a:t>quadratische</a:t>
            </a:r>
            <a:r>
              <a:rPr lang="en-DE" dirty="0"/>
              <a:t> </a:t>
            </a:r>
            <a:r>
              <a:rPr lang="en-DE" dirty="0" err="1"/>
              <a:t>Keypoint-Distanz</a:t>
            </a:r>
            <a:r>
              <a:rPr lang="en-DE" dirty="0"/>
              <a:t>, </a:t>
            </a:r>
            <a:r>
              <a:rPr lang="en-DE" dirty="0" err="1"/>
              <a:t>skaliert</a:t>
            </a:r>
            <a:r>
              <a:rPr lang="en-DE" dirty="0"/>
              <a:t> </a:t>
            </a:r>
            <a:r>
              <a:rPr lang="en-DE" dirty="0" err="1"/>
              <a:t>nach</a:t>
            </a:r>
            <a:r>
              <a:rPr lang="en-DE" dirty="0"/>
              <a:t> </a:t>
            </a:r>
            <a:r>
              <a:rPr lang="en-DE" dirty="0" err="1"/>
              <a:t>Objektgröße</a:t>
            </a:r>
            <a:r>
              <a:rPr lang="en-DE" dirty="0"/>
              <a:t> &amp; </a:t>
            </a:r>
            <a:r>
              <a:rPr lang="en-DE" dirty="0" err="1"/>
              <a:t>Keypoint-Gewichtung</a:t>
            </a:r>
            <a:endParaRPr lang="en-DE" dirty="0"/>
          </a:p>
          <a:p>
            <a:r>
              <a:rPr lang="en-DE" b="1" dirty="0" err="1"/>
              <a:t>L_kobj</a:t>
            </a:r>
            <a:r>
              <a:rPr lang="en-DE" b="1" dirty="0"/>
              <a:t>:</a:t>
            </a:r>
            <a:r>
              <a:rPr lang="en-DE" dirty="0"/>
              <a:t> </a:t>
            </a:r>
            <a:r>
              <a:rPr lang="en-DE" dirty="0" err="1"/>
              <a:t>Sichtbarkeit</a:t>
            </a:r>
            <a:r>
              <a:rPr lang="en-DE" dirty="0"/>
              <a:t> der </a:t>
            </a:r>
            <a:r>
              <a:rPr lang="en-DE" dirty="0" err="1"/>
              <a:t>Keypoints</a:t>
            </a:r>
            <a:endParaRPr lang="en-DE" dirty="0"/>
          </a:p>
          <a:p>
            <a:r>
              <a:rPr lang="en-DE" b="1" dirty="0"/>
              <a:t>L_RLE (neu in YOLO26):</a:t>
            </a:r>
            <a:r>
              <a:rPr lang="en-DE" dirty="0"/>
              <a:t> Residual Log-Likelihood Estimation → </a:t>
            </a:r>
            <a:r>
              <a:rPr lang="en-DE" dirty="0" err="1"/>
              <a:t>berücksichtigt</a:t>
            </a:r>
            <a:r>
              <a:rPr lang="en-DE" dirty="0"/>
              <a:t> </a:t>
            </a:r>
            <a:r>
              <a:rPr lang="en-DE" dirty="0" err="1"/>
              <a:t>Lokalisierungs-Unsicherheit</a:t>
            </a:r>
            <a:endParaRPr lang="en-DE" dirty="0"/>
          </a:p>
          <a:p>
            <a:r>
              <a:rPr lang="en-DE" b="1" dirty="0"/>
              <a:t>YOLO26-spezifisch:</a:t>
            </a:r>
            <a:endParaRPr lang="en-DE" dirty="0"/>
          </a:p>
          <a:p>
            <a:r>
              <a:rPr lang="en-DE" dirty="0" err="1"/>
              <a:t>Verzicht</a:t>
            </a:r>
            <a:r>
              <a:rPr lang="en-DE" dirty="0"/>
              <a:t> auf DFL → </a:t>
            </a:r>
            <a:r>
              <a:rPr lang="en-DE" dirty="0" err="1"/>
              <a:t>vereinfachte</a:t>
            </a:r>
            <a:r>
              <a:rPr lang="en-DE" dirty="0"/>
              <a:t> Box-Regression</a:t>
            </a:r>
          </a:p>
          <a:p>
            <a:r>
              <a:rPr lang="en-DE" b="1" dirty="0" err="1"/>
              <a:t>ProgLoss</a:t>
            </a:r>
            <a:r>
              <a:rPr lang="en-DE" b="1" dirty="0"/>
              <a:t>:</a:t>
            </a:r>
            <a:r>
              <a:rPr lang="en-DE" dirty="0"/>
              <a:t> </a:t>
            </a:r>
            <a:r>
              <a:rPr lang="en-DE" dirty="0" err="1"/>
              <a:t>Gewichtung</a:t>
            </a:r>
            <a:r>
              <a:rPr lang="en-DE" dirty="0"/>
              <a:t> </a:t>
            </a:r>
            <a:r>
              <a:rPr lang="en-DE" dirty="0" err="1"/>
              <a:t>verschiebt</a:t>
            </a:r>
            <a:r>
              <a:rPr lang="en-DE" dirty="0"/>
              <a:t> </a:t>
            </a:r>
            <a:r>
              <a:rPr lang="en-DE" dirty="0" err="1"/>
              <a:t>sich</a:t>
            </a:r>
            <a:r>
              <a:rPr lang="en-DE" dirty="0"/>
              <a:t> </a:t>
            </a:r>
            <a:r>
              <a:rPr lang="en-DE" dirty="0" err="1"/>
              <a:t>zum</a:t>
            </a:r>
            <a:r>
              <a:rPr lang="en-DE" dirty="0"/>
              <a:t> </a:t>
            </a:r>
            <a:r>
              <a:rPr lang="en-DE" dirty="0" err="1"/>
              <a:t>Inferenzpfad</a:t>
            </a:r>
            <a:endParaRPr lang="en-DE" dirty="0"/>
          </a:p>
          <a:p>
            <a:r>
              <a:rPr lang="en-DE" b="1" dirty="0"/>
              <a:t>STAL:</a:t>
            </a:r>
            <a:r>
              <a:rPr lang="en-DE" dirty="0"/>
              <a:t> </a:t>
            </a:r>
            <a:r>
              <a:rPr lang="en-DE" dirty="0" err="1"/>
              <a:t>bessere</a:t>
            </a:r>
            <a:r>
              <a:rPr lang="en-DE" dirty="0"/>
              <a:t> </a:t>
            </a:r>
            <a:r>
              <a:rPr lang="en-DE" dirty="0" err="1"/>
              <a:t>Zuordnung</a:t>
            </a:r>
            <a:r>
              <a:rPr lang="en-DE" dirty="0"/>
              <a:t> </a:t>
            </a:r>
            <a:r>
              <a:rPr lang="en-DE" dirty="0" err="1"/>
              <a:t>positiver</a:t>
            </a:r>
            <a:r>
              <a:rPr lang="en-DE" dirty="0"/>
              <a:t> Samples → </a:t>
            </a:r>
            <a:r>
              <a:rPr lang="en-DE" dirty="0" err="1"/>
              <a:t>kleine</a:t>
            </a:r>
            <a:r>
              <a:rPr lang="en-DE" dirty="0"/>
              <a:t> </a:t>
            </a:r>
            <a:r>
              <a:rPr lang="en-DE" dirty="0" err="1"/>
              <a:t>Objekte</a:t>
            </a:r>
            <a:endParaRPr lang="en-DE" dirty="0"/>
          </a:p>
          <a:p>
            <a:r>
              <a:rPr lang="en-DE" dirty="0" err="1"/>
              <a:t>Optimierer</a:t>
            </a:r>
            <a:r>
              <a:rPr lang="en-DE" dirty="0"/>
              <a:t>: </a:t>
            </a:r>
            <a:r>
              <a:rPr lang="en-DE" b="1" dirty="0" err="1"/>
              <a:t>MuSGD</a:t>
            </a:r>
            <a:r>
              <a:rPr lang="en-DE" dirty="0"/>
              <a:t> (SGD + Muon)</a:t>
            </a:r>
          </a:p>
          <a:p>
            <a:endParaRPr lang="en-DE" dirty="0"/>
          </a:p>
        </p:txBody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485B190A-D15B-403F-995A-1487C63CCEB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0914063" y="20657968"/>
            <a:ext cx="8472488" cy="11174770"/>
          </a:xfrm>
        </p:spPr>
        <p:txBody>
          <a:bodyPr/>
          <a:lstStyle/>
          <a:p>
            <a:r>
              <a:rPr lang="en-DE" b="1" dirty="0" err="1">
                <a:highlight>
                  <a:srgbClr val="FFFF00"/>
                </a:highlight>
              </a:rPr>
              <a:t>Zentrale</a:t>
            </a:r>
            <a:r>
              <a:rPr lang="en-DE" b="1" dirty="0">
                <a:highlight>
                  <a:srgbClr val="FFFF00"/>
                </a:highlight>
              </a:rPr>
              <a:t> </a:t>
            </a:r>
            <a:r>
              <a:rPr lang="en-DE" b="1" dirty="0" err="1">
                <a:highlight>
                  <a:srgbClr val="FFFF00"/>
                </a:highlight>
              </a:rPr>
              <a:t>Bausteine</a:t>
            </a:r>
            <a:endParaRPr lang="vi-VN" b="1" dirty="0">
              <a:highlight>
                <a:srgbClr val="FFFF00"/>
              </a:highlight>
            </a:endParaRPr>
          </a:p>
          <a:p>
            <a:r>
              <a:rPr lang="en-DE" b="1" dirty="0">
                <a:highlight>
                  <a:srgbClr val="FFFF00"/>
                </a:highlight>
              </a:rPr>
              <a:t>Conv-Block</a:t>
            </a:r>
            <a:r>
              <a:rPr lang="en-DE" b="1" dirty="0"/>
              <a:t>:</a:t>
            </a:r>
            <a:r>
              <a:rPr lang="en-DE" dirty="0"/>
              <a:t> Conv2d → BatchNorm2d → </a:t>
            </a:r>
            <a:r>
              <a:rPr lang="en-DE" dirty="0" err="1"/>
              <a:t>SiLU</a:t>
            </a:r>
            <a:endParaRPr lang="en-DE" dirty="0"/>
          </a:p>
          <a:p>
            <a:r>
              <a:rPr lang="en-DE" dirty="0" err="1"/>
              <a:t>lernbare</a:t>
            </a:r>
            <a:r>
              <a:rPr lang="en-DE" dirty="0"/>
              <a:t> </a:t>
            </a:r>
            <a:r>
              <a:rPr lang="en-DE" dirty="0" err="1"/>
              <a:t>Filterkerne</a:t>
            </a:r>
            <a:r>
              <a:rPr lang="en-DE" dirty="0"/>
              <a:t> </a:t>
            </a:r>
            <a:r>
              <a:rPr lang="en-DE" dirty="0" err="1"/>
              <a:t>extrahieren</a:t>
            </a:r>
            <a:r>
              <a:rPr lang="en-DE" dirty="0"/>
              <a:t> </a:t>
            </a:r>
            <a:r>
              <a:rPr lang="en-DE" dirty="0" err="1"/>
              <a:t>lokale</a:t>
            </a:r>
            <a:r>
              <a:rPr lang="en-DE" dirty="0"/>
              <a:t> </a:t>
            </a:r>
            <a:r>
              <a:rPr lang="en-DE" dirty="0" err="1"/>
              <a:t>Merkmale</a:t>
            </a:r>
            <a:r>
              <a:rPr lang="en-DE" dirty="0"/>
              <a:t> (Kanten → </a:t>
            </a:r>
            <a:r>
              <a:rPr lang="en-DE" dirty="0" err="1"/>
              <a:t>abstrakte</a:t>
            </a:r>
            <a:r>
              <a:rPr lang="en-DE" dirty="0"/>
              <a:t> </a:t>
            </a:r>
            <a:r>
              <a:rPr lang="en-DE" dirty="0" err="1"/>
              <a:t>Strukturen</a:t>
            </a:r>
            <a:r>
              <a:rPr lang="en-DE" dirty="0"/>
              <a:t>)</a:t>
            </a:r>
          </a:p>
          <a:p>
            <a:r>
              <a:rPr lang="en-DE" dirty="0"/>
              <a:t>k=3×3, s=2, p=1 → </a:t>
            </a:r>
            <a:r>
              <a:rPr lang="en-DE" dirty="0" err="1"/>
              <a:t>halbiert</a:t>
            </a:r>
            <a:r>
              <a:rPr lang="en-DE" dirty="0"/>
              <a:t> die </a:t>
            </a:r>
            <a:r>
              <a:rPr lang="en-DE" dirty="0" err="1"/>
              <a:t>Auflösung</a:t>
            </a:r>
            <a:endParaRPr lang="en-US" dirty="0"/>
          </a:p>
          <a:p>
            <a:endParaRPr lang="en-DE" dirty="0"/>
          </a:p>
          <a:p>
            <a:r>
              <a:rPr lang="en-DE" b="1" dirty="0">
                <a:highlight>
                  <a:srgbClr val="FFFF00"/>
                </a:highlight>
              </a:rPr>
              <a:t>C3k2-Block</a:t>
            </a:r>
            <a:r>
              <a:rPr lang="en-DE" b="1" dirty="0"/>
              <a:t>:</a:t>
            </a:r>
            <a:r>
              <a:rPr lang="en-DE" dirty="0"/>
              <a:t> Cross Stage Partial Connections</a:t>
            </a:r>
          </a:p>
          <a:p>
            <a:r>
              <a:rPr lang="en-DE" dirty="0"/>
              <a:t>Split in </a:t>
            </a:r>
            <a:r>
              <a:rPr lang="en-DE" dirty="0" err="1"/>
              <a:t>Teilpfade</a:t>
            </a:r>
            <a:r>
              <a:rPr lang="en-DE" dirty="0"/>
              <a:t>: </a:t>
            </a:r>
            <a:r>
              <a:rPr lang="en-DE" dirty="0" err="1"/>
              <a:t>ein</a:t>
            </a:r>
            <a:r>
              <a:rPr lang="en-DE" dirty="0"/>
              <a:t> Teil </a:t>
            </a:r>
            <a:r>
              <a:rPr lang="en-DE" dirty="0" err="1"/>
              <a:t>direkt</a:t>
            </a:r>
            <a:r>
              <a:rPr lang="en-DE" dirty="0"/>
              <a:t>, </a:t>
            </a:r>
            <a:r>
              <a:rPr lang="en-DE" dirty="0" err="1"/>
              <a:t>ein</a:t>
            </a:r>
            <a:r>
              <a:rPr lang="en-DE" dirty="0"/>
              <a:t> Teil </a:t>
            </a:r>
            <a:r>
              <a:rPr lang="en-DE" dirty="0" err="1"/>
              <a:t>durch</a:t>
            </a:r>
            <a:r>
              <a:rPr lang="en-DE" dirty="0"/>
              <a:t> Bottleneck-</a:t>
            </a:r>
            <a:r>
              <a:rPr lang="en-DE" dirty="0" err="1"/>
              <a:t>Blöcke</a:t>
            </a:r>
            <a:r>
              <a:rPr lang="en-DE" dirty="0"/>
              <a:t> → </a:t>
            </a:r>
            <a:r>
              <a:rPr lang="en-DE" dirty="0" err="1"/>
              <a:t>Concat</a:t>
            </a:r>
            <a:r>
              <a:rPr lang="en-DE" dirty="0"/>
              <a:t> → 1×1-Faltung</a:t>
            </a:r>
          </a:p>
          <a:p>
            <a:r>
              <a:rPr lang="en-DE" dirty="0" err="1"/>
              <a:t>Merkmalsverfeinerung</a:t>
            </a:r>
            <a:r>
              <a:rPr lang="en-DE" dirty="0"/>
              <a:t> </a:t>
            </a:r>
            <a:r>
              <a:rPr lang="en-DE" dirty="0" err="1"/>
              <a:t>bei</a:t>
            </a:r>
            <a:r>
              <a:rPr lang="en-DE" dirty="0"/>
              <a:t> </a:t>
            </a:r>
            <a:r>
              <a:rPr lang="en-DE" dirty="0" err="1"/>
              <a:t>gleichbleibender</a:t>
            </a:r>
            <a:r>
              <a:rPr lang="en-DE" dirty="0"/>
              <a:t> </a:t>
            </a:r>
            <a:r>
              <a:rPr lang="en-DE" dirty="0" err="1"/>
              <a:t>Auflösung</a:t>
            </a:r>
            <a:endParaRPr lang="en-DE" dirty="0"/>
          </a:p>
          <a:p>
            <a:r>
              <a:rPr lang="en-DE" b="1" dirty="0">
                <a:highlight>
                  <a:srgbClr val="FFFF00"/>
                </a:highlight>
              </a:rPr>
              <a:t>SPPF:</a:t>
            </a:r>
            <a:r>
              <a:rPr lang="en-DE" dirty="0">
                <a:highlight>
                  <a:srgbClr val="FFFF00"/>
                </a:highlight>
              </a:rPr>
              <a:t> </a:t>
            </a:r>
            <a:r>
              <a:rPr lang="en-DE" dirty="0"/>
              <a:t>3× </a:t>
            </a:r>
            <a:r>
              <a:rPr lang="en-DE" dirty="0" err="1"/>
              <a:t>MaxPooling</a:t>
            </a:r>
            <a:r>
              <a:rPr lang="en-DE" dirty="0"/>
              <a:t> 5×5 (s=1) </a:t>
            </a:r>
            <a:r>
              <a:rPr lang="en-DE" dirty="0" err="1"/>
              <a:t>hintereinander</a:t>
            </a:r>
            <a:r>
              <a:rPr lang="en-DE" dirty="0"/>
              <a:t> → </a:t>
            </a:r>
            <a:r>
              <a:rPr lang="en-DE" dirty="0" err="1"/>
              <a:t>effektive</a:t>
            </a:r>
            <a:r>
              <a:rPr lang="en-DE" dirty="0"/>
              <a:t> </a:t>
            </a:r>
            <a:r>
              <a:rPr lang="en-DE" dirty="0" err="1"/>
              <a:t>Kontextbereiche</a:t>
            </a:r>
            <a:r>
              <a:rPr lang="en-DE" dirty="0"/>
              <a:t> 5×5, 9×9, 13×13 → </a:t>
            </a:r>
            <a:r>
              <a:rPr lang="en-DE" dirty="0" err="1"/>
              <a:t>Concat</a:t>
            </a:r>
            <a:r>
              <a:rPr lang="en-DE" dirty="0"/>
              <a:t> + Shortcut</a:t>
            </a:r>
          </a:p>
          <a:p>
            <a:r>
              <a:rPr lang="en-DE" b="1" dirty="0">
                <a:highlight>
                  <a:srgbClr val="FFFF00"/>
                </a:highlight>
              </a:rPr>
              <a:t>C2PSA:</a:t>
            </a:r>
            <a:r>
              <a:rPr lang="en-DE" dirty="0">
                <a:highlight>
                  <a:srgbClr val="FFFF00"/>
                </a:highlight>
              </a:rPr>
              <a:t> </a:t>
            </a:r>
            <a:r>
              <a:rPr lang="en-DE" dirty="0"/>
              <a:t>Cross-Stage Partial </a:t>
            </a:r>
            <a:r>
              <a:rPr lang="en-DE" b="1" dirty="0"/>
              <a:t>Spatial Attention</a:t>
            </a:r>
            <a:endParaRPr lang="en-DE" dirty="0"/>
          </a:p>
          <a:p>
            <a:r>
              <a:rPr lang="en-DE" dirty="0"/>
              <a:t>PSA-</a:t>
            </a:r>
            <a:r>
              <a:rPr lang="en-DE" dirty="0" err="1"/>
              <a:t>Unterblöcke</a:t>
            </a:r>
            <a:r>
              <a:rPr lang="en-DE" dirty="0"/>
              <a:t> </a:t>
            </a:r>
            <a:r>
              <a:rPr lang="en-DE" dirty="0" err="1"/>
              <a:t>mit</a:t>
            </a:r>
            <a:r>
              <a:rPr lang="en-DE" dirty="0"/>
              <a:t> Self-Attention → </a:t>
            </a:r>
            <a:r>
              <a:rPr lang="en-DE" dirty="0" err="1"/>
              <a:t>kontextabhängige</a:t>
            </a:r>
            <a:r>
              <a:rPr lang="en-DE" dirty="0"/>
              <a:t> </a:t>
            </a:r>
            <a:r>
              <a:rPr lang="en-DE" dirty="0" err="1"/>
              <a:t>Gewichtung</a:t>
            </a:r>
            <a:r>
              <a:rPr lang="en-DE" dirty="0"/>
              <a:t> </a:t>
            </a:r>
            <a:r>
              <a:rPr lang="en-DE" dirty="0" err="1"/>
              <a:t>räumlich</a:t>
            </a:r>
            <a:r>
              <a:rPr lang="en-DE" dirty="0"/>
              <a:t> </a:t>
            </a:r>
            <a:r>
              <a:rPr lang="en-DE" dirty="0" err="1"/>
              <a:t>verteilter</a:t>
            </a:r>
            <a:r>
              <a:rPr lang="en-DE" dirty="0"/>
              <a:t> </a:t>
            </a:r>
            <a:r>
              <a:rPr lang="en-DE" dirty="0" err="1"/>
              <a:t>Merkmale</a:t>
            </a:r>
            <a:endParaRPr lang="en-DE" dirty="0"/>
          </a:p>
          <a:p>
            <a:r>
              <a:rPr lang="en-DE" i="1" dirty="0"/>
              <a:t>(</a:t>
            </a:r>
            <a:r>
              <a:rPr lang="en-DE" i="1" dirty="0" err="1"/>
              <a:t>Grafik</a:t>
            </a:r>
            <a:r>
              <a:rPr lang="en-DE" i="1" dirty="0"/>
              <a:t>: </a:t>
            </a:r>
            <a:r>
              <a:rPr lang="en-DE" i="1" dirty="0" err="1"/>
              <a:t>eure</a:t>
            </a:r>
            <a:r>
              <a:rPr lang="en-DE" i="1" dirty="0"/>
              <a:t> </a:t>
            </a:r>
            <a:r>
              <a:rPr lang="en-DE" i="1" dirty="0" err="1"/>
              <a:t>Merkmalskarten</a:t>
            </a:r>
            <a:r>
              <a:rPr lang="en-DE" i="1" dirty="0"/>
              <a:t>! Abb. 2 (Conv-</a:t>
            </a:r>
            <a:r>
              <a:rPr lang="en-DE" i="1" dirty="0" err="1"/>
              <a:t>Ausgabe</a:t>
            </a:r>
            <a:r>
              <a:rPr lang="en-DE" i="1" dirty="0"/>
              <a:t>) und Abb. 3 (C3k2-Ausgabe, 16 </a:t>
            </a:r>
            <a:r>
              <a:rPr lang="en-DE" i="1" dirty="0" err="1"/>
              <a:t>Kanäle</a:t>
            </a:r>
            <a:r>
              <a:rPr lang="en-DE" i="1" dirty="0"/>
              <a:t>) – </a:t>
            </a:r>
            <a:r>
              <a:rPr lang="en-DE" i="1" dirty="0" err="1"/>
              <a:t>zeigt</a:t>
            </a:r>
            <a:r>
              <a:rPr lang="en-DE" i="1" dirty="0"/>
              <a:t> </a:t>
            </a:r>
            <a:r>
              <a:rPr lang="en-DE" i="1" dirty="0" err="1"/>
              <a:t>anschaulich</a:t>
            </a:r>
            <a:r>
              <a:rPr lang="en-DE" i="1" dirty="0"/>
              <a:t>, WAS die </a:t>
            </a:r>
            <a:r>
              <a:rPr lang="en-DE" i="1" dirty="0" err="1"/>
              <a:t>Schichten</a:t>
            </a:r>
            <a:r>
              <a:rPr lang="en-DE" i="1" dirty="0"/>
              <a:t> tun)</a:t>
            </a:r>
            <a:endParaRPr lang="en-DE" dirty="0"/>
          </a:p>
          <a:p>
            <a:endParaRPr lang="de-DE" b="1" dirty="0">
              <a:highlight>
                <a:srgbClr val="FFFF00"/>
              </a:highlight>
            </a:endParaRPr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93CD316B-FC80-4188-968B-2D1ECE91301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0272375" y="34173727"/>
            <a:ext cx="8472488" cy="4837778"/>
          </a:xfrm>
        </p:spPr>
        <p:txBody>
          <a:bodyPr/>
          <a:lstStyle/>
          <a:p>
            <a:pPr marL="449263" indent="-449263">
              <a:tabLst>
                <a:tab pos="449263" algn="l"/>
              </a:tabLst>
            </a:pPr>
            <a:r>
              <a:rPr lang="en-DE" sz="1800" dirty="0"/>
              <a:t>[</a:t>
            </a:r>
            <a:r>
              <a:rPr lang="en-US" sz="1800" dirty="0"/>
              <a:t>1</a:t>
            </a:r>
            <a:r>
              <a:rPr lang="en-DE" sz="1800" dirty="0"/>
              <a:t>] Glenn </a:t>
            </a:r>
            <a:r>
              <a:rPr lang="en-DE" sz="1800" dirty="0" err="1"/>
              <a:t>Jocher</a:t>
            </a:r>
            <a:r>
              <a:rPr lang="en-DE" sz="1800" dirty="0"/>
              <a:t>, Jing Qiu, </a:t>
            </a:r>
            <a:r>
              <a:rPr lang="en-DE" sz="1800" dirty="0" err="1"/>
              <a:t>Mengyu</a:t>
            </a:r>
            <a:r>
              <a:rPr lang="en-DE" sz="1800" dirty="0"/>
              <a:t> Liu, Shuai Lyu, Fatih Cagatay </a:t>
            </a:r>
            <a:r>
              <a:rPr lang="en-DE" sz="1800" dirty="0" err="1"/>
              <a:t>Akyon</a:t>
            </a:r>
            <a:r>
              <a:rPr lang="en-DE" sz="1800" dirty="0"/>
              <a:t>, Muhammet Esat </a:t>
            </a:r>
            <a:r>
              <a:rPr lang="en-DE" sz="1800" dirty="0" err="1"/>
              <a:t>Kalfaoglu</a:t>
            </a:r>
            <a:r>
              <a:rPr lang="en-DE" sz="1800" dirty="0"/>
              <a:t>: “</a:t>
            </a:r>
            <a:r>
              <a:rPr lang="en-DE" sz="1800" dirty="0" err="1"/>
              <a:t>Ultralytics</a:t>
            </a:r>
            <a:r>
              <a:rPr lang="en-DE" sz="1800" dirty="0"/>
              <a:t> YOLO26: Unified Real-Time End-to-End Vision Models”. </a:t>
            </a:r>
            <a:r>
              <a:rPr lang="en-DE" sz="1800" dirty="0" err="1"/>
              <a:t>arXiv</a:t>
            </a:r>
            <a:r>
              <a:rPr lang="en-DE" sz="1800" dirty="0"/>
              <a:t> preprint arXiv:2606.03748, June 2026 (Internet source </a:t>
            </a:r>
            <a:r>
              <a:rPr lang="en-DE" sz="1800" dirty="0">
                <a:hlinkClick r:id="rId3"/>
              </a:rPr>
              <a:t>https://arxiv.org/pdf/2606.03748</a:t>
            </a:r>
            <a:r>
              <a:rPr lang="en-DE" sz="1800" dirty="0"/>
              <a:t>, accessed on 11.07.2026)</a:t>
            </a:r>
            <a:endParaRPr lang="de-DE" sz="1800" dirty="0"/>
          </a:p>
          <a:p>
            <a:pPr marL="449263" indent="-449263">
              <a:tabLst>
                <a:tab pos="449263" algn="l"/>
              </a:tabLst>
            </a:pPr>
            <a:r>
              <a:rPr lang="de-DE" sz="1800" dirty="0"/>
              <a:t>[X] 	J. Campbell, R. </a:t>
            </a:r>
            <a:r>
              <a:rPr lang="de-DE" sz="1800" dirty="0" err="1"/>
              <a:t>Sukthankar</a:t>
            </a:r>
            <a:r>
              <a:rPr lang="de-DE" sz="1800" dirty="0"/>
              <a:t>, I. </a:t>
            </a:r>
            <a:r>
              <a:rPr lang="de-DE" sz="1800" dirty="0" err="1"/>
              <a:t>Nourbakhsh</a:t>
            </a:r>
            <a:r>
              <a:rPr lang="de-DE" sz="1800" dirty="0"/>
              <a:t>, A. </a:t>
            </a:r>
            <a:r>
              <a:rPr lang="de-DE" sz="1800" dirty="0" err="1"/>
              <a:t>Pahwa</a:t>
            </a:r>
            <a:r>
              <a:rPr lang="de-DE" sz="1800" dirty="0"/>
              <a:t>:  “A Robust Visual </a:t>
            </a:r>
            <a:r>
              <a:rPr lang="de-DE" sz="1800" dirty="0" err="1"/>
              <a:t>Odometry</a:t>
            </a:r>
            <a:r>
              <a:rPr lang="de-DE" sz="1800" dirty="0"/>
              <a:t> and </a:t>
            </a:r>
            <a:r>
              <a:rPr lang="de-DE" sz="1800" dirty="0" err="1"/>
              <a:t>Precipice</a:t>
            </a:r>
            <a:r>
              <a:rPr lang="de-DE" sz="1800" dirty="0"/>
              <a:t> </a:t>
            </a:r>
            <a:r>
              <a:rPr lang="de-DE" sz="1800" dirty="0" err="1"/>
              <a:t>Detection</a:t>
            </a:r>
            <a:r>
              <a:rPr lang="de-DE" sz="1800" dirty="0"/>
              <a:t> System </a:t>
            </a:r>
            <a:r>
              <a:rPr lang="de-DE" sz="1800" dirty="0" err="1"/>
              <a:t>Using</a:t>
            </a:r>
            <a:r>
              <a:rPr lang="de-DE" sz="1800" dirty="0"/>
              <a:t> Consumer-grade </a:t>
            </a:r>
            <a:r>
              <a:rPr lang="de-DE" sz="1800" dirty="0" err="1"/>
              <a:t>Monocular</a:t>
            </a:r>
            <a:r>
              <a:rPr lang="de-DE" sz="1800" dirty="0"/>
              <a:t> Vision”. In Proceedings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IEEE International Conference on Robotics and Automation (ICRA’05), Barcelona, Spain, April 2005 (Internet source www.example-internet-source.com/example/example.pdf, </a:t>
            </a:r>
            <a:r>
              <a:rPr lang="de-DE" sz="1800" dirty="0" err="1"/>
              <a:t>accessed</a:t>
            </a:r>
            <a:r>
              <a:rPr lang="de-DE" sz="1800" dirty="0"/>
              <a:t> on 08.02.2018)</a:t>
            </a:r>
          </a:p>
          <a:p>
            <a:pPr marL="449263" indent="-449263">
              <a:tabLst>
                <a:tab pos="449263" algn="l"/>
              </a:tabLst>
            </a:pPr>
            <a:r>
              <a:rPr lang="de-DE" sz="1800" dirty="0"/>
              <a:t>[X] 	A.D. </a:t>
            </a:r>
            <a:r>
              <a:rPr lang="de-DE" sz="1800" dirty="0" err="1"/>
              <a:t>Jepson</a:t>
            </a:r>
            <a:r>
              <a:rPr lang="de-DE" sz="1800" dirty="0"/>
              <a:t>, D.J, Heeger: “A fast </a:t>
            </a:r>
            <a:r>
              <a:rPr lang="de-DE" sz="1800" dirty="0" err="1"/>
              <a:t>subspace</a:t>
            </a:r>
            <a:r>
              <a:rPr lang="de-DE" sz="1800" dirty="0"/>
              <a:t> </a:t>
            </a:r>
            <a:r>
              <a:rPr lang="de-DE" sz="1800" dirty="0" err="1"/>
              <a:t>algorithm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recovering</a:t>
            </a:r>
            <a:r>
              <a:rPr lang="de-DE" sz="1800" dirty="0"/>
              <a:t> rigid </a:t>
            </a:r>
            <a:r>
              <a:rPr lang="de-DE" sz="1800" dirty="0" err="1"/>
              <a:t>motion</a:t>
            </a:r>
            <a:r>
              <a:rPr lang="de-DE" sz="1800" dirty="0"/>
              <a:t>”. In Proceedings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IEEE Workshop on Visual Motion, pp. 124 131, Princeton, USA, </a:t>
            </a:r>
            <a:r>
              <a:rPr lang="de-DE" sz="1800" dirty="0" err="1"/>
              <a:t>Oct</a:t>
            </a:r>
            <a:r>
              <a:rPr lang="de-DE" sz="1800" dirty="0"/>
              <a:t>. 1991</a:t>
            </a:r>
          </a:p>
          <a:p>
            <a:pPr marL="449263" indent="-449263">
              <a:tabLst>
                <a:tab pos="449263" algn="l"/>
              </a:tabLst>
            </a:pPr>
            <a:r>
              <a:rPr lang="de-DE" sz="1800" dirty="0"/>
              <a:t>[X]	Glenn </a:t>
            </a:r>
            <a:r>
              <a:rPr lang="de-DE" sz="1800" dirty="0" err="1"/>
              <a:t>Jocher</a:t>
            </a:r>
            <a:r>
              <a:rPr lang="de-DE" sz="1800" dirty="0"/>
              <a:t>, Jing Qiu: </a:t>
            </a:r>
            <a:r>
              <a:rPr lang="de-DE" sz="1800" dirty="0" err="1"/>
              <a:t>Ultralytics</a:t>
            </a:r>
            <a:r>
              <a:rPr lang="de-DE" sz="1800" dirty="0"/>
              <a:t> YOLO11, 11.0.0, 2024, https://github.com/ultralytics/ultralytics, AGPL-3.0. </a:t>
            </a:r>
          </a:p>
          <a:p>
            <a:endParaRPr lang="de-DE" sz="1800" dirty="0"/>
          </a:p>
        </p:txBody>
      </p: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CFAF9E9C-0C62-4506-87AD-9714698B7AC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20272375" y="33103292"/>
            <a:ext cx="8472488" cy="1070435"/>
          </a:xfrm>
        </p:spPr>
        <p:txBody>
          <a:bodyPr/>
          <a:lstStyle/>
          <a:p>
            <a:r>
              <a:rPr lang="de-DE" b="1" dirty="0"/>
              <a:t>Quellen: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7415BC7-C1B4-0E66-B6CA-DF213A07673D}"/>
              </a:ext>
            </a:extLst>
          </p:cNvPr>
          <p:cNvSpPr txBox="1"/>
          <p:nvPr/>
        </p:nvSpPr>
        <p:spPr>
          <a:xfrm>
            <a:off x="11201400" y="325898"/>
            <a:ext cx="18812489" cy="569386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de-DE" sz="4000" dirty="0"/>
              <a:t>Hinweise (am Ende zu entfernen!):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Positionen vom Logo und der zwei Titeltextblöcke </a:t>
            </a:r>
            <a:r>
              <a:rPr lang="de-DE" sz="3600" b="1" dirty="0"/>
              <a:t>nicht verändern</a:t>
            </a:r>
            <a:r>
              <a:rPr lang="de-DE" sz="3600" dirty="0"/>
              <a:t>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Untere Grenze der drei Spalten ist anzupassen um unteren Platz zu nutzen. Die obere Grenze und die horizontale Lage der Spalten </a:t>
            </a:r>
            <a:r>
              <a:rPr lang="de-DE" sz="3600" b="1" dirty="0"/>
              <a:t>nicht verändern</a:t>
            </a:r>
            <a:r>
              <a:rPr lang="de-DE" sz="36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Jedes Bild muss unterschrieben werden, siehe Beispiel unten.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Schriftart, -größe, -farbe der Blöcke </a:t>
            </a:r>
            <a:r>
              <a:rPr lang="de-DE" sz="3600" b="1" dirty="0"/>
              <a:t>nicht verändern</a:t>
            </a:r>
            <a:r>
              <a:rPr lang="de-DE" sz="3600" dirty="0"/>
              <a:t>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Breite der Blöcke </a:t>
            </a:r>
            <a:r>
              <a:rPr lang="de-DE" sz="3600" b="1" dirty="0"/>
              <a:t>nicht verändern</a:t>
            </a:r>
            <a:r>
              <a:rPr lang="de-DE" sz="3600" dirty="0"/>
              <a:t>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Sonst können Sie die Blöcke sinnvoll verschieben, kopieren, umsortieren, vertikal ausdehnen, löschen und selbstverständlich ausfüllen.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Verwendete Quellen bitte zum Schluss angeben! </a:t>
            </a:r>
          </a:p>
        </p:txBody>
      </p:sp>
      <p:sp>
        <p:nvSpPr>
          <p:cNvPr id="3" name="Textplatzhalter 31">
            <a:extLst>
              <a:ext uri="{FF2B5EF4-FFF2-40B4-BE49-F238E27FC236}">
                <a16:creationId xmlns:a16="http://schemas.microsoft.com/office/drawing/2014/main" id="{0525CD90-1469-A436-334F-BF347993873E}"/>
              </a:ext>
            </a:extLst>
          </p:cNvPr>
          <p:cNvSpPr txBox="1">
            <a:spLocks/>
          </p:cNvSpPr>
          <p:nvPr/>
        </p:nvSpPr>
        <p:spPr>
          <a:xfrm>
            <a:off x="1527176" y="39622182"/>
            <a:ext cx="8472488" cy="23959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563" indent="0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74625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900" dirty="0">
                <a:solidFill>
                  <a:srgbClr val="00008C"/>
                </a:solidFill>
                <a:latin typeface="Noto Sans Medium" panose="020B0502040504020204"/>
              </a:rPr>
              <a:t>Professur für Automatisierungstechnik</a:t>
            </a:r>
            <a:br>
              <a:rPr lang="de-DE" sz="4900" dirty="0">
                <a:solidFill>
                  <a:srgbClr val="00008C"/>
                </a:solidFill>
                <a:latin typeface="Noto Sans Medium" panose="020B0502040504020204"/>
              </a:rPr>
            </a:br>
            <a:r>
              <a:rPr lang="de-DE" sz="4900" dirty="0">
                <a:solidFill>
                  <a:srgbClr val="00008C"/>
                </a:solidFill>
                <a:latin typeface="Noto Sans Medium" panose="020B0502040504020204"/>
              </a:rPr>
              <a:t>Prof. Dr. techn. Klaus </a:t>
            </a:r>
            <a:r>
              <a:rPr lang="de-DE" sz="4900" dirty="0" err="1">
                <a:solidFill>
                  <a:srgbClr val="00008C"/>
                </a:solidFill>
                <a:latin typeface="Noto Sans Medium" panose="020B0502040504020204"/>
              </a:rPr>
              <a:t>Janschek</a:t>
            </a:r>
            <a:endParaRPr lang="de-DE" sz="4900" dirty="0">
              <a:solidFill>
                <a:srgbClr val="00008C"/>
              </a:solidFill>
              <a:latin typeface="Noto Sans Medium" panose="020B0502040504020204"/>
            </a:endParaRPr>
          </a:p>
        </p:txBody>
      </p:sp>
      <p:sp>
        <p:nvSpPr>
          <p:cNvPr id="15" name="Textplatzhalter 31">
            <a:extLst>
              <a:ext uri="{FF2B5EF4-FFF2-40B4-BE49-F238E27FC236}">
                <a16:creationId xmlns:a16="http://schemas.microsoft.com/office/drawing/2014/main" id="{33E8F444-AD18-779E-1F58-BE8BFAD8A6BE}"/>
              </a:ext>
            </a:extLst>
          </p:cNvPr>
          <p:cNvSpPr txBox="1">
            <a:spLocks/>
          </p:cNvSpPr>
          <p:nvPr/>
        </p:nvSpPr>
        <p:spPr>
          <a:xfrm>
            <a:off x="1527175" y="29030170"/>
            <a:ext cx="8472488" cy="105920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563" indent="0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74625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DE" b="1" dirty="0" err="1">
                <a:highlight>
                  <a:srgbClr val="00FFFF"/>
                </a:highlight>
              </a:rPr>
              <a:t>Ausgangsdaten</a:t>
            </a:r>
            <a:r>
              <a:rPr lang="en-DE" b="1" dirty="0">
                <a:highlight>
                  <a:srgbClr val="00FFFF"/>
                </a:highlight>
              </a:rPr>
              <a:t> des </a:t>
            </a:r>
            <a:r>
              <a:rPr lang="en-DE" b="1" dirty="0" err="1">
                <a:highlight>
                  <a:srgbClr val="00FFFF"/>
                </a:highlight>
              </a:rPr>
              <a:t>Netzes</a:t>
            </a:r>
            <a:r>
              <a:rPr lang="en-DE" b="1" dirty="0">
                <a:highlight>
                  <a:srgbClr val="00FFFF"/>
                </a:highlight>
              </a:rPr>
              <a:t> [F3]</a:t>
            </a:r>
            <a:endParaRPr lang="en-US" b="1" dirty="0">
              <a:highlight>
                <a:srgbClr val="00FFFF"/>
              </a:highlight>
            </a:endParaRPr>
          </a:p>
          <a:p>
            <a:pPr algn="ctr"/>
            <a:r>
              <a:rPr lang="en-DE" b="1" dirty="0">
                <a:highlight>
                  <a:srgbClr val="00FFFF"/>
                </a:highlight>
              </a:rPr>
              <a:t>float32 [300, 57]</a:t>
            </a:r>
            <a:endParaRPr lang="en-US" b="1" dirty="0">
              <a:highlight>
                <a:srgbClr val="00FFFF"/>
              </a:highlight>
            </a:endParaRPr>
          </a:p>
          <a:p>
            <a:r>
              <a:rPr lang="en-US" b="1" dirty="0" err="1">
                <a:highlight>
                  <a:srgbClr val="00FFFF"/>
                </a:highlight>
              </a:rPr>
              <a:t>Nachbearbeitung</a:t>
            </a:r>
            <a:r>
              <a:rPr lang="en-US" b="1" dirty="0">
                <a:highlight>
                  <a:srgbClr val="00FFFF"/>
                </a:highlight>
              </a:rPr>
              <a:t> </a:t>
            </a:r>
            <a:r>
              <a:rPr lang="en-DE" b="1" dirty="0">
                <a:highlight>
                  <a:srgbClr val="00FFFF"/>
                </a:highlight>
              </a:rPr>
              <a:t>[F</a:t>
            </a:r>
            <a:r>
              <a:rPr lang="en-US" b="1" dirty="0">
                <a:highlight>
                  <a:srgbClr val="00FFFF"/>
                </a:highlight>
              </a:rPr>
              <a:t>4</a:t>
            </a:r>
            <a:r>
              <a:rPr lang="en-DE" b="1" dirty="0">
                <a:highlight>
                  <a:srgbClr val="00FFFF"/>
                </a:highlight>
              </a:rPr>
              <a:t>]</a:t>
            </a:r>
            <a:endParaRPr lang="en-US" b="1" dirty="0">
              <a:highlight>
                <a:srgbClr val="00FFFF"/>
              </a:highlight>
            </a:endParaRPr>
          </a:p>
          <a:p>
            <a:r>
              <a:rPr lang="en-DE" b="1" dirty="0" err="1">
                <a:highlight>
                  <a:srgbClr val="00FFFF"/>
                </a:highlight>
              </a:rPr>
              <a:t>Ausgangsdaten</a:t>
            </a:r>
            <a:r>
              <a:rPr lang="en-DE" b="1" dirty="0">
                <a:highlight>
                  <a:srgbClr val="00FFFF"/>
                </a:highlight>
              </a:rPr>
              <a:t> der </a:t>
            </a:r>
            <a:r>
              <a:rPr lang="en-DE" b="1" dirty="0" err="1">
                <a:highlight>
                  <a:srgbClr val="00FFFF"/>
                </a:highlight>
              </a:rPr>
              <a:t>Nachbearbeitung</a:t>
            </a:r>
            <a:r>
              <a:rPr lang="en-DE" b="1" dirty="0">
                <a:highlight>
                  <a:srgbClr val="00FFFF"/>
                </a:highlight>
              </a:rPr>
              <a:t>:</a:t>
            </a:r>
            <a:endParaRPr lang="en-DE" dirty="0">
              <a:highlight>
                <a:srgbClr val="00FFFF"/>
              </a:highlight>
            </a:endParaRPr>
          </a:p>
          <a:p>
            <a:r>
              <a:rPr lang="en-DE" b="1" dirty="0" err="1">
                <a:highlight>
                  <a:srgbClr val="00FFFF"/>
                </a:highlight>
              </a:rPr>
              <a:t>Konfidenz-Filterung</a:t>
            </a:r>
            <a:r>
              <a:rPr lang="en-DE" b="1" dirty="0">
                <a:highlight>
                  <a:srgbClr val="00FFFF"/>
                </a:highlight>
              </a:rPr>
              <a:t>:</a:t>
            </a:r>
            <a:r>
              <a:rPr lang="en-DE" dirty="0">
                <a:highlight>
                  <a:srgbClr val="00FFFF"/>
                </a:highlight>
              </a:rPr>
              <a:t> </a:t>
            </a:r>
            <a:endParaRPr lang="en-US" dirty="0">
              <a:highlight>
                <a:srgbClr val="00FFFF"/>
              </a:highlight>
            </a:endParaRPr>
          </a:p>
          <a:p>
            <a:r>
              <a:rPr lang="en-DE" dirty="0">
                <a:highlight>
                  <a:srgbClr val="00FFFF"/>
                </a:highlight>
              </a:rPr>
              <a:t>→ </a:t>
            </a:r>
            <a:r>
              <a:rPr lang="en-DE" dirty="0" err="1">
                <a:highlight>
                  <a:srgbClr val="00FFFF"/>
                </a:highlight>
              </a:rPr>
              <a:t>Detektionen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unter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Schwellwert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werden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verworfen</a:t>
            </a:r>
            <a:r>
              <a:rPr lang="en-DE" dirty="0">
                <a:highlight>
                  <a:srgbClr val="00FFFF"/>
                </a:highlight>
              </a:rPr>
              <a:t> </a:t>
            </a:r>
            <a:endParaRPr lang="en-US" dirty="0">
              <a:highlight>
                <a:srgbClr val="00FFFF"/>
              </a:highlight>
            </a:endParaRPr>
          </a:p>
          <a:p>
            <a:r>
              <a:rPr lang="en-DE" dirty="0">
                <a:highlight>
                  <a:srgbClr val="00FFFF"/>
                </a:highlight>
              </a:rPr>
              <a:t>→ [300, 57] → </a:t>
            </a:r>
            <a:r>
              <a:rPr lang="en-DE" b="1" dirty="0">
                <a:highlight>
                  <a:srgbClr val="00FFFF"/>
                </a:highlight>
              </a:rPr>
              <a:t>[P, 57]</a:t>
            </a:r>
            <a:r>
              <a:rPr lang="en-US" b="1" dirty="0">
                <a:highlight>
                  <a:srgbClr val="00FFFF"/>
                </a:highlight>
              </a:rPr>
              <a:t> (</a:t>
            </a:r>
            <a:r>
              <a:rPr lang="en-DE" dirty="0">
                <a:highlight>
                  <a:srgbClr val="00FFFF"/>
                </a:highlight>
              </a:rPr>
              <a:t>P = </a:t>
            </a:r>
            <a:r>
              <a:rPr lang="en-DE" dirty="0" err="1">
                <a:highlight>
                  <a:srgbClr val="00FFFF"/>
                </a:highlight>
              </a:rPr>
              <a:t>tatsächlich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erkannte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Personen</a:t>
            </a:r>
            <a:r>
              <a:rPr lang="en-US" dirty="0">
                <a:highlight>
                  <a:srgbClr val="00FFFF"/>
                </a:highlight>
              </a:rPr>
              <a:t>)</a:t>
            </a:r>
            <a:endParaRPr lang="en-DE" dirty="0">
              <a:highlight>
                <a:srgbClr val="00FFFF"/>
              </a:highlight>
            </a:endParaRPr>
          </a:p>
          <a:p>
            <a:r>
              <a:rPr lang="en-DE" b="1" dirty="0" err="1">
                <a:highlight>
                  <a:srgbClr val="00FFFF"/>
                </a:highlight>
              </a:rPr>
              <a:t>Rückskalierung</a:t>
            </a:r>
            <a:r>
              <a:rPr lang="en-DE" b="1" dirty="0">
                <a:highlight>
                  <a:srgbClr val="00FFFF"/>
                </a:highlight>
              </a:rPr>
              <a:t>:</a:t>
            </a:r>
            <a:r>
              <a:rPr lang="en-DE" dirty="0">
                <a:highlight>
                  <a:srgbClr val="00FFFF"/>
                </a:highlight>
              </a:rPr>
              <a:t> Box- &amp; </a:t>
            </a:r>
            <a:r>
              <a:rPr lang="en-DE" dirty="0" err="1">
                <a:highlight>
                  <a:srgbClr val="00FFFF"/>
                </a:highlight>
              </a:rPr>
              <a:t>Keypoint-Koordinaten</a:t>
            </a:r>
            <a:r>
              <a:rPr lang="en-DE" dirty="0">
                <a:highlight>
                  <a:srgbClr val="00FFFF"/>
                </a:highlight>
              </a:rPr>
              <a:t> von 640×640 </a:t>
            </a:r>
            <a:r>
              <a:rPr lang="en-DE" dirty="0" err="1">
                <a:highlight>
                  <a:srgbClr val="00FFFF"/>
                </a:highlight>
              </a:rPr>
              <a:t>zurück</a:t>
            </a:r>
            <a:r>
              <a:rPr lang="en-DE" dirty="0">
                <a:highlight>
                  <a:srgbClr val="00FFFF"/>
                </a:highlight>
              </a:rPr>
              <a:t> auf die </a:t>
            </a:r>
            <a:r>
              <a:rPr lang="en-DE" dirty="0" err="1">
                <a:highlight>
                  <a:srgbClr val="00FFFF"/>
                </a:highlight>
              </a:rPr>
              <a:t>Originalauflösung</a:t>
            </a:r>
            <a:endParaRPr lang="en-DE" dirty="0">
              <a:highlight>
                <a:srgbClr val="00FFFF"/>
              </a:highlight>
            </a:endParaRPr>
          </a:p>
          <a:p>
            <a:r>
              <a:rPr lang="en-DE" b="1" dirty="0" err="1">
                <a:highlight>
                  <a:srgbClr val="00FFFF"/>
                </a:highlight>
              </a:rPr>
              <a:t>Besonderheit</a:t>
            </a:r>
            <a:r>
              <a:rPr lang="en-DE" b="1" dirty="0">
                <a:highlight>
                  <a:srgbClr val="00FFFF"/>
                </a:highlight>
              </a:rPr>
              <a:t> YOLO26: </a:t>
            </a:r>
            <a:r>
              <a:rPr lang="en-DE" b="1" dirty="0" err="1">
                <a:highlight>
                  <a:srgbClr val="00FFFF"/>
                </a:highlight>
              </a:rPr>
              <a:t>keine</a:t>
            </a:r>
            <a:r>
              <a:rPr lang="en-DE" b="1" dirty="0">
                <a:highlight>
                  <a:srgbClr val="00FFFF"/>
                </a:highlight>
              </a:rPr>
              <a:t> NMS!</a:t>
            </a:r>
            <a:endParaRPr lang="en-DE" dirty="0">
              <a:highlight>
                <a:srgbClr val="00FFFF"/>
              </a:highlight>
            </a:endParaRPr>
          </a:p>
          <a:p>
            <a:r>
              <a:rPr lang="en-DE" dirty="0" err="1">
                <a:highlight>
                  <a:srgbClr val="00FFFF"/>
                </a:highlight>
              </a:rPr>
              <a:t>Unterdrückung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redundanter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Detektionen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wird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bereits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b="1" dirty="0" err="1">
                <a:highlight>
                  <a:srgbClr val="00FFFF"/>
                </a:highlight>
              </a:rPr>
              <a:t>im</a:t>
            </a:r>
            <a:r>
              <a:rPr lang="en-DE" b="1" dirty="0">
                <a:highlight>
                  <a:srgbClr val="00FFFF"/>
                </a:highlight>
              </a:rPr>
              <a:t> Training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gelernt</a:t>
            </a:r>
            <a:r>
              <a:rPr lang="en-DE" dirty="0">
                <a:highlight>
                  <a:srgbClr val="00FFFF"/>
                </a:highlight>
              </a:rPr>
              <a:t> → native End-to-End-</a:t>
            </a:r>
            <a:r>
              <a:rPr lang="en-DE" dirty="0" err="1">
                <a:highlight>
                  <a:srgbClr val="00FFFF"/>
                </a:highlight>
              </a:rPr>
              <a:t>Inferenz</a:t>
            </a:r>
            <a:endParaRPr lang="en-DE" dirty="0">
              <a:highlight>
                <a:srgbClr val="00FFFF"/>
              </a:highlight>
            </a:endParaRPr>
          </a:p>
          <a:p>
            <a:r>
              <a:rPr lang="en-DE" dirty="0">
                <a:highlight>
                  <a:srgbClr val="00FFFF"/>
                </a:highlight>
              </a:rPr>
              <a:t>Optional: Dual-Head-</a:t>
            </a:r>
            <a:r>
              <a:rPr lang="en-DE" dirty="0" err="1">
                <a:highlight>
                  <a:srgbClr val="00FFFF"/>
                </a:highlight>
              </a:rPr>
              <a:t>Architektur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erlaubt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Umschalten</a:t>
            </a:r>
            <a:r>
              <a:rPr lang="en-DE" dirty="0">
                <a:highlight>
                  <a:srgbClr val="00FFFF"/>
                </a:highlight>
              </a:rPr>
              <a:t> auf One-to-Many-Head </a:t>
            </a:r>
            <a:r>
              <a:rPr lang="en-DE" dirty="0" err="1">
                <a:highlight>
                  <a:srgbClr val="00FFFF"/>
                </a:highlight>
              </a:rPr>
              <a:t>mit</a:t>
            </a:r>
            <a:r>
              <a:rPr lang="en-DE" dirty="0">
                <a:highlight>
                  <a:srgbClr val="00FFFF"/>
                </a:highlight>
              </a:rPr>
              <a:t> NMS (</a:t>
            </a:r>
            <a:r>
              <a:rPr lang="en-DE" dirty="0" err="1">
                <a:highlight>
                  <a:srgbClr val="00FFFF"/>
                </a:highlight>
              </a:rPr>
              <a:t>etwas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genauer</a:t>
            </a:r>
            <a:r>
              <a:rPr lang="en-DE" dirty="0">
                <a:highlight>
                  <a:srgbClr val="00FFFF"/>
                </a:highlight>
              </a:rPr>
              <a:t>, </a:t>
            </a:r>
            <a:r>
              <a:rPr lang="en-DE" dirty="0" err="1">
                <a:highlight>
                  <a:srgbClr val="00FFFF"/>
                </a:highlight>
              </a:rPr>
              <a:t>aber</a:t>
            </a:r>
            <a:r>
              <a:rPr lang="en-DE" dirty="0">
                <a:highlight>
                  <a:srgbClr val="00FFFF"/>
                </a:highlight>
              </a:rPr>
              <a:t> </a:t>
            </a:r>
            <a:r>
              <a:rPr lang="en-DE" dirty="0" err="1">
                <a:highlight>
                  <a:srgbClr val="00FFFF"/>
                </a:highlight>
              </a:rPr>
              <a:t>langsamer</a:t>
            </a:r>
            <a:r>
              <a:rPr lang="en-DE" dirty="0">
                <a:highlight>
                  <a:srgbClr val="00FFFF"/>
                </a:highlight>
              </a:rPr>
              <a:t>)</a:t>
            </a:r>
          </a:p>
          <a:p>
            <a:pPr algn="ctr"/>
            <a:endParaRPr lang="en-DE" dirty="0">
              <a:highlight>
                <a:srgbClr val="00FFFF"/>
              </a:highlight>
            </a:endParaRPr>
          </a:p>
        </p:txBody>
      </p:sp>
      <p:sp>
        <p:nvSpPr>
          <p:cNvPr id="18" name="Bildplatzhalter 37">
            <a:extLst>
              <a:ext uri="{FF2B5EF4-FFF2-40B4-BE49-F238E27FC236}">
                <a16:creationId xmlns:a16="http://schemas.microsoft.com/office/drawing/2014/main" id="{19A5857A-EDD3-A98A-9DDC-E180423057FB}"/>
              </a:ext>
            </a:extLst>
          </p:cNvPr>
          <p:cNvSpPr txBox="1">
            <a:spLocks/>
          </p:cNvSpPr>
          <p:nvPr/>
        </p:nvSpPr>
        <p:spPr>
          <a:xfrm>
            <a:off x="10899775" y="31295920"/>
            <a:ext cx="8472488" cy="58404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563" indent="0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74625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DE" dirty="0"/>
          </a:p>
        </p:txBody>
      </p:sp>
      <p:sp>
        <p:nvSpPr>
          <p:cNvPr id="21" name="Bildplatzhalter 38">
            <a:extLst>
              <a:ext uri="{FF2B5EF4-FFF2-40B4-BE49-F238E27FC236}">
                <a16:creationId xmlns:a16="http://schemas.microsoft.com/office/drawing/2014/main" id="{02D928B8-C20B-3B79-D384-4CCD70DC709B}"/>
              </a:ext>
            </a:extLst>
          </p:cNvPr>
          <p:cNvSpPr txBox="1">
            <a:spLocks/>
          </p:cNvSpPr>
          <p:nvPr/>
        </p:nvSpPr>
        <p:spPr>
          <a:xfrm>
            <a:off x="20243799" y="27196076"/>
            <a:ext cx="8472488" cy="142763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563" indent="0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74625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DE" dirty="0"/>
          </a:p>
        </p:txBody>
      </p:sp>
      <p:sp>
        <p:nvSpPr>
          <p:cNvPr id="29" name="Bildplatzhalter 38">
            <a:extLst>
              <a:ext uri="{FF2B5EF4-FFF2-40B4-BE49-F238E27FC236}">
                <a16:creationId xmlns:a16="http://schemas.microsoft.com/office/drawing/2014/main" id="{E5186F94-89CF-21ED-8B1E-7217F93CB58F}"/>
              </a:ext>
            </a:extLst>
          </p:cNvPr>
          <p:cNvSpPr txBox="1">
            <a:spLocks/>
          </p:cNvSpPr>
          <p:nvPr/>
        </p:nvSpPr>
        <p:spPr>
          <a:xfrm>
            <a:off x="20213637" y="27196076"/>
            <a:ext cx="8472488" cy="142763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563" indent="0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74625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TEST SETUP + ERGEBNIS</a:t>
            </a:r>
            <a:endParaRPr lang="en-DE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8F4F965-FF64-568B-0B37-051C571F19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5025" y="12737220"/>
            <a:ext cx="9365161" cy="6941430"/>
          </a:xfrm>
          <a:prstGeom prst="rect">
            <a:avLst/>
          </a:prstGeom>
        </p:spPr>
      </p:pic>
      <p:sp>
        <p:nvSpPr>
          <p:cNvPr id="57" name="Textplatzhalter 36">
            <a:extLst>
              <a:ext uri="{FF2B5EF4-FFF2-40B4-BE49-F238E27FC236}">
                <a16:creationId xmlns:a16="http://schemas.microsoft.com/office/drawing/2014/main" id="{E44467A9-1B6C-6203-B0BF-4C077882670B}"/>
              </a:ext>
            </a:extLst>
          </p:cNvPr>
          <p:cNvSpPr txBox="1">
            <a:spLocks/>
          </p:cNvSpPr>
          <p:nvPr/>
        </p:nvSpPr>
        <p:spPr>
          <a:xfrm>
            <a:off x="11839348" y="19859079"/>
            <a:ext cx="6653666" cy="3318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Noto Serif" panose="02020502060505020204" pitchFamily="18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  <a:lvl2pPr marL="182563" indent="0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74625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Abbildung 1: YOLO26 Architekturdiagramm. Quelle: [1]</a:t>
            </a:r>
          </a:p>
        </p:txBody>
      </p:sp>
    </p:spTree>
    <p:extLst>
      <p:ext uri="{BB962C8B-B14F-4D97-AF65-F5344CB8AC3E}">
        <p14:creationId xmlns:p14="http://schemas.microsoft.com/office/powerpoint/2010/main" val="33316288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0FDA9-E486-0A1F-D463-E0FD4F740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 29">
            <a:extLst>
              <a:ext uri="{FF2B5EF4-FFF2-40B4-BE49-F238E27FC236}">
                <a16:creationId xmlns:a16="http://schemas.microsoft.com/office/drawing/2014/main" id="{A2DBACA1-1972-3A98-B3BA-4346A9FE76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Oberseminar Automatisierungstechnik SS2026</a:t>
            </a:r>
          </a:p>
        </p:txBody>
      </p:sp>
      <p:sp>
        <p:nvSpPr>
          <p:cNvPr id="31" name="Untertitel 30">
            <a:extLst>
              <a:ext uri="{FF2B5EF4-FFF2-40B4-BE49-F238E27FC236}">
                <a16:creationId xmlns:a16="http://schemas.microsoft.com/office/drawing/2014/main" id="{E6217FAB-D7C8-68CC-D9B6-0CCF95D2FB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sz="6600" dirty="0"/>
              <a:t>YOLO26: </a:t>
            </a:r>
            <a:r>
              <a:rPr lang="en-DE" sz="6600" dirty="0" err="1"/>
              <a:t>Bestimmung</a:t>
            </a:r>
            <a:r>
              <a:rPr lang="en-DE" sz="6600" dirty="0"/>
              <a:t> von </a:t>
            </a:r>
            <a:r>
              <a:rPr lang="en-DE" sz="6600" dirty="0" err="1"/>
              <a:t>Objekt</a:t>
            </a:r>
            <a:r>
              <a:rPr lang="en-DE" sz="6600" dirty="0"/>
              <a:t>-Posen in </a:t>
            </a:r>
            <a:r>
              <a:rPr lang="en-DE" sz="6600" dirty="0" err="1"/>
              <a:t>Bildern</a:t>
            </a:r>
            <a:endParaRPr lang="en-US" sz="6600" dirty="0"/>
          </a:p>
          <a:p>
            <a:r>
              <a:rPr lang="de-DE" dirty="0"/>
              <a:t>Nguyen, Duc Hai; Loewe, Richard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F12F59D6-F5D0-9FC4-9EBC-81A061F8A08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BBFF3CF0-52A2-300F-DE53-600D24B241D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b="1" dirty="0"/>
              <a:t>Analyse der Lösung</a:t>
            </a:r>
          </a:p>
        </p:txBody>
      </p:sp>
      <p:sp>
        <p:nvSpPr>
          <p:cNvPr id="35" name="Bildplatzhalter 34">
            <a:extLst>
              <a:ext uri="{FF2B5EF4-FFF2-40B4-BE49-F238E27FC236}">
                <a16:creationId xmlns:a16="http://schemas.microsoft.com/office/drawing/2014/main" id="{BE2CCB5B-6DDE-FD22-1B16-A74898E7CD5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r>
              <a:rPr lang="en-US" sz="3500" b="1" dirty="0"/>
              <a:t>Motivation</a:t>
            </a:r>
            <a:endParaRPr lang="en-DE" sz="3500" b="1" dirty="0"/>
          </a:p>
        </p:txBody>
      </p:sp>
      <p:sp>
        <p:nvSpPr>
          <p:cNvPr id="36" name="Bildplatzhalter 35">
            <a:extLst>
              <a:ext uri="{FF2B5EF4-FFF2-40B4-BE49-F238E27FC236}">
                <a16:creationId xmlns:a16="http://schemas.microsoft.com/office/drawing/2014/main" id="{0AD536CD-F5E6-E900-75FE-63FDF3C2C4E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3E8277BD-56B6-19F4-8D4E-9A3A5B530DC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de-DE" dirty="0"/>
              <a:t>Abbildung 1: Unterschrift</a:t>
            </a:r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C756F743-D240-A52F-E615-E6B4F293BDD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DBE0D85F-D346-23CD-CFED-7EB787AF861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0" name="Textplatzhalter 39">
            <a:extLst>
              <a:ext uri="{FF2B5EF4-FFF2-40B4-BE49-F238E27FC236}">
                <a16:creationId xmlns:a16="http://schemas.microsoft.com/office/drawing/2014/main" id="{75B1B10C-CFC3-D66A-3E25-58B4EF4D9C1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1" name="Textplatzhalter 40">
            <a:extLst>
              <a:ext uri="{FF2B5EF4-FFF2-40B4-BE49-F238E27FC236}">
                <a16:creationId xmlns:a16="http://schemas.microsoft.com/office/drawing/2014/main" id="{3FDC165E-2654-FA4B-11BC-7088E69B3D17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2" name="Textplatzhalter 41">
            <a:extLst>
              <a:ext uri="{FF2B5EF4-FFF2-40B4-BE49-F238E27FC236}">
                <a16:creationId xmlns:a16="http://schemas.microsoft.com/office/drawing/2014/main" id="{6287328F-C9F2-2182-D3E9-AC6AA59AFB3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0272375" y="34173727"/>
            <a:ext cx="8472488" cy="4837778"/>
          </a:xfrm>
        </p:spPr>
        <p:txBody>
          <a:bodyPr/>
          <a:lstStyle/>
          <a:p>
            <a:pPr marL="449263" indent="-449263">
              <a:tabLst>
                <a:tab pos="449263" algn="l"/>
              </a:tabLst>
            </a:pPr>
            <a:r>
              <a:rPr lang="de-DE" sz="1800" dirty="0"/>
              <a:t>[1] 	J. Campbell, R. </a:t>
            </a:r>
            <a:r>
              <a:rPr lang="de-DE" sz="1800" dirty="0" err="1"/>
              <a:t>Sukthankar</a:t>
            </a:r>
            <a:r>
              <a:rPr lang="de-DE" sz="1800" dirty="0"/>
              <a:t>, I. </a:t>
            </a:r>
            <a:r>
              <a:rPr lang="de-DE" sz="1800" dirty="0" err="1"/>
              <a:t>Nourbakhsh</a:t>
            </a:r>
            <a:r>
              <a:rPr lang="de-DE" sz="1800" dirty="0"/>
              <a:t>, A. </a:t>
            </a:r>
            <a:r>
              <a:rPr lang="de-DE" sz="1800" dirty="0" err="1"/>
              <a:t>Pahwa</a:t>
            </a:r>
            <a:r>
              <a:rPr lang="de-DE" sz="1800" dirty="0"/>
              <a:t>:  “A Robust Visual </a:t>
            </a:r>
            <a:r>
              <a:rPr lang="de-DE" sz="1800" dirty="0" err="1"/>
              <a:t>Odometry</a:t>
            </a:r>
            <a:r>
              <a:rPr lang="de-DE" sz="1800" dirty="0"/>
              <a:t> and </a:t>
            </a:r>
            <a:r>
              <a:rPr lang="de-DE" sz="1800" dirty="0" err="1"/>
              <a:t>Precipice</a:t>
            </a:r>
            <a:r>
              <a:rPr lang="de-DE" sz="1800" dirty="0"/>
              <a:t> </a:t>
            </a:r>
            <a:r>
              <a:rPr lang="de-DE" sz="1800" dirty="0" err="1"/>
              <a:t>Detection</a:t>
            </a:r>
            <a:r>
              <a:rPr lang="de-DE" sz="1800" dirty="0"/>
              <a:t> System </a:t>
            </a:r>
            <a:r>
              <a:rPr lang="de-DE" sz="1800" dirty="0" err="1"/>
              <a:t>Using</a:t>
            </a:r>
            <a:r>
              <a:rPr lang="de-DE" sz="1800" dirty="0"/>
              <a:t> Consumer-grade </a:t>
            </a:r>
            <a:r>
              <a:rPr lang="de-DE" sz="1800" dirty="0" err="1"/>
              <a:t>Monocular</a:t>
            </a:r>
            <a:r>
              <a:rPr lang="de-DE" sz="1800" dirty="0"/>
              <a:t> Vision”. In Proceedings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IEEE International Conference on Robotics and Automation (ICRA’05), Barcelona, Spain, April 2005 (Internet source www.example-internet-source.com/example/example.pdf, </a:t>
            </a:r>
            <a:r>
              <a:rPr lang="de-DE" sz="1800" dirty="0" err="1"/>
              <a:t>accessed</a:t>
            </a:r>
            <a:r>
              <a:rPr lang="de-DE" sz="1800" dirty="0"/>
              <a:t> on 08.02.2018)</a:t>
            </a:r>
          </a:p>
          <a:p>
            <a:pPr marL="449263" indent="-449263">
              <a:tabLst>
                <a:tab pos="449263" algn="l"/>
              </a:tabLst>
            </a:pPr>
            <a:r>
              <a:rPr lang="de-DE" sz="1800" dirty="0"/>
              <a:t>[2] 	A.D. </a:t>
            </a:r>
            <a:r>
              <a:rPr lang="de-DE" sz="1800" dirty="0" err="1"/>
              <a:t>Jepson</a:t>
            </a:r>
            <a:r>
              <a:rPr lang="de-DE" sz="1800" dirty="0"/>
              <a:t>, D.J, Heeger: “A fast </a:t>
            </a:r>
            <a:r>
              <a:rPr lang="de-DE" sz="1800" dirty="0" err="1"/>
              <a:t>subspace</a:t>
            </a:r>
            <a:r>
              <a:rPr lang="de-DE" sz="1800" dirty="0"/>
              <a:t> </a:t>
            </a:r>
            <a:r>
              <a:rPr lang="de-DE" sz="1800" dirty="0" err="1"/>
              <a:t>algorithm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recovering</a:t>
            </a:r>
            <a:r>
              <a:rPr lang="de-DE" sz="1800" dirty="0"/>
              <a:t> rigid </a:t>
            </a:r>
            <a:r>
              <a:rPr lang="de-DE" sz="1800" dirty="0" err="1"/>
              <a:t>motion</a:t>
            </a:r>
            <a:r>
              <a:rPr lang="de-DE" sz="1800" dirty="0"/>
              <a:t>”. In Proceedings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IEEE Workshop on Visual Motion, pp. 124 131, Princeton, USA, </a:t>
            </a:r>
            <a:r>
              <a:rPr lang="de-DE" sz="1800" dirty="0" err="1"/>
              <a:t>Oct</a:t>
            </a:r>
            <a:r>
              <a:rPr lang="de-DE" sz="1800" dirty="0"/>
              <a:t>. 1991</a:t>
            </a:r>
          </a:p>
          <a:p>
            <a:pPr marL="449263" indent="-449263">
              <a:tabLst>
                <a:tab pos="449263" algn="l"/>
              </a:tabLst>
            </a:pPr>
            <a:r>
              <a:rPr lang="de-DE" sz="1800" dirty="0"/>
              <a:t>[3]	Glenn </a:t>
            </a:r>
            <a:r>
              <a:rPr lang="de-DE" sz="1800" dirty="0" err="1"/>
              <a:t>Jocher</a:t>
            </a:r>
            <a:r>
              <a:rPr lang="de-DE" sz="1800" dirty="0"/>
              <a:t>, Jing Qiu: </a:t>
            </a:r>
            <a:r>
              <a:rPr lang="de-DE" sz="1800" dirty="0" err="1"/>
              <a:t>Ultralytics</a:t>
            </a:r>
            <a:r>
              <a:rPr lang="de-DE" sz="1800" dirty="0"/>
              <a:t> YOLO11, 11.0.0, 2024, https://github.com/ultralytics/ultralytics, AGPL-3.0. </a:t>
            </a:r>
          </a:p>
          <a:p>
            <a:endParaRPr lang="de-DE" sz="1800" dirty="0"/>
          </a:p>
        </p:txBody>
      </p:sp>
      <p:sp>
        <p:nvSpPr>
          <p:cNvPr id="43" name="Textplatzhalter 42">
            <a:extLst>
              <a:ext uri="{FF2B5EF4-FFF2-40B4-BE49-F238E27FC236}">
                <a16:creationId xmlns:a16="http://schemas.microsoft.com/office/drawing/2014/main" id="{70BA0B74-47D1-D172-53DF-CC593671E5C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20272375" y="33103292"/>
            <a:ext cx="8472488" cy="1070435"/>
          </a:xfrm>
        </p:spPr>
        <p:txBody>
          <a:bodyPr/>
          <a:lstStyle/>
          <a:p>
            <a:r>
              <a:rPr lang="de-DE" b="1" dirty="0"/>
              <a:t>Quellen:</a:t>
            </a:r>
          </a:p>
        </p:txBody>
      </p:sp>
      <p:sp>
        <p:nvSpPr>
          <p:cNvPr id="44" name="Bildplatzhalter 43">
            <a:extLst>
              <a:ext uri="{FF2B5EF4-FFF2-40B4-BE49-F238E27FC236}">
                <a16:creationId xmlns:a16="http://schemas.microsoft.com/office/drawing/2014/main" id="{229C97B0-141B-DD99-5B05-B483DDBFCABB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5" name="Textplatzhalter 44">
            <a:extLst>
              <a:ext uri="{FF2B5EF4-FFF2-40B4-BE49-F238E27FC236}">
                <a16:creationId xmlns:a16="http://schemas.microsoft.com/office/drawing/2014/main" id="{32458E98-BEA1-63EB-2C85-E720D5847E4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6" name="Bildplatzhalter 45">
            <a:extLst>
              <a:ext uri="{FF2B5EF4-FFF2-40B4-BE49-F238E27FC236}">
                <a16:creationId xmlns:a16="http://schemas.microsoft.com/office/drawing/2014/main" id="{B37515B2-E14D-F4C5-DC48-101540B08D13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7" name="Textplatzhalter 46">
            <a:extLst>
              <a:ext uri="{FF2B5EF4-FFF2-40B4-BE49-F238E27FC236}">
                <a16:creationId xmlns:a16="http://schemas.microsoft.com/office/drawing/2014/main" id="{4458CE0F-3F1C-AE75-99CD-30CDE68837F1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8" name="Bildplatzhalter 47">
            <a:extLst>
              <a:ext uri="{FF2B5EF4-FFF2-40B4-BE49-F238E27FC236}">
                <a16:creationId xmlns:a16="http://schemas.microsoft.com/office/drawing/2014/main" id="{81DA87FD-393B-245B-806E-22EC2FA57876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78F28AA0-F762-9A7B-1809-6ECBFDD0010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0" name="Bildplatzhalter 49">
            <a:extLst>
              <a:ext uri="{FF2B5EF4-FFF2-40B4-BE49-F238E27FC236}">
                <a16:creationId xmlns:a16="http://schemas.microsoft.com/office/drawing/2014/main" id="{CF4E7AEB-212D-098C-4C21-DC619C123790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20240623" y="19002544"/>
            <a:ext cx="3787776" cy="3864026"/>
          </a:xfrm>
        </p:spPr>
        <p:txBody>
          <a:bodyPr/>
          <a:lstStyle/>
          <a:p>
            <a:endParaRPr lang="en-DE"/>
          </a:p>
        </p:txBody>
      </p:sp>
      <p:sp>
        <p:nvSpPr>
          <p:cNvPr id="51" name="Textplatzhalter 50">
            <a:extLst>
              <a:ext uri="{FF2B5EF4-FFF2-40B4-BE49-F238E27FC236}">
                <a16:creationId xmlns:a16="http://schemas.microsoft.com/office/drawing/2014/main" id="{05FE8E9D-4B29-39BB-BF75-CECE20F54F4F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0240623" y="23279372"/>
            <a:ext cx="3787775" cy="3186112"/>
          </a:xfrm>
        </p:spPr>
        <p:txBody>
          <a:bodyPr/>
          <a:lstStyle/>
          <a:p>
            <a:endParaRPr lang="de-DE"/>
          </a:p>
        </p:txBody>
      </p:sp>
      <p:sp>
        <p:nvSpPr>
          <p:cNvPr id="52" name="Bildplatzhalter 51">
            <a:extLst>
              <a:ext uri="{FF2B5EF4-FFF2-40B4-BE49-F238E27FC236}">
                <a16:creationId xmlns:a16="http://schemas.microsoft.com/office/drawing/2014/main" id="{96434ECE-E6CB-0517-4B76-168F319BE300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4928511" y="19002544"/>
            <a:ext cx="3787776" cy="3864026"/>
          </a:xfrm>
        </p:spPr>
        <p:txBody>
          <a:bodyPr/>
          <a:lstStyle/>
          <a:p>
            <a:endParaRPr lang="en-DE"/>
          </a:p>
        </p:txBody>
      </p:sp>
      <p:sp>
        <p:nvSpPr>
          <p:cNvPr id="53" name="Textplatzhalter 52">
            <a:extLst>
              <a:ext uri="{FF2B5EF4-FFF2-40B4-BE49-F238E27FC236}">
                <a16:creationId xmlns:a16="http://schemas.microsoft.com/office/drawing/2014/main" id="{B9E8F3C6-C42C-A357-DB7C-B0461DCB01B8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24928511" y="23279372"/>
            <a:ext cx="3787775" cy="3186112"/>
          </a:xfrm>
        </p:spPr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25B8D95-3B2F-D00B-3BC4-A9C8F6047C94}"/>
              </a:ext>
            </a:extLst>
          </p:cNvPr>
          <p:cNvSpPr txBox="1"/>
          <p:nvPr/>
        </p:nvSpPr>
        <p:spPr>
          <a:xfrm>
            <a:off x="11201400" y="325898"/>
            <a:ext cx="18812489" cy="569386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de-DE" sz="4000" dirty="0"/>
              <a:t>Hinweise (am Ende zu entfernen!):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Positionen vom Logo und der zwei Titeltextblöcke </a:t>
            </a:r>
            <a:r>
              <a:rPr lang="de-DE" sz="3600" b="1" dirty="0"/>
              <a:t>nicht verändern</a:t>
            </a:r>
            <a:r>
              <a:rPr lang="de-DE" sz="3600" dirty="0"/>
              <a:t>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Untere Grenze der drei Spalten ist anzupassen um unteren Platz zu nutzen. Die obere Grenze und die horizontale Lage der Spalten </a:t>
            </a:r>
            <a:r>
              <a:rPr lang="de-DE" sz="3600" b="1" dirty="0"/>
              <a:t>nicht verändern</a:t>
            </a:r>
            <a:r>
              <a:rPr lang="de-DE" sz="36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Jedes Bild muss unterschrieben werden, siehe Beispiel unten.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Schriftart, -größe, -farbe der Blöcke </a:t>
            </a:r>
            <a:r>
              <a:rPr lang="de-DE" sz="3600" b="1" dirty="0"/>
              <a:t>nicht verändern</a:t>
            </a:r>
            <a:r>
              <a:rPr lang="de-DE" sz="3600" dirty="0"/>
              <a:t>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Breite der Blöcke </a:t>
            </a:r>
            <a:r>
              <a:rPr lang="de-DE" sz="3600" b="1" dirty="0"/>
              <a:t>nicht verändern</a:t>
            </a:r>
            <a:r>
              <a:rPr lang="de-DE" sz="3600" dirty="0"/>
              <a:t>!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Sonst können Sie die Blöcke sinnvoll verschieben, kopieren, umsortieren, vertikal ausdehnen, löschen und selbstverständlich ausfüllen.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de-DE" sz="3600" dirty="0"/>
              <a:t>Verwendete Quellen bitte zum Schluss angeben! </a:t>
            </a:r>
          </a:p>
        </p:txBody>
      </p:sp>
      <p:sp>
        <p:nvSpPr>
          <p:cNvPr id="3" name="Textplatzhalter 31">
            <a:extLst>
              <a:ext uri="{FF2B5EF4-FFF2-40B4-BE49-F238E27FC236}">
                <a16:creationId xmlns:a16="http://schemas.microsoft.com/office/drawing/2014/main" id="{EDFD0CBA-1D97-6234-A3FA-7DAA094A004F}"/>
              </a:ext>
            </a:extLst>
          </p:cNvPr>
          <p:cNvSpPr txBox="1">
            <a:spLocks/>
          </p:cNvSpPr>
          <p:nvPr/>
        </p:nvSpPr>
        <p:spPr>
          <a:xfrm>
            <a:off x="1527176" y="39622182"/>
            <a:ext cx="8472488" cy="23959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3027487" rtl="0" eaLnBrk="1" latinLnBrk="0" hangingPunct="1">
              <a:lnSpc>
                <a:spcPct val="90000"/>
              </a:lnSpc>
              <a:spcBef>
                <a:spcPts val="331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2563" indent="0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1338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74625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325589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839333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1353076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866820" indent="-756872" algn="l" defTabSz="3027487" rtl="0" eaLnBrk="1" latinLnBrk="0" hangingPunct="1">
              <a:lnSpc>
                <a:spcPct val="90000"/>
              </a:lnSpc>
              <a:spcBef>
                <a:spcPts val="1655"/>
              </a:spcBef>
              <a:buFont typeface="Arial" panose="020B0604020202020204" pitchFamily="34" charset="0"/>
              <a:buChar char="•"/>
              <a:defRPr sz="5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4900" dirty="0">
                <a:solidFill>
                  <a:srgbClr val="00008C"/>
                </a:solidFill>
                <a:latin typeface="Noto Sans Medium" panose="020B0502040504020204"/>
              </a:rPr>
              <a:t>Professur für Automatisierungstechnik</a:t>
            </a:r>
            <a:br>
              <a:rPr lang="de-DE" sz="4900" dirty="0">
                <a:solidFill>
                  <a:srgbClr val="00008C"/>
                </a:solidFill>
                <a:latin typeface="Noto Sans Medium" panose="020B0502040504020204"/>
              </a:rPr>
            </a:br>
            <a:r>
              <a:rPr lang="de-DE" sz="4900" dirty="0">
                <a:solidFill>
                  <a:srgbClr val="00008C"/>
                </a:solidFill>
                <a:latin typeface="Noto Sans Medium" panose="020B0502040504020204"/>
              </a:rPr>
              <a:t>Prof. Dr. techn. Klaus </a:t>
            </a:r>
            <a:r>
              <a:rPr lang="de-DE" sz="4900" dirty="0" err="1">
                <a:solidFill>
                  <a:srgbClr val="00008C"/>
                </a:solidFill>
                <a:latin typeface="Noto Sans Medium" panose="020B0502040504020204"/>
              </a:rPr>
              <a:t>Janschek</a:t>
            </a:r>
            <a:endParaRPr lang="de-DE" sz="4900" dirty="0">
              <a:solidFill>
                <a:srgbClr val="00008C"/>
              </a:solidFill>
              <a:latin typeface="Noto Sans Medium" panose="020B0502040504020204"/>
            </a:endParaRPr>
          </a:p>
        </p:txBody>
      </p:sp>
    </p:spTree>
    <p:extLst>
      <p:ext uri="{BB962C8B-B14F-4D97-AF65-F5344CB8AC3E}">
        <p14:creationId xmlns:p14="http://schemas.microsoft.com/office/powerpoint/2010/main" val="919528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TUD_2025_Blau-Rot">
      <a:dk1>
        <a:srgbClr val="000000"/>
      </a:dk1>
      <a:lt1>
        <a:sysClr val="window" lastClr="FFFFFF"/>
      </a:lt1>
      <a:dk2>
        <a:srgbClr val="566371"/>
      </a:dk2>
      <a:lt2>
        <a:srgbClr val="FFFFFF"/>
      </a:lt2>
      <a:accent1>
        <a:srgbClr val="00008C"/>
      </a:accent1>
      <a:accent2>
        <a:srgbClr val="97C6FF"/>
      </a:accent2>
      <a:accent3>
        <a:srgbClr val="2F57B2"/>
      </a:accent3>
      <a:accent4>
        <a:srgbClr val="001450"/>
      </a:accent4>
      <a:accent5>
        <a:srgbClr val="D20F41"/>
      </a:accent5>
      <a:accent6>
        <a:srgbClr val="FFAAA5"/>
      </a:accent6>
      <a:hlink>
        <a:srgbClr val="00008C"/>
      </a:hlink>
      <a:folHlink>
        <a:srgbClr val="2F57B2"/>
      </a:folHlink>
    </a:clrScheme>
    <a:fontScheme name="TUD 25 Noto Sans">
      <a:majorFont>
        <a:latin typeface="Noto Sans SemiBold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1154</Words>
  <Application>Microsoft Office PowerPoint</Application>
  <PresentationFormat>Custom</PresentationFormat>
  <Paragraphs>91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Noto Sans</vt:lpstr>
      <vt:lpstr>Noto Sans Medium</vt:lpstr>
      <vt:lpstr>Noto Sans SemiBold</vt:lpstr>
      <vt:lpstr>Noto Serif</vt:lpstr>
      <vt:lpstr>Office</vt:lpstr>
      <vt:lpstr>Oberseminar Automatisierungstechnik SS2026</vt:lpstr>
      <vt:lpstr>Oberseminar Automatisierungstechnik SS2026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Puhlfürst,Ulrich</dc:creator>
  <cp:lastModifiedBy>Duc Hai Nguyen</cp:lastModifiedBy>
  <cp:revision>49</cp:revision>
  <dcterms:created xsi:type="dcterms:W3CDTF">2025-09-04T12:04:34Z</dcterms:created>
  <dcterms:modified xsi:type="dcterms:W3CDTF">2026-07-11T20:33:38Z</dcterms:modified>
</cp:coreProperties>
</file>