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61"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7" userDrawn="1">
          <p15:clr>
            <a:srgbClr val="A4A3A4"/>
          </p15:clr>
        </p15:guide>
        <p15:guide id="2" pos="959" userDrawn="1">
          <p15:clr>
            <a:srgbClr val="A4A3A4"/>
          </p15:clr>
        </p15:guide>
        <p15:guide id="3" pos="3342" userDrawn="1">
          <p15:clr>
            <a:srgbClr val="A4A3A4"/>
          </p15:clr>
        </p15:guide>
        <p15:guide id="4" pos="3908" userDrawn="1">
          <p15:clr>
            <a:srgbClr val="A4A3A4"/>
          </p15:clr>
        </p15:guide>
        <p15:guide id="5" pos="6291" userDrawn="1">
          <p15:clr>
            <a:srgbClr val="A4A3A4"/>
          </p15:clr>
        </p15:guide>
        <p15:guide id="6" pos="6857" userDrawn="1">
          <p15:clr>
            <a:srgbClr val="A4A3A4"/>
          </p15:clr>
        </p15:guide>
        <p15:guide id="7" pos="9239" userDrawn="1">
          <p15:clr>
            <a:srgbClr val="A4A3A4"/>
          </p15:clr>
        </p15:guide>
        <p15:guide id="8" pos="9804" userDrawn="1">
          <p15:clr>
            <a:srgbClr val="A4A3A4"/>
          </p15:clr>
        </p15:guide>
        <p15:guide id="9" pos="12186" userDrawn="1">
          <p15:clr>
            <a:srgbClr val="A4A3A4"/>
          </p15:clr>
        </p15:guide>
        <p15:guide id="10" pos="12753" userDrawn="1">
          <p15:clr>
            <a:srgbClr val="A4A3A4"/>
          </p15:clr>
        </p15:guide>
        <p15:guide id="11" pos="15137" userDrawn="1">
          <p15:clr>
            <a:srgbClr val="A4A3A4"/>
          </p15:clr>
        </p15:guide>
        <p15:guide id="12" pos="18086" userDrawn="1">
          <p15:clr>
            <a:srgbClr val="A4A3A4"/>
          </p15:clr>
        </p15:guide>
        <p15:guide id="13" pos="1570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3C701C-0B02-F39B-CF72-564DBC6FBC27}" name="Duc Hai Nguyen" initials="DN" userId="b80d323cb1f4b6b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showGuides="1">
      <p:cViewPr>
        <p:scale>
          <a:sx n="33" d="100"/>
          <a:sy n="33" d="100"/>
        </p:scale>
        <p:origin x="1638" y="-1344"/>
      </p:cViewPr>
      <p:guideLst>
        <p:guide orient="horz" pos="957"/>
        <p:guide pos="959"/>
        <p:guide pos="3342"/>
        <p:guide pos="3908"/>
        <p:guide pos="6291"/>
        <p:guide pos="6857"/>
        <p:guide pos="9239"/>
        <p:guide pos="9804"/>
        <p:guide pos="12186"/>
        <p:guide pos="12753"/>
        <p:guide pos="15137"/>
        <p:guide pos="18086"/>
        <p:guide pos="157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22954-707F-45A3-A81E-7C5EAFCF9BA8}" type="datetimeFigureOut">
              <a:rPr lang="en-DE" smtClean="0"/>
              <a:t>20/07/2026</a:t>
            </a:fld>
            <a:endParaRPr lang="en-DE"/>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0DDE1C-308F-41E3-A091-2C1B943761A4}" type="slidenum">
              <a:rPr lang="en-DE" smtClean="0"/>
              <a:t>‹#›</a:t>
            </a:fld>
            <a:endParaRPr lang="en-DE"/>
          </a:p>
        </p:txBody>
      </p:sp>
    </p:spTree>
    <p:extLst>
      <p:ext uri="{BB962C8B-B14F-4D97-AF65-F5344CB8AC3E}">
        <p14:creationId xmlns:p14="http://schemas.microsoft.com/office/powerpoint/2010/main" val="2766181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 columns">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5861650"/>
            <a:ext cx="3787774"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6" y="12241213"/>
            <a:ext cx="3787774" cy="2998787"/>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27" name="Textplatzhalter 8">
            <a:extLst>
              <a:ext uri="{FF2B5EF4-FFF2-40B4-BE49-F238E27FC236}">
                <a16:creationId xmlns:a16="http://schemas.microsoft.com/office/drawing/2014/main" id="{FE86947B-B380-4168-B2C6-6D588F4FF498}"/>
              </a:ext>
            </a:extLst>
          </p:cNvPr>
          <p:cNvSpPr>
            <a:spLocks noGrp="1"/>
          </p:cNvSpPr>
          <p:nvPr>
            <p:ph type="body" sz="quarter" idx="63"/>
          </p:nvPr>
        </p:nvSpPr>
        <p:spPr>
          <a:xfrm>
            <a:off x="6215064"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8" name="Textplatzhalter 10">
            <a:extLst>
              <a:ext uri="{FF2B5EF4-FFF2-40B4-BE49-F238E27FC236}">
                <a16:creationId xmlns:a16="http://schemas.microsoft.com/office/drawing/2014/main" id="{E3048539-9747-4AE4-844D-82605FF843C1}"/>
              </a:ext>
            </a:extLst>
          </p:cNvPr>
          <p:cNvSpPr>
            <a:spLocks noGrp="1"/>
          </p:cNvSpPr>
          <p:nvPr>
            <p:ph type="body" sz="quarter" idx="64"/>
          </p:nvPr>
        </p:nvSpPr>
        <p:spPr>
          <a:xfrm>
            <a:off x="6215064" y="15861650"/>
            <a:ext cx="3787774" cy="1070435"/>
          </a:xfrm>
        </p:spPr>
        <p:txBody>
          <a:bodyPr/>
          <a:lstStyle>
            <a:lvl1pPr>
              <a:defRPr sz="3500">
                <a:latin typeface="+mj-lt"/>
              </a:defRPr>
            </a:lvl1pPr>
          </a:lstStyle>
          <a:p>
            <a:pPr lvl="0"/>
            <a:r>
              <a:rPr lang="de-DE" dirty="0"/>
              <a:t>Mastertextformat bearbeiten</a:t>
            </a:r>
          </a:p>
        </p:txBody>
      </p:sp>
      <p:sp>
        <p:nvSpPr>
          <p:cNvPr id="29" name="Bildplatzhalter 20">
            <a:extLst>
              <a:ext uri="{FF2B5EF4-FFF2-40B4-BE49-F238E27FC236}">
                <a16:creationId xmlns:a16="http://schemas.microsoft.com/office/drawing/2014/main" id="{CC6569E0-D1A6-4C8C-A2AF-AA22B43C25F3}"/>
              </a:ext>
            </a:extLst>
          </p:cNvPr>
          <p:cNvSpPr>
            <a:spLocks noGrp="1"/>
          </p:cNvSpPr>
          <p:nvPr>
            <p:ph type="pic" sz="quarter" idx="65"/>
          </p:nvPr>
        </p:nvSpPr>
        <p:spPr>
          <a:xfrm>
            <a:off x="6215064" y="12241213"/>
            <a:ext cx="3787774" cy="2998787"/>
          </a:xfrm>
        </p:spPr>
        <p:txBody>
          <a:bodyPr/>
          <a:lstStyle/>
          <a:p>
            <a:endParaRPr lang="de-DE"/>
          </a:p>
        </p:txBody>
      </p:sp>
      <p:sp>
        <p:nvSpPr>
          <p:cNvPr id="30" name="Textplatzhalter 8">
            <a:extLst>
              <a:ext uri="{FF2B5EF4-FFF2-40B4-BE49-F238E27FC236}">
                <a16:creationId xmlns:a16="http://schemas.microsoft.com/office/drawing/2014/main" id="{CA7635B7-8B6E-4DAD-9503-EBD4B17E2EE3}"/>
              </a:ext>
            </a:extLst>
          </p:cNvPr>
          <p:cNvSpPr>
            <a:spLocks noGrp="1"/>
          </p:cNvSpPr>
          <p:nvPr>
            <p:ph type="body" sz="quarter" idx="66"/>
          </p:nvPr>
        </p:nvSpPr>
        <p:spPr>
          <a:xfrm>
            <a:off x="10929938"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1" name="Textplatzhalter 10">
            <a:extLst>
              <a:ext uri="{FF2B5EF4-FFF2-40B4-BE49-F238E27FC236}">
                <a16:creationId xmlns:a16="http://schemas.microsoft.com/office/drawing/2014/main" id="{CC0819F6-6651-4936-8BAE-ADF90CA46DB1}"/>
              </a:ext>
            </a:extLst>
          </p:cNvPr>
          <p:cNvSpPr>
            <a:spLocks noGrp="1"/>
          </p:cNvSpPr>
          <p:nvPr>
            <p:ph type="body" sz="quarter" idx="67"/>
          </p:nvPr>
        </p:nvSpPr>
        <p:spPr>
          <a:xfrm>
            <a:off x="10929938" y="15861650"/>
            <a:ext cx="3787774" cy="1070435"/>
          </a:xfrm>
        </p:spPr>
        <p:txBody>
          <a:bodyPr/>
          <a:lstStyle>
            <a:lvl1pPr>
              <a:defRPr sz="3500">
                <a:latin typeface="+mj-lt"/>
              </a:defRPr>
            </a:lvl1pPr>
          </a:lstStyle>
          <a:p>
            <a:pPr lvl="0"/>
            <a:r>
              <a:rPr lang="de-DE" dirty="0"/>
              <a:t>Mastertextformat bearbeiten</a:t>
            </a:r>
          </a:p>
        </p:txBody>
      </p:sp>
      <p:sp>
        <p:nvSpPr>
          <p:cNvPr id="32" name="Bildplatzhalter 20">
            <a:extLst>
              <a:ext uri="{FF2B5EF4-FFF2-40B4-BE49-F238E27FC236}">
                <a16:creationId xmlns:a16="http://schemas.microsoft.com/office/drawing/2014/main" id="{8BFD94FD-6F3C-4178-802B-DFE880DD0DD3}"/>
              </a:ext>
            </a:extLst>
          </p:cNvPr>
          <p:cNvSpPr>
            <a:spLocks noGrp="1"/>
          </p:cNvSpPr>
          <p:nvPr>
            <p:ph type="pic" sz="quarter" idx="68"/>
          </p:nvPr>
        </p:nvSpPr>
        <p:spPr>
          <a:xfrm>
            <a:off x="10929938" y="12241213"/>
            <a:ext cx="3787774" cy="2998787"/>
          </a:xfrm>
        </p:spPr>
        <p:txBody>
          <a:bodyPr/>
          <a:lstStyle/>
          <a:p>
            <a:endParaRPr lang="de-DE"/>
          </a:p>
        </p:txBody>
      </p:sp>
      <p:sp>
        <p:nvSpPr>
          <p:cNvPr id="33" name="Textplatzhalter 8">
            <a:extLst>
              <a:ext uri="{FF2B5EF4-FFF2-40B4-BE49-F238E27FC236}">
                <a16:creationId xmlns:a16="http://schemas.microsoft.com/office/drawing/2014/main" id="{E28C2E31-045C-4878-8E5D-E34733BC7251}"/>
              </a:ext>
            </a:extLst>
          </p:cNvPr>
          <p:cNvSpPr>
            <a:spLocks noGrp="1"/>
          </p:cNvSpPr>
          <p:nvPr>
            <p:ph type="body" sz="quarter" idx="69"/>
          </p:nvPr>
        </p:nvSpPr>
        <p:spPr>
          <a:xfrm>
            <a:off x="15617826"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Textplatzhalter 10">
            <a:extLst>
              <a:ext uri="{FF2B5EF4-FFF2-40B4-BE49-F238E27FC236}">
                <a16:creationId xmlns:a16="http://schemas.microsoft.com/office/drawing/2014/main" id="{513AB96F-7C08-4025-AC97-FEBCA22ECA0D}"/>
              </a:ext>
            </a:extLst>
          </p:cNvPr>
          <p:cNvSpPr>
            <a:spLocks noGrp="1"/>
          </p:cNvSpPr>
          <p:nvPr>
            <p:ph type="body" sz="quarter" idx="70"/>
          </p:nvPr>
        </p:nvSpPr>
        <p:spPr>
          <a:xfrm>
            <a:off x="15617826" y="15861650"/>
            <a:ext cx="3787774" cy="1070435"/>
          </a:xfrm>
        </p:spPr>
        <p:txBody>
          <a:bodyPr/>
          <a:lstStyle>
            <a:lvl1pPr>
              <a:defRPr sz="3500">
                <a:latin typeface="+mj-lt"/>
              </a:defRPr>
            </a:lvl1pPr>
          </a:lstStyle>
          <a:p>
            <a:pPr lvl="0"/>
            <a:r>
              <a:rPr lang="de-DE" dirty="0"/>
              <a:t>Mastertextformat bearbeiten</a:t>
            </a:r>
          </a:p>
        </p:txBody>
      </p:sp>
      <p:sp>
        <p:nvSpPr>
          <p:cNvPr id="35" name="Bildplatzhalter 20">
            <a:extLst>
              <a:ext uri="{FF2B5EF4-FFF2-40B4-BE49-F238E27FC236}">
                <a16:creationId xmlns:a16="http://schemas.microsoft.com/office/drawing/2014/main" id="{2FD43F75-1260-4060-9989-2830BB07F2B0}"/>
              </a:ext>
            </a:extLst>
          </p:cNvPr>
          <p:cNvSpPr>
            <a:spLocks noGrp="1"/>
          </p:cNvSpPr>
          <p:nvPr>
            <p:ph type="pic" sz="quarter" idx="71"/>
          </p:nvPr>
        </p:nvSpPr>
        <p:spPr>
          <a:xfrm>
            <a:off x="15617826" y="12241213"/>
            <a:ext cx="3787774" cy="2998787"/>
          </a:xfrm>
        </p:spPr>
        <p:txBody>
          <a:bodyPr/>
          <a:lstStyle/>
          <a:p>
            <a:endParaRPr lang="de-DE"/>
          </a:p>
        </p:txBody>
      </p:sp>
      <p:sp>
        <p:nvSpPr>
          <p:cNvPr id="36" name="Textplatzhalter 8">
            <a:extLst>
              <a:ext uri="{FF2B5EF4-FFF2-40B4-BE49-F238E27FC236}">
                <a16:creationId xmlns:a16="http://schemas.microsoft.com/office/drawing/2014/main" id="{1C8D302D-BB80-4A5F-B627-BCEAC28D9BE5}"/>
              </a:ext>
            </a:extLst>
          </p:cNvPr>
          <p:cNvSpPr>
            <a:spLocks noGrp="1"/>
          </p:cNvSpPr>
          <p:nvPr>
            <p:ph type="body" sz="quarter" idx="72"/>
          </p:nvPr>
        </p:nvSpPr>
        <p:spPr>
          <a:xfrm>
            <a:off x="20305714"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7" name="Textplatzhalter 10">
            <a:extLst>
              <a:ext uri="{FF2B5EF4-FFF2-40B4-BE49-F238E27FC236}">
                <a16:creationId xmlns:a16="http://schemas.microsoft.com/office/drawing/2014/main" id="{92AC6313-7295-4439-AFC2-C7526CCBD181}"/>
              </a:ext>
            </a:extLst>
          </p:cNvPr>
          <p:cNvSpPr>
            <a:spLocks noGrp="1"/>
          </p:cNvSpPr>
          <p:nvPr>
            <p:ph type="body" sz="quarter" idx="73"/>
          </p:nvPr>
        </p:nvSpPr>
        <p:spPr>
          <a:xfrm>
            <a:off x="20305714" y="15861650"/>
            <a:ext cx="3787774" cy="1070435"/>
          </a:xfrm>
        </p:spPr>
        <p:txBody>
          <a:bodyPr/>
          <a:lstStyle>
            <a:lvl1pPr>
              <a:defRPr sz="3500">
                <a:latin typeface="+mj-lt"/>
              </a:defRPr>
            </a:lvl1pPr>
          </a:lstStyle>
          <a:p>
            <a:pPr lvl="0"/>
            <a:r>
              <a:rPr lang="de-DE" dirty="0"/>
              <a:t>Mastertextformat bearbeiten</a:t>
            </a:r>
          </a:p>
        </p:txBody>
      </p:sp>
      <p:sp>
        <p:nvSpPr>
          <p:cNvPr id="54" name="Bildplatzhalter 20">
            <a:extLst>
              <a:ext uri="{FF2B5EF4-FFF2-40B4-BE49-F238E27FC236}">
                <a16:creationId xmlns:a16="http://schemas.microsoft.com/office/drawing/2014/main" id="{43AFB24E-B6B6-4FFA-97A7-4E65CA9A9246}"/>
              </a:ext>
            </a:extLst>
          </p:cNvPr>
          <p:cNvSpPr>
            <a:spLocks noGrp="1"/>
          </p:cNvSpPr>
          <p:nvPr>
            <p:ph type="pic" sz="quarter" idx="74"/>
          </p:nvPr>
        </p:nvSpPr>
        <p:spPr>
          <a:xfrm>
            <a:off x="20305714" y="12241213"/>
            <a:ext cx="3787774" cy="2998787"/>
          </a:xfrm>
        </p:spPr>
        <p:txBody>
          <a:bodyPr/>
          <a:lstStyle/>
          <a:p>
            <a:endParaRPr lang="de-DE"/>
          </a:p>
        </p:txBody>
      </p:sp>
      <p:sp>
        <p:nvSpPr>
          <p:cNvPr id="55" name="Textplatzhalter 8">
            <a:extLst>
              <a:ext uri="{FF2B5EF4-FFF2-40B4-BE49-F238E27FC236}">
                <a16:creationId xmlns:a16="http://schemas.microsoft.com/office/drawing/2014/main" id="{D485A252-9206-4868-9E36-E34097CA7F2B}"/>
              </a:ext>
            </a:extLst>
          </p:cNvPr>
          <p:cNvSpPr>
            <a:spLocks noGrp="1"/>
          </p:cNvSpPr>
          <p:nvPr>
            <p:ph type="body" sz="quarter" idx="75"/>
          </p:nvPr>
        </p:nvSpPr>
        <p:spPr>
          <a:xfrm>
            <a:off x="24993602"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6" name="Textplatzhalter 10">
            <a:extLst>
              <a:ext uri="{FF2B5EF4-FFF2-40B4-BE49-F238E27FC236}">
                <a16:creationId xmlns:a16="http://schemas.microsoft.com/office/drawing/2014/main" id="{FA3202FB-CDDB-4EAF-9E23-39253F9427C8}"/>
              </a:ext>
            </a:extLst>
          </p:cNvPr>
          <p:cNvSpPr>
            <a:spLocks noGrp="1"/>
          </p:cNvSpPr>
          <p:nvPr>
            <p:ph type="body" sz="quarter" idx="76"/>
          </p:nvPr>
        </p:nvSpPr>
        <p:spPr>
          <a:xfrm>
            <a:off x="24993602" y="15861650"/>
            <a:ext cx="3787774" cy="1070435"/>
          </a:xfrm>
        </p:spPr>
        <p:txBody>
          <a:bodyPr/>
          <a:lstStyle>
            <a:lvl1pPr>
              <a:defRPr sz="3500">
                <a:latin typeface="+mj-lt"/>
              </a:defRPr>
            </a:lvl1pPr>
          </a:lstStyle>
          <a:p>
            <a:pPr lvl="0"/>
            <a:r>
              <a:rPr lang="de-DE" dirty="0"/>
              <a:t>Mastertextformat bearbeiten</a:t>
            </a:r>
          </a:p>
        </p:txBody>
      </p:sp>
      <p:sp>
        <p:nvSpPr>
          <p:cNvPr id="57" name="Bildplatzhalter 20">
            <a:extLst>
              <a:ext uri="{FF2B5EF4-FFF2-40B4-BE49-F238E27FC236}">
                <a16:creationId xmlns:a16="http://schemas.microsoft.com/office/drawing/2014/main" id="{E162986F-6BC1-42F6-A855-E4F4D551CDBD}"/>
              </a:ext>
            </a:extLst>
          </p:cNvPr>
          <p:cNvSpPr>
            <a:spLocks noGrp="1"/>
          </p:cNvSpPr>
          <p:nvPr>
            <p:ph type="pic" sz="quarter" idx="77"/>
          </p:nvPr>
        </p:nvSpPr>
        <p:spPr>
          <a:xfrm>
            <a:off x="24993602" y="12241213"/>
            <a:ext cx="3787774" cy="2998787"/>
          </a:xfrm>
        </p:spPr>
        <p:txBody>
          <a:bodyPr/>
          <a:lstStyle/>
          <a:p>
            <a:endParaRPr lang="de-DE"/>
          </a:p>
        </p:txBody>
      </p:sp>
    </p:spTree>
    <p:extLst>
      <p:ext uri="{BB962C8B-B14F-4D97-AF65-F5344CB8AC3E}">
        <p14:creationId xmlns:p14="http://schemas.microsoft.com/office/powerpoint/2010/main" val="2882854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20072979"/>
            <a:ext cx="847248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9002544"/>
            <a:ext cx="8472488"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6" y="12241213"/>
            <a:ext cx="8472488" cy="5840412"/>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38" name="Bildplatzhalter 20">
            <a:extLst>
              <a:ext uri="{FF2B5EF4-FFF2-40B4-BE49-F238E27FC236}">
                <a16:creationId xmlns:a16="http://schemas.microsoft.com/office/drawing/2014/main" id="{5CE716E0-3005-433E-A2AF-FBFEFF08499D}"/>
              </a:ext>
            </a:extLst>
          </p:cNvPr>
          <p:cNvSpPr>
            <a:spLocks noGrp="1"/>
          </p:cNvSpPr>
          <p:nvPr>
            <p:ph type="pic" sz="quarter" idx="47"/>
          </p:nvPr>
        </p:nvSpPr>
        <p:spPr>
          <a:xfrm>
            <a:off x="10920412" y="12241213"/>
            <a:ext cx="8472488" cy="5840412"/>
          </a:xfrm>
        </p:spPr>
        <p:txBody>
          <a:bodyPr/>
          <a:lstStyle/>
          <a:p>
            <a:endParaRPr lang="de-DE"/>
          </a:p>
        </p:txBody>
      </p:sp>
      <p:sp>
        <p:nvSpPr>
          <p:cNvPr id="39" name="Bildplatzhalter 20">
            <a:extLst>
              <a:ext uri="{FF2B5EF4-FFF2-40B4-BE49-F238E27FC236}">
                <a16:creationId xmlns:a16="http://schemas.microsoft.com/office/drawing/2014/main" id="{DFA93CF6-E69D-4693-B488-5A8B554EAB0D}"/>
              </a:ext>
            </a:extLst>
          </p:cNvPr>
          <p:cNvSpPr>
            <a:spLocks noGrp="1"/>
          </p:cNvSpPr>
          <p:nvPr>
            <p:ph type="pic" sz="quarter" idx="48"/>
          </p:nvPr>
        </p:nvSpPr>
        <p:spPr>
          <a:xfrm>
            <a:off x="20243799" y="12241213"/>
            <a:ext cx="8472488" cy="5840412"/>
          </a:xfrm>
        </p:spPr>
        <p:txBody>
          <a:bodyPr/>
          <a:lstStyle/>
          <a:p>
            <a:endParaRPr lang="de-DE"/>
          </a:p>
        </p:txBody>
      </p:sp>
      <p:sp>
        <p:nvSpPr>
          <p:cNvPr id="40" name="Textplatzhalter 8">
            <a:extLst>
              <a:ext uri="{FF2B5EF4-FFF2-40B4-BE49-F238E27FC236}">
                <a16:creationId xmlns:a16="http://schemas.microsoft.com/office/drawing/2014/main" id="{04EACFA9-FA3A-4307-BE09-96F4EC629C45}"/>
              </a:ext>
            </a:extLst>
          </p:cNvPr>
          <p:cNvSpPr>
            <a:spLocks noGrp="1"/>
          </p:cNvSpPr>
          <p:nvPr>
            <p:ph type="body" sz="quarter" idx="49"/>
          </p:nvPr>
        </p:nvSpPr>
        <p:spPr>
          <a:xfrm>
            <a:off x="10929937" y="20072979"/>
            <a:ext cx="847248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1" name="Textplatzhalter 10">
            <a:extLst>
              <a:ext uri="{FF2B5EF4-FFF2-40B4-BE49-F238E27FC236}">
                <a16:creationId xmlns:a16="http://schemas.microsoft.com/office/drawing/2014/main" id="{A014DD47-6961-4934-BFA1-3AC053778D5B}"/>
              </a:ext>
            </a:extLst>
          </p:cNvPr>
          <p:cNvSpPr>
            <a:spLocks noGrp="1"/>
          </p:cNvSpPr>
          <p:nvPr>
            <p:ph type="body" sz="quarter" idx="50"/>
          </p:nvPr>
        </p:nvSpPr>
        <p:spPr>
          <a:xfrm>
            <a:off x="10929937" y="19002544"/>
            <a:ext cx="8472488" cy="1070435"/>
          </a:xfrm>
        </p:spPr>
        <p:txBody>
          <a:bodyPr/>
          <a:lstStyle>
            <a:lvl1pPr>
              <a:defRPr sz="3500">
                <a:latin typeface="+mj-lt"/>
              </a:defRPr>
            </a:lvl1pPr>
          </a:lstStyle>
          <a:p>
            <a:pPr lvl="0"/>
            <a:r>
              <a:rPr lang="de-DE" dirty="0"/>
              <a:t>Mastertextformat bearbeiten</a:t>
            </a:r>
          </a:p>
        </p:txBody>
      </p:sp>
      <p:sp>
        <p:nvSpPr>
          <p:cNvPr id="42" name="Textplatzhalter 8">
            <a:extLst>
              <a:ext uri="{FF2B5EF4-FFF2-40B4-BE49-F238E27FC236}">
                <a16:creationId xmlns:a16="http://schemas.microsoft.com/office/drawing/2014/main" id="{A4E386FA-7EF6-4D1D-99A9-C9AAB2318048}"/>
              </a:ext>
            </a:extLst>
          </p:cNvPr>
          <p:cNvSpPr>
            <a:spLocks noGrp="1"/>
          </p:cNvSpPr>
          <p:nvPr>
            <p:ph type="body" sz="quarter" idx="51"/>
          </p:nvPr>
        </p:nvSpPr>
        <p:spPr>
          <a:xfrm>
            <a:off x="20272375" y="20072979"/>
            <a:ext cx="847248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3" name="Textplatzhalter 10">
            <a:extLst>
              <a:ext uri="{FF2B5EF4-FFF2-40B4-BE49-F238E27FC236}">
                <a16:creationId xmlns:a16="http://schemas.microsoft.com/office/drawing/2014/main" id="{C6A53706-557A-4841-A654-261F215CF782}"/>
              </a:ext>
            </a:extLst>
          </p:cNvPr>
          <p:cNvSpPr>
            <a:spLocks noGrp="1"/>
          </p:cNvSpPr>
          <p:nvPr>
            <p:ph type="body" sz="quarter" idx="52"/>
          </p:nvPr>
        </p:nvSpPr>
        <p:spPr>
          <a:xfrm>
            <a:off x="20272375" y="19002544"/>
            <a:ext cx="8472488" cy="1070435"/>
          </a:xfrm>
        </p:spPr>
        <p:txBody>
          <a:bodyPr/>
          <a:lstStyle>
            <a:lvl1pPr>
              <a:defRPr sz="3500">
                <a:latin typeface="+mj-lt"/>
              </a:defRPr>
            </a:lvl1pPr>
          </a:lstStyle>
          <a:p>
            <a:pPr lvl="0"/>
            <a:r>
              <a:rPr lang="de-DE" dirty="0"/>
              <a:t>Mastertextformat bearbeiten</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Tree>
    <p:extLst>
      <p:ext uri="{BB962C8B-B14F-4D97-AF65-F5344CB8AC3E}">
        <p14:creationId xmlns:p14="http://schemas.microsoft.com/office/powerpoint/2010/main" val="516121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20072979"/>
            <a:ext cx="1316354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9002544"/>
            <a:ext cx="13163548"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5" y="12241213"/>
            <a:ext cx="13163549" cy="5840412"/>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27" name="Textplatzhalter 8">
            <a:extLst>
              <a:ext uri="{FF2B5EF4-FFF2-40B4-BE49-F238E27FC236}">
                <a16:creationId xmlns:a16="http://schemas.microsoft.com/office/drawing/2014/main" id="{8D3EFA92-8397-49B8-A184-88E22031199B}"/>
              </a:ext>
            </a:extLst>
          </p:cNvPr>
          <p:cNvSpPr>
            <a:spLocks noGrp="1"/>
          </p:cNvSpPr>
          <p:nvPr>
            <p:ph type="body" sz="quarter" idx="63"/>
          </p:nvPr>
        </p:nvSpPr>
        <p:spPr>
          <a:xfrm>
            <a:off x="15617825" y="20072979"/>
            <a:ext cx="1316354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8" name="Textplatzhalter 10">
            <a:extLst>
              <a:ext uri="{FF2B5EF4-FFF2-40B4-BE49-F238E27FC236}">
                <a16:creationId xmlns:a16="http://schemas.microsoft.com/office/drawing/2014/main" id="{1396AE20-1E1B-4A46-8ADA-7374BF1436CD}"/>
              </a:ext>
            </a:extLst>
          </p:cNvPr>
          <p:cNvSpPr>
            <a:spLocks noGrp="1"/>
          </p:cNvSpPr>
          <p:nvPr>
            <p:ph type="body" sz="quarter" idx="64"/>
          </p:nvPr>
        </p:nvSpPr>
        <p:spPr>
          <a:xfrm>
            <a:off x="15617825" y="19002544"/>
            <a:ext cx="13163548" cy="1070435"/>
          </a:xfrm>
        </p:spPr>
        <p:txBody>
          <a:bodyPr/>
          <a:lstStyle>
            <a:lvl1pPr>
              <a:defRPr sz="3500">
                <a:latin typeface="+mj-lt"/>
              </a:defRPr>
            </a:lvl1pPr>
          </a:lstStyle>
          <a:p>
            <a:pPr lvl="0"/>
            <a:r>
              <a:rPr lang="de-DE" dirty="0"/>
              <a:t>Mastertextformat bearbeiten</a:t>
            </a:r>
          </a:p>
        </p:txBody>
      </p:sp>
      <p:sp>
        <p:nvSpPr>
          <p:cNvPr id="29" name="Bildplatzhalter 20">
            <a:extLst>
              <a:ext uri="{FF2B5EF4-FFF2-40B4-BE49-F238E27FC236}">
                <a16:creationId xmlns:a16="http://schemas.microsoft.com/office/drawing/2014/main" id="{468A17C8-511B-4D3F-BC2F-BECCB4B8D5CE}"/>
              </a:ext>
            </a:extLst>
          </p:cNvPr>
          <p:cNvSpPr>
            <a:spLocks noGrp="1"/>
          </p:cNvSpPr>
          <p:nvPr>
            <p:ph type="pic" sz="quarter" idx="65"/>
          </p:nvPr>
        </p:nvSpPr>
        <p:spPr>
          <a:xfrm>
            <a:off x="15617825" y="12241213"/>
            <a:ext cx="13163549" cy="5840412"/>
          </a:xfrm>
        </p:spPr>
        <p:txBody>
          <a:bodyPr/>
          <a:lstStyle/>
          <a:p>
            <a:endParaRPr lang="de-DE"/>
          </a:p>
        </p:txBody>
      </p:sp>
    </p:spTree>
    <p:extLst>
      <p:ext uri="{BB962C8B-B14F-4D97-AF65-F5344CB8AC3E}">
        <p14:creationId xmlns:p14="http://schemas.microsoft.com/office/powerpoint/2010/main" val="1936141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20072979"/>
            <a:ext cx="27189110"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9002544"/>
            <a:ext cx="27189110"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5" y="12241213"/>
            <a:ext cx="27189111" cy="5840412"/>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Tree>
    <p:extLst>
      <p:ext uri="{BB962C8B-B14F-4D97-AF65-F5344CB8AC3E}">
        <p14:creationId xmlns:p14="http://schemas.microsoft.com/office/powerpoint/2010/main" val="912857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31913" y="2278913"/>
            <a:ext cx="27211388" cy="8273416"/>
          </a:xfrm>
          <a:prstGeom prst="rect">
            <a:avLst/>
          </a:prstGeom>
        </p:spPr>
        <p:txBody>
          <a:bodyPr vert="horz" lIns="0" tIns="0" rIns="0" bIns="0" rtlCol="0" anchor="ctr">
            <a:noAutofit/>
          </a:bodyPr>
          <a:lstStyle/>
          <a:p>
            <a:r>
              <a:rPr lang="de-DE" dirty="0"/>
              <a:t>Mastertitelformat bearbeiten</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11" name="Grafik 10">
            <a:extLst>
              <a:ext uri="{FF2B5EF4-FFF2-40B4-BE49-F238E27FC236}">
                <a16:creationId xmlns:a16="http://schemas.microsoft.com/office/drawing/2014/main" id="{F98ABACA-2EC6-4F9F-A361-2152D6054A6D}"/>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531912" y="1523974"/>
            <a:ext cx="9326593" cy="3113099"/>
          </a:xfrm>
          <a:prstGeom prst="rect">
            <a:avLst/>
          </a:prstGeom>
        </p:spPr>
      </p:pic>
    </p:spTree>
    <p:extLst>
      <p:ext uri="{BB962C8B-B14F-4D97-AF65-F5344CB8AC3E}">
        <p14:creationId xmlns:p14="http://schemas.microsoft.com/office/powerpoint/2010/main" val="4232207869"/>
      </p:ext>
    </p:extLst>
  </p:cSld>
  <p:clrMap bg1="lt1" tx1="dk1" bg2="lt2" tx2="dk2" accent1="accent1" accent2="accent2" accent3="accent3" accent4="accent4" accent5="accent5" accent6="accent6" hlink="hlink" folHlink="folHlink"/>
  <p:sldLayoutIdLst>
    <p:sldLayoutId id="2147483664" r:id="rId1"/>
    <p:sldLayoutId id="2147483661" r:id="rId2"/>
    <p:sldLayoutId id="2147483662" r:id="rId3"/>
    <p:sldLayoutId id="2147483663" r:id="rId4"/>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60" userDrawn="1">
          <p15:clr>
            <a:srgbClr val="F26B43"/>
          </p15:clr>
        </p15:guide>
        <p15:guide id="2" pos="9819" userDrawn="1">
          <p15:clr>
            <a:srgbClr val="F26B43"/>
          </p15:clr>
        </p15:guide>
        <p15:guide id="3" pos="962" userDrawn="1">
          <p15:clr>
            <a:srgbClr val="F26B43"/>
          </p15:clr>
        </p15:guide>
        <p15:guide id="4" pos="3348" userDrawn="1">
          <p15:clr>
            <a:srgbClr val="F26B43"/>
          </p15:clr>
        </p15:guide>
        <p15:guide id="5" pos="3915" userDrawn="1">
          <p15:clr>
            <a:srgbClr val="F26B43"/>
          </p15:clr>
        </p15:guide>
        <p15:guide id="6" pos="6299" userDrawn="1">
          <p15:clr>
            <a:srgbClr val="F26B43"/>
          </p15:clr>
        </p15:guide>
        <p15:guide id="7" pos="6866" userDrawn="1">
          <p15:clr>
            <a:srgbClr val="F26B43"/>
          </p15:clr>
        </p15:guide>
        <p15:guide id="8" pos="9254" userDrawn="1">
          <p15:clr>
            <a:srgbClr val="F26B43"/>
          </p15:clr>
        </p15:guide>
        <p15:guide id="9" pos="12216" userDrawn="1">
          <p15:clr>
            <a:srgbClr val="F26B43"/>
          </p15:clr>
        </p15:guide>
        <p15:guide id="10" pos="12770" userDrawn="1">
          <p15:clr>
            <a:srgbClr val="F26B43"/>
          </p15:clr>
        </p15:guide>
        <p15:guide id="11" pos="15167" userDrawn="1">
          <p15:clr>
            <a:srgbClr val="F26B43"/>
          </p15:clr>
        </p15:guide>
        <p15:guide id="12" pos="15725" userDrawn="1">
          <p15:clr>
            <a:srgbClr val="F26B43"/>
          </p15:clr>
        </p15:guide>
        <p15:guide id="13" pos="18107" userDrawn="1">
          <p15:clr>
            <a:srgbClr val="F26B43"/>
          </p15:clr>
        </p15:guide>
        <p15:guide id="14" orient="horz" pos="2605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3.png"/><Relationship Id="rId1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hyperlink" Target="https://arxiv.org/pdf/2606.03748" TargetMode="External"/><Relationship Id="rId15" Type="http://schemas.openxmlformats.org/officeDocument/2006/relationships/image" Target="../media/image14.jp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8.png"/><Relationship Id="rId1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591F9-FCFD-3C64-A0B9-9DC46A3ACDD9}"/>
            </a:ext>
          </a:extLst>
        </p:cNvPr>
        <p:cNvGrpSpPr/>
        <p:nvPr/>
      </p:nvGrpSpPr>
      <p:grpSpPr>
        <a:xfrm>
          <a:off x="0" y="0"/>
          <a:ext cx="0" cy="0"/>
          <a:chOff x="0" y="0"/>
          <a:chExt cx="0" cy="0"/>
        </a:xfrm>
      </p:grpSpPr>
      <p:sp>
        <p:nvSpPr>
          <p:cNvPr id="30" name="Titel 29">
            <a:extLst>
              <a:ext uri="{FF2B5EF4-FFF2-40B4-BE49-F238E27FC236}">
                <a16:creationId xmlns:a16="http://schemas.microsoft.com/office/drawing/2014/main" id="{FFB7B594-289D-E063-DE6B-88F5809D6136}"/>
              </a:ext>
            </a:extLst>
          </p:cNvPr>
          <p:cNvSpPr>
            <a:spLocks noGrp="1"/>
          </p:cNvSpPr>
          <p:nvPr>
            <p:ph type="ctrTitle"/>
          </p:nvPr>
        </p:nvSpPr>
        <p:spPr/>
        <p:txBody>
          <a:bodyPr/>
          <a:lstStyle/>
          <a:p>
            <a:r>
              <a:rPr lang="de-DE" dirty="0"/>
              <a:t>Oberseminar Automatisierungstechnik SS2026</a:t>
            </a:r>
          </a:p>
        </p:txBody>
      </p:sp>
      <p:sp>
        <p:nvSpPr>
          <p:cNvPr id="31" name="Untertitel 30">
            <a:extLst>
              <a:ext uri="{FF2B5EF4-FFF2-40B4-BE49-F238E27FC236}">
                <a16:creationId xmlns:a16="http://schemas.microsoft.com/office/drawing/2014/main" id="{B5915197-2498-9FF3-A3A6-E72E4A29768E}"/>
              </a:ext>
            </a:extLst>
          </p:cNvPr>
          <p:cNvSpPr>
            <a:spLocks noGrp="1"/>
          </p:cNvSpPr>
          <p:nvPr>
            <p:ph type="subTitle" idx="1"/>
          </p:nvPr>
        </p:nvSpPr>
        <p:spPr/>
        <p:txBody>
          <a:bodyPr/>
          <a:lstStyle/>
          <a:p>
            <a:r>
              <a:rPr lang="en-DE" sz="6600" dirty="0"/>
              <a:t>YOLO26: Bestimmung von Objekt-Posen in Bildern</a:t>
            </a:r>
            <a:endParaRPr lang="en-US" sz="6600" dirty="0"/>
          </a:p>
          <a:p>
            <a:r>
              <a:rPr lang="de-DE" dirty="0"/>
              <a:t>Nguyen, Duc Hai; Loewe, Richard</a:t>
            </a:r>
          </a:p>
        </p:txBody>
      </p:sp>
      <mc:AlternateContent xmlns:mc="http://schemas.openxmlformats.org/markup-compatibility/2006" xmlns:a14="http://schemas.microsoft.com/office/drawing/2010/main">
        <mc:Choice Requires="a14">
          <p:sp>
            <p:nvSpPr>
              <p:cNvPr id="32" name="Textplatzhalter 31">
                <a:extLst>
                  <a:ext uri="{FF2B5EF4-FFF2-40B4-BE49-F238E27FC236}">
                    <a16:creationId xmlns:a16="http://schemas.microsoft.com/office/drawing/2014/main" id="{87D31E3C-4770-06CB-3DB1-B4DC27480A9A}"/>
                  </a:ext>
                </a:extLst>
              </p:cNvPr>
              <p:cNvSpPr>
                <a:spLocks noGrp="1"/>
              </p:cNvSpPr>
              <p:nvPr>
                <p:ph type="body" sz="quarter" idx="26"/>
              </p:nvPr>
            </p:nvSpPr>
            <p:spPr>
              <a:xfrm>
                <a:off x="1558926" y="21997693"/>
                <a:ext cx="8472488" cy="6797137"/>
              </a:xfrm>
            </p:spPr>
            <p:txBody>
              <a:bodyPr/>
              <a:lstStyle/>
              <a:p>
                <a:pPr>
                  <a:spcBef>
                    <a:spcPts val="3300"/>
                  </a:spcBef>
                </a:pPr>
                <a:r>
                  <a:rPr lang="en-DE" b="1" dirty="0"/>
                  <a:t>EINGANGSDATEN DES NETZES</a:t>
                </a:r>
                <a:endParaRPr lang="de-DE" b="1" dirty="0"/>
              </a:p>
              <a:p>
                <a:pPr algn="just">
                  <a:spcBef>
                    <a:spcPts val="3300"/>
                  </a:spcBef>
                </a:pPr>
                <a:r>
                  <a:rPr lang="de-DE" dirty="0"/>
                  <a:t>Das neuronale Netz verarbeitet Bilder als Tensor der Form</a:t>
                </a:r>
              </a:p>
              <a:p>
                <a:pPr algn="ctr">
                  <a:spcBef>
                    <a:spcPts val="1511"/>
                  </a:spcBef>
                </a:pPr>
                <a14:m>
                  <m:oMathPara xmlns:m="http://schemas.openxmlformats.org/officeDocument/2006/math">
                    <m:oMathParaPr>
                      <m:jc m:val="centerGroup"/>
                    </m:oMathParaPr>
                    <m:oMath xmlns:m="http://schemas.openxmlformats.org/officeDocument/2006/math">
                      <m:r>
                        <a:rPr lang="de-DE" i="1" dirty="0" smtClean="0">
                          <a:latin typeface="Cambria Math" panose="02040503050406030204" pitchFamily="18" charset="0"/>
                        </a:rPr>
                        <m:t>𝐻</m:t>
                      </m:r>
                      <m:r>
                        <a:rPr lang="de-DE" i="1" dirty="0" smtClean="0">
                          <a:latin typeface="Cambria Math" panose="02040503050406030204" pitchFamily="18" charset="0"/>
                        </a:rPr>
                        <m:t>ö</m:t>
                      </m:r>
                      <m:r>
                        <a:rPr lang="de-DE" i="1" dirty="0" smtClean="0">
                          <a:latin typeface="Cambria Math" panose="02040503050406030204" pitchFamily="18" charset="0"/>
                        </a:rPr>
                        <m:t>h𝑒</m:t>
                      </m:r>
                      <m:r>
                        <a:rPr lang="de-DE" i="1" dirty="0" smtClean="0">
                          <a:latin typeface="Cambria Math" panose="02040503050406030204" pitchFamily="18" charset="0"/>
                        </a:rPr>
                        <m:t> × </m:t>
                      </m:r>
                      <m:r>
                        <a:rPr lang="de-DE" i="1" dirty="0" smtClean="0">
                          <a:latin typeface="Cambria Math" panose="02040503050406030204" pitchFamily="18" charset="0"/>
                        </a:rPr>
                        <m:t>𝐵𝑟𝑒𝑖𝑡𝑒</m:t>
                      </m:r>
                      <m:r>
                        <a:rPr lang="de-DE" i="1" dirty="0" smtClean="0">
                          <a:latin typeface="Cambria Math" panose="02040503050406030204" pitchFamily="18" charset="0"/>
                        </a:rPr>
                        <m:t> × </m:t>
                      </m:r>
                      <m:r>
                        <a:rPr lang="de-DE" i="1" dirty="0" smtClean="0">
                          <a:latin typeface="Cambria Math" panose="02040503050406030204" pitchFamily="18" charset="0"/>
                        </a:rPr>
                        <m:t>𝐹𝑎𝑟𝑏𝑘𝑎𝑛</m:t>
                      </m:r>
                      <m:r>
                        <a:rPr lang="de-DE" i="1" dirty="0" smtClean="0">
                          <a:latin typeface="Cambria Math" panose="02040503050406030204" pitchFamily="18" charset="0"/>
                        </a:rPr>
                        <m:t>ä</m:t>
                      </m:r>
                      <m:r>
                        <a:rPr lang="de-DE" i="1" dirty="0" smtClean="0">
                          <a:latin typeface="Cambria Math" panose="02040503050406030204" pitchFamily="18" charset="0"/>
                        </a:rPr>
                        <m:t>𝑙𝑒</m:t>
                      </m:r>
                    </m:oMath>
                  </m:oMathPara>
                </a14:m>
                <a:endParaRPr lang="de-DE" dirty="0"/>
              </a:p>
              <a:p>
                <a:pPr algn="just">
                  <a:spcBef>
                    <a:spcPts val="1511"/>
                  </a:spcBef>
                </a:pPr>
                <a:r>
                  <a:rPr lang="de-DE" dirty="0"/>
                  <a:t>YOLO26 verwendet eine feste Eingangsgröße von 640 × 640 Pixeln mit drei RGB-Farbkanälen :</a:t>
                </a:r>
              </a:p>
              <a:p>
                <a:pPr algn="ctr">
                  <a:spcBef>
                    <a:spcPts val="1511"/>
                  </a:spcBef>
                </a:pPr>
                <a:r>
                  <a:rPr lang="de-DE" i="1" dirty="0"/>
                  <a:t>float32[640, 640, 3]</a:t>
                </a:r>
              </a:p>
              <a:p>
                <a:pPr algn="just">
                  <a:spcBef>
                    <a:spcPts val="1511"/>
                  </a:spcBef>
                </a:pPr>
                <a:r>
                  <a:rPr lang="de-DE" dirty="0"/>
                  <a:t>Da Eingangsbilder in der Regel nicht quadratisch sind, werden sie mittels Padding auf die erforderliche Eingabegröße standardisiert. Hierzu wird das Bild zunächst unter Beibehaltung des Seitenverhältnisses auf eine maximale Kantenlänge von 640 Pixeln skaliert und anschließend mit schwarzen Randbereichen (Padding = 0) zu einem quadratischen Bild ergänzt.</a:t>
                </a:r>
              </a:p>
              <a:p>
                <a:endParaRPr lang="en-DE" b="1" dirty="0"/>
              </a:p>
            </p:txBody>
          </p:sp>
        </mc:Choice>
        <mc:Fallback xmlns="">
          <p:sp>
            <p:nvSpPr>
              <p:cNvPr id="32" name="Textplatzhalter 31">
                <a:extLst>
                  <a:ext uri="{FF2B5EF4-FFF2-40B4-BE49-F238E27FC236}">
                    <a16:creationId xmlns:a16="http://schemas.microsoft.com/office/drawing/2014/main" id="{87D31E3C-4770-06CB-3DB1-B4DC27480A9A}"/>
                  </a:ext>
                </a:extLst>
              </p:cNvPr>
              <p:cNvSpPr>
                <a:spLocks noGrp="1" noRot="1" noChangeAspect="1" noMove="1" noResize="1" noEditPoints="1" noAdjustHandles="1" noChangeArrowheads="1" noChangeShapeType="1" noTextEdit="1"/>
              </p:cNvSpPr>
              <p:nvPr>
                <p:ph type="body" sz="quarter" idx="26"/>
              </p:nvPr>
            </p:nvSpPr>
            <p:spPr>
              <a:xfrm>
                <a:off x="1558926" y="21997693"/>
                <a:ext cx="8472488" cy="6797137"/>
              </a:xfrm>
              <a:blipFill>
                <a:blip r:embed="rId3"/>
                <a:stretch>
                  <a:fillRect l="-2446" t="-2242" r="-2446"/>
                </a:stretch>
              </a:blipFill>
            </p:spPr>
            <p:txBody>
              <a:bodyPr/>
              <a:lstStyle/>
              <a:p>
                <a:r>
                  <a:rPr lang="de-DE">
                    <a:noFill/>
                  </a:rPr>
                  <a:t> </a:t>
                </a:r>
              </a:p>
            </p:txBody>
          </p:sp>
        </mc:Fallback>
      </mc:AlternateContent>
      <p:sp>
        <p:nvSpPr>
          <p:cNvPr id="35" name="Bildplatzhalter 34">
            <a:extLst>
              <a:ext uri="{FF2B5EF4-FFF2-40B4-BE49-F238E27FC236}">
                <a16:creationId xmlns:a16="http://schemas.microsoft.com/office/drawing/2014/main" id="{75857444-4912-0D64-D9A3-9F6B50536CBA}"/>
              </a:ext>
            </a:extLst>
          </p:cNvPr>
          <p:cNvSpPr>
            <a:spLocks noGrp="1"/>
          </p:cNvSpPr>
          <p:nvPr>
            <p:ph type="pic" sz="quarter" idx="33"/>
          </p:nvPr>
        </p:nvSpPr>
        <p:spPr>
          <a:xfrm>
            <a:off x="1527176" y="12241214"/>
            <a:ext cx="8472488" cy="5333272"/>
          </a:xfrm>
        </p:spPr>
        <p:txBody>
          <a:bodyPr/>
          <a:lstStyle/>
          <a:p>
            <a:r>
              <a:rPr lang="en-US" b="1" dirty="0"/>
              <a:t>MOTIVATION</a:t>
            </a:r>
          </a:p>
          <a:p>
            <a:pPr algn="just"/>
            <a:r>
              <a:rPr lang="de-DE" dirty="0"/>
              <a:t>Die Wahrnehmung und Interpretation der Umgebung ist eine zentrale Voraussetzung für die Navigation mobiler Roboter. Dynamische Objekte wie Personen erfordern dabei neben der Positionsbestimmung auch die Erfassung von Körperhaltung und Bewegungsabsicht. Die </a:t>
            </a:r>
            <a:r>
              <a:rPr lang="de-DE" dirty="0" err="1"/>
              <a:t>Keypoint</a:t>
            </a:r>
            <a:r>
              <a:rPr lang="de-DE" dirty="0"/>
              <a:t>-basierte </a:t>
            </a:r>
            <a:r>
              <a:rPr lang="de-DE" dirty="0" err="1"/>
              <a:t>Posenbestimmung</a:t>
            </a:r>
            <a:r>
              <a:rPr lang="de-DE" dirty="0"/>
              <a:t> mit YOLO26-Pose detektiert Personen und schätzt 17 Körper-</a:t>
            </a:r>
            <a:r>
              <a:rPr lang="de-DE" dirty="0" err="1"/>
              <a:t>Keypoints</a:t>
            </a:r>
            <a:r>
              <a:rPr lang="de-DE" dirty="0"/>
              <a:t> in Bildern. Dadurch werden eine vorausschauende Kollisionsvermeidung, eine sichere Bahnplanung sowie Anwendungen der Mensch-Roboter-Interaktion ermöglicht.</a:t>
            </a:r>
            <a:endParaRPr lang="en-DE" b="1" dirty="0"/>
          </a:p>
        </p:txBody>
      </p:sp>
      <p:sp>
        <p:nvSpPr>
          <p:cNvPr id="38" name="Bildplatzhalter 37">
            <a:extLst>
              <a:ext uri="{FF2B5EF4-FFF2-40B4-BE49-F238E27FC236}">
                <a16:creationId xmlns:a16="http://schemas.microsoft.com/office/drawing/2014/main" id="{06DEC0B1-CC10-AE26-193D-A17A3279D81A}"/>
              </a:ext>
            </a:extLst>
          </p:cNvPr>
          <p:cNvSpPr>
            <a:spLocks noGrp="1"/>
          </p:cNvSpPr>
          <p:nvPr>
            <p:ph type="pic" sz="quarter" idx="47"/>
          </p:nvPr>
        </p:nvSpPr>
        <p:spPr/>
        <p:txBody>
          <a:bodyPr/>
          <a:lstStyle/>
          <a:p>
            <a:r>
              <a:rPr lang="en-US" b="1" dirty="0"/>
              <a:t>GESAMTARCHITEKTUR</a:t>
            </a:r>
            <a:endParaRPr lang="en-DE" b="1" dirty="0"/>
          </a:p>
        </p:txBody>
      </p:sp>
      <mc:AlternateContent xmlns:mc="http://schemas.openxmlformats.org/markup-compatibility/2006" xmlns:a14="http://schemas.microsoft.com/office/drawing/2010/main">
        <mc:Choice Requires="a14">
          <p:sp>
            <p:nvSpPr>
              <p:cNvPr id="39" name="Bildplatzhalter 38">
                <a:extLst>
                  <a:ext uri="{FF2B5EF4-FFF2-40B4-BE49-F238E27FC236}">
                    <a16:creationId xmlns:a16="http://schemas.microsoft.com/office/drawing/2014/main" id="{F1DD7E1F-42A6-F91B-C72E-D76F811C8E7D}"/>
                  </a:ext>
                </a:extLst>
              </p:cNvPr>
              <p:cNvSpPr>
                <a:spLocks noGrp="1"/>
              </p:cNvSpPr>
              <p:nvPr>
                <p:ph type="pic" sz="quarter" idx="48"/>
              </p:nvPr>
            </p:nvSpPr>
            <p:spPr>
              <a:xfrm>
                <a:off x="20243799" y="12241213"/>
                <a:ext cx="8472488" cy="8506759"/>
              </a:xfrm>
            </p:spPr>
            <p:txBody>
              <a:bodyPr/>
              <a:lstStyle/>
              <a:p>
                <a:pPr algn="just"/>
                <a:r>
                  <a:rPr lang="en-DE" b="1" dirty="0"/>
                  <a:t>TRAINING</a:t>
                </a:r>
                <a:endParaRPr lang="en-US" b="1" dirty="0"/>
              </a:p>
              <a:p>
                <a:pPr algn="just">
                  <a:spcBef>
                    <a:spcPts val="0"/>
                  </a:spcBef>
                </a:pPr>
                <a:endParaRPr lang="en-US" b="1" dirty="0"/>
              </a:p>
              <a:p>
                <a:pPr algn="just">
                  <a:spcBef>
                    <a:spcPts val="0"/>
                  </a:spcBef>
                </a:pPr>
                <a:r>
                  <a:rPr lang="en-DE" b="1" dirty="0" err="1"/>
                  <a:t>Datensatz</a:t>
                </a:r>
                <a:r>
                  <a:rPr lang="en-DE" b="1" dirty="0"/>
                  <a:t>:</a:t>
                </a:r>
                <a:r>
                  <a:rPr lang="en-DE" dirty="0"/>
                  <a:t> COCO-Pose (COCO </a:t>
                </a:r>
                <a:r>
                  <a:rPr lang="en-DE" dirty="0" err="1"/>
                  <a:t>Keypoints</a:t>
                </a:r>
                <a:r>
                  <a:rPr lang="en-DE" dirty="0"/>
                  <a:t> 2017)</a:t>
                </a:r>
              </a:p>
              <a:p>
                <a:pPr algn="just">
                  <a:spcBef>
                    <a:spcPts val="0"/>
                  </a:spcBef>
                </a:pPr>
                <a:r>
                  <a:rPr lang="en-DE" b="1" dirty="0" err="1"/>
                  <a:t>Gesamtverlust</a:t>
                </a:r>
                <a:r>
                  <a:rPr lang="en-DE" b="1" dirty="0"/>
                  <a:t>:</a:t>
                </a:r>
                <a:endParaRPr lang="en-DE" dirty="0"/>
              </a:p>
              <a:p>
                <a:pPr marL="457200" indent="-457200" algn="just">
                  <a:spcBef>
                    <a:spcPts val="0"/>
                  </a:spcBef>
                  <a:buFont typeface="Arial" panose="020B0604020202020204" pitchFamily="34" charset="0"/>
                  <a:buChar char="•"/>
                </a:pPr>
                <a:endParaRPr lang="en-US" i="1" dirty="0">
                  <a:latin typeface="Cambria Math" panose="02040503050406030204" pitchFamily="18" charset="0"/>
                </a:endParaRPr>
              </a:p>
              <a:p>
                <a:pPr marL="457200" indent="-457200" algn="just">
                  <a:spcBef>
                    <a:spcPts val="0"/>
                  </a:spcBef>
                  <a:buFont typeface="Arial" panose="020B0604020202020204" pitchFamily="34" charset="0"/>
                  <a:buChar char="•"/>
                </a:pPr>
                <a:endParaRPr lang="en-US" i="1" dirty="0">
                  <a:latin typeface="Cambria Math" panose="02040503050406030204" pitchFamily="18" charset="0"/>
                </a:endParaRPr>
              </a:p>
              <a:p>
                <a:pPr marL="457200" indent="-457200" algn="just">
                  <a:lnSpc>
                    <a:spcPct val="100000"/>
                  </a:lnSpc>
                  <a:spcBef>
                    <a:spcPts val="0"/>
                  </a:spcBef>
                  <a:buFont typeface="Arial" panose="020B0604020202020204" pitchFamily="34" charset="0"/>
                  <a:buChar char="•"/>
                </a:pPr>
                <a14:m>
                  <m:oMath xmlns:m="http://schemas.openxmlformats.org/officeDocument/2006/math">
                    <m:sSub>
                      <m:sSubPr>
                        <m:ctrlPr>
                          <a:rPr lang="en-DE" i="1" smtClean="0">
                            <a:latin typeface="Cambria Math" panose="02040503050406030204" pitchFamily="18" charset="0"/>
                          </a:rPr>
                        </m:ctrlPr>
                      </m:sSubPr>
                      <m:e>
                        <m:r>
                          <a:rPr lang="en-DE">
                            <a:latin typeface="Cambria Math" panose="02040503050406030204" pitchFamily="18" charset="0"/>
                          </a:rPr>
                          <m:t>ℒ</m:t>
                        </m:r>
                      </m:e>
                      <m:sub>
                        <m:r>
                          <m:rPr>
                            <m:sty m:val="p"/>
                          </m:rPr>
                          <a:rPr lang="de-DE" b="0" i="1" smtClean="0">
                            <a:latin typeface="Cambria Math" panose="02040503050406030204" pitchFamily="18" charset="0"/>
                          </a:rPr>
                          <m:t>x</m:t>
                        </m:r>
                      </m:sub>
                    </m:sSub>
                  </m:oMath>
                </a14:m>
                <a:r>
                  <a:rPr lang="en-DE" dirty="0"/>
                  <a:t>:</a:t>
                </a:r>
                <a:r>
                  <a:rPr lang="de-DE" dirty="0"/>
                  <a:t> Verlustfunktion der jeweiligen Komponente</a:t>
                </a:r>
              </a:p>
              <a:p>
                <a:pPr marL="457200" indent="-457200" algn="just">
                  <a:lnSpc>
                    <a:spcPct val="100000"/>
                  </a:lnSpc>
                  <a:spcBef>
                    <a:spcPts val="0"/>
                  </a:spcBef>
                  <a:buFont typeface="Arial" panose="020B0604020202020204" pitchFamily="34" charset="0"/>
                  <a:buChar char="•"/>
                </a:pPr>
                <a14:m>
                  <m:oMath xmlns:m="http://schemas.openxmlformats.org/officeDocument/2006/math">
                    <m:sSub>
                      <m:sSubPr>
                        <m:ctrlPr>
                          <a:rPr lang="en-DE" i="1" smtClean="0">
                            <a:latin typeface="Cambria Math" panose="02040503050406030204" pitchFamily="18" charset="0"/>
                          </a:rPr>
                        </m:ctrlPr>
                      </m:sSubPr>
                      <m:e>
                        <m:r>
                          <a:rPr lang="en-DE" i="1">
                            <a:latin typeface="Cambria Math" panose="02040503050406030204" pitchFamily="18" charset="0"/>
                          </a:rPr>
                          <m:t>𝜆</m:t>
                        </m:r>
                      </m:e>
                      <m:sub>
                        <m:r>
                          <m:rPr>
                            <m:sty m:val="p"/>
                          </m:rPr>
                          <a:rPr lang="de-DE" b="0" i="1" smtClean="0">
                            <a:latin typeface="Cambria Math" panose="02040503050406030204" pitchFamily="18" charset="0"/>
                          </a:rPr>
                          <m:t>x</m:t>
                        </m:r>
                      </m:sub>
                    </m:sSub>
                  </m:oMath>
                </a14:m>
                <a:r>
                  <a:rPr lang="en-DE" dirty="0"/>
                  <a:t>: </a:t>
                </a:r>
                <a:r>
                  <a:rPr lang="de-DE" dirty="0"/>
                  <a:t>Gewicht der jeweiligen Verlustkomponente</a:t>
                </a:r>
              </a:p>
              <a:p>
                <a:pPr algn="just">
                  <a:lnSpc>
                    <a:spcPct val="100000"/>
                  </a:lnSpc>
                  <a:spcBef>
                    <a:spcPts val="0"/>
                  </a:spcBef>
                </a:pPr>
                <a:endParaRPr lang="en-DE" dirty="0"/>
              </a:p>
              <a:p>
                <a:pPr algn="just">
                  <a:spcBef>
                    <a:spcPts val="0"/>
                  </a:spcBef>
                </a:pPr>
                <a:r>
                  <a:rPr lang="en-DE" b="1" dirty="0"/>
                  <a:t>YOLO26-Trainingstechniken:</a:t>
                </a:r>
                <a:endParaRPr lang="en-DE" dirty="0"/>
              </a:p>
              <a:p>
                <a:pPr marL="457200" indent="-457200" algn="just">
                  <a:lnSpc>
                    <a:spcPct val="100000"/>
                  </a:lnSpc>
                  <a:spcBef>
                    <a:spcPts val="0"/>
                  </a:spcBef>
                  <a:buFont typeface="Arial" panose="020B0604020202020204" pitchFamily="34" charset="0"/>
                  <a:buChar char="•"/>
                </a:pPr>
                <a:r>
                  <a:rPr lang="en-DE" b="1" dirty="0"/>
                  <a:t>NMS-</a:t>
                </a:r>
                <a:r>
                  <a:rPr lang="en-DE" b="1" dirty="0" err="1"/>
                  <a:t>frei</a:t>
                </a:r>
                <a:r>
                  <a:rPr lang="en-DE" b="1" dirty="0"/>
                  <a:t> </a:t>
                </a:r>
                <a:r>
                  <a:rPr lang="en-DE" b="1" dirty="0" err="1"/>
                  <a:t>durchs</a:t>
                </a:r>
                <a:r>
                  <a:rPr lang="en-DE" b="1" dirty="0"/>
                  <a:t> Training:</a:t>
                </a:r>
                <a:r>
                  <a:rPr lang="en-DE" dirty="0"/>
                  <a:t> Dual-Head — One-to-Many (</a:t>
                </a:r>
                <a:r>
                  <a:rPr lang="en-DE" dirty="0" err="1"/>
                  <a:t>dichte</a:t>
                </a:r>
                <a:r>
                  <a:rPr lang="en-DE" dirty="0"/>
                  <a:t> Supervision) + One-to-One (</a:t>
                </a:r>
                <a:r>
                  <a:rPr lang="en-DE" dirty="0" err="1"/>
                  <a:t>Inferenzpfad</a:t>
                </a:r>
                <a:r>
                  <a:rPr lang="en-DE" dirty="0"/>
                  <a:t>)</a:t>
                </a:r>
              </a:p>
              <a:p>
                <a:pPr marL="457200" indent="-457200" algn="just">
                  <a:lnSpc>
                    <a:spcPct val="100000"/>
                  </a:lnSpc>
                  <a:spcBef>
                    <a:spcPts val="0"/>
                  </a:spcBef>
                  <a:buFont typeface="Arial" panose="020B0604020202020204" pitchFamily="34" charset="0"/>
                  <a:buChar char="•"/>
                </a:pPr>
                <a:r>
                  <a:rPr lang="en-DE" b="1" dirty="0"/>
                  <a:t>Progressive Loss:</a:t>
                </a:r>
                <a:r>
                  <a:rPr lang="en-DE" dirty="0"/>
                  <a:t> </a:t>
                </a:r>
                <a:r>
                  <a:rPr lang="en-DE" dirty="0" err="1"/>
                  <a:t>Gewichtung</a:t>
                </a:r>
                <a:r>
                  <a:rPr lang="en-DE" dirty="0"/>
                  <a:t> </a:t>
                </a:r>
                <a:r>
                  <a:rPr lang="en-DE" dirty="0" err="1"/>
                  <a:t>verschiebt</a:t>
                </a:r>
                <a:r>
                  <a:rPr lang="en-DE" dirty="0"/>
                  <a:t> </a:t>
                </a:r>
                <a:r>
                  <a:rPr lang="en-DE" dirty="0" err="1"/>
                  <a:t>sich</a:t>
                </a:r>
                <a:r>
                  <a:rPr lang="en-DE" dirty="0"/>
                  <a:t> linear von (0,8 / 0,2) </a:t>
                </a:r>
                <a:r>
                  <a:rPr lang="en-DE" dirty="0" err="1"/>
                  <a:t>zu</a:t>
                </a:r>
                <a:r>
                  <a:rPr lang="en-DE" dirty="0"/>
                  <a:t> (0,1 / 0,9) → </a:t>
                </a:r>
                <a:r>
                  <a:rPr lang="en-DE" dirty="0" err="1"/>
                  <a:t>Optimierung</a:t>
                </a:r>
                <a:r>
                  <a:rPr lang="en-DE" dirty="0"/>
                  <a:t> </a:t>
                </a:r>
                <a:r>
                  <a:rPr lang="en-DE" dirty="0" err="1"/>
                  <a:t>wandert</a:t>
                </a:r>
                <a:r>
                  <a:rPr lang="en-DE" dirty="0"/>
                  <a:t> </a:t>
                </a:r>
                <a:r>
                  <a:rPr lang="en-DE" dirty="0" err="1"/>
                  <a:t>zum</a:t>
                </a:r>
                <a:r>
                  <a:rPr lang="en-DE" dirty="0"/>
                  <a:t> </a:t>
                </a:r>
                <a:r>
                  <a:rPr lang="en-DE" dirty="0" err="1"/>
                  <a:t>Inferenz</a:t>
                </a:r>
                <a:r>
                  <a:rPr lang="en-DE" dirty="0"/>
                  <a:t>-Head</a:t>
                </a:r>
              </a:p>
              <a:p>
                <a:pPr marL="457200" indent="-457200" algn="just">
                  <a:lnSpc>
                    <a:spcPct val="100000"/>
                  </a:lnSpc>
                  <a:spcBef>
                    <a:spcPts val="0"/>
                  </a:spcBef>
                  <a:buFont typeface="Arial" panose="020B0604020202020204" pitchFamily="34" charset="0"/>
                  <a:buChar char="•"/>
                </a:pPr>
                <a:r>
                  <a:rPr lang="en-DE" b="1" dirty="0"/>
                  <a:t>STAL:</a:t>
                </a:r>
                <a:r>
                  <a:rPr lang="en-DE" dirty="0"/>
                  <a:t> garantiert Zuordnungen für kleine Objekte </a:t>
                </a:r>
                <a:endParaRPr lang="en-US" dirty="0"/>
              </a:p>
              <a:p>
                <a:pPr marL="457200" indent="-457200" algn="just">
                  <a:lnSpc>
                    <a:spcPct val="100000"/>
                  </a:lnSpc>
                  <a:spcBef>
                    <a:spcPts val="0"/>
                  </a:spcBef>
                  <a:buFont typeface="Arial" panose="020B0604020202020204" pitchFamily="34" charset="0"/>
                  <a:buChar char="•"/>
                </a:pPr>
                <a:r>
                  <a:rPr lang="en-DE" b="1" dirty="0" err="1"/>
                  <a:t>MuSGD</a:t>
                </a:r>
                <a:r>
                  <a:rPr lang="en-DE" b="1" dirty="0"/>
                  <a:t>:</a:t>
                </a:r>
                <a:r>
                  <a:rPr lang="en-DE" dirty="0"/>
                  <a:t> Hybrid </a:t>
                </a:r>
                <a:r>
                  <a:rPr lang="en-DE" dirty="0" err="1"/>
                  <a:t>aus</a:t>
                </a:r>
                <a:r>
                  <a:rPr lang="en-DE" dirty="0"/>
                  <a:t> Muon + SGD → </a:t>
                </a:r>
                <a:r>
                  <a:rPr lang="en-DE" dirty="0" err="1"/>
                  <a:t>schnellere</a:t>
                </a:r>
                <a:r>
                  <a:rPr lang="en-DE" dirty="0"/>
                  <a:t> </a:t>
                </a:r>
                <a:r>
                  <a:rPr lang="en-DE" dirty="0" err="1"/>
                  <a:t>Konvergenz</a:t>
                </a:r>
                <a:r>
                  <a:rPr lang="en-DE" dirty="0"/>
                  <a:t> </a:t>
                </a:r>
                <a:endParaRPr lang="en-US" dirty="0"/>
              </a:p>
              <a:p>
                <a:pPr marL="457200" indent="-457200" algn="just">
                  <a:lnSpc>
                    <a:spcPct val="100000"/>
                  </a:lnSpc>
                  <a:spcBef>
                    <a:spcPts val="0"/>
                  </a:spcBef>
                  <a:buFont typeface="Arial" panose="020B0604020202020204" pitchFamily="34" charset="0"/>
                  <a:buChar char="•"/>
                </a:pPr>
                <a:r>
                  <a:rPr lang="en-DE" b="1" dirty="0"/>
                  <a:t>Kein DFL </a:t>
                </a:r>
                <a:r>
                  <a:rPr lang="en-DE" dirty="0"/>
                  <a:t>→ direkte Box-Regression</a:t>
                </a:r>
              </a:p>
            </p:txBody>
          </p:sp>
        </mc:Choice>
        <mc:Fallback xmlns="">
          <p:sp>
            <p:nvSpPr>
              <p:cNvPr id="39" name="Bildplatzhalter 38">
                <a:extLst>
                  <a:ext uri="{FF2B5EF4-FFF2-40B4-BE49-F238E27FC236}">
                    <a16:creationId xmlns:a16="http://schemas.microsoft.com/office/drawing/2014/main" id="{F1DD7E1F-42A6-F91B-C72E-D76F811C8E7D}"/>
                  </a:ext>
                </a:extLst>
              </p:cNvPr>
              <p:cNvSpPr>
                <a:spLocks noGrp="1" noRot="1" noChangeAspect="1" noMove="1" noResize="1" noEditPoints="1" noAdjustHandles="1" noChangeArrowheads="1" noChangeShapeType="1" noTextEdit="1"/>
              </p:cNvSpPr>
              <p:nvPr>
                <p:ph type="pic" sz="quarter" idx="48"/>
              </p:nvPr>
            </p:nvSpPr>
            <p:spPr>
              <a:xfrm>
                <a:off x="20243799" y="12241213"/>
                <a:ext cx="8472488" cy="8506759"/>
              </a:xfrm>
              <a:blipFill>
                <a:blip r:embed="rId4"/>
                <a:stretch>
                  <a:fillRect l="-2446" t="-1719" r="-2446"/>
                </a:stretch>
              </a:blipFill>
            </p:spPr>
            <p:txBody>
              <a:bodyPr/>
              <a:lstStyle/>
              <a:p>
                <a:r>
                  <a:rPr lang="de-DE">
                    <a:noFill/>
                  </a:rPr>
                  <a:t> </a:t>
                </a:r>
              </a:p>
            </p:txBody>
          </p:sp>
        </mc:Fallback>
      </mc:AlternateContent>
      <p:sp>
        <p:nvSpPr>
          <p:cNvPr id="42" name="Textplatzhalter 41">
            <a:extLst>
              <a:ext uri="{FF2B5EF4-FFF2-40B4-BE49-F238E27FC236}">
                <a16:creationId xmlns:a16="http://schemas.microsoft.com/office/drawing/2014/main" id="{AA9A3966-3A2D-6E7D-AE78-90D8EEFA76B1}"/>
              </a:ext>
            </a:extLst>
          </p:cNvPr>
          <p:cNvSpPr>
            <a:spLocks noGrp="1"/>
          </p:cNvSpPr>
          <p:nvPr>
            <p:ph type="body" sz="quarter" idx="51"/>
          </p:nvPr>
        </p:nvSpPr>
        <p:spPr>
          <a:xfrm>
            <a:off x="20275550" y="40148356"/>
            <a:ext cx="8586724" cy="4781726"/>
          </a:xfrm>
        </p:spPr>
        <p:txBody>
          <a:bodyPr/>
          <a:lstStyle/>
          <a:p>
            <a:pPr marL="449263" indent="-449263">
              <a:tabLst>
                <a:tab pos="449263" algn="l"/>
              </a:tabLst>
            </a:pPr>
            <a:r>
              <a:rPr lang="en-DE" sz="1800" dirty="0"/>
              <a:t>[</a:t>
            </a:r>
            <a:r>
              <a:rPr lang="en-US" sz="1800" dirty="0"/>
              <a:t>1</a:t>
            </a:r>
            <a:r>
              <a:rPr lang="en-DE" sz="1800" dirty="0"/>
              <a:t>] Glenn </a:t>
            </a:r>
            <a:r>
              <a:rPr lang="en-DE" sz="1800" dirty="0" err="1"/>
              <a:t>Jocher</a:t>
            </a:r>
            <a:r>
              <a:rPr lang="en-DE" sz="1800" dirty="0"/>
              <a:t>, Jing Qiu, </a:t>
            </a:r>
            <a:r>
              <a:rPr lang="en-DE" sz="1800" dirty="0" err="1"/>
              <a:t>Mengyu</a:t>
            </a:r>
            <a:r>
              <a:rPr lang="en-DE" sz="1800" dirty="0"/>
              <a:t> Liu, Shuai Lyu, Fatih Cagatay </a:t>
            </a:r>
            <a:r>
              <a:rPr lang="en-DE" sz="1800" dirty="0" err="1"/>
              <a:t>Akyon</a:t>
            </a:r>
            <a:r>
              <a:rPr lang="en-DE" sz="1800" dirty="0"/>
              <a:t>, Muhammet Esat </a:t>
            </a:r>
            <a:r>
              <a:rPr lang="en-DE" sz="1800" dirty="0" err="1"/>
              <a:t>Kalfaoglu</a:t>
            </a:r>
            <a:r>
              <a:rPr lang="en-DE" sz="1800" dirty="0"/>
              <a:t>: “</a:t>
            </a:r>
            <a:r>
              <a:rPr lang="en-DE" sz="1800" dirty="0" err="1"/>
              <a:t>Ultralytics</a:t>
            </a:r>
            <a:r>
              <a:rPr lang="en-DE" sz="1800" dirty="0"/>
              <a:t> YOLO26: Unified Real-Time End-to-End Vision Models”. </a:t>
            </a:r>
            <a:r>
              <a:rPr lang="en-DE" sz="1800" dirty="0" err="1"/>
              <a:t>arXiv</a:t>
            </a:r>
            <a:r>
              <a:rPr lang="en-DE" sz="1800" dirty="0"/>
              <a:t> preprint arXiv:2606.03748, June 2026 (Internet source </a:t>
            </a:r>
            <a:r>
              <a:rPr lang="en-DE" sz="1800" dirty="0">
                <a:hlinkClick r:id="rId5"/>
              </a:rPr>
              <a:t>https://arxiv.org/pdf/2606.03748</a:t>
            </a:r>
            <a:r>
              <a:rPr lang="en-DE" sz="1800" dirty="0"/>
              <a:t>, accessed on 11.07.2026)</a:t>
            </a:r>
            <a:endParaRPr lang="de-DE" sz="1800" dirty="0"/>
          </a:p>
          <a:p>
            <a:endParaRPr lang="de-DE" sz="1800" dirty="0"/>
          </a:p>
        </p:txBody>
      </p:sp>
      <p:sp>
        <p:nvSpPr>
          <p:cNvPr id="43" name="Textplatzhalter 42">
            <a:extLst>
              <a:ext uri="{FF2B5EF4-FFF2-40B4-BE49-F238E27FC236}">
                <a16:creationId xmlns:a16="http://schemas.microsoft.com/office/drawing/2014/main" id="{61B076D2-E7C1-B3E3-9E75-9C986A0F732D}"/>
              </a:ext>
            </a:extLst>
          </p:cNvPr>
          <p:cNvSpPr>
            <a:spLocks noGrp="1"/>
          </p:cNvSpPr>
          <p:nvPr>
            <p:ph type="body" sz="quarter" idx="52"/>
          </p:nvPr>
        </p:nvSpPr>
        <p:spPr>
          <a:xfrm>
            <a:off x="20185059" y="39458585"/>
            <a:ext cx="8472488" cy="1070435"/>
          </a:xfrm>
        </p:spPr>
        <p:txBody>
          <a:bodyPr/>
          <a:lstStyle/>
          <a:p>
            <a:r>
              <a:rPr lang="de-DE" sz="2700" b="1" dirty="0">
                <a:latin typeface="+mn-lt"/>
              </a:rPr>
              <a:t>QUELLE</a:t>
            </a:r>
          </a:p>
        </p:txBody>
      </p:sp>
      <p:sp>
        <p:nvSpPr>
          <p:cNvPr id="15" name="Textplatzhalter 31">
            <a:extLst>
              <a:ext uri="{FF2B5EF4-FFF2-40B4-BE49-F238E27FC236}">
                <a16:creationId xmlns:a16="http://schemas.microsoft.com/office/drawing/2014/main" id="{8E4C2B8B-504F-0193-B8D1-7FF35077C42C}"/>
              </a:ext>
            </a:extLst>
          </p:cNvPr>
          <p:cNvSpPr txBox="1">
            <a:spLocks/>
          </p:cNvSpPr>
          <p:nvPr/>
        </p:nvSpPr>
        <p:spPr>
          <a:xfrm>
            <a:off x="1612363" y="34211840"/>
            <a:ext cx="8356733" cy="5246745"/>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en-DE" b="1" dirty="0"/>
              <a:t>AUSGANGSDATEN DES NETZES</a:t>
            </a:r>
            <a:endParaRPr lang="en-US" b="1" dirty="0"/>
          </a:p>
          <a:p>
            <a:pPr algn="just"/>
            <a:r>
              <a:rPr lang="de-DE" dirty="0"/>
              <a:t>Die Ausgabe des YOLO26-Pose-Netzes erfolgt als Tensor </a:t>
            </a:r>
            <a:endParaRPr lang="de-DE" i="1" dirty="0"/>
          </a:p>
          <a:p>
            <a:pPr algn="ctr">
              <a:spcBef>
                <a:spcPts val="1511"/>
              </a:spcBef>
            </a:pPr>
            <a:r>
              <a:rPr lang="de-DE" i="1" dirty="0"/>
              <a:t>float32[300, 57] </a:t>
            </a:r>
          </a:p>
          <a:p>
            <a:pPr algn="just">
              <a:spcBef>
                <a:spcPts val="1511"/>
              </a:spcBef>
            </a:pPr>
            <a:r>
              <a:rPr lang="de-DE" dirty="0"/>
              <a:t>und enthält bis zu 300 potenzielle Detektionen mit </a:t>
            </a:r>
            <a:r>
              <a:rPr lang="de-DE" dirty="0" err="1"/>
              <a:t>Bounding</a:t>
            </a:r>
            <a:r>
              <a:rPr lang="de-DE" dirty="0"/>
              <a:t>-Box-, Konfidenz- und </a:t>
            </a:r>
            <a:r>
              <a:rPr lang="de-DE" dirty="0" err="1"/>
              <a:t>Keypoint</a:t>
            </a:r>
            <a:r>
              <a:rPr lang="de-DE" dirty="0"/>
              <a:t>-Informationen. Nach der Konfidenzfilterung verbleiben die tatsächlich erkannten Personen P, sodass ein Tensor der Form [P, 57] entsteht. Anschließend werden </a:t>
            </a:r>
            <a:r>
              <a:rPr lang="de-DE" dirty="0" err="1"/>
              <a:t>Bounding</a:t>
            </a:r>
            <a:r>
              <a:rPr lang="de-DE" dirty="0"/>
              <a:t>-Boxen und die 17 Körper-</a:t>
            </a:r>
            <a:r>
              <a:rPr lang="de-DE" dirty="0" err="1"/>
              <a:t>Keypoints</a:t>
            </a:r>
            <a:r>
              <a:rPr lang="de-DE" dirty="0"/>
              <a:t> auf die Originalauflösung des Bildes zurückskaliert. </a:t>
            </a:r>
            <a:endParaRPr lang="en-US" b="1" dirty="0">
              <a:highlight>
                <a:srgbClr val="00FFFF"/>
              </a:highlight>
            </a:endParaRPr>
          </a:p>
        </p:txBody>
      </p:sp>
      <p:sp>
        <p:nvSpPr>
          <p:cNvPr id="18" name="Bildplatzhalter 37">
            <a:extLst>
              <a:ext uri="{FF2B5EF4-FFF2-40B4-BE49-F238E27FC236}">
                <a16:creationId xmlns:a16="http://schemas.microsoft.com/office/drawing/2014/main" id="{DE1729E5-1148-99F4-ADEA-CAE0367B96AB}"/>
              </a:ext>
            </a:extLst>
          </p:cNvPr>
          <p:cNvSpPr txBox="1">
            <a:spLocks/>
          </p:cNvSpPr>
          <p:nvPr/>
        </p:nvSpPr>
        <p:spPr>
          <a:xfrm>
            <a:off x="10899775" y="31295920"/>
            <a:ext cx="8472488" cy="5840412"/>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en-DE" dirty="0"/>
          </a:p>
        </p:txBody>
      </p:sp>
      <p:sp>
        <p:nvSpPr>
          <p:cNvPr id="29" name="Bildplatzhalter 38">
            <a:extLst>
              <a:ext uri="{FF2B5EF4-FFF2-40B4-BE49-F238E27FC236}">
                <a16:creationId xmlns:a16="http://schemas.microsoft.com/office/drawing/2014/main" id="{4ABDCC8C-DECA-C7C3-FAAA-C3E84892BE9D}"/>
              </a:ext>
            </a:extLst>
          </p:cNvPr>
          <p:cNvSpPr txBox="1">
            <a:spLocks/>
          </p:cNvSpPr>
          <p:nvPr/>
        </p:nvSpPr>
        <p:spPr>
          <a:xfrm>
            <a:off x="20243799" y="20563796"/>
            <a:ext cx="8472488" cy="16154613"/>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spcBef>
                <a:spcPts val="1511"/>
              </a:spcBef>
            </a:pPr>
            <a:r>
              <a:rPr lang="en-US" b="1" dirty="0"/>
              <a:t>LAUFZEIT- UND GENAUIGKEITSANALYSE</a:t>
            </a:r>
          </a:p>
          <a:p>
            <a:pPr>
              <a:lnSpc>
                <a:spcPct val="100000"/>
              </a:lnSpc>
              <a:spcBef>
                <a:spcPts val="1511"/>
              </a:spcBef>
            </a:pPr>
            <a:endParaRPr lang="en-US" b="1" dirty="0"/>
          </a:p>
          <a:p>
            <a:pPr algn="just">
              <a:lnSpc>
                <a:spcPct val="100000"/>
              </a:lnSpc>
              <a:spcBef>
                <a:spcPts val="11"/>
              </a:spcBef>
            </a:pPr>
            <a:r>
              <a:rPr lang="en-DE" b="1" dirty="0"/>
              <a:t>Testzie</a:t>
            </a:r>
            <a:r>
              <a:rPr lang="en-US" b="1" dirty="0"/>
              <a:t>l: </a:t>
            </a:r>
            <a:r>
              <a:rPr lang="de-DE" dirty="0"/>
              <a:t>Vergleich der Laufzeit und Erkennungs-genauigkeit von YOLO26n-Pose und YOLO11n-Pose auf verschiedenen Hardwareplattformen.</a:t>
            </a:r>
          </a:p>
          <a:p>
            <a:pPr algn="just">
              <a:lnSpc>
                <a:spcPct val="100000"/>
              </a:lnSpc>
              <a:spcBef>
                <a:spcPts val="11"/>
              </a:spcBef>
            </a:pPr>
            <a:endParaRPr lang="en-US" dirty="0"/>
          </a:p>
          <a:p>
            <a:pPr algn="just">
              <a:lnSpc>
                <a:spcPct val="100000"/>
              </a:lnSpc>
              <a:spcBef>
                <a:spcPts val="11"/>
              </a:spcBef>
            </a:pPr>
            <a:r>
              <a:rPr lang="en-US" b="1" dirty="0" err="1"/>
              <a:t>Testaufbau</a:t>
            </a:r>
            <a:r>
              <a:rPr lang="en-US" b="1" dirty="0"/>
              <a:t>: </a:t>
            </a:r>
            <a:r>
              <a:rPr lang="en-DE" dirty="0"/>
              <a:t>Beide Modelle wurden mit identischen Einstellungen auf zwei CPUs und einer CUDA-GPU getestet. </a:t>
            </a:r>
            <a:r>
              <a:rPr lang="de-DE" dirty="0"/>
              <a:t>Als Datengrundlage dienten zehn Bilder mit mehreren, teilweise stark verdeckten Personen. Die Laufzeiten für Vorverarbeitung, Inferenz und Nachverarbeitung wurden getrennt erfasst und über alle Testbilder gemittelt. Die verwendeten Hardwareplattformen sind in der Abbildung dargestellt.</a:t>
            </a:r>
          </a:p>
          <a:p>
            <a:pPr algn="just">
              <a:lnSpc>
                <a:spcPct val="100000"/>
              </a:lnSpc>
              <a:spcBef>
                <a:spcPts val="11"/>
              </a:spcBef>
            </a:pPr>
            <a:endParaRPr lang="de-DE" dirty="0"/>
          </a:p>
          <a:p>
            <a:pPr algn="just">
              <a:lnSpc>
                <a:spcPct val="100000"/>
              </a:lnSpc>
              <a:spcBef>
                <a:spcPts val="11"/>
              </a:spcBef>
            </a:pPr>
            <a:r>
              <a:rPr lang="en-US" b="1" dirty="0" err="1"/>
              <a:t>Ergebnis</a:t>
            </a:r>
            <a:r>
              <a:rPr lang="en-US" b="1" dirty="0"/>
              <a:t>: </a:t>
            </a:r>
            <a:r>
              <a:rPr lang="en-DE" dirty="0"/>
              <a:t>Die Nachbearbeitung ist bei YOLO26 auf allen Plattformen kürzer und die Laufzeit stabiler. Der Gesamtvorteil ist jedoch hardwareabhängig: Auf den CPUs ist YOLO26 leicht langsamer auf der GPU schneller</a:t>
            </a:r>
            <a:r>
              <a:rPr lang="de-DE" dirty="0"/>
              <a:t>.</a:t>
            </a:r>
            <a:r>
              <a:rPr lang="en-DE" dirty="0"/>
              <a:t> </a:t>
            </a:r>
            <a:r>
              <a:rPr lang="de-DE" dirty="0"/>
              <a:t>YOLO26-Pose erreicht eine höhere Erkennungsgenauigkeit und erkennt weitere Personen im Hintergrund.</a:t>
            </a:r>
            <a:endParaRPr lang="en-DE" dirty="0"/>
          </a:p>
        </p:txBody>
      </p:sp>
      <p:sp>
        <p:nvSpPr>
          <p:cNvPr id="57" name="Textplatzhalter 36">
            <a:extLst>
              <a:ext uri="{FF2B5EF4-FFF2-40B4-BE49-F238E27FC236}">
                <a16:creationId xmlns:a16="http://schemas.microsoft.com/office/drawing/2014/main" id="{164814DB-B8BF-AB31-770C-431AD1C27909}"/>
              </a:ext>
            </a:extLst>
          </p:cNvPr>
          <p:cNvSpPr txBox="1">
            <a:spLocks/>
          </p:cNvSpPr>
          <p:nvPr/>
        </p:nvSpPr>
        <p:spPr>
          <a:xfrm>
            <a:off x="12380661" y="19376076"/>
            <a:ext cx="5548766" cy="330626"/>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dirty="0"/>
              <a:t>Abbildung 3: YOLO26 Architekturdiagramm. Quelle: [1]</a:t>
            </a:r>
          </a:p>
        </p:txBody>
      </p:sp>
      <p:sp>
        <p:nvSpPr>
          <p:cNvPr id="12" name="Textplatzhalter 36">
            <a:extLst>
              <a:ext uri="{FF2B5EF4-FFF2-40B4-BE49-F238E27FC236}">
                <a16:creationId xmlns:a16="http://schemas.microsoft.com/office/drawing/2014/main" id="{DAE0684C-8DCD-41C3-0BBD-D9F15E2236F9}"/>
              </a:ext>
            </a:extLst>
          </p:cNvPr>
          <p:cNvSpPr txBox="1">
            <a:spLocks/>
          </p:cNvSpPr>
          <p:nvPr/>
        </p:nvSpPr>
        <p:spPr>
          <a:xfrm>
            <a:off x="10899776" y="38099385"/>
            <a:ext cx="8330672" cy="1143616"/>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pPr>
            <a:r>
              <a:rPr lang="en-US" dirty="0" err="1"/>
              <a:t>Abbildung</a:t>
            </a:r>
            <a:r>
              <a:rPr lang="en-US" dirty="0"/>
              <a:t> 4: </a:t>
            </a:r>
            <a:r>
              <a:rPr lang="en-DE" dirty="0"/>
              <a:t>Merkmalskarten </a:t>
            </a:r>
            <a:r>
              <a:rPr lang="de-DE" dirty="0"/>
              <a:t>von </a:t>
            </a:r>
            <a:r>
              <a:rPr lang="en-DE" dirty="0"/>
              <a:t>Schichten des YOLO26n-Pose-Backbone</a:t>
            </a:r>
            <a:r>
              <a:rPr lang="de-DE" dirty="0"/>
              <a:t>s</a:t>
            </a:r>
            <a:r>
              <a:rPr lang="en-DE" dirty="0"/>
              <a:t> </a:t>
            </a:r>
            <a:br>
              <a:rPr lang="de-DE" dirty="0"/>
            </a:br>
            <a:r>
              <a:rPr lang="en-DE" dirty="0"/>
              <a:t>Oben</a:t>
            </a:r>
            <a:r>
              <a:rPr lang="de-DE" dirty="0"/>
              <a:t>: </a:t>
            </a:r>
            <a:r>
              <a:rPr lang="en-DE" dirty="0"/>
              <a:t>S</a:t>
            </a:r>
            <a:r>
              <a:rPr lang="de-DE" dirty="0" err="1"/>
              <a:t>chichten</a:t>
            </a:r>
            <a:r>
              <a:rPr lang="en-DE" dirty="0"/>
              <a:t> P1/2 bis P5/32 in ihrer tatsächlichen relativen Größe dargestellt</a:t>
            </a:r>
            <a:r>
              <a:rPr lang="de-DE" dirty="0"/>
              <a:t> </a:t>
            </a:r>
            <a:br>
              <a:rPr lang="de-DE" dirty="0"/>
            </a:br>
            <a:r>
              <a:rPr lang="en-DE" dirty="0"/>
              <a:t>Mitte</a:t>
            </a:r>
            <a:r>
              <a:rPr lang="de-DE" dirty="0"/>
              <a:t>:</a:t>
            </a:r>
            <a:r>
              <a:rPr lang="en-DE" dirty="0"/>
              <a:t> </a:t>
            </a:r>
            <a:r>
              <a:rPr lang="de-DE" dirty="0"/>
              <a:t>Ausgaben auf </a:t>
            </a:r>
            <a:r>
              <a:rPr lang="en-DE" dirty="0"/>
              <a:t>einheitliche Anzeigegröße skaliert</a:t>
            </a:r>
            <a:br>
              <a:rPr lang="de-DE" dirty="0"/>
            </a:br>
            <a:r>
              <a:rPr lang="en-DE" dirty="0"/>
              <a:t>Unten</a:t>
            </a:r>
            <a:r>
              <a:rPr lang="de-DE" dirty="0"/>
              <a:t>:</a:t>
            </a:r>
            <a:r>
              <a:rPr lang="en-DE" dirty="0"/>
              <a:t> Kanalmittel und sechs ausgewählte Einzelkanäle der P2/4-Stufe</a:t>
            </a:r>
            <a:endParaRPr lang="de-DE" dirty="0"/>
          </a:p>
        </p:txBody>
      </p:sp>
      <p:sp>
        <p:nvSpPr>
          <p:cNvPr id="72" name="Textplatzhalter 39">
            <a:extLst>
              <a:ext uri="{FF2B5EF4-FFF2-40B4-BE49-F238E27FC236}">
                <a16:creationId xmlns:a16="http://schemas.microsoft.com/office/drawing/2014/main" id="{290A26EA-5167-3202-A99C-AA4B213A6F8F}"/>
              </a:ext>
            </a:extLst>
          </p:cNvPr>
          <p:cNvSpPr txBox="1">
            <a:spLocks/>
          </p:cNvSpPr>
          <p:nvPr/>
        </p:nvSpPr>
        <p:spPr>
          <a:xfrm>
            <a:off x="10929937" y="20072979"/>
            <a:ext cx="8472488" cy="4837778"/>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de-DE" dirty="0"/>
          </a:p>
        </p:txBody>
      </p:sp>
      <p:graphicFrame>
        <p:nvGraphicFramePr>
          <p:cNvPr id="73" name="Table 72">
            <a:extLst>
              <a:ext uri="{FF2B5EF4-FFF2-40B4-BE49-F238E27FC236}">
                <a16:creationId xmlns:a16="http://schemas.microsoft.com/office/drawing/2014/main" id="{066AE830-800F-6160-D25F-FC3B01F2247A}"/>
              </a:ext>
            </a:extLst>
          </p:cNvPr>
          <p:cNvGraphicFramePr>
            <a:graphicFrameLocks noGrp="1"/>
          </p:cNvGraphicFramePr>
          <p:nvPr>
            <p:extLst>
              <p:ext uri="{D42A27DB-BD31-4B8C-83A1-F6EECF244321}">
                <p14:modId xmlns:p14="http://schemas.microsoft.com/office/powerpoint/2010/main" val="2965190168"/>
              </p:ext>
            </p:extLst>
          </p:nvPr>
        </p:nvGraphicFramePr>
        <p:xfrm>
          <a:off x="10953044" y="21294275"/>
          <a:ext cx="8944883" cy="10005114"/>
        </p:xfrm>
        <a:graphic>
          <a:graphicData uri="http://schemas.openxmlformats.org/drawingml/2006/table">
            <a:tbl>
              <a:tblPr>
                <a:tableStyleId>{2D5ABB26-0587-4C30-8999-92F81FD0307C}</a:tableStyleId>
              </a:tblPr>
              <a:tblGrid>
                <a:gridCol w="1635364">
                  <a:extLst>
                    <a:ext uri="{9D8B030D-6E8A-4147-A177-3AD203B41FA5}">
                      <a16:colId xmlns:a16="http://schemas.microsoft.com/office/drawing/2014/main" val="1145915623"/>
                    </a:ext>
                  </a:extLst>
                </a:gridCol>
                <a:gridCol w="3393701">
                  <a:extLst>
                    <a:ext uri="{9D8B030D-6E8A-4147-A177-3AD203B41FA5}">
                      <a16:colId xmlns:a16="http://schemas.microsoft.com/office/drawing/2014/main" val="921209941"/>
                    </a:ext>
                  </a:extLst>
                </a:gridCol>
                <a:gridCol w="3915818">
                  <a:extLst>
                    <a:ext uri="{9D8B030D-6E8A-4147-A177-3AD203B41FA5}">
                      <a16:colId xmlns:a16="http://schemas.microsoft.com/office/drawing/2014/main" val="3350042898"/>
                    </a:ext>
                  </a:extLst>
                </a:gridCol>
              </a:tblGrid>
              <a:tr h="480160">
                <a:tc>
                  <a:txBody>
                    <a:bodyPr/>
                    <a:lstStyle/>
                    <a:p>
                      <a:pPr>
                        <a:buNone/>
                      </a:pPr>
                      <a:r>
                        <a:rPr lang="en-DE" sz="2700" b="0" dirty="0" err="1"/>
                        <a:t>Baustein</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tc>
                  <a:txBody>
                    <a:bodyPr/>
                    <a:lstStyle/>
                    <a:p>
                      <a:pPr>
                        <a:buNone/>
                      </a:pPr>
                      <a:r>
                        <a:rPr lang="en-DE" sz="2700" b="0" dirty="0" err="1"/>
                        <a:t>Verarbeitung</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tc>
                  <a:txBody>
                    <a:bodyPr/>
                    <a:lstStyle/>
                    <a:p>
                      <a:pPr>
                        <a:buNone/>
                      </a:pPr>
                      <a:r>
                        <a:rPr lang="en-DE" sz="2700" b="0" dirty="0" err="1"/>
                        <a:t>Funktion</a:t>
                      </a:r>
                      <a:r>
                        <a:rPr lang="en-DE" sz="2700" b="0" dirty="0"/>
                        <a:t> </a:t>
                      </a:r>
                      <a:r>
                        <a:rPr lang="en-DE" sz="2700" b="0" dirty="0" err="1"/>
                        <a:t>im</a:t>
                      </a:r>
                      <a:r>
                        <a:rPr lang="en-DE" sz="2700" b="0" dirty="0"/>
                        <a:t> Netz</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3246686"/>
                  </a:ext>
                </a:extLst>
              </a:tr>
              <a:tr h="1467792">
                <a:tc>
                  <a:txBody>
                    <a:bodyPr/>
                    <a:lstStyle/>
                    <a:p>
                      <a:pPr>
                        <a:buNone/>
                      </a:pPr>
                      <a:r>
                        <a:rPr lang="en-DE" sz="2700" b="0" dirty="0"/>
                        <a:t>Conv-Block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b="0" dirty="0"/>
                        <a:t>Conv2d → </a:t>
                      </a:r>
                      <a:r>
                        <a:rPr lang="en-DE" sz="2700" b="0" dirty="0" err="1"/>
                        <a:t>BatchNorm</a:t>
                      </a:r>
                      <a:r>
                        <a:rPr lang="en-DE" sz="2700" b="0" dirty="0"/>
                        <a:t> → </a:t>
                      </a:r>
                      <a:r>
                        <a:rPr lang="en-DE" sz="2700" b="0" dirty="0" err="1"/>
                        <a:t>SiLU</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Extrahiert</a:t>
                      </a:r>
                      <a:r>
                        <a:rPr lang="en-DE" sz="2700" dirty="0"/>
                        <a:t> </a:t>
                      </a:r>
                      <a:r>
                        <a:rPr lang="en-DE" sz="2700" dirty="0" err="1"/>
                        <a:t>Merkmale</a:t>
                      </a:r>
                      <a:r>
                        <a:rPr lang="en-DE" sz="2700" dirty="0"/>
                        <a:t>; </a:t>
                      </a:r>
                      <a:r>
                        <a:rPr lang="en-DE" sz="2700" dirty="0" err="1"/>
                        <a:t>halbiert</a:t>
                      </a:r>
                      <a:r>
                        <a:rPr lang="en-DE" sz="2700" dirty="0"/>
                        <a:t> </a:t>
                      </a:r>
                      <a:r>
                        <a:rPr lang="en-DE" sz="2700" dirty="0" err="1"/>
                        <a:t>bei</a:t>
                      </a:r>
                      <a:r>
                        <a:rPr lang="en-DE" sz="2700" dirty="0"/>
                        <a:t> Stride 2 die </a:t>
                      </a:r>
                      <a:r>
                        <a:rPr lang="en-DE" sz="2700" dirty="0" err="1"/>
                        <a:t>Auflösung</a:t>
                      </a:r>
                      <a:r>
                        <a:rPr lang="de-DE" sz="2700" b="0" dirty="0"/>
                        <a:t>.</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3084671"/>
                  </a:ext>
                </a:extLst>
              </a:tr>
              <a:tr h="2336164">
                <a:tc>
                  <a:txBody>
                    <a:bodyPr/>
                    <a:lstStyle/>
                    <a:p>
                      <a:pPr>
                        <a:buNone/>
                      </a:pPr>
                      <a:r>
                        <a:rPr lang="en-DE" sz="2700" b="0" dirty="0"/>
                        <a:t>C3k2-Block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err="1"/>
                        <a:t>Aufteilung</a:t>
                      </a:r>
                      <a:r>
                        <a:rPr lang="en-DE" sz="2800" dirty="0"/>
                        <a:t> in 2 </a:t>
                      </a:r>
                      <a:r>
                        <a:rPr lang="en-DE" sz="2800" dirty="0" err="1"/>
                        <a:t>Pfade</a:t>
                      </a:r>
                      <a:r>
                        <a:rPr lang="en-DE" sz="2800" dirty="0"/>
                        <a:t> → Bottlenecks </a:t>
                      </a:r>
                      <a:r>
                        <a:rPr lang="en-DE" sz="2800" dirty="0" err="1"/>
                        <a:t>im</a:t>
                      </a:r>
                      <a:r>
                        <a:rPr lang="en-DE" sz="2800" dirty="0"/>
                        <a:t> </a:t>
                      </a:r>
                      <a:r>
                        <a:rPr lang="en-DE" sz="2800" dirty="0" err="1"/>
                        <a:t>Arbeitspfad</a:t>
                      </a:r>
                      <a:r>
                        <a:rPr lang="en-DE" sz="2800" dirty="0"/>
                        <a:t> → </a:t>
                      </a:r>
                      <a:r>
                        <a:rPr lang="en-DE" sz="2800" dirty="0" err="1"/>
                        <a:t>Zusammenführung</a:t>
                      </a:r>
                      <a:r>
                        <a:rPr lang="en-DE" sz="2800" dirty="0"/>
                        <a:t> </a:t>
                      </a:r>
                      <a:r>
                        <a:rPr lang="en-DE" sz="2800" dirty="0" err="1"/>
                        <a:t>aller</a:t>
                      </a:r>
                      <a:r>
                        <a:rPr lang="en-DE" sz="2800" dirty="0"/>
                        <a:t> </a:t>
                      </a:r>
                      <a:r>
                        <a:rPr lang="en-DE" sz="2800" dirty="0" err="1"/>
                        <a:t>Zwischen</a:t>
                      </a:r>
                      <a:r>
                        <a:rPr lang="en-US" sz="2800" dirty="0"/>
                        <a:t>-</a:t>
                      </a:r>
                      <a:r>
                        <a:rPr lang="en-DE" sz="2800" dirty="0" err="1"/>
                        <a:t>ergebnisse</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Verfeinert</a:t>
                      </a:r>
                      <a:r>
                        <a:rPr lang="en-DE" sz="2700" dirty="0"/>
                        <a:t> </a:t>
                      </a:r>
                      <a:r>
                        <a:rPr lang="en-DE" sz="2700" dirty="0" err="1"/>
                        <a:t>Merkmale</a:t>
                      </a:r>
                      <a:r>
                        <a:rPr lang="en-DE" sz="2700" dirty="0"/>
                        <a:t> </a:t>
                      </a:r>
                      <a:r>
                        <a:rPr lang="en-DE" sz="2700" dirty="0" err="1"/>
                        <a:t>bei</a:t>
                      </a:r>
                      <a:r>
                        <a:rPr lang="en-DE" sz="2700" dirty="0"/>
                        <a:t> </a:t>
                      </a:r>
                      <a:r>
                        <a:rPr lang="en-DE" sz="2700" dirty="0" err="1"/>
                        <a:t>gleicher</a:t>
                      </a:r>
                      <a:r>
                        <a:rPr lang="en-DE" sz="2700" dirty="0"/>
                        <a:t> </a:t>
                      </a:r>
                      <a:r>
                        <a:rPr lang="en-DE" sz="2700" dirty="0" err="1"/>
                        <a:t>Auflösung</a:t>
                      </a:r>
                      <a:r>
                        <a:rPr lang="en-DE" sz="2700" dirty="0"/>
                        <a:t>; Bypass spart </a:t>
                      </a:r>
                      <a:r>
                        <a:rPr lang="en-DE" sz="2700" dirty="0" err="1"/>
                        <a:t>Rechenaufwand</a:t>
                      </a:r>
                      <a:r>
                        <a:rPr lang="en-DE" sz="2700" dirty="0"/>
                        <a:t> und </a:t>
                      </a:r>
                      <a:r>
                        <a:rPr lang="en-DE" sz="2700" dirty="0" err="1"/>
                        <a:t>verbessert</a:t>
                      </a:r>
                      <a:r>
                        <a:rPr lang="en-DE" sz="2700" dirty="0"/>
                        <a:t> den </a:t>
                      </a:r>
                      <a:r>
                        <a:rPr lang="en-DE" sz="2700" dirty="0" err="1"/>
                        <a:t>Gradientenfluss</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8271524"/>
                  </a:ext>
                </a:extLst>
              </a:tr>
              <a:tr h="1932111">
                <a:tc>
                  <a:txBody>
                    <a:bodyPr/>
                    <a:lstStyle/>
                    <a:p>
                      <a:pPr>
                        <a:buNone/>
                      </a:pPr>
                      <a:r>
                        <a:rPr lang="en-DE" sz="2700" b="0" dirty="0"/>
                        <a:t>SPPF-Block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a:t>1×1-Conv → </a:t>
                      </a:r>
                      <a:r>
                        <a:rPr lang="en-DE" sz="2800" dirty="0" err="1"/>
                        <a:t>drei</a:t>
                      </a:r>
                      <a:r>
                        <a:rPr lang="en-DE" sz="2800" dirty="0"/>
                        <a:t> </a:t>
                      </a:r>
                      <a:r>
                        <a:rPr lang="en-DE" sz="2800" dirty="0" err="1"/>
                        <a:t>serielle</a:t>
                      </a:r>
                      <a:r>
                        <a:rPr lang="en-DE" sz="2800" dirty="0"/>
                        <a:t> 5×5-MaxPool-Schritte → </a:t>
                      </a:r>
                      <a:r>
                        <a:rPr lang="en-DE" sz="2800" dirty="0" err="1"/>
                        <a:t>Zusammenführung</a:t>
                      </a:r>
                      <a:r>
                        <a:rPr lang="en-DE" sz="2800" dirty="0"/>
                        <a:t> → 1×1-Conv</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err="1"/>
                        <a:t>Erfasst</a:t>
                      </a:r>
                      <a:r>
                        <a:rPr lang="en-DE" sz="2800" dirty="0"/>
                        <a:t> </a:t>
                      </a:r>
                      <a:r>
                        <a:rPr lang="en-DE" sz="2800" dirty="0" err="1"/>
                        <a:t>Bildmerkmale</a:t>
                      </a:r>
                      <a:r>
                        <a:rPr lang="en-DE" sz="2800" dirty="0"/>
                        <a:t> auf </a:t>
                      </a:r>
                      <a:r>
                        <a:rPr lang="en-DE" sz="2800" dirty="0" err="1"/>
                        <a:t>verschiedenen</a:t>
                      </a:r>
                      <a:r>
                        <a:rPr lang="en-DE" sz="2800" dirty="0"/>
                        <a:t> </a:t>
                      </a:r>
                      <a:r>
                        <a:rPr lang="en-DE" sz="2800" dirty="0" err="1"/>
                        <a:t>Kontextgrößen</a:t>
                      </a:r>
                      <a:r>
                        <a:rPr lang="en-DE" sz="2800" dirty="0"/>
                        <a:t>, </a:t>
                      </a:r>
                      <a:r>
                        <a:rPr lang="en-DE" sz="2800" dirty="0" err="1"/>
                        <a:t>ohne</a:t>
                      </a:r>
                      <a:r>
                        <a:rPr lang="en-DE" sz="2800" dirty="0"/>
                        <a:t> die </a:t>
                      </a:r>
                      <a:r>
                        <a:rPr lang="en-DE" sz="2800" dirty="0" err="1"/>
                        <a:t>räumliche</a:t>
                      </a:r>
                      <a:r>
                        <a:rPr lang="en-DE" sz="2800" dirty="0"/>
                        <a:t> </a:t>
                      </a:r>
                      <a:r>
                        <a:rPr lang="en-DE" sz="2800" dirty="0" err="1"/>
                        <a:t>Auflösung</a:t>
                      </a:r>
                      <a:r>
                        <a:rPr lang="en-DE" sz="2800" dirty="0"/>
                        <a:t> </a:t>
                      </a:r>
                      <a:r>
                        <a:rPr lang="en-DE" sz="2800" dirty="0" err="1"/>
                        <a:t>zu</a:t>
                      </a:r>
                      <a:r>
                        <a:rPr lang="en-DE" sz="2800" dirty="0"/>
                        <a:t> </a:t>
                      </a:r>
                      <a:r>
                        <a:rPr lang="en-DE" sz="2800" dirty="0" err="1"/>
                        <a:t>reduzieren</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0600419"/>
                  </a:ext>
                </a:extLst>
              </a:tr>
              <a:tr h="2384114">
                <a:tc>
                  <a:txBody>
                    <a:bodyPr/>
                    <a:lstStyle/>
                    <a:p>
                      <a:pPr>
                        <a:buNone/>
                      </a:pPr>
                      <a:r>
                        <a:rPr lang="en-DE" sz="2700" b="0" dirty="0"/>
                        <a:t>C2PSA-Block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b="0" dirty="0" err="1"/>
                        <a:t>Aufteilung</a:t>
                      </a:r>
                      <a:r>
                        <a:rPr lang="en-DE" sz="2700" b="0" dirty="0"/>
                        <a:t> der </a:t>
                      </a:r>
                      <a:r>
                        <a:rPr lang="en-DE" sz="2700" b="0" dirty="0" err="1"/>
                        <a:t>Merkmale</a:t>
                      </a:r>
                      <a:r>
                        <a:rPr lang="en-DE" sz="2700" b="0" dirty="0"/>
                        <a:t> → Self-Attention in </a:t>
                      </a:r>
                      <a:r>
                        <a:rPr lang="en-DE" sz="2700" b="0" dirty="0" err="1"/>
                        <a:t>einem</a:t>
                      </a:r>
                      <a:r>
                        <a:rPr lang="en-DE" sz="2700" b="0" dirty="0"/>
                        <a:t> </a:t>
                      </a:r>
                      <a:r>
                        <a:rPr lang="en-DE" sz="2700" b="0" dirty="0" err="1"/>
                        <a:t>Teilpfad</a:t>
                      </a:r>
                      <a:r>
                        <a:rPr lang="en-DE" sz="2700" b="0" dirty="0"/>
                        <a:t> → </a:t>
                      </a:r>
                      <a:r>
                        <a:rPr lang="en-DE" sz="2700" b="0" dirty="0" err="1"/>
                        <a:t>Zusammenführung</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Gewichtet</a:t>
                      </a:r>
                      <a:r>
                        <a:rPr lang="en-DE" sz="2700" dirty="0"/>
                        <a:t> </a:t>
                      </a:r>
                      <a:r>
                        <a:rPr lang="en-DE" sz="2700" dirty="0" err="1"/>
                        <a:t>Bildbereiche</a:t>
                      </a:r>
                      <a:r>
                        <a:rPr lang="en-DE" sz="2700" dirty="0"/>
                        <a:t> </a:t>
                      </a:r>
                      <a:r>
                        <a:rPr lang="en-DE" sz="2700" dirty="0" err="1"/>
                        <a:t>kontextabhängig</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3309161"/>
                  </a:ext>
                </a:extLst>
              </a:tr>
            </a:tbl>
          </a:graphicData>
        </a:graphic>
      </p:graphicFrame>
      <p:sp>
        <p:nvSpPr>
          <p:cNvPr id="74" name="Textplatzhalter 32">
            <a:extLst>
              <a:ext uri="{FF2B5EF4-FFF2-40B4-BE49-F238E27FC236}">
                <a16:creationId xmlns:a16="http://schemas.microsoft.com/office/drawing/2014/main" id="{F8CEFEA3-3617-EF4C-606D-978A6D9BBD5A}"/>
              </a:ext>
            </a:extLst>
          </p:cNvPr>
          <p:cNvSpPr>
            <a:spLocks noGrp="1"/>
          </p:cNvSpPr>
          <p:nvPr>
            <p:ph type="body" sz="quarter" idx="27"/>
          </p:nvPr>
        </p:nvSpPr>
        <p:spPr>
          <a:xfrm>
            <a:off x="10918800" y="20294632"/>
            <a:ext cx="8472488" cy="1070435"/>
          </a:xfrm>
        </p:spPr>
        <p:txBody>
          <a:bodyPr/>
          <a:lstStyle/>
          <a:p>
            <a:r>
              <a:rPr lang="en-DE" sz="2700" b="1" dirty="0">
                <a:latin typeface="+mn-lt"/>
              </a:rPr>
              <a:t>ZENTRALE BAUSTEINE DER YOLO26-POSE-ARCHITEKTUR</a:t>
            </a:r>
            <a:endParaRPr lang="de-DE" sz="2700" b="1" dirty="0">
              <a:latin typeface="+mn-lt"/>
            </a:endParaRPr>
          </a:p>
        </p:txBody>
      </p:sp>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ED7AEBF6-8891-71BA-A80D-EF4DDE18A5C5}"/>
                  </a:ext>
                </a:extLst>
              </p:cNvPr>
              <p:cNvSpPr txBox="1"/>
              <p:nvPr/>
            </p:nvSpPr>
            <p:spPr>
              <a:xfrm>
                <a:off x="19897927" y="13845384"/>
                <a:ext cx="10155602" cy="5463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DE" sz="2700" i="1" smtClean="0">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total</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box</m:t>
                          </m:r>
                        </m:sub>
                      </m:sSub>
                      <m:sSub>
                        <m:sSubPr>
                          <m:ctrlPr>
                            <a:rPr lang="en-DE" sz="2700" i="1" smtClean="0">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box</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cls</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cls</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pose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pose</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kobj</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kobj</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RLE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RLE</m:t>
                          </m:r>
                        </m:sub>
                      </m:sSub>
                    </m:oMath>
                  </m:oMathPara>
                </a14:m>
                <a:endParaRPr lang="en-DE" dirty="0"/>
              </a:p>
            </p:txBody>
          </p:sp>
        </mc:Choice>
        <mc:Fallback xmlns="">
          <p:sp>
            <p:nvSpPr>
              <p:cNvPr id="131" name="TextBox 130">
                <a:extLst>
                  <a:ext uri="{FF2B5EF4-FFF2-40B4-BE49-F238E27FC236}">
                    <a16:creationId xmlns:a16="http://schemas.microsoft.com/office/drawing/2014/main" id="{ED7AEBF6-8891-71BA-A80D-EF4DDE18A5C5}"/>
                  </a:ext>
                </a:extLst>
              </p:cNvPr>
              <p:cNvSpPr txBox="1">
                <a:spLocks noRot="1" noChangeAspect="1" noMove="1" noResize="1" noEditPoints="1" noAdjustHandles="1" noChangeArrowheads="1" noChangeShapeType="1" noTextEdit="1"/>
              </p:cNvSpPr>
              <p:nvPr/>
            </p:nvSpPr>
            <p:spPr>
              <a:xfrm>
                <a:off x="19897927" y="13845384"/>
                <a:ext cx="10155602" cy="546303"/>
              </a:xfrm>
              <a:prstGeom prst="rect">
                <a:avLst/>
              </a:prstGeom>
              <a:blipFill>
                <a:blip r:embed="rId6"/>
                <a:stretch>
                  <a:fillRect/>
                </a:stretch>
              </a:blipFill>
            </p:spPr>
            <p:txBody>
              <a:bodyPr/>
              <a:lstStyle/>
              <a:p>
                <a:r>
                  <a:rPr lang="de-DE">
                    <a:noFill/>
                  </a:rPr>
                  <a:t> </a:t>
                </a:r>
              </a:p>
            </p:txBody>
          </p:sp>
        </mc:Fallback>
      </mc:AlternateContent>
      <p:pic>
        <p:nvPicPr>
          <p:cNvPr id="34" name="Picture 33">
            <a:extLst>
              <a:ext uri="{FF2B5EF4-FFF2-40B4-BE49-F238E27FC236}">
                <a16:creationId xmlns:a16="http://schemas.microsoft.com/office/drawing/2014/main" id="{04F273D0-20B0-B4C2-E0A0-69ACAA5111EB}"/>
              </a:ext>
            </a:extLst>
          </p:cNvPr>
          <p:cNvPicPr>
            <a:picLocks noChangeAspect="1"/>
          </p:cNvPicPr>
          <p:nvPr/>
        </p:nvPicPr>
        <p:blipFill>
          <a:blip r:embed="rId7"/>
          <a:stretch>
            <a:fillRect/>
          </a:stretch>
        </p:blipFill>
        <p:spPr>
          <a:xfrm>
            <a:off x="10918800" y="12898339"/>
            <a:ext cx="8472488" cy="6279783"/>
          </a:xfrm>
          <a:prstGeom prst="rect">
            <a:avLst/>
          </a:prstGeom>
        </p:spPr>
      </p:pic>
      <p:grpSp>
        <p:nvGrpSpPr>
          <p:cNvPr id="37" name="Group 36">
            <a:extLst>
              <a:ext uri="{FF2B5EF4-FFF2-40B4-BE49-F238E27FC236}">
                <a16:creationId xmlns:a16="http://schemas.microsoft.com/office/drawing/2014/main" id="{97AE6782-6096-BE36-3E6A-B9D0174049DC}"/>
              </a:ext>
            </a:extLst>
          </p:cNvPr>
          <p:cNvGrpSpPr/>
          <p:nvPr/>
        </p:nvGrpSpPr>
        <p:grpSpPr>
          <a:xfrm>
            <a:off x="10899777" y="32001721"/>
            <a:ext cx="8440734" cy="5879953"/>
            <a:chOff x="10442326" y="30796179"/>
            <a:chExt cx="9377860" cy="6532770"/>
          </a:xfrm>
        </p:grpSpPr>
        <p:grpSp>
          <p:nvGrpSpPr>
            <p:cNvPr id="40" name="Group 39">
              <a:extLst>
                <a:ext uri="{FF2B5EF4-FFF2-40B4-BE49-F238E27FC236}">
                  <a16:creationId xmlns:a16="http://schemas.microsoft.com/office/drawing/2014/main" id="{2B5D559C-170D-209D-19D0-8477A2C35C3A}"/>
                </a:ext>
              </a:extLst>
            </p:cNvPr>
            <p:cNvGrpSpPr/>
            <p:nvPr/>
          </p:nvGrpSpPr>
          <p:grpSpPr>
            <a:xfrm>
              <a:off x="10442326" y="30796179"/>
              <a:ext cx="9377860" cy="6532770"/>
              <a:chOff x="10442326" y="20145375"/>
              <a:chExt cx="9377860" cy="6532770"/>
            </a:xfrm>
          </p:grpSpPr>
          <p:pic>
            <p:nvPicPr>
              <p:cNvPr id="49" name="Picture 48">
                <a:extLst>
                  <a:ext uri="{FF2B5EF4-FFF2-40B4-BE49-F238E27FC236}">
                    <a16:creationId xmlns:a16="http://schemas.microsoft.com/office/drawing/2014/main" id="{EBC4A8E8-8EF9-8254-D44A-7AFDEF2A852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55025" y="22981991"/>
                <a:ext cx="9223829" cy="2014250"/>
              </a:xfrm>
              <a:prstGeom prst="rect">
                <a:avLst/>
              </a:prstGeom>
            </p:spPr>
          </p:pic>
          <p:pic>
            <p:nvPicPr>
              <p:cNvPr id="50" name="Picture 49">
                <a:extLst>
                  <a:ext uri="{FF2B5EF4-FFF2-40B4-BE49-F238E27FC236}">
                    <a16:creationId xmlns:a16="http://schemas.microsoft.com/office/drawing/2014/main" id="{A71BA1A1-AED4-823B-F0B6-B110AF525A06}"/>
                  </a:ext>
                </a:extLst>
              </p:cNvPr>
              <p:cNvPicPr>
                <a:picLocks noChangeAspect="1"/>
              </p:cNvPicPr>
              <p:nvPr/>
            </p:nvPicPr>
            <p:blipFill>
              <a:blip r:embed="rId9">
                <a:extLst>
                  <a:ext uri="{28A0092B-C50C-407E-A947-70E740481C1C}">
                    <a14:useLocalDpi xmlns:a14="http://schemas.microsoft.com/office/drawing/2010/main" val="0"/>
                  </a:ext>
                </a:extLst>
              </a:blip>
              <a:srcRect t="24087" b="8560"/>
              <a:stretch>
                <a:fillRect/>
              </a:stretch>
            </p:blipFill>
            <p:spPr>
              <a:xfrm>
                <a:off x="10455025" y="25289168"/>
                <a:ext cx="9223829" cy="1251292"/>
              </a:xfrm>
              <a:prstGeom prst="rect">
                <a:avLst/>
              </a:prstGeom>
            </p:spPr>
          </p:pic>
          <p:pic>
            <p:nvPicPr>
              <p:cNvPr id="51" name="Picture 50">
                <a:extLst>
                  <a:ext uri="{FF2B5EF4-FFF2-40B4-BE49-F238E27FC236}">
                    <a16:creationId xmlns:a16="http://schemas.microsoft.com/office/drawing/2014/main" id="{FFAA5794-EEE1-ADB6-F9A1-5C9BBEA21645}"/>
                  </a:ext>
                </a:extLst>
              </p:cNvPr>
              <p:cNvPicPr>
                <a:picLocks noChangeAspect="1"/>
              </p:cNvPicPr>
              <p:nvPr/>
            </p:nvPicPr>
            <p:blipFill>
              <a:blip r:embed="rId10">
                <a:extLst>
                  <a:ext uri="{28A0092B-C50C-407E-A947-70E740481C1C}">
                    <a14:useLocalDpi xmlns:a14="http://schemas.microsoft.com/office/drawing/2010/main" val="0"/>
                  </a:ext>
                </a:extLst>
              </a:blip>
              <a:srcRect l="10644" t="7304"/>
              <a:stretch>
                <a:fillRect/>
              </a:stretch>
            </p:blipFill>
            <p:spPr>
              <a:xfrm>
                <a:off x="10455025" y="20169537"/>
                <a:ext cx="9365161" cy="3084686"/>
              </a:xfrm>
              <a:prstGeom prst="rect">
                <a:avLst/>
              </a:prstGeom>
            </p:spPr>
          </p:pic>
          <p:cxnSp>
            <p:nvCxnSpPr>
              <p:cNvPr id="52" name="Straight Arrow Connector 51">
                <a:extLst>
                  <a:ext uri="{FF2B5EF4-FFF2-40B4-BE49-F238E27FC236}">
                    <a16:creationId xmlns:a16="http://schemas.microsoft.com/office/drawing/2014/main" id="{0A5E969F-491F-7B2C-6756-4E45F37C8B5F}"/>
                  </a:ext>
                </a:extLst>
              </p:cNvPr>
              <p:cNvCxnSpPr>
                <a:cxnSpLocks/>
              </p:cNvCxnSpPr>
              <p:nvPr/>
            </p:nvCxnSpPr>
            <p:spPr>
              <a:xfrm flipH="1">
                <a:off x="11658600" y="24879300"/>
                <a:ext cx="1955800" cy="495300"/>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DA7A0AE7-9F7D-7728-F019-CCD5D6107990}"/>
                  </a:ext>
                </a:extLst>
              </p:cNvPr>
              <p:cNvSpPr/>
              <p:nvPr/>
            </p:nvSpPr>
            <p:spPr>
              <a:xfrm>
                <a:off x="10442326" y="25209601"/>
                <a:ext cx="9255578" cy="1468544"/>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4" name="Rectangle 53">
                <a:extLst>
                  <a:ext uri="{FF2B5EF4-FFF2-40B4-BE49-F238E27FC236}">
                    <a16:creationId xmlns:a16="http://schemas.microsoft.com/office/drawing/2014/main" id="{F3CE85CE-48F6-E8CC-1792-85C96FC16D8D}"/>
                  </a:ext>
                </a:extLst>
              </p:cNvPr>
              <p:cNvSpPr/>
              <p:nvPr/>
            </p:nvSpPr>
            <p:spPr>
              <a:xfrm>
                <a:off x="11806238" y="20145375"/>
                <a:ext cx="361950" cy="562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cxnSp>
          <p:nvCxnSpPr>
            <p:cNvPr id="41" name="Straight Arrow Connector 40">
              <a:extLst>
                <a:ext uri="{FF2B5EF4-FFF2-40B4-BE49-F238E27FC236}">
                  <a16:creationId xmlns:a16="http://schemas.microsoft.com/office/drawing/2014/main" id="{B9A8972F-EA4E-FBEC-F9B6-93DBB12C94CD}"/>
                </a:ext>
              </a:extLst>
            </p:cNvPr>
            <p:cNvCxnSpPr>
              <a:cxnSpLocks/>
            </p:cNvCxnSpPr>
            <p:nvPr/>
          </p:nvCxnSpPr>
          <p:spPr>
            <a:xfrm flipH="1">
              <a:off x="18330615" y="32638626"/>
              <a:ext cx="202508" cy="1535101"/>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Arrow Connector 43">
              <a:extLst>
                <a:ext uri="{FF2B5EF4-FFF2-40B4-BE49-F238E27FC236}">
                  <a16:creationId xmlns:a16="http://schemas.microsoft.com/office/drawing/2014/main" id="{4A32EA65-9929-94C7-3A2C-BA52FE3F19B1}"/>
                </a:ext>
              </a:extLst>
            </p:cNvPr>
            <p:cNvCxnSpPr>
              <a:cxnSpLocks/>
            </p:cNvCxnSpPr>
            <p:nvPr/>
          </p:nvCxnSpPr>
          <p:spPr>
            <a:xfrm>
              <a:off x="18789115" y="32638626"/>
              <a:ext cx="820221" cy="1577500"/>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a16="http://schemas.microsoft.com/office/drawing/2014/main" id="{D9A3AC11-6556-1760-7666-F6ED2B885287}"/>
                </a:ext>
              </a:extLst>
            </p:cNvPr>
            <p:cNvCxnSpPr>
              <a:cxnSpLocks/>
            </p:cNvCxnSpPr>
            <p:nvPr/>
          </p:nvCxnSpPr>
          <p:spPr>
            <a:xfrm flipH="1">
              <a:off x="16776700" y="32774709"/>
              <a:ext cx="841296" cy="139901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9DC18225-6254-139C-C020-407499953317}"/>
                </a:ext>
              </a:extLst>
            </p:cNvPr>
            <p:cNvCxnSpPr>
              <a:cxnSpLocks/>
            </p:cNvCxnSpPr>
            <p:nvPr/>
          </p:nvCxnSpPr>
          <p:spPr>
            <a:xfrm flipH="1">
              <a:off x="18044704" y="32774709"/>
              <a:ext cx="48838" cy="1441417"/>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0F7AD311-DA6F-A196-017C-FB37939D228D}"/>
                </a:ext>
              </a:extLst>
            </p:cNvPr>
            <p:cNvCxnSpPr>
              <a:cxnSpLocks/>
            </p:cNvCxnSpPr>
            <p:nvPr/>
          </p:nvCxnSpPr>
          <p:spPr>
            <a:xfrm flipH="1">
              <a:off x="12094746" y="33339868"/>
              <a:ext cx="2097504" cy="82328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Arrow Connector 47">
              <a:extLst>
                <a:ext uri="{FF2B5EF4-FFF2-40B4-BE49-F238E27FC236}">
                  <a16:creationId xmlns:a16="http://schemas.microsoft.com/office/drawing/2014/main" id="{BAB0351E-774E-B81C-407C-6E7CFF4EF43D}"/>
                </a:ext>
              </a:extLst>
            </p:cNvPr>
            <p:cNvCxnSpPr>
              <a:cxnSpLocks/>
            </p:cNvCxnSpPr>
            <p:nvPr/>
          </p:nvCxnSpPr>
          <p:spPr>
            <a:xfrm flipH="1">
              <a:off x="13346112" y="33339868"/>
              <a:ext cx="2589214" cy="858086"/>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9" name="Group 8">
            <a:extLst>
              <a:ext uri="{FF2B5EF4-FFF2-40B4-BE49-F238E27FC236}">
                <a16:creationId xmlns:a16="http://schemas.microsoft.com/office/drawing/2014/main" id="{6EFAE0D9-8626-3AF6-96A9-67F6C712C339}"/>
              </a:ext>
            </a:extLst>
          </p:cNvPr>
          <p:cNvGrpSpPr/>
          <p:nvPr/>
        </p:nvGrpSpPr>
        <p:grpSpPr>
          <a:xfrm>
            <a:off x="4656795" y="28788287"/>
            <a:ext cx="5602081" cy="4568263"/>
            <a:chOff x="4617632" y="25508568"/>
            <a:chExt cx="5649366" cy="4668472"/>
          </a:xfrm>
        </p:grpSpPr>
        <p:pic>
          <p:nvPicPr>
            <p:cNvPr id="7" name="Picture 6">
              <a:extLst>
                <a:ext uri="{FF2B5EF4-FFF2-40B4-BE49-F238E27FC236}">
                  <a16:creationId xmlns:a16="http://schemas.microsoft.com/office/drawing/2014/main" id="{D451E306-C88B-3F85-2DD2-BE16B230E266}"/>
                </a:ext>
              </a:extLst>
            </p:cNvPr>
            <p:cNvPicPr>
              <a:picLocks noChangeAspect="1"/>
            </p:cNvPicPr>
            <p:nvPr/>
          </p:nvPicPr>
          <p:blipFill>
            <a:blip r:embed="rId11">
              <a:extLst>
                <a:ext uri="{28A0092B-C50C-407E-A947-70E740481C1C}">
                  <a14:useLocalDpi xmlns:a14="http://schemas.microsoft.com/office/drawing/2010/main" val="0"/>
                </a:ext>
              </a:extLst>
            </a:blip>
            <a:srcRect l="16358" t="9830" r="15451" b="5420"/>
            <a:stretch>
              <a:fillRect/>
            </a:stretch>
          </p:blipFill>
          <p:spPr>
            <a:xfrm>
              <a:off x="5258530" y="25508568"/>
              <a:ext cx="5008468" cy="4668472"/>
            </a:xfrm>
            <a:prstGeom prst="rect">
              <a:avLst/>
            </a:prstGeom>
          </p:spPr>
        </p:pic>
        <p:sp>
          <p:nvSpPr>
            <p:cNvPr id="8" name="Arrow: Right 7">
              <a:extLst>
                <a:ext uri="{FF2B5EF4-FFF2-40B4-BE49-F238E27FC236}">
                  <a16:creationId xmlns:a16="http://schemas.microsoft.com/office/drawing/2014/main" id="{4033572D-1F5B-C374-9663-5429BC013DBE}"/>
                </a:ext>
              </a:extLst>
            </p:cNvPr>
            <p:cNvSpPr/>
            <p:nvPr/>
          </p:nvSpPr>
          <p:spPr>
            <a:xfrm>
              <a:off x="4617632" y="27210365"/>
              <a:ext cx="502867" cy="8909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grpSp>
      <p:sp>
        <p:nvSpPr>
          <p:cNvPr id="10" name="Textplatzhalter 36">
            <a:extLst>
              <a:ext uri="{FF2B5EF4-FFF2-40B4-BE49-F238E27FC236}">
                <a16:creationId xmlns:a16="http://schemas.microsoft.com/office/drawing/2014/main" id="{424C8F34-E40E-0F7F-97FB-1B6FCF06EC77}"/>
              </a:ext>
            </a:extLst>
          </p:cNvPr>
          <p:cNvSpPr>
            <a:spLocks noGrp="1"/>
          </p:cNvSpPr>
          <p:nvPr>
            <p:ph type="body" sz="quarter" idx="36"/>
          </p:nvPr>
        </p:nvSpPr>
        <p:spPr>
          <a:xfrm>
            <a:off x="1625279" y="33679634"/>
            <a:ext cx="8472488" cy="238479"/>
          </a:xfrm>
        </p:spPr>
        <p:txBody>
          <a:bodyPr/>
          <a:lstStyle/>
          <a:p>
            <a:r>
              <a:rPr lang="de-DE" dirty="0"/>
              <a:t>Abbildung 2: </a:t>
            </a:r>
            <a:r>
              <a:rPr lang="en-US" dirty="0" err="1"/>
              <a:t>Anpassung</a:t>
            </a:r>
            <a:r>
              <a:rPr lang="en-US" dirty="0"/>
              <a:t> der </a:t>
            </a:r>
            <a:r>
              <a:rPr lang="en-US" dirty="0" err="1"/>
              <a:t>Eingabedimension</a:t>
            </a:r>
            <a:r>
              <a:rPr lang="en-US" dirty="0"/>
              <a:t> </a:t>
            </a:r>
            <a:r>
              <a:rPr lang="en-US" dirty="0" err="1"/>
              <a:t>mittels</a:t>
            </a:r>
            <a:r>
              <a:rPr lang="en-US" dirty="0"/>
              <a:t> Padding</a:t>
            </a:r>
            <a:endParaRPr lang="de-DE" dirty="0"/>
          </a:p>
        </p:txBody>
      </p:sp>
      <p:pic>
        <p:nvPicPr>
          <p:cNvPr id="14" name="Picture 13">
            <a:extLst>
              <a:ext uri="{FF2B5EF4-FFF2-40B4-BE49-F238E27FC236}">
                <a16:creationId xmlns:a16="http://schemas.microsoft.com/office/drawing/2014/main" id="{B1B0A517-754A-584F-30F6-94ADC5BB35B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70776" y="28912458"/>
            <a:ext cx="2752103" cy="4129768"/>
          </a:xfrm>
          <a:prstGeom prst="rect">
            <a:avLst/>
          </a:prstGeom>
        </p:spPr>
      </p:pic>
      <p:sp>
        <p:nvSpPr>
          <p:cNvPr id="19" name="Textplatzhalter 36">
            <a:extLst>
              <a:ext uri="{FF2B5EF4-FFF2-40B4-BE49-F238E27FC236}">
                <a16:creationId xmlns:a16="http://schemas.microsoft.com/office/drawing/2014/main" id="{54965D31-3182-2AF6-504A-BADDEC048BDA}"/>
              </a:ext>
            </a:extLst>
          </p:cNvPr>
          <p:cNvSpPr txBox="1">
            <a:spLocks/>
          </p:cNvSpPr>
          <p:nvPr/>
        </p:nvSpPr>
        <p:spPr>
          <a:xfrm>
            <a:off x="1570776" y="21187863"/>
            <a:ext cx="8973027" cy="555248"/>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dirty="0"/>
              <a:t>Abbildung 1: </a:t>
            </a:r>
            <a:r>
              <a:rPr lang="en-DE" dirty="0"/>
              <a:t>YOLO26-Pose </a:t>
            </a:r>
            <a:r>
              <a:rPr lang="en-DE" dirty="0" err="1"/>
              <a:t>zur</a:t>
            </a:r>
            <a:r>
              <a:rPr lang="en-DE" dirty="0"/>
              <a:t> </a:t>
            </a:r>
            <a:r>
              <a:rPr lang="en-DE" dirty="0" err="1"/>
              <a:t>Bestimmung</a:t>
            </a:r>
            <a:r>
              <a:rPr lang="en-DE" dirty="0"/>
              <a:t> von </a:t>
            </a:r>
            <a:r>
              <a:rPr lang="en-DE" dirty="0" err="1"/>
              <a:t>Objekt</a:t>
            </a:r>
            <a:r>
              <a:rPr lang="en-DE" dirty="0"/>
              <a:t>-Posen in </a:t>
            </a:r>
            <a:r>
              <a:rPr lang="en-DE" dirty="0" err="1"/>
              <a:t>Bildern</a:t>
            </a:r>
            <a:r>
              <a:rPr lang="en-DE" dirty="0"/>
              <a:t> – </a:t>
            </a:r>
            <a:r>
              <a:rPr lang="en-DE" dirty="0" err="1"/>
              <a:t>Ausgabe</a:t>
            </a:r>
            <a:r>
              <a:rPr lang="en-DE" dirty="0"/>
              <a:t> </a:t>
            </a:r>
            <a:r>
              <a:rPr lang="en-DE" dirty="0" err="1"/>
              <a:t>mit</a:t>
            </a:r>
            <a:r>
              <a:rPr lang="en-DE" dirty="0"/>
              <a:t> Bounding Boxes, </a:t>
            </a:r>
            <a:r>
              <a:rPr lang="en-DE" dirty="0" err="1"/>
              <a:t>Konfidenzwerten</a:t>
            </a:r>
            <a:r>
              <a:rPr lang="en-DE" dirty="0"/>
              <a:t> und </a:t>
            </a:r>
            <a:r>
              <a:rPr lang="en-DE" dirty="0" err="1"/>
              <a:t>Keypoints</a:t>
            </a:r>
            <a:r>
              <a:rPr lang="en-DE" dirty="0"/>
              <a:t>.</a:t>
            </a:r>
            <a:endParaRPr lang="de-DE" dirty="0"/>
          </a:p>
        </p:txBody>
      </p:sp>
      <p:grpSp>
        <p:nvGrpSpPr>
          <p:cNvPr id="11" name="Group 10">
            <a:extLst>
              <a:ext uri="{FF2B5EF4-FFF2-40B4-BE49-F238E27FC236}">
                <a16:creationId xmlns:a16="http://schemas.microsoft.com/office/drawing/2014/main" id="{F515C2DC-A1E3-4621-D8A1-131F1BC0C112}"/>
              </a:ext>
            </a:extLst>
          </p:cNvPr>
          <p:cNvGrpSpPr/>
          <p:nvPr/>
        </p:nvGrpSpPr>
        <p:grpSpPr>
          <a:xfrm>
            <a:off x="20214429" y="30343146"/>
            <a:ext cx="8531228" cy="8770553"/>
            <a:chOff x="20243006" y="32395219"/>
            <a:chExt cx="8531228" cy="8770553"/>
          </a:xfrm>
        </p:grpSpPr>
        <p:pic>
          <p:nvPicPr>
            <p:cNvPr id="23" name="Picture 22">
              <a:extLst>
                <a:ext uri="{FF2B5EF4-FFF2-40B4-BE49-F238E27FC236}">
                  <a16:creationId xmlns:a16="http://schemas.microsoft.com/office/drawing/2014/main" id="{5B0C4976-77C7-2BD0-ED2E-55AFF2D29796}"/>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t="17009"/>
            <a:stretch>
              <a:fillRect/>
            </a:stretch>
          </p:blipFill>
          <p:spPr bwMode="auto">
            <a:xfrm>
              <a:off x="20243006" y="32395219"/>
              <a:ext cx="8531228" cy="3083472"/>
            </a:xfrm>
            <a:prstGeom prst="rect">
              <a:avLst/>
            </a:prstGeom>
            <a:noFill/>
            <a:ln>
              <a:noFill/>
            </a:ln>
            <a:extLst>
              <a:ext uri="{53640926-AAD7-44D8-BBD7-CCE9431645EC}">
                <a14:shadowObscured xmlns:a14="http://schemas.microsoft.com/office/drawing/2010/main"/>
              </a:ext>
            </a:extLst>
          </p:spPr>
        </p:pic>
        <p:sp>
          <p:nvSpPr>
            <p:cNvPr id="24" name="Textplatzhalter 36">
              <a:extLst>
                <a:ext uri="{FF2B5EF4-FFF2-40B4-BE49-F238E27FC236}">
                  <a16:creationId xmlns:a16="http://schemas.microsoft.com/office/drawing/2014/main" id="{D2631D9A-AB31-A022-1742-57F9E8659A06}"/>
                </a:ext>
              </a:extLst>
            </p:cNvPr>
            <p:cNvSpPr txBox="1">
              <a:spLocks/>
            </p:cNvSpPr>
            <p:nvPr/>
          </p:nvSpPr>
          <p:spPr>
            <a:xfrm>
              <a:off x="20298106" y="40173887"/>
              <a:ext cx="8418906" cy="991885"/>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pPr>
              <a:r>
                <a:rPr lang="de-DE" dirty="0"/>
                <a:t>Abbildung 5: YOLO11n- vs. YOLO26n-Pose </a:t>
              </a:r>
              <a:br>
                <a:rPr lang="de-DE" dirty="0"/>
              </a:br>
              <a:r>
                <a:rPr lang="de-DE" dirty="0"/>
                <a:t>Oben: Qualitativer Vergleich YOLO26 erkennt zusätzlich entfernte Personen. </a:t>
              </a:r>
              <a:br>
                <a:rPr lang="de-DE" dirty="0"/>
              </a:br>
              <a:r>
                <a:rPr lang="de-DE" dirty="0"/>
                <a:t>Unten: Laufzeitkomponenten pro Bild auf zwei CPUs und einer GPU; Fehlerbalken: ±1 Standardabweichung.</a:t>
              </a:r>
            </a:p>
          </p:txBody>
        </p:sp>
        <p:pic>
          <p:nvPicPr>
            <p:cNvPr id="5" name="Graphic 4">
              <a:extLst>
                <a:ext uri="{FF2B5EF4-FFF2-40B4-BE49-F238E27FC236}">
                  <a16:creationId xmlns:a16="http://schemas.microsoft.com/office/drawing/2014/main" id="{EBF47CBD-A06E-5823-9081-9A78EEA3C0D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308034" y="35583519"/>
              <a:ext cx="8407460" cy="4442222"/>
            </a:xfrm>
            <a:prstGeom prst="rect">
              <a:avLst/>
            </a:prstGeom>
          </p:spPr>
        </p:pic>
      </p:grpSp>
      <p:sp>
        <p:nvSpPr>
          <p:cNvPr id="4" name="Textplatzhalter 31">
            <a:extLst>
              <a:ext uri="{FF2B5EF4-FFF2-40B4-BE49-F238E27FC236}">
                <a16:creationId xmlns:a16="http://schemas.microsoft.com/office/drawing/2014/main" id="{2141C70F-CFA5-7FEC-D432-9959D294EC2C}"/>
              </a:ext>
            </a:extLst>
          </p:cNvPr>
          <p:cNvSpPr txBox="1">
            <a:spLocks/>
          </p:cNvSpPr>
          <p:nvPr/>
        </p:nvSpPr>
        <p:spPr>
          <a:xfrm>
            <a:off x="1527176" y="39622182"/>
            <a:ext cx="8472488" cy="2395924"/>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sz="4900" dirty="0">
                <a:solidFill>
                  <a:srgbClr val="00008C"/>
                </a:solidFill>
                <a:latin typeface="Noto Sans Medium" panose="020B0502040504020204"/>
              </a:rPr>
              <a:t>Professur für Automatisierungstechnik</a:t>
            </a:r>
            <a:br>
              <a:rPr lang="de-DE" sz="4900" dirty="0">
                <a:solidFill>
                  <a:srgbClr val="00008C"/>
                </a:solidFill>
                <a:latin typeface="Noto Sans Medium" panose="020B0502040504020204"/>
              </a:rPr>
            </a:br>
            <a:r>
              <a:rPr lang="de-DE" sz="4900" dirty="0">
                <a:solidFill>
                  <a:srgbClr val="00008C"/>
                </a:solidFill>
                <a:latin typeface="Noto Sans Medium" panose="020B0502040504020204"/>
              </a:rPr>
              <a:t>Prof. Dr. techn. Klaus </a:t>
            </a:r>
            <a:r>
              <a:rPr lang="de-DE" sz="4900" dirty="0" err="1">
                <a:solidFill>
                  <a:srgbClr val="00008C"/>
                </a:solidFill>
                <a:latin typeface="Noto Sans Medium" panose="020B0502040504020204"/>
              </a:rPr>
              <a:t>Janschek</a:t>
            </a:r>
            <a:endParaRPr lang="de-DE" sz="4900" dirty="0">
              <a:solidFill>
                <a:srgbClr val="00008C"/>
              </a:solidFill>
              <a:latin typeface="Noto Sans Medium" panose="020B0502040504020204"/>
            </a:endParaRPr>
          </a:p>
        </p:txBody>
      </p:sp>
      <p:pic>
        <p:nvPicPr>
          <p:cNvPr id="3" name="Picture 2">
            <a:extLst>
              <a:ext uri="{FF2B5EF4-FFF2-40B4-BE49-F238E27FC236}">
                <a16:creationId xmlns:a16="http://schemas.microsoft.com/office/drawing/2014/main" id="{AAFA8065-16EE-7F7D-E244-73C75F55728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541861" y="17748654"/>
            <a:ext cx="8427236" cy="3282013"/>
          </a:xfrm>
          <a:prstGeom prst="rect">
            <a:avLst/>
          </a:prstGeom>
        </p:spPr>
      </p:pic>
    </p:spTree>
    <p:extLst>
      <p:ext uri="{BB962C8B-B14F-4D97-AF65-F5344CB8AC3E}">
        <p14:creationId xmlns:p14="http://schemas.microsoft.com/office/powerpoint/2010/main" val="2917046652"/>
      </p:ext>
    </p:extLst>
  </p:cSld>
  <p:clrMapOvr>
    <a:masterClrMapping/>
  </p:clrMapOvr>
</p:sld>
</file>

<file path=ppt/theme/theme1.xml><?xml version="1.0" encoding="utf-8"?>
<a:theme xmlns:a="http://schemas.openxmlformats.org/drawingml/2006/main" name="Office">
  <a:themeElements>
    <a:clrScheme name="TUD_2025_Blau-Rot">
      <a:dk1>
        <a:srgbClr val="000000"/>
      </a:dk1>
      <a:lt1>
        <a:sysClr val="window" lastClr="FFFFFF"/>
      </a:lt1>
      <a:dk2>
        <a:srgbClr val="566371"/>
      </a:dk2>
      <a:lt2>
        <a:srgbClr val="FFFFFF"/>
      </a:lt2>
      <a:accent1>
        <a:srgbClr val="00008C"/>
      </a:accent1>
      <a:accent2>
        <a:srgbClr val="97C6FF"/>
      </a:accent2>
      <a:accent3>
        <a:srgbClr val="2F57B2"/>
      </a:accent3>
      <a:accent4>
        <a:srgbClr val="001450"/>
      </a:accent4>
      <a:accent5>
        <a:srgbClr val="D20F41"/>
      </a:accent5>
      <a:accent6>
        <a:srgbClr val="FFAAA5"/>
      </a:accent6>
      <a:hlink>
        <a:srgbClr val="00008C"/>
      </a:hlink>
      <a:folHlink>
        <a:srgbClr val="2F57B2"/>
      </a:folHlink>
    </a:clrScheme>
    <a:fontScheme name="TUD 25 Noto Sans">
      <a:majorFont>
        <a:latin typeface="Noto Sans SemiBold"/>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739</Words>
  <Application>Microsoft Office PowerPoint</Application>
  <PresentationFormat>Custom</PresentationFormat>
  <Paragraphs>63</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Arial</vt:lpstr>
      <vt:lpstr>Cambria Math</vt:lpstr>
      <vt:lpstr>Noto Sans</vt:lpstr>
      <vt:lpstr>Noto Sans Medium</vt:lpstr>
      <vt:lpstr>Noto Sans SemiBold</vt:lpstr>
      <vt:lpstr>Noto Serif</vt:lpstr>
      <vt:lpstr>Office</vt:lpstr>
      <vt:lpstr>Oberseminar Automatisierungstechnik SS2026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Puhlfürst,Ulrich</dc:creator>
  <cp:lastModifiedBy>Duc Hai Nguyen</cp:lastModifiedBy>
  <cp:revision>76</cp:revision>
  <dcterms:created xsi:type="dcterms:W3CDTF">2025-09-04T12:04:34Z</dcterms:created>
  <dcterms:modified xsi:type="dcterms:W3CDTF">2026-07-20T15:39:39Z</dcterms:modified>
</cp:coreProperties>
</file>