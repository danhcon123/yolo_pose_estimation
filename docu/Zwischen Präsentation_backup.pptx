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1" r:id="rId2"/>
    <p:sldMasterId id="2147483711" r:id="rId3"/>
  </p:sldMasterIdLst>
  <p:notesMasterIdLst>
    <p:notesMasterId r:id="rId26"/>
  </p:notesMasterIdLst>
  <p:handoutMasterIdLst>
    <p:handoutMasterId r:id="rId27"/>
  </p:handoutMasterIdLst>
  <p:sldIdLst>
    <p:sldId id="287" r:id="rId4"/>
    <p:sldId id="256" r:id="rId5"/>
    <p:sldId id="296" r:id="rId6"/>
    <p:sldId id="312" r:id="rId7"/>
    <p:sldId id="300" r:id="rId8"/>
    <p:sldId id="302" r:id="rId9"/>
    <p:sldId id="288" r:id="rId10"/>
    <p:sldId id="298" r:id="rId11"/>
    <p:sldId id="308" r:id="rId12"/>
    <p:sldId id="313" r:id="rId13"/>
    <p:sldId id="297" r:id="rId14"/>
    <p:sldId id="311" r:id="rId15"/>
    <p:sldId id="310" r:id="rId16"/>
    <p:sldId id="309" r:id="rId17"/>
    <p:sldId id="291" r:id="rId18"/>
    <p:sldId id="290" r:id="rId19"/>
    <p:sldId id="301" r:id="rId20"/>
    <p:sldId id="303" r:id="rId21"/>
    <p:sldId id="305" r:id="rId22"/>
    <p:sldId id="306" r:id="rId23"/>
    <p:sldId id="292" r:id="rId24"/>
    <p:sldId id="304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8C"/>
    <a:srgbClr val="323F4B"/>
    <a:srgbClr val="000000"/>
    <a:srgbClr val="00005A"/>
    <a:srgbClr val="97C6FF"/>
    <a:srgbClr val="C8C8FF"/>
    <a:srgbClr val="FFB9FF"/>
    <a:srgbClr val="FFAAA5"/>
    <a:srgbClr val="FFBE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D346F6-2D28-475D-A747-C9B424C68E9B}" v="54" dt="2026-05-18T15:02:07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137" autoAdjust="0"/>
  </p:normalViewPr>
  <p:slideViewPr>
    <p:cSldViewPr snapToGrid="0" showGuides="1">
      <p:cViewPr varScale="1">
        <p:scale>
          <a:sx n="81" d="100"/>
          <a:sy n="81" d="100"/>
        </p:scale>
        <p:origin x="75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403"/>
    </p:cViewPr>
  </p:outlin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84260DF-C685-4FF6-A43E-7F93FB3E64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8901AA-A65C-4D7D-B03E-B88B42C819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67984-F0B9-4D31-A8F6-8AF021B9C2EF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3CA3E7-8995-4D33-854F-35DAE52EA9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OSAT SS2026 • YOLO26: Bestimmung von Objekt-Posen in Bildern • Seite &lt;Nr.&gt;</a:t>
            </a:r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351F65-D033-4BD6-A4AB-E115D806FB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2D436-8D5A-47CC-AED7-9827D8D39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42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60CC-0992-4111-87D3-C02B03B2EA6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OSAT SS2026 • YOLO26: Bestimmung von Objekt-Posen in Bildern • Seite &lt;Nr.&gt;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EB764-55E2-4077-8C7A-EB9EFE714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3365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8.svg"/><Relationship Id="rId4" Type="http://schemas.openxmlformats.org/officeDocument/2006/relationships/image" Target="../media/image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7645A5-8081-48C3-B5F8-643B270F4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E3C1A-CB2F-4CD1-90ED-300793FB0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900D5406-B789-4FDC-AF8E-BA50BEF4269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10984857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Dresden, // ??.??.2026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56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33AC041-1A6E-42F5-81A2-02C98A0F2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DA15133A-699F-4D35-8F40-4E67A2D2C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67F0855C-B0D9-41CD-97A7-F4E38BC217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10984857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>
                <a:solidFill>
                  <a:srgbClr val="00008C"/>
                </a:solidFill>
              </a:rPr>
              <a:t>Master-Untertitelformat bearbeiten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1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69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9BDB7B-ED04-48F9-A597-5D65D94A3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-5154294" y="-4145914"/>
            <a:ext cx="17099914" cy="17099914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25C0215D-C2A9-4288-A167-D96DA6BA38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10984857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Master-Untertitelformat bearbeiten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7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25C0215D-C2A9-4288-A167-D96DA6BA38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10984857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Master-Untertitelformat bearbeiten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60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455023C-E286-4137-97BF-103515D643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C549F246-3DE0-4A33-89D1-F3F79D06D4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3737903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Master-Untertitelformat bearbeiten</a:t>
            </a:r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0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C549F246-3DE0-4A33-89D1-F3F79D06D4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3737903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Master-Untertitelformat bearbeiten</a:t>
            </a:r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BBB40F93-65D6-4149-B050-3391578239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7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vorga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Schriftgröße 32pt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de-DE" dirty="0"/>
              <a:t>Mastertextformat Schriftgröße 20pt</a:t>
            </a:r>
            <a:br>
              <a:rPr lang="de-DE" dirty="0"/>
            </a:br>
            <a:r>
              <a:rPr lang="de-DE" dirty="0"/>
              <a:t>(Kann vergrößert werden auf 24pt, Minimum Schriftgröße 16 </a:t>
            </a:r>
            <a:r>
              <a:rPr lang="de-DE" dirty="0" err="1"/>
              <a:t>pt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Die Schriftgrößen wurde in folgenden Räumen getestet</a:t>
            </a:r>
          </a:p>
          <a:p>
            <a:pPr lvl="2"/>
            <a:r>
              <a:rPr lang="de-DE" dirty="0"/>
              <a:t>HSZ Audimax</a:t>
            </a:r>
          </a:p>
          <a:p>
            <a:pPr lvl="2"/>
            <a:r>
              <a:rPr lang="de-DE" dirty="0"/>
              <a:t>HSZ Hörsaal 3</a:t>
            </a:r>
          </a:p>
          <a:p>
            <a:pPr lvl="2"/>
            <a:r>
              <a:rPr lang="de-DE" dirty="0"/>
              <a:t>HSZ Seminarraum klein</a:t>
            </a:r>
          </a:p>
          <a:p>
            <a:pPr lvl="1"/>
            <a:r>
              <a:rPr lang="de-DE" dirty="0"/>
              <a:t>In allen drei Räumen ist 20 und 24 </a:t>
            </a:r>
            <a:r>
              <a:rPr lang="de-DE" dirty="0" err="1"/>
              <a:t>pt</a:t>
            </a:r>
            <a:r>
              <a:rPr lang="de-DE" dirty="0"/>
              <a:t> gut lesbar. Im </a:t>
            </a:r>
            <a:r>
              <a:rPr lang="de-DE" dirty="0" err="1"/>
              <a:t>Seminaraum</a:t>
            </a:r>
            <a:r>
              <a:rPr lang="de-DE" dirty="0"/>
              <a:t> ist 16 </a:t>
            </a:r>
            <a:r>
              <a:rPr lang="de-DE" dirty="0" err="1"/>
              <a:t>pt</a:t>
            </a:r>
            <a:r>
              <a:rPr lang="de-DE" dirty="0"/>
              <a:t> grenzwertig klein.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6E97365-2970-48C5-8643-B05B104BD1F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8075614" y="6057900"/>
            <a:ext cx="3506786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Platz für Zweitlogos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71FF40-B767-4E15-B8F5-6DAC252E9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Schutzraum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07D106F-3835-4287-88EB-AAAD315A8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Schutzraum</a:t>
            </a:r>
            <a:endParaRPr lang="en-US" dirty="0">
              <a:solidFill>
                <a:srgbClr val="BC1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32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5632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2538BF5-19DF-4B5C-80A3-4548339C13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BE6F2D-5EC5-4864-A9A0-FC3ECA391A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238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05E3CC9-E682-422B-B7B9-2A2A3E01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8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404814"/>
            <a:ext cx="5378450" cy="275507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5378450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80716C9-98F3-44C3-A27D-E96BE6D11A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5378450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404814"/>
            <a:ext cx="5378449" cy="275507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FEFC7CA1-8B2C-4227-AB03-708CA25B75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0" y="3429000"/>
            <a:ext cx="5378449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CF89BD5-C523-4AD3-9AF6-B6AABF612D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8520" y="5624513"/>
            <a:ext cx="5363880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827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23506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80716C9-98F3-44C3-A27D-E96BE6D11A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FEFC7CA1-8B2C-4227-AB03-708CA25B75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CF89BD5-C523-4AD3-9AF6-B6AABF612D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6FE31676-EF83-4ECE-8009-0FC4D5A718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A4BDBAA4-F784-4AF6-8050-D275CB31D1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032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718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6F1AB9C3-872C-41DD-AAFB-12824DBEE8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E9E05B2F-0577-47C9-8146-C4868416C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9EF6DC9D-F43A-4B05-BC55-F3417C310F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9C69ADDD-319E-4394-8BC9-FC045CE072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D28AB6FB-FFC3-4AE6-90AB-D58E7C728BA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744C123A-AE63-4AD9-ACB1-ADF4103150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F80E9119-D6F6-4FA2-9F16-025406D0F8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55313796-962D-4CF1-AC12-A82B83090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66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D54C4-ACE0-4B7B-B43C-B80F732E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41816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427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07AA28B-E0BB-4588-9126-08A9723C34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9D899A4-C882-4DED-9C15-ACC467479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5D0AE451-788D-480F-872A-9EB3DCE41B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053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648956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4173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3506788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455023C-E286-4137-97BF-103515D643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7706136"/>
            <a:ext cx="14132540" cy="14874190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08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6D9D1B83-BB64-4D87-85E3-7B792A9EDE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084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D725AF-5383-4E5D-A2D3-3FABBEC0B6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0753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>
            <a:extLst>
              <a:ext uri="{FF2B5EF4-FFF2-40B4-BE49-F238E27FC236}">
                <a16:creationId xmlns:a16="http://schemas.microsoft.com/office/drawing/2014/main" id="{2664A485-C158-4BFC-B46D-7201DF28B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tx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16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79737FE-1C79-470F-BA5B-0406C5992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7061B13-C907-4A87-B55A-8284A73D5D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A048EAF-9787-48D5-83DB-543645FD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55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E4E10E8-4BB9-460B-9BDB-62195F7C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C75E21A-6BBF-4B32-A70F-301838EEE2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tx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5A73340-69A4-498B-8B80-80BE3D077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EB2E58B-9728-4374-A113-BCFD69F635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5307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7056120"/>
            <a:ext cx="23070503" cy="2307050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97200"/>
            <a:ext cx="10972800" cy="719138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4297679"/>
            <a:ext cx="10972800" cy="1544321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790176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58240" y="-6925627"/>
            <a:ext cx="14660880" cy="1466088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D88D79D-95E0-48C6-B019-1226D5FFE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1F6757A7-BF21-40B3-87C7-F536EB12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8A27A73C-FDCC-408D-8A9B-5EBAC19162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493732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36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" name="Grafik 7">
            <a:extLst>
              <a:ext uri="{FF2B5EF4-FFF2-40B4-BE49-F238E27FC236}">
                <a16:creationId xmlns:a16="http://schemas.microsoft.com/office/drawing/2014/main" id="{ACAEB40F-408E-4739-B8F1-87C3D3468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-5498743" y="-5465484"/>
            <a:ext cx="17788812" cy="17788968"/>
            <a:chOff x="-14264640" y="-3715061"/>
            <a:chExt cx="22488583" cy="22488781"/>
          </a:xfrm>
          <a:solidFill>
            <a:schemeClr val="accent2"/>
          </a:solidFill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A195269A-E3C2-4E88-93E3-F49E631252D9}"/>
                </a:ext>
              </a:extLst>
            </p:cNvPr>
            <p:cNvSpPr/>
            <p:nvPr/>
          </p:nvSpPr>
          <p:spPr>
            <a:xfrm>
              <a:off x="-7293192" y="-3715061"/>
              <a:ext cx="15517136" cy="14730115"/>
            </a:xfrm>
            <a:custGeom>
              <a:avLst/>
              <a:gdLst>
                <a:gd name="connsiteX0" fmla="*/ 15517137 w 15517136"/>
                <a:gd name="connsiteY0" fmla="*/ 13362007 h 14730115"/>
                <a:gd name="connsiteX1" fmla="*/ 7758668 w 15517136"/>
                <a:gd name="connsiteY1" fmla="*/ 14730115 h 14730115"/>
                <a:gd name="connsiteX2" fmla="*/ 7758668 w 15517136"/>
                <a:gd name="connsiteY2" fmla="*/ 7758667 h 14730115"/>
                <a:gd name="connsiteX3" fmla="*/ 0 w 15517136"/>
                <a:gd name="connsiteY3" fmla="*/ 0 h 14730115"/>
                <a:gd name="connsiteX4" fmla="*/ 8930316 w 15517136"/>
                <a:gd name="connsiteY4" fmla="*/ 198 h 14730115"/>
                <a:gd name="connsiteX5" fmla="*/ 15517137 w 15517136"/>
                <a:gd name="connsiteY5" fmla="*/ 6586821 h 14730115"/>
                <a:gd name="connsiteX6" fmla="*/ 15517137 w 15517136"/>
                <a:gd name="connsiteY6" fmla="*/ 13362007 h 14730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136" h="14730115">
                  <a:moveTo>
                    <a:pt x="15517137" y="13362007"/>
                  </a:moveTo>
                  <a:lnTo>
                    <a:pt x="7758668" y="14730115"/>
                  </a:lnTo>
                  <a:lnTo>
                    <a:pt x="7758668" y="7758667"/>
                  </a:lnTo>
                  <a:lnTo>
                    <a:pt x="0" y="0"/>
                  </a:lnTo>
                  <a:lnTo>
                    <a:pt x="8930316" y="198"/>
                  </a:lnTo>
                  <a:lnTo>
                    <a:pt x="15517137" y="6586821"/>
                  </a:lnTo>
                  <a:lnTo>
                    <a:pt x="15517137" y="13362007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1539E4E4-5E00-4985-8757-11EFDE979DB4}"/>
                </a:ext>
              </a:extLst>
            </p:cNvPr>
            <p:cNvSpPr/>
            <p:nvPr/>
          </p:nvSpPr>
          <p:spPr>
            <a:xfrm>
              <a:off x="-14264640" y="4043604"/>
              <a:ext cx="15517334" cy="14730114"/>
            </a:xfrm>
            <a:custGeom>
              <a:avLst/>
              <a:gdLst>
                <a:gd name="connsiteX0" fmla="*/ 0 w 15517334"/>
                <a:gd name="connsiteY0" fmla="*/ 1368109 h 14730114"/>
                <a:gd name="connsiteX1" fmla="*/ 7758470 w 15517334"/>
                <a:gd name="connsiteY1" fmla="*/ 0 h 14730114"/>
                <a:gd name="connsiteX2" fmla="*/ 7758470 w 15517334"/>
                <a:gd name="connsiteY2" fmla="*/ 6971449 h 14730114"/>
                <a:gd name="connsiteX3" fmla="*/ 15517335 w 15517334"/>
                <a:gd name="connsiteY3" fmla="*/ 14730115 h 14730114"/>
                <a:gd name="connsiteX4" fmla="*/ 6586822 w 15517334"/>
                <a:gd name="connsiteY4" fmla="*/ 14730115 h 14730114"/>
                <a:gd name="connsiteX5" fmla="*/ 0 w 15517334"/>
                <a:gd name="connsiteY5" fmla="*/ 8143294 h 14730114"/>
                <a:gd name="connsiteX6" fmla="*/ 0 w 15517334"/>
                <a:gd name="connsiteY6" fmla="*/ 1368109 h 1473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334" h="14730114">
                  <a:moveTo>
                    <a:pt x="0" y="1368109"/>
                  </a:moveTo>
                  <a:lnTo>
                    <a:pt x="7758470" y="0"/>
                  </a:lnTo>
                  <a:lnTo>
                    <a:pt x="7758470" y="6971449"/>
                  </a:lnTo>
                  <a:lnTo>
                    <a:pt x="15517335" y="14730115"/>
                  </a:lnTo>
                  <a:lnTo>
                    <a:pt x="6586822" y="14730115"/>
                  </a:lnTo>
                  <a:lnTo>
                    <a:pt x="0" y="8143294"/>
                  </a:lnTo>
                  <a:lnTo>
                    <a:pt x="0" y="1368109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599" y="1052513"/>
            <a:ext cx="7250113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599" y="2286952"/>
            <a:ext cx="7250113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65121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1607CC-7926-42F8-A9D4-9EB30CCC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475330"/>
            <a:ext cx="44978353" cy="318086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600" y="1052513"/>
            <a:ext cx="4441826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600" y="2286952"/>
            <a:ext cx="4441826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72FC72-0865-4AAF-8322-C3045B84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0039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26BB01A-29ED-4144-A31A-DD51B5606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445953" y="-7589795"/>
            <a:ext cx="39323474" cy="233685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52513"/>
            <a:ext cx="53340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5334000" cy="108965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C077647-9C5F-4C27-93BC-289003A54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5642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A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A585B0F-EAE3-4972-B2DD-61B691A3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568399" y="-22289839"/>
            <a:ext cx="37239647" cy="53967254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53F19BAF-18FD-44C8-85CA-F8853215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7CA3D32E-E2F8-4C0E-AF41-451C832967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A0901FF-14F3-43C6-9205-4A412557C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294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BB6767-F2B8-4BAA-BF07-3F9A160B3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484427" y="-5069549"/>
            <a:ext cx="18380919" cy="1821111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5"/>
            <a:ext cx="10972800" cy="914400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107565"/>
            <a:ext cx="10972800" cy="87376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961879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V + Bil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9AD44A7-FBE6-494B-B2A9-85542E1AE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2633468" y="-5918273"/>
            <a:ext cx="18354113" cy="18354113"/>
          </a:xfrm>
          <a:prstGeom prst="rect">
            <a:avLst/>
          </a:prstGeom>
        </p:spPr>
      </p:pic>
      <p:pic>
        <p:nvPicPr>
          <p:cNvPr id="4" name="Grafik 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1CBF57BC-B38C-414F-92BB-F40579F88E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B2B44DCF-A510-4A00-82ED-05FBF8B59E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16388" y="6207760"/>
            <a:ext cx="5599112" cy="286068"/>
          </a:xfrm>
        </p:spPr>
        <p:txBody>
          <a:bodyPr anchor="b" anchorCtr="0"/>
          <a:lstStyle>
            <a:lvl1pPr>
              <a:defRPr sz="1200" i="0">
                <a:solidFill>
                  <a:schemeClr val="bg1"/>
                </a:solidFill>
                <a:latin typeface="Noto Serif (Textkörper)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80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V + Bild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ED2FBAC-C92F-4FEA-8170-E94EC94CC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500000">
            <a:off x="-4681402" y="-7532589"/>
            <a:ext cx="21582744" cy="21582744"/>
          </a:xfrm>
          <a:prstGeom prst="rect">
            <a:avLst/>
          </a:prstGeom>
        </p:spPr>
      </p:pic>
      <p:pic>
        <p:nvPicPr>
          <p:cNvPr id="4" name="Grafik 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79C7FCDB-8A5F-4D8C-B998-2CC83B8C89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FFB4AAEC-A7C5-4365-B424-8E68D40435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8926" y="6177280"/>
            <a:ext cx="5581650" cy="31654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 (Textkörper)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6576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V + Bild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997200"/>
            <a:ext cx="3506788" cy="2844800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7B07D508-A251-41EA-8DE7-63892057591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43400" y="0"/>
            <a:ext cx="10255588" cy="6858000"/>
          </a:xfrm>
          <a:custGeom>
            <a:avLst/>
            <a:gdLst>
              <a:gd name="connsiteX0" fmla="*/ 0 w 10255588"/>
              <a:gd name="connsiteY0" fmla="*/ 0 h 6858000"/>
              <a:gd name="connsiteX1" fmla="*/ 10255588 w 10255588"/>
              <a:gd name="connsiteY1" fmla="*/ 0 h 6858000"/>
              <a:gd name="connsiteX2" fmla="*/ 10255588 w 10255588"/>
              <a:gd name="connsiteY2" fmla="*/ 6858000 h 6858000"/>
              <a:gd name="connsiteX3" fmla="*/ 1215823 w 10255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55588" h="6858000">
                <a:moveTo>
                  <a:pt x="0" y="0"/>
                </a:moveTo>
                <a:lnTo>
                  <a:pt x="10255588" y="0"/>
                </a:lnTo>
                <a:lnTo>
                  <a:pt x="10255588" y="6858000"/>
                </a:lnTo>
                <a:lnTo>
                  <a:pt x="1215823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5365122-AA94-4D9A-8BDB-BC7E3297F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96338" y="6057900"/>
            <a:ext cx="2786062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 (Textkörper)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16511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_60-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72009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736725"/>
            <a:ext cx="7250113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75613" y="0"/>
            <a:ext cx="4116387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49D69647-48F8-4B90-9CC3-E65255E92C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96338" y="6057900"/>
            <a:ext cx="2786062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37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_50-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5378450" cy="1331912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03950" y="-1"/>
            <a:ext cx="5988050" cy="6858001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F372E1-253E-419E-B4D6-7D0068DC7F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24675" y="6057900"/>
            <a:ext cx="4657725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3557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_30-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3506788" cy="1331912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43400" y="0"/>
            <a:ext cx="7848600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507C9BA0-A1AB-441D-8DBE-C0CF26A821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1425" y="6057900"/>
            <a:ext cx="6530975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478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_30-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400" y="404814"/>
            <a:ext cx="72390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43400" y="1736725"/>
            <a:ext cx="7239000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116388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30BC2D8-9972-4382-AB9E-D0E258B13A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43400" y="6057900"/>
            <a:ext cx="7239000" cy="43592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7DF051B-43FA-419C-8BC2-E0F70D76F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1184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_50-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950" y="404814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988050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D763E79-9848-472D-A208-36D6724914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6057900"/>
            <a:ext cx="5378450" cy="43592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DFCE1DD-45F2-4133-8BC5-E0BD70008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392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_60-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5613" y="404813"/>
            <a:ext cx="3506787" cy="824547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75613" y="1736725"/>
            <a:ext cx="3506787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7859713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EE076A1-CD22-4F15-967A-BCBA15F42E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5612" y="6057900"/>
            <a:ext cx="3506787" cy="43592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B9E920F-1A3F-42B1-BCE6-1145087EB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01595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Zwei Inhalte + 1 Bild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4"/>
            <a:ext cx="537845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B604590A-6975-42D1-908C-CE5FC455952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03950" y="1736724"/>
            <a:ext cx="537845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733800"/>
            <a:ext cx="12192000" cy="312419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4760AFB2-59A0-403C-8E84-5030275AE8B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83645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1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C9815EB-9327-48CD-96B3-43DC5F549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2721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Zwei Inhalte + 2 Bilder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4"/>
            <a:ext cx="537845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B604590A-6975-42D1-908C-CE5FC455952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03950" y="1736724"/>
            <a:ext cx="537845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733800"/>
            <a:ext cx="6062472" cy="312419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4C311CE4-AD5A-44B9-BD6C-84A8F5D94B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7324" y="6057900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1</a:t>
            </a:r>
            <a:endParaRPr lang="en-US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A061FE1-7C03-48BD-996F-3B2AE8580D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29528" y="3733801"/>
            <a:ext cx="6062472" cy="312419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B58018AB-F062-405D-B819-907E0DB753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83645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2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D783A2B-51C5-4C95-9003-3F3482637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022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3 Bilder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D2D3B9-D281-41BC-9A6E-EBA632B80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1097280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733800"/>
            <a:ext cx="4025053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1018B3E5-DFDA-4E50-80B0-8583C84118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6275" y="6057900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1</a:t>
            </a:r>
            <a:endParaRPr lang="en-US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F2458F30-68A9-4380-94A9-377AD7D487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83473" y="3733800"/>
            <a:ext cx="4025053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2791F6B-95C8-49BE-B8B9-8F04CE1AC9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67258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2</a:t>
            </a:r>
            <a:endParaRPr lang="en-US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43B9AAEC-8800-42FB-8E44-B81C048BC76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66947" y="3733800"/>
            <a:ext cx="4025053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C8A0F81A-CDA0-49D4-9423-A9300D95CF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83645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3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21D2608-1818-4D42-B89A-D605C4F84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909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4 Bilder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D2D3B9-D281-41BC-9A6E-EBA632B80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1097280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733800"/>
            <a:ext cx="3007360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A413D657-1B5E-406D-8617-E2E725A52F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99005" y="6057900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1</a:t>
            </a:r>
            <a:endParaRPr lang="en-US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F2458F30-68A9-4380-94A9-377AD7D487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61547" y="3733800"/>
            <a:ext cx="3007360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0509D82A-4ACB-44BB-A6BC-2597416A16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60552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2</a:t>
            </a:r>
            <a:endParaRPr lang="en-US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43B9AAEC-8800-42FB-8E44-B81C048BC76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3094" y="3733800"/>
            <a:ext cx="3007360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9" name="Textplatzhalter 6">
            <a:extLst>
              <a:ext uri="{FF2B5EF4-FFF2-40B4-BE49-F238E27FC236}">
                <a16:creationId xmlns:a16="http://schemas.microsoft.com/office/drawing/2014/main" id="{21635FF8-DA1B-41D1-AFFE-F750A584CD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18712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3</a:t>
            </a:r>
            <a:endParaRPr lang="en-US" dirty="0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A9BF99E2-F099-4BD6-8080-40827C91C32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84640" y="3733800"/>
            <a:ext cx="3007360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CF308826-6824-4C9B-9041-059D7052D5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83645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4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F6BFEE9-F7EB-43C7-9F30-97F48E372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404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07AA28B-E0BB-4588-9126-08A9723C34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40DD1341-867C-486E-884D-435F6D877C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76501" y="6057900"/>
            <a:ext cx="9105900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9D899A4-C882-4DED-9C15-ACC467479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19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5E54477-AC5B-4EB3-AE9F-0854A752BD2F}"/>
              </a:ext>
            </a:extLst>
          </p:cNvPr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OSAT SS2026 • </a:t>
            </a:r>
            <a:r>
              <a:rPr lang="de-DE" sz="1200" b="0" dirty="0">
                <a:solidFill>
                  <a:srgbClr val="00008C"/>
                </a:solidFill>
              </a:rPr>
              <a:t>YOLO26: </a:t>
            </a:r>
            <a:r>
              <a:rPr lang="de-DE" sz="1200" dirty="0"/>
              <a:t>Bestimmung von Objekt-Posen in Bildern</a:t>
            </a:r>
            <a:r>
              <a:rPr lang="de-DE" sz="1200" b="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• Seite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15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5" r:id="rId2"/>
    <p:sldLayoutId id="2147483706" r:id="rId3"/>
    <p:sldLayoutId id="2147483776" r:id="rId4"/>
    <p:sldLayoutId id="2147483769" r:id="rId5"/>
    <p:sldLayoutId id="2147483778" r:id="rId6"/>
    <p:sldLayoutId id="2147483650" r:id="rId7"/>
    <p:sldLayoutId id="2147483710" r:id="rId8"/>
    <p:sldLayoutId id="2147483709" r:id="rId9"/>
    <p:sldLayoutId id="2147483652" r:id="rId10"/>
    <p:sldLayoutId id="2147483779" r:id="rId11"/>
    <p:sldLayoutId id="2147483656" r:id="rId12"/>
    <p:sldLayoutId id="2147483665" r:id="rId13"/>
    <p:sldLayoutId id="2147483657" r:id="rId14"/>
    <p:sldLayoutId id="2147483666" r:id="rId15"/>
    <p:sldLayoutId id="2147483654" r:id="rId16"/>
    <p:sldLayoutId id="2147483655" r:id="rId17"/>
    <p:sldLayoutId id="2147483694" r:id="rId18"/>
    <p:sldLayoutId id="2147483695" r:id="rId19"/>
    <p:sldLayoutId id="2147483696" r:id="rId20"/>
    <p:sldLayoutId id="2147483777" r:id="rId21"/>
    <p:sldLayoutId id="2147483771" r:id="rId22"/>
    <p:sldLayoutId id="2147483772" r:id="rId23"/>
    <p:sldLayoutId id="2147483773" r:id="rId24"/>
    <p:sldLayoutId id="2147483775" r:id="rId25"/>
    <p:sldLayoutId id="2147483774" r:id="rId2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  <p15:guide id="36" orient="horz" pos="3543" userDrawn="1">
          <p15:clr>
            <a:srgbClr val="F26B43"/>
          </p15:clr>
        </p15:guide>
        <p15:guide id="37" orient="horz" pos="19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1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7" r:id="rId8"/>
    <p:sldLayoutId id="2147483768" r:id="rId9"/>
    <p:sldLayoutId id="2147483770" r:id="rId1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3" orient="horz" pos="1888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52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6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3" orient="horz" pos="1888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mixed-reality/mrtk-unity/mrtk2/features/ux-building-blocks/object-manipulator?view=mrtkunity-2022-05" TargetMode="External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www.mdpi.com/2076-3417/9/13/2683" TargetMode="Externa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ltralytics.com/blog/the-impact-of-ultralytics-yolo26s-faster-edge-first-design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ltralytics.com/blog/the-impact-of-ultralytics-yolo26s-faster-edge-first-design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yimagesearch.com/2016/11/07/intersection-over-union-iou-for-object-detection/" TargetMode="External"/><Relationship Id="rId2" Type="http://schemas.openxmlformats.org/officeDocument/2006/relationships/hyperlink" Target="https://www.ultralytics.com/blog/the-impact-of-ultralytics-yolo26s-faster-edge-first-design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85FC11-7D54-D1C3-1393-4B81AEA4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OSAT-Hinweise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16AFE8-E700-1C36-F96B-E178EBF43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dirty="0"/>
              <a:t>Abschließende Folien stammen aus dem Corporate Design der TU Dresden ab 2025. Beachten Sie bitte diese Vorlagen bei der Gestaltung Ihrer Folien! </a:t>
            </a:r>
          </a:p>
          <a:p>
            <a:pPr marL="285750" indent="-285750">
              <a:spcBef>
                <a:spcPts val="450"/>
              </a:spcBef>
              <a:buClr>
                <a:srgbClr val="0B2A51"/>
              </a:buClr>
              <a:buFont typeface="Arial" panose="020B0604020202020204" pitchFamily="34" charset="0"/>
              <a:buChar char="•"/>
              <a:tabLst>
                <a:tab pos="341313" algn="l"/>
                <a:tab pos="911225" algn="l"/>
                <a:tab pos="1825625" algn="l"/>
                <a:tab pos="1968500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de-DE" b="0" dirty="0">
                <a:solidFill>
                  <a:srgbClr val="0B2A51"/>
                </a:solidFill>
              </a:rPr>
              <a:t>Verwenden Sie bitte Bilder zur anschaulichen Darstellung!</a:t>
            </a:r>
          </a:p>
          <a:p>
            <a:pPr marL="285750" indent="-285750">
              <a:spcBef>
                <a:spcPts val="450"/>
              </a:spcBef>
              <a:buClr>
                <a:srgbClr val="0B2A51"/>
              </a:buClr>
              <a:buFont typeface="Arial" panose="020B0604020202020204" pitchFamily="34" charset="0"/>
              <a:buChar char="•"/>
              <a:tabLst>
                <a:tab pos="341313" algn="l"/>
                <a:tab pos="911225" algn="l"/>
                <a:tab pos="1825625" algn="l"/>
                <a:tab pos="1968500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de-DE" b="0" dirty="0">
                <a:solidFill>
                  <a:srgbClr val="0B2A51"/>
                </a:solidFill>
              </a:rPr>
              <a:t>Bilder aus anderen Quellen müssen referenziert werden!</a:t>
            </a:r>
          </a:p>
          <a:p>
            <a:pPr marL="285750" indent="-285750">
              <a:spcBef>
                <a:spcPts val="450"/>
              </a:spcBef>
              <a:buClr>
                <a:srgbClr val="0B2A51"/>
              </a:buClr>
              <a:buFont typeface="Arial" panose="020B0604020202020204" pitchFamily="34" charset="0"/>
              <a:buChar char="•"/>
              <a:tabLst>
                <a:tab pos="341313" algn="l"/>
                <a:tab pos="911225" algn="l"/>
                <a:tab pos="1825625" algn="l"/>
                <a:tab pos="1968500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de-DE" b="0" dirty="0">
                <a:solidFill>
                  <a:srgbClr val="0B2A51"/>
                </a:solidFill>
              </a:rPr>
              <a:t>Wählen Sie keine zu kleine Schriftgröße! Kontrollieren Sie dies auch bei eingefügten Diagrammen! </a:t>
            </a:r>
          </a:p>
          <a:p>
            <a:pPr marL="285750" indent="-285750">
              <a:spcBef>
                <a:spcPts val="450"/>
              </a:spcBef>
              <a:buClr>
                <a:srgbClr val="0B2A51"/>
              </a:buClr>
              <a:buFont typeface="Arial" panose="020B0604020202020204" pitchFamily="34" charset="0"/>
              <a:buChar char="•"/>
              <a:tabLst>
                <a:tab pos="341313" algn="l"/>
                <a:tab pos="911225" algn="l"/>
                <a:tab pos="1825625" algn="l"/>
                <a:tab pos="1968500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de-DE" b="0" dirty="0">
                <a:solidFill>
                  <a:srgbClr val="0B2A51"/>
                </a:solidFill>
              </a:rPr>
              <a:t>Versuchen Sie die Zeitvorgabe einzuhalten!</a:t>
            </a:r>
            <a:endParaRPr lang="de-DE" b="0" dirty="0"/>
          </a:p>
          <a:p>
            <a:endParaRPr lang="de-DE" dirty="0"/>
          </a:p>
        </p:txBody>
      </p:sp>
      <p:sp>
        <p:nvSpPr>
          <p:cNvPr id="4" name="Rechteckige Legende 4">
            <a:extLst>
              <a:ext uri="{FF2B5EF4-FFF2-40B4-BE49-F238E27FC236}">
                <a16:creationId xmlns:a16="http://schemas.microsoft.com/office/drawing/2014/main" id="{52B07C44-8F3B-816D-6627-CDAC5F81AD86}"/>
              </a:ext>
            </a:extLst>
          </p:cNvPr>
          <p:cNvSpPr/>
          <p:nvPr/>
        </p:nvSpPr>
        <p:spPr>
          <a:xfrm>
            <a:off x="5741927" y="4481735"/>
            <a:ext cx="2833884" cy="1360265"/>
          </a:xfrm>
          <a:prstGeom prst="wedgeRectCallout">
            <a:avLst>
              <a:gd name="adj1" fmla="val -129218"/>
              <a:gd name="adj2" fmla="val 8165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Fußzeile bitte anpassen: über Ansicht, Folienmaster,  1. Folie links </a:t>
            </a:r>
          </a:p>
        </p:txBody>
      </p:sp>
    </p:spTree>
    <p:extLst>
      <p:ext uri="{BB962C8B-B14F-4D97-AF65-F5344CB8AC3E}">
        <p14:creationId xmlns:p14="http://schemas.microsoft.com/office/powerpoint/2010/main" val="28898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92127-A6D4-4DE7-B042-2AE843D73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5"/>
          </a:xfrm>
        </p:spPr>
        <p:txBody>
          <a:bodyPr/>
          <a:lstStyle/>
          <a:p>
            <a:r>
              <a:rPr lang="de-DE" b="1" dirty="0"/>
              <a:t>YOLO26: Bestimmung von Objekt-Posen in Bildern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1F6330-C39B-4485-AD3C-BF8578A25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387475"/>
          </a:xfrm>
        </p:spPr>
        <p:txBody>
          <a:bodyPr/>
          <a:lstStyle/>
          <a:p>
            <a:r>
              <a:rPr lang="de-DE" dirty="0"/>
              <a:t>Nguyen, Duc Hai, Richard Loewe (Gruppe Nr.4)</a:t>
            </a:r>
          </a:p>
          <a:p>
            <a:r>
              <a:rPr lang="de-DE" dirty="0"/>
              <a:t>Professur für Automatisierungstechnik</a:t>
            </a:r>
          </a:p>
          <a:p>
            <a:r>
              <a:rPr lang="de-DE" dirty="0"/>
              <a:t>Zwischenpräsentation/Verteidigung im Oberseminar Automatisierungstechnik in SS2026</a:t>
            </a:r>
          </a:p>
        </p:txBody>
      </p:sp>
    </p:spTree>
    <p:extLst>
      <p:ext uri="{BB962C8B-B14F-4D97-AF65-F5344CB8AC3E}">
        <p14:creationId xmlns:p14="http://schemas.microsoft.com/office/powerpoint/2010/main" val="2213360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7CFD-9479-52D5-9CD7-1DD42DE5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18F005-8EE4-06E8-A6B0-30264E42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 - 1. Welche Teilaufgabe in der Navigation mobiler Roboter wird gelöst?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49424B-BCFB-5432-19AF-7E3FF0E810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0097" y="1536191"/>
            <a:ext cx="6031806" cy="449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30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1CA32-99DA-FF23-A07B-96843ABE1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Welche Teilaufgabe in der Navigation mobiler Roboter wird gelöst?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14500-D317-90F0-2195-3558084CA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Bestimmung von Objekt-Posen in Bildern:</a:t>
            </a:r>
          </a:p>
          <a:p>
            <a:pPr lvl="2"/>
            <a:r>
              <a:rPr lang="de-DE" dirty="0"/>
              <a:t>Pose des Roboters</a:t>
            </a:r>
          </a:p>
          <a:p>
            <a:pPr lvl="2"/>
            <a:r>
              <a:rPr lang="de-DE" dirty="0"/>
              <a:t>Erkennung der Position und Orientierung von Hindernissen</a:t>
            </a:r>
          </a:p>
          <a:p>
            <a:pPr lvl="2"/>
            <a:r>
              <a:rPr lang="de-DE" dirty="0"/>
              <a:t>Schätzen von Zielposen/Landmarken</a:t>
            </a:r>
          </a:p>
          <a:p>
            <a:r>
              <a:rPr lang="de-DE" dirty="0"/>
              <a:t>Konkret für YOLO26:</a:t>
            </a:r>
          </a:p>
          <a:p>
            <a:pPr marL="576263" lvl="2" indent="-342900"/>
            <a:r>
              <a:rPr lang="de-DE" dirty="0"/>
              <a:t>Personen erkennen</a:t>
            </a:r>
          </a:p>
          <a:p>
            <a:pPr marL="576263" lvl="2" indent="-342900"/>
            <a:r>
              <a:rPr lang="de-DE" dirty="0"/>
              <a:t>Bewegungen interpretieren</a:t>
            </a:r>
          </a:p>
          <a:p>
            <a:pPr marL="576263" lvl="2" indent="-342900"/>
            <a:r>
              <a:rPr lang="de-DE" dirty="0"/>
              <a:t>Greifpunkte bestimmen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0380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8DD55-4BC2-B2B9-F356-B0FBEC48C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35CE12-E826-3258-2DF7-98701F225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 Cases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736B31-6A91-414B-E40A-9021706BD5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13382"/>
            <a:ext cx="5388864" cy="30312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0F39F8-2C2A-6D69-C4DE-D7804570AC47}"/>
              </a:ext>
            </a:extLst>
          </p:cNvPr>
          <p:cNvSpPr txBox="1"/>
          <p:nvPr/>
        </p:nvSpPr>
        <p:spPr>
          <a:xfrm>
            <a:off x="3786564" y="5620821"/>
            <a:ext cx="4423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Quelle: </a:t>
            </a:r>
            <a:r>
              <a:rPr lang="en-US" dirty="0">
                <a:hlinkClick r:id="rId3"/>
              </a:rPr>
              <a:t>Object manipulator — MRTK2</a:t>
            </a:r>
            <a:endParaRPr lang="en-US" dirty="0"/>
          </a:p>
        </p:txBody>
      </p:sp>
      <p:pic>
        <p:nvPicPr>
          <p:cNvPr id="1026" name="Picture 2" descr="No Rigid Body">
            <a:extLst>
              <a:ext uri="{FF2B5EF4-FFF2-40B4-BE49-F238E27FC236}">
                <a16:creationId xmlns:a16="http://schemas.microsoft.com/office/drawing/2014/main" id="{8058CA4E-975B-EDDA-2D07-94B68A9E5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214" y="1328304"/>
            <a:ext cx="4619186" cy="407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85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4D071-62C7-F853-B522-1F055C50F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E978D3-BEF6-A120-0418-B2157D1B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 Cases</a:t>
            </a:r>
          </a:p>
        </p:txBody>
      </p:sp>
      <p:pic>
        <p:nvPicPr>
          <p:cNvPr id="2050" name="Picture 2" descr="Applsci 09 02683 g003">
            <a:hlinkClick r:id="rId2"/>
            <a:extLst>
              <a:ext uri="{FF2B5EF4-FFF2-40B4-BE49-F238E27FC236}">
                <a16:creationId xmlns:a16="http://schemas.microsoft.com/office/drawing/2014/main" id="{B930B763-8350-EB30-CBBE-A94066CF49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840" y="1289288"/>
            <a:ext cx="3317375" cy="427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955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4BF398-A951-2B2B-004E-89A95FB1B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Analyse der Datenfluss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25B4D9-2A90-97D4-A06E-DFF997CE81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27026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832A2-71DC-AC0C-3EB3-56EA89442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92CF9F-9E4B-7EB8-265C-EBD600867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Eingangsdaten mathematisch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DD5917-EECA-3834-F92D-4CC90E5A4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W</a:t>
            </a:r>
            <a:r>
              <a:rPr lang="en-US" dirty="0" err="1"/>
              <a:t>ährend</a:t>
            </a:r>
            <a:r>
              <a:rPr lang="en-US" dirty="0"/>
              <a:t> Training:</a:t>
            </a:r>
          </a:p>
          <a:p>
            <a:r>
              <a:rPr lang="de-DE" dirty="0"/>
              <a:t>	</a:t>
            </a:r>
          </a:p>
          <a:p>
            <a:r>
              <a:rPr lang="de-DE" dirty="0"/>
              <a:t>Während Inferenz: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6236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89B94-055D-9F7D-25E7-49FE60D54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F83F59-D2E9-A9EB-A4EF-F07DD9196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Eingangsdaten mathematisch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7DE60F-BBFC-4297-5AA3-596AF4574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Bild als Tensor:</a:t>
            </a:r>
          </a:p>
          <a:p>
            <a:r>
              <a:rPr lang="de-DE" dirty="0"/>
              <a:t>Dimensionen: Farbkanäle x Höhe x Breite</a:t>
            </a:r>
          </a:p>
          <a:p>
            <a:r>
              <a:rPr lang="de-DE" dirty="0"/>
              <a:t>In YOLO26 meist 3 Farbkanäle (RGB) und quadratisches Bild: 640x640 Pixel</a:t>
            </a:r>
          </a:p>
          <a:p>
            <a:endParaRPr lang="de-DE" dirty="0"/>
          </a:p>
          <a:p>
            <a:r>
              <a:rPr lang="de-DE" dirty="0"/>
              <a:t>z.B. Eingangstensor float32[1, 3, 640, 640]</a:t>
            </a:r>
          </a:p>
          <a:p>
            <a:r>
              <a:rPr lang="de-DE" dirty="0"/>
              <a:t>R^(3xHxW)</a:t>
            </a:r>
          </a:p>
          <a:p>
            <a:endParaRPr lang="de-DE" dirty="0"/>
          </a:p>
          <a:p>
            <a:r>
              <a:rPr lang="de-DE" dirty="0"/>
              <a:t>Zwischen </a:t>
            </a:r>
            <a:r>
              <a:rPr lang="de-DE" dirty="0" err="1"/>
              <a:t>Inference</a:t>
            </a:r>
            <a:r>
              <a:rPr lang="de-DE" dirty="0"/>
              <a:t> und </a:t>
            </a:r>
            <a:r>
              <a:rPr lang="de-DE" dirty="0" err="1"/>
              <a:t>training</a:t>
            </a:r>
            <a:r>
              <a:rPr lang="de-DE" dirty="0"/>
              <a:t> unterscheiden</a:t>
            </a:r>
          </a:p>
        </p:txBody>
      </p:sp>
    </p:spTree>
    <p:extLst>
      <p:ext uri="{BB962C8B-B14F-4D97-AF65-F5344CB8AC3E}">
        <p14:creationId xmlns:p14="http://schemas.microsoft.com/office/powerpoint/2010/main" val="1158990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295C7-A667-215D-EE30-D969B16C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6103E-7716-DD62-B706-59254CEBD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4393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EF07D-B2B4-93D1-2057-685FB792C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17342A-C6B1-FA02-3F36-4CEEAC4B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Ausgangsdaten mathematisch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514DF6-2131-551D-60C0-B711A577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36725"/>
            <a:ext cx="6099314" cy="41052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Vor Nachbearbeitung:</a:t>
            </a:r>
          </a:p>
          <a:p>
            <a:pPr marL="576263" lvl="2" indent="-342900"/>
            <a:r>
              <a:rPr lang="de-DE" dirty="0"/>
              <a:t>float32[</a:t>
            </a:r>
            <a:r>
              <a:rPr lang="de-DE" dirty="0" err="1"/>
              <a:t>batch</a:t>
            </a:r>
            <a:r>
              <a:rPr lang="de-DE" dirty="0"/>
              <a:t>, </a:t>
            </a:r>
            <a:r>
              <a:rPr lang="de-DE" dirty="0" err="1"/>
              <a:t>channels</a:t>
            </a:r>
            <a:r>
              <a:rPr lang="de-DE" dirty="0"/>
              <a:t>, </a:t>
            </a:r>
            <a:r>
              <a:rPr lang="de-DE" dirty="0" err="1"/>
              <a:t>anchors</a:t>
            </a:r>
            <a:r>
              <a:rPr lang="de-DE" dirty="0"/>
              <a:t>]</a:t>
            </a:r>
          </a:p>
          <a:p>
            <a:pPr marL="576263" lvl="2" indent="-342900"/>
            <a:r>
              <a:rPr lang="de-DE" dirty="0"/>
              <a:t>Default </a:t>
            </a:r>
            <a:r>
              <a:rPr lang="de-DE" dirty="0" err="1"/>
              <a:t>settings</a:t>
            </a:r>
            <a:r>
              <a:rPr lang="de-DE" dirty="0"/>
              <a:t>: float32[1, 56, 8400]  „8400“ vermutlich falsch nochmal prüfen</a:t>
            </a:r>
          </a:p>
          <a:p>
            <a:pPr marL="576263" lvl="2" indent="-342900"/>
            <a:r>
              <a:rPr lang="de-DE" dirty="0" err="1"/>
              <a:t>anchors</a:t>
            </a:r>
            <a:r>
              <a:rPr lang="de-DE" dirty="0"/>
              <a:t>=640 x 640 </a:t>
            </a:r>
            <a:r>
              <a:rPr lang="de-DE" dirty="0" err="1"/>
              <a:t>pixels</a:t>
            </a:r>
            <a:endParaRPr lang="de-DE" dirty="0"/>
          </a:p>
          <a:p>
            <a:pPr marL="576263" lvl="2" indent="-342900"/>
            <a:r>
              <a:rPr lang="en-US" dirty="0"/>
              <a:t>Channels= 4 bounding box values</a:t>
            </a:r>
          </a:p>
          <a:p>
            <a:pPr marL="576263" lvl="2" indent="-342900"/>
            <a:r>
              <a:rPr lang="en-US" dirty="0"/>
              <a:t>+ 1 class confidence (for single-class pose) </a:t>
            </a:r>
          </a:p>
          <a:p>
            <a:pPr marL="576263" lvl="2" indent="-342900"/>
            <a:r>
              <a:rPr lang="en-US" dirty="0"/>
              <a:t>+ 51 </a:t>
            </a:r>
            <a:r>
              <a:rPr lang="en-US" dirty="0" err="1"/>
              <a:t>keypoint</a:t>
            </a:r>
            <a:r>
              <a:rPr lang="en-US" dirty="0"/>
              <a:t> values</a:t>
            </a:r>
          </a:p>
          <a:p>
            <a:pPr marL="576263" lvl="2" indent="-342900"/>
            <a:r>
              <a:rPr lang="en-US" dirty="0" err="1"/>
              <a:t>Keypoint</a:t>
            </a:r>
            <a:r>
              <a:rPr lang="en-US" dirty="0"/>
              <a:t> values = 17 </a:t>
            </a:r>
            <a:r>
              <a:rPr lang="en-US" dirty="0" err="1"/>
              <a:t>keypoints</a:t>
            </a:r>
            <a:r>
              <a:rPr lang="en-US" dirty="0"/>
              <a:t> x 3 values each (</a:t>
            </a:r>
            <a:r>
              <a:rPr lang="en-US" dirty="0" err="1"/>
              <a:t>x,y,confidence</a:t>
            </a:r>
            <a:r>
              <a:rPr lang="en-US" dirty="0"/>
              <a:t>)</a:t>
            </a:r>
          </a:p>
          <a:p>
            <a:pPr marL="576263" lvl="2" indent="-342900"/>
            <a:endParaRPr lang="en-US" dirty="0"/>
          </a:p>
          <a:p>
            <a:pPr marL="576263" lvl="2" indent="-342900"/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FB4386-416A-E8BB-D42B-B05AC8458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708" y="500027"/>
            <a:ext cx="1955032" cy="595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38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261E3-BA83-5762-93E8-BEA2D9216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Non-Maximum-Suppression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EFBF9-B31E-3068-5532-5E720E5FF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26" name="Picture 2" descr="Non-Max Suppression In Object Detection">
            <a:extLst>
              <a:ext uri="{FF2B5EF4-FFF2-40B4-BE49-F238E27FC236}">
                <a16:creationId xmlns:a16="http://schemas.microsoft.com/office/drawing/2014/main" id="{20AE6D04-86A5-1681-8535-1966551A3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340946"/>
            <a:ext cx="9759938" cy="450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4900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8FE83-592E-0EF7-8603-01A224FE6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340B6-46E5-21DE-90A6-B150D4AAB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Nach Nachbearbeitung: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float32[</a:t>
            </a:r>
            <a:r>
              <a:rPr lang="en-US" dirty="0" err="1"/>
              <a:t>num_detections</a:t>
            </a:r>
            <a:r>
              <a:rPr lang="en-US" dirty="0"/>
              <a:t>, 17, 3]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Num_detectcions</a:t>
            </a:r>
            <a:r>
              <a:rPr lang="en-US" dirty="0"/>
              <a:t>= </a:t>
            </a:r>
            <a:r>
              <a:rPr lang="en-US" dirty="0" err="1"/>
              <a:t>Anzahl</a:t>
            </a:r>
            <a:r>
              <a:rPr lang="en-US" dirty="0"/>
              <a:t> der </a:t>
            </a:r>
            <a:r>
              <a:rPr lang="en-US" dirty="0" err="1"/>
              <a:t>detektierten</a:t>
            </a:r>
            <a:r>
              <a:rPr lang="en-US" dirty="0"/>
              <a:t> </a:t>
            </a:r>
            <a:r>
              <a:rPr lang="en-US" dirty="0" err="1"/>
              <a:t>Personen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17 </a:t>
            </a:r>
            <a:r>
              <a:rPr lang="en-US" dirty="0" err="1"/>
              <a:t>Keypoint</a:t>
            </a:r>
            <a:r>
              <a:rPr lang="en-US" dirty="0"/>
              <a:t> pro </a:t>
            </a:r>
            <a:r>
              <a:rPr lang="en-US" dirty="0" err="1"/>
              <a:t>Objekt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jeweiligen</a:t>
            </a:r>
            <a:r>
              <a:rPr lang="en-US" dirty="0"/>
              <a:t> </a:t>
            </a:r>
            <a:r>
              <a:rPr lang="en-US" dirty="0" err="1"/>
              <a:t>Koordinaten</a:t>
            </a:r>
            <a:r>
              <a:rPr lang="en-US" dirty="0"/>
              <a:t> (</a:t>
            </a:r>
            <a:r>
              <a:rPr lang="en-US" dirty="0" err="1"/>
              <a:t>x,y</a:t>
            </a:r>
            <a:r>
              <a:rPr lang="en-US" dirty="0"/>
              <a:t>) und </a:t>
            </a:r>
            <a:r>
              <a:rPr lang="en-US" dirty="0" err="1"/>
              <a:t>Konfidenz</a:t>
            </a:r>
            <a:r>
              <a:rPr lang="de-DE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Mathematische </a:t>
            </a:r>
            <a:r>
              <a:rPr lang="de-DE" dirty="0" err="1"/>
              <a:t>schreibweise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7862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B350-5FDE-5B6A-550C-F2023430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986F4-01C6-85D4-2743-30AE1BA2A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8F7B1-7B84-60DC-5E5E-6803C8ACD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495" y="199574"/>
            <a:ext cx="6697010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863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E173C8-A862-7773-0177-4B0B347E4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Einsatz von YOLO 26 – Pose </a:t>
            </a:r>
            <a:r>
              <a:rPr lang="de-DE" dirty="0" err="1"/>
              <a:t>estimation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E653CC-30B2-BEA6-5C9A-C78534BCB2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076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85FC11-7D54-D1C3-1393-4B81AEA4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Softwaretechnische Umsetzung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16AFE8-E700-1C36-F96B-E178EBF43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36725"/>
            <a:ext cx="6141397" cy="4105275"/>
          </a:xfrm>
        </p:spPr>
        <p:txBody>
          <a:bodyPr/>
          <a:lstStyle/>
          <a:p>
            <a:r>
              <a:rPr lang="de-DE" dirty="0"/>
              <a:t>Programmiersprache: Python</a:t>
            </a:r>
          </a:p>
          <a:p>
            <a:pPr marL="285750" lvl="1" indent="-285750"/>
            <a:r>
              <a:rPr lang="de-DE" dirty="0"/>
              <a:t>YOLO26 </a:t>
            </a:r>
            <a:r>
              <a:rPr lang="de-DE" dirty="0" err="1"/>
              <a:t>Inference</a:t>
            </a:r>
            <a:r>
              <a:rPr lang="de-DE" dirty="0"/>
              <a:t>:</a:t>
            </a:r>
          </a:p>
          <a:p>
            <a:pPr marL="285750" lvl="1" indent="-285750"/>
            <a:endParaRPr lang="de-DE" dirty="0">
              <a:solidFill>
                <a:srgbClr val="FFC000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lvl="1" indent="-285750"/>
            <a:endParaRPr lang="de-DE" dirty="0">
              <a:solidFill>
                <a:srgbClr val="FFC000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lvl="1" indent="-285750"/>
            <a:endParaRPr lang="de-DE" dirty="0"/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0C234208-435C-93B9-08F7-801B7F93B4B4}"/>
              </a:ext>
            </a:extLst>
          </p:cNvPr>
          <p:cNvGrpSpPr/>
          <p:nvPr/>
        </p:nvGrpSpPr>
        <p:grpSpPr>
          <a:xfrm>
            <a:off x="7821037" y="637822"/>
            <a:ext cx="3570053" cy="5577194"/>
            <a:chOff x="7859948" y="1089025"/>
            <a:chExt cx="3570053" cy="5577194"/>
          </a:xfrm>
        </p:grpSpPr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4B9C6B4F-AB28-8918-9B3A-42CFAA074E34}"/>
                </a:ext>
              </a:extLst>
            </p:cNvPr>
            <p:cNvSpPr/>
            <p:nvPr/>
          </p:nvSpPr>
          <p:spPr>
            <a:xfrm>
              <a:off x="7859950" y="1089025"/>
              <a:ext cx="3570051" cy="6477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Input </a:t>
              </a:r>
              <a:r>
                <a:rPr lang="de-DE" b="1" dirty="0" err="1"/>
                <a:t>video</a:t>
              </a:r>
              <a:r>
                <a:rPr lang="de-DE" b="1" dirty="0"/>
                <a:t> / </a:t>
              </a:r>
              <a:r>
                <a:rPr lang="de-DE" b="1" dirty="0" err="1"/>
                <a:t>image</a:t>
              </a:r>
              <a:endParaRPr lang="de-DE" b="1" dirty="0"/>
            </a:p>
          </p:txBody>
        </p:sp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588CE2AD-639B-B667-0ABC-711CBA020378}"/>
                </a:ext>
              </a:extLst>
            </p:cNvPr>
            <p:cNvSpPr/>
            <p:nvPr/>
          </p:nvSpPr>
          <p:spPr>
            <a:xfrm>
              <a:off x="7859950" y="2204464"/>
              <a:ext cx="3570051" cy="6477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YOLO("yolo26n-pose.pt")</a:t>
              </a:r>
            </a:p>
          </p:txBody>
        </p:sp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01B84FFD-3A40-1861-33F0-26A0D1982574}"/>
                </a:ext>
              </a:extLst>
            </p:cNvPr>
            <p:cNvSpPr/>
            <p:nvPr/>
          </p:nvSpPr>
          <p:spPr>
            <a:xfrm>
              <a:off x="7859950" y="3319903"/>
              <a:ext cx="3570051" cy="6477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 err="1"/>
                <a:t>model.predict</a:t>
              </a:r>
              <a:r>
                <a:rPr lang="de-DE" b="1" dirty="0"/>
                <a:t>(…)</a:t>
              </a:r>
            </a:p>
          </p:txBody>
        </p:sp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4C542705-A7FE-C5C1-2344-D77D83380918}"/>
                </a:ext>
              </a:extLst>
            </p:cNvPr>
            <p:cNvSpPr/>
            <p:nvPr/>
          </p:nvSpPr>
          <p:spPr>
            <a:xfrm>
              <a:off x="7859949" y="4435342"/>
              <a:ext cx="3570051" cy="6477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 err="1"/>
                <a:t>Results</a:t>
              </a:r>
              <a:r>
                <a:rPr lang="de-DE" b="1" dirty="0"/>
                <a:t> </a:t>
              </a:r>
              <a:r>
                <a:rPr lang="de-DE" b="1" dirty="0" err="1"/>
                <a:t>object</a:t>
              </a:r>
              <a:r>
                <a:rPr lang="de-DE" b="1" dirty="0"/>
                <a:t> per frame</a:t>
              </a:r>
            </a:p>
          </p:txBody>
        </p:sp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D67BDF4E-B5E7-A86E-1A61-A8B0D8C39AEE}"/>
                </a:ext>
              </a:extLst>
            </p:cNvPr>
            <p:cNvSpPr/>
            <p:nvPr/>
          </p:nvSpPr>
          <p:spPr>
            <a:xfrm>
              <a:off x="7859948" y="5550780"/>
              <a:ext cx="3570051" cy="1115439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Bounding boxes + class IDs/names + pose </a:t>
              </a:r>
              <a:r>
                <a:rPr lang="en-US" b="1" dirty="0" err="1"/>
                <a:t>keypoints</a:t>
              </a:r>
              <a:r>
                <a:rPr lang="en-US" b="1" dirty="0"/>
                <a:t> + confidence scores</a:t>
              </a:r>
              <a:endParaRPr lang="de-DE" b="1" dirty="0"/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C64546CC-574A-F974-C7C8-496C0A6AA589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9644976" y="1736725"/>
              <a:ext cx="0" cy="46773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689583FD-995A-8932-0F9E-B16AB77B9A4D}"/>
                </a:ext>
              </a:extLst>
            </p:cNvPr>
            <p:cNvCxnSpPr>
              <a:cxnSpLocks/>
            </p:cNvCxnSpPr>
            <p:nvPr/>
          </p:nvCxnSpPr>
          <p:spPr>
            <a:xfrm>
              <a:off x="9644976" y="2852164"/>
              <a:ext cx="0" cy="46773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98F072E4-410A-4DED-BD60-9552E316F22A}"/>
                </a:ext>
              </a:extLst>
            </p:cNvPr>
            <p:cNvCxnSpPr>
              <a:cxnSpLocks/>
            </p:cNvCxnSpPr>
            <p:nvPr/>
          </p:nvCxnSpPr>
          <p:spPr>
            <a:xfrm>
              <a:off x="9656326" y="3967603"/>
              <a:ext cx="0" cy="46773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5917BFBE-D15D-F882-FB6F-19C27BB5DA85}"/>
                </a:ext>
              </a:extLst>
            </p:cNvPr>
            <p:cNvCxnSpPr>
              <a:cxnSpLocks/>
            </p:cNvCxnSpPr>
            <p:nvPr/>
          </p:nvCxnSpPr>
          <p:spPr>
            <a:xfrm>
              <a:off x="9656326" y="5083042"/>
              <a:ext cx="0" cy="46773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Grafik 17">
            <a:extLst>
              <a:ext uri="{FF2B5EF4-FFF2-40B4-BE49-F238E27FC236}">
                <a16:creationId xmlns:a16="http://schemas.microsoft.com/office/drawing/2014/main" id="{A314815B-8DEA-415C-38EC-94929DE2A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64" y="2764445"/>
            <a:ext cx="4496912" cy="323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856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415C-78FC-5C24-4ADA-9F15A072A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Softwaretechnische</a:t>
            </a:r>
            <a:r>
              <a:rPr lang="en-US" dirty="0"/>
              <a:t> </a:t>
            </a:r>
            <a:r>
              <a:rPr lang="en-US" dirty="0" err="1"/>
              <a:t>Nachbearbeitung</a:t>
            </a:r>
            <a:r>
              <a:rPr lang="en-US" dirty="0"/>
              <a:t> - </a:t>
            </a:r>
            <a:r>
              <a:rPr lang="de-DE" dirty="0"/>
              <a:t>NMS-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Inference</a:t>
            </a:r>
            <a:endParaRPr lang="en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A241D1C1-3189-AB71-7795-2AF7881AC6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3133" y="1832588"/>
            <a:ext cx="6523206" cy="2286801"/>
          </a:xfrm>
          <a:prstGeom prst="rect">
            <a:avLst/>
          </a:prstGeom>
        </p:spPr>
      </p:pic>
      <p:sp>
        <p:nvSpPr>
          <p:cNvPr id="7" name="Textfeld 6">
            <a:hlinkClick r:id="rId3"/>
            <a:extLst>
              <a:ext uri="{FF2B5EF4-FFF2-40B4-BE49-F238E27FC236}">
                <a16:creationId xmlns:a16="http://schemas.microsoft.com/office/drawing/2014/main" id="{4E0673AE-1205-EF3A-31C7-98213C09B09A}"/>
              </a:ext>
            </a:extLst>
          </p:cNvPr>
          <p:cNvSpPr txBox="1"/>
          <p:nvPr/>
        </p:nvSpPr>
        <p:spPr>
          <a:xfrm>
            <a:off x="7821020" y="4194657"/>
            <a:ext cx="2436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Quelle: </a:t>
            </a:r>
            <a:r>
              <a:rPr lang="de-DE" dirty="0" err="1"/>
              <a:t>Ultralytics</a:t>
            </a:r>
            <a:r>
              <a:rPr lang="de-DE" dirty="0"/>
              <a:t> [1]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D88B69F-16F8-B2D2-E7AB-10D54034B21D}"/>
              </a:ext>
            </a:extLst>
          </p:cNvPr>
          <p:cNvSpPr txBox="1"/>
          <p:nvPr/>
        </p:nvSpPr>
        <p:spPr>
          <a:xfrm>
            <a:off x="609600" y="2423267"/>
            <a:ext cx="682233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Klassische YOLO-Pipeline:</a:t>
            </a:r>
          </a:p>
          <a:p>
            <a:endParaRPr lang="de-DE" dirty="0"/>
          </a:p>
          <a:p>
            <a:r>
              <a:rPr lang="de-DE" dirty="0"/>
              <a:t>Raw </a:t>
            </a:r>
            <a:r>
              <a:rPr lang="de-DE" dirty="0" err="1"/>
              <a:t>predictions</a:t>
            </a:r>
            <a:r>
              <a:rPr lang="de-DE" dirty="0"/>
              <a:t> → NMS → final </a:t>
            </a:r>
            <a:r>
              <a:rPr lang="de-DE" dirty="0" err="1"/>
              <a:t>detections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b="1" dirty="0"/>
              <a:t>YOLO26-Pipeline:</a:t>
            </a:r>
          </a:p>
          <a:p>
            <a:endParaRPr lang="de-DE" dirty="0"/>
          </a:p>
          <a:p>
            <a:r>
              <a:rPr lang="de-DE" dirty="0"/>
              <a:t>Raw </a:t>
            </a:r>
            <a:r>
              <a:rPr lang="de-DE" dirty="0" err="1"/>
              <a:t>predictions</a:t>
            </a:r>
            <a:r>
              <a:rPr lang="de-DE" dirty="0"/>
              <a:t> → end-</a:t>
            </a:r>
            <a:r>
              <a:rPr lang="de-DE" dirty="0" err="1"/>
              <a:t>to</a:t>
            </a:r>
            <a:r>
              <a:rPr lang="de-DE" dirty="0"/>
              <a:t>-end </a:t>
            </a:r>
            <a:r>
              <a:rPr lang="de-DE" dirty="0" err="1"/>
              <a:t>predictor</a:t>
            </a:r>
            <a:r>
              <a:rPr lang="de-DE" dirty="0"/>
              <a:t> → final </a:t>
            </a:r>
            <a:r>
              <a:rPr lang="de-DE" dirty="0" err="1"/>
              <a:t>detections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095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ED4DE-BDED-FC75-8E0D-C01891D61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F380-0729-253C-F88F-D621A5380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Softwaretechnische</a:t>
            </a:r>
            <a:r>
              <a:rPr lang="en-US" dirty="0"/>
              <a:t> </a:t>
            </a:r>
            <a:r>
              <a:rPr lang="en-US" dirty="0" err="1"/>
              <a:t>Nachbearbeitung</a:t>
            </a:r>
            <a:r>
              <a:rPr lang="en-US" dirty="0"/>
              <a:t> - </a:t>
            </a:r>
            <a:r>
              <a:rPr lang="de-DE" dirty="0"/>
              <a:t>NMS-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Inference</a:t>
            </a:r>
            <a:endParaRPr lang="en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D96F9A-6B61-0B70-5F1A-A65D58A17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376362"/>
            <a:ext cx="10972801" cy="4105275"/>
          </a:xfrm>
        </p:spPr>
        <p:txBody>
          <a:bodyPr/>
          <a:lstStyle/>
          <a:p>
            <a:r>
              <a:rPr lang="de-DE" dirty="0"/>
              <a:t>Definition: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Entfernt stark überlappende </a:t>
            </a:r>
            <a:r>
              <a:rPr lang="de-DE" dirty="0" err="1"/>
              <a:t>Bounding</a:t>
            </a:r>
            <a:r>
              <a:rPr lang="de-DE" dirty="0"/>
              <a:t> Boxes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Behalte Box mit höchster Confidence, entferne Boxen mit hoher </a:t>
            </a:r>
            <a:r>
              <a:rPr lang="de-DE" dirty="0" err="1"/>
              <a:t>IoU</a:t>
            </a:r>
            <a:r>
              <a:rPr lang="de-DE" dirty="0"/>
              <a:t>-Überlappung</a:t>
            </a:r>
          </a:p>
          <a:p>
            <a:r>
              <a:rPr lang="de-DE" dirty="0"/>
              <a:t>Vorteil: </a:t>
            </a:r>
          </a:p>
          <a:p>
            <a:r>
              <a:rPr lang="de-DE" dirty="0"/>
              <a:t>	✅Weniger doppelte Detektionen, klare finale Ausgabe</a:t>
            </a:r>
          </a:p>
          <a:p>
            <a:r>
              <a:rPr lang="de-DE" dirty="0"/>
              <a:t>Nachteil:</a:t>
            </a:r>
          </a:p>
          <a:p>
            <a:r>
              <a:rPr lang="de-DE" dirty="0"/>
              <a:t>	❌Zusätzliche Latenz</a:t>
            </a:r>
          </a:p>
          <a:p>
            <a:r>
              <a:rPr lang="de-DE" dirty="0"/>
              <a:t>	❌</a:t>
            </a:r>
            <a:r>
              <a:rPr lang="de-DE" dirty="0" err="1"/>
              <a:t>IoU</a:t>
            </a:r>
            <a:r>
              <a:rPr lang="de-DE" dirty="0"/>
              <a:t>-Schwelle muss manuell gewählt werden</a:t>
            </a:r>
          </a:p>
          <a:p>
            <a:r>
              <a:rPr lang="de-DE" dirty="0"/>
              <a:t>	❌schwieriger für Edge/Export</a:t>
            </a:r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95B95A1A-DF5A-0193-3501-526E8F965C6D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712051"/>
          <a:ext cx="10972800" cy="36576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4886231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74486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14D2D546-97B3-133E-FFCE-7B6E6008A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178557"/>
              </p:ext>
            </p:extLst>
          </p:nvPr>
        </p:nvGraphicFramePr>
        <p:xfrm>
          <a:off x="609600" y="3712051"/>
          <a:ext cx="10972800" cy="36576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10276927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673338"/>
                  </a:ext>
                </a:extLst>
              </a:tr>
            </a:tbl>
          </a:graphicData>
        </a:graphic>
      </p:graphicFrame>
      <p:pic>
        <p:nvPicPr>
          <p:cNvPr id="12" name="Grafik 11">
            <a:extLst>
              <a:ext uri="{FF2B5EF4-FFF2-40B4-BE49-F238E27FC236}">
                <a16:creationId xmlns:a16="http://schemas.microsoft.com/office/drawing/2014/main" id="{AE27126A-677C-CFCC-0839-8AB301D3C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234" y="3020438"/>
            <a:ext cx="3713736" cy="2738758"/>
          </a:xfrm>
          <a:prstGeom prst="rect">
            <a:avLst/>
          </a:prstGeom>
        </p:spPr>
      </p:pic>
      <p:sp>
        <p:nvSpPr>
          <p:cNvPr id="13" name="Textfeld 12">
            <a:hlinkClick r:id="rId3"/>
            <a:extLst>
              <a:ext uri="{FF2B5EF4-FFF2-40B4-BE49-F238E27FC236}">
                <a16:creationId xmlns:a16="http://schemas.microsoft.com/office/drawing/2014/main" id="{7C5B3E29-E3CB-273B-83DF-5897AEC44ADB}"/>
              </a:ext>
            </a:extLst>
          </p:cNvPr>
          <p:cNvSpPr txBox="1"/>
          <p:nvPr/>
        </p:nvSpPr>
        <p:spPr>
          <a:xfrm>
            <a:off x="8624539" y="5907111"/>
            <a:ext cx="2957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Quelle: </a:t>
            </a:r>
            <a:r>
              <a:rPr lang="de-DE" dirty="0" err="1"/>
              <a:t>pyimagesearch</a:t>
            </a:r>
            <a:r>
              <a:rPr lang="de-DE" dirty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3129731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CAEC1-E6EC-DE90-3E3C-C80F3FB5B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34DC-ADFE-A583-9ADB-1559D6CC8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Softwaretechnische</a:t>
            </a:r>
            <a:r>
              <a:rPr lang="en-US" dirty="0"/>
              <a:t> </a:t>
            </a:r>
            <a:r>
              <a:rPr lang="en-US" dirty="0" err="1"/>
              <a:t>Nachbearbeitung</a:t>
            </a:r>
            <a:r>
              <a:rPr lang="en-US" dirty="0"/>
              <a:t> - </a:t>
            </a:r>
            <a:r>
              <a:rPr lang="de-DE" dirty="0"/>
              <a:t>NMS-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Inference</a:t>
            </a:r>
            <a:endParaRPr lang="en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1B89B1D-F63A-31EE-0D96-905AF2329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63430"/>
            <a:ext cx="10972801" cy="3818207"/>
          </a:xfrm>
        </p:spPr>
        <p:txBody>
          <a:bodyPr/>
          <a:lstStyle/>
          <a:p>
            <a:r>
              <a:rPr lang="de-DE" dirty="0"/>
              <a:t>Warum bleibt YOLO26 trotz weniger Nachbearbeitung stabil?</a:t>
            </a:r>
          </a:p>
          <a:p>
            <a:endParaRPr lang="de-DE" dirty="0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A0FB0A9B-EDB3-B781-19EC-1EA9AAB0ECD7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712051"/>
          <a:ext cx="10972800" cy="36576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4886231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74486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2B1D5E1D-D17F-0CBD-03E1-40DFA5F9DD7F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712051"/>
          <a:ext cx="10972800" cy="36576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10276927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673338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40030FE2-6D9E-77C8-FA72-8D882331C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618817"/>
              </p:ext>
            </p:extLst>
          </p:nvPr>
        </p:nvGraphicFramePr>
        <p:xfrm>
          <a:off x="609600" y="2340451"/>
          <a:ext cx="10972800" cy="3474720"/>
        </p:xfrm>
        <a:graphic>
          <a:graphicData uri="http://schemas.openxmlformats.org/drawingml/2006/table">
            <a:tbl>
              <a:tblPr/>
              <a:tblGrid>
                <a:gridCol w="3019929">
                  <a:extLst>
                    <a:ext uri="{9D8B030D-6E8A-4147-A177-3AD203B41FA5}">
                      <a16:colId xmlns:a16="http://schemas.microsoft.com/office/drawing/2014/main" val="3959315303"/>
                    </a:ext>
                  </a:extLst>
                </a:gridCol>
                <a:gridCol w="3019929">
                  <a:extLst>
                    <a:ext uri="{9D8B030D-6E8A-4147-A177-3AD203B41FA5}">
                      <a16:colId xmlns:a16="http://schemas.microsoft.com/office/drawing/2014/main" val="1848340204"/>
                    </a:ext>
                  </a:extLst>
                </a:gridCol>
                <a:gridCol w="4932942">
                  <a:extLst>
                    <a:ext uri="{9D8B030D-6E8A-4147-A177-3AD203B41FA5}">
                      <a16:colId xmlns:a16="http://schemas.microsoft.com/office/drawing/2014/main" val="23920912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Methode</a:t>
                      </a:r>
                    </a:p>
                  </a:txBody>
                  <a:tcPr anchor="ctr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Rolle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Bedeutung der Nachbearbeitung</a:t>
                      </a:r>
                    </a:p>
                  </a:txBody>
                  <a:tcPr anchor="ctr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432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 dirty="0"/>
                        <a:t>DFL </a:t>
                      </a:r>
                      <a:r>
                        <a:rPr lang="de-DE" b="1" dirty="0" err="1"/>
                        <a:t>Removal</a:t>
                      </a:r>
                      <a:endParaRPr lang="de-DE" dirty="0"/>
                    </a:p>
                  </a:txBody>
                  <a:tcPr anchor="ctr">
                    <a:lnL w="12700">
                      <a:solidFill>
                        <a:srgbClr val="666666"/>
                      </a:solidFill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6666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Vereinfachte Bounding-Box-Regression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einfachere Ausgaben, bessere Exportfähigkeit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66666"/>
                      </a:solidFill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6666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593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ProgLoss</a:t>
                      </a:r>
                      <a:endParaRPr lang="de-DE"/>
                    </a:p>
                  </a:txBody>
                  <a:tcPr anchor="ctr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Stabilere Gewichtung der Loss-Komponenten im Training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66666"/>
                      </a:solidFill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hilft, Genauigkeit trotz vereinfachter Pipeline zu halten</a:t>
                      </a:r>
                    </a:p>
                  </a:txBody>
                  <a:tcPr anchor="ctr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291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STAL</a:t>
                      </a:r>
                      <a:endParaRPr lang="de-DE"/>
                    </a:p>
                  </a:txBody>
                  <a:tcPr anchor="ctr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Bessere Zuordnung kleiner/verdeckter Objekte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66666"/>
                      </a:solidFill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verbessert Erkennung schwieriger Objekte</a:t>
                      </a:r>
                    </a:p>
                  </a:txBody>
                  <a:tcPr anchor="ctr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956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MuSGD</a:t>
                      </a:r>
                      <a:endParaRPr lang="de-DE"/>
                    </a:p>
                  </a:txBody>
                  <a:tcPr anchor="ctr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Stabilere und schnellere Konvergenz beim Training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66666"/>
                      </a:solidFill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6666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stabileres Training, keine </a:t>
                      </a:r>
                      <a:r>
                        <a:rPr lang="de-DE" dirty="0" err="1"/>
                        <a:t>Runtime</a:t>
                      </a:r>
                      <a:r>
                        <a:rPr lang="de-DE" dirty="0"/>
                        <a:t>-Nachbearbeitung</a:t>
                      </a:r>
                    </a:p>
                  </a:txBody>
                  <a:tcPr anchor="ctr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267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258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17C24-6574-BAAE-265D-ACF60DF4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Softwaretechnische</a:t>
            </a:r>
            <a:r>
              <a:rPr lang="en-US" dirty="0"/>
              <a:t> </a:t>
            </a:r>
            <a:r>
              <a:rPr lang="en-US" dirty="0" err="1"/>
              <a:t>Nachbearbeitung</a:t>
            </a:r>
            <a:r>
              <a:rPr lang="en-US" dirty="0"/>
              <a:t> – Results object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8AC0E1F-78E5-A058-6F9A-8805178D2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081212"/>
            <a:ext cx="5013169" cy="208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013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7B0969-53CF-A02D-2047-4E5FD980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Referenz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721222-9A76-F9FE-41FD-9BE6165781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1166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08D8AD-2C47-D557-2BBF-D86D9E0DD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632299"/>
            <a:ext cx="10972801" cy="5209702"/>
          </a:xfrm>
        </p:spPr>
        <p:txBody>
          <a:bodyPr/>
          <a:lstStyle/>
          <a:p>
            <a:r>
              <a:rPr lang="de-DE" dirty="0"/>
              <a:t>[1] </a:t>
            </a:r>
            <a:r>
              <a:rPr lang="en-US" dirty="0"/>
              <a:t>The impact of </a:t>
            </a:r>
            <a:r>
              <a:rPr lang="en-US" dirty="0" err="1"/>
              <a:t>Ultralytics</a:t>
            </a:r>
            <a:r>
              <a:rPr lang="en-US" dirty="0"/>
              <a:t> YOLO26’s faster, edge-first design. Abirami Vina. January 16, 2026. </a:t>
            </a:r>
            <a:r>
              <a:rPr lang="de-DE" dirty="0"/>
              <a:t>URL: </a:t>
            </a:r>
            <a:r>
              <a:rPr lang="de-DE" dirty="0">
                <a:hlinkClick r:id="rId2"/>
              </a:rPr>
              <a:t>https://www.ultralytics.com/blog/the-impact-of-ultralytics-yolo26s-faster-edge-first-design</a:t>
            </a:r>
            <a:endParaRPr lang="de-DE" dirty="0"/>
          </a:p>
          <a:p>
            <a:r>
              <a:rPr lang="de-DE" dirty="0"/>
              <a:t>[2] </a:t>
            </a:r>
            <a:r>
              <a:rPr lang="en-US" dirty="0"/>
              <a:t>Intersection over Union (</a:t>
            </a:r>
            <a:r>
              <a:rPr lang="en-US" dirty="0" err="1"/>
              <a:t>IoU</a:t>
            </a:r>
            <a:r>
              <a:rPr lang="en-US" dirty="0"/>
              <a:t>) for object detection. Adrian Rosebrock on November 7, 2016. </a:t>
            </a:r>
            <a:r>
              <a:rPr lang="de-DE" dirty="0"/>
              <a:t>URL: </a:t>
            </a:r>
            <a:r>
              <a:rPr lang="de-DE" dirty="0">
                <a:hlinkClick r:id="rId3"/>
              </a:rPr>
              <a:t>https://pyimagesearch.com/2016/11/07/intersection-over-union-iou-for-object-detection/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31753303"/>
      </p:ext>
    </p:extLst>
  </p:cSld>
  <p:clrMapOvr>
    <a:masterClrMapping/>
  </p:clrMapOvr>
</p:sld>
</file>

<file path=ppt/theme/theme1.xml><?xml version="1.0" encoding="utf-8"?>
<a:theme xmlns:a="http://schemas.openxmlformats.org/drawingml/2006/main" name="TUD Standard_20 pt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Zwischenseiten mit Shape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hne Fusszeile - Bilder randabfallend">
  <a:themeElements>
    <a:clrScheme name="TUD-2025__Test_GRK2250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BC1589"/>
      </a:accent4>
      <a:accent5>
        <a:srgbClr val="C85000"/>
      </a:accent5>
      <a:accent6>
        <a:srgbClr val="007D4B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</Words>
  <Application>Microsoft Office PowerPoint</Application>
  <PresentationFormat>Widescreen</PresentationFormat>
  <Paragraphs>106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Arial</vt:lpstr>
      <vt:lpstr>Calibri</vt:lpstr>
      <vt:lpstr>Courier New</vt:lpstr>
      <vt:lpstr>Noto Sans</vt:lpstr>
      <vt:lpstr>Noto Sans Medium</vt:lpstr>
      <vt:lpstr>Noto Serif</vt:lpstr>
      <vt:lpstr>Noto Serif (Textkörper)</vt:lpstr>
      <vt:lpstr>Noto Serif Light</vt:lpstr>
      <vt:lpstr>Open Sans</vt:lpstr>
      <vt:lpstr>Symbol</vt:lpstr>
      <vt:lpstr>TUD Standard_20 pt</vt:lpstr>
      <vt:lpstr>Zwischenseiten mit Shape</vt:lpstr>
      <vt:lpstr>ohne Fusszeile - Bilder randabfallend</vt:lpstr>
      <vt:lpstr>OSAT-Hinweise</vt:lpstr>
      <vt:lpstr>YOLO26: Bestimmung von Objekt-Posen in Bildern</vt:lpstr>
      <vt:lpstr>Motivation - 1. Welche Teilaufgabe in der Navigation mobiler Roboter wird gelöst?</vt:lpstr>
      <vt:lpstr>Welche Teilaufgabe in der Navigation mobiler Roboter wird gelöst?</vt:lpstr>
      <vt:lpstr>Use Cases</vt:lpstr>
      <vt:lpstr>Use Cases</vt:lpstr>
      <vt:lpstr>Analyse der Datenfluss</vt:lpstr>
      <vt:lpstr>Eingangsdaten mathematisch</vt:lpstr>
      <vt:lpstr>Eingangsdaten mathematisch</vt:lpstr>
      <vt:lpstr>PowerPoint Presentation</vt:lpstr>
      <vt:lpstr>Ausgangsdaten mathematisch</vt:lpstr>
      <vt:lpstr>Non-Maximum-Suppression</vt:lpstr>
      <vt:lpstr>PowerPoint Presentation</vt:lpstr>
      <vt:lpstr>PowerPoint Presentation</vt:lpstr>
      <vt:lpstr>Einsatz von YOLO 26 – Pose estimation</vt:lpstr>
      <vt:lpstr>Softwaretechnische Umsetzung</vt:lpstr>
      <vt:lpstr>Softwaretechnische Nachbearbeitung - NMS-free Inference</vt:lpstr>
      <vt:lpstr>Softwaretechnische Nachbearbeitung - NMS-free Inference</vt:lpstr>
      <vt:lpstr>Softwaretechnische Nachbearbeitung - NMS-free Inference</vt:lpstr>
      <vt:lpstr>Softwaretechnische Nachbearbeitung – Results object</vt:lpstr>
      <vt:lpstr>Referenz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250805_TUD-Präsentationsvorlage</dc:title>
  <dc:creator>Corporate Design</dc:creator>
  <cp:lastModifiedBy>Richard Loewe</cp:lastModifiedBy>
  <cp:revision>155</cp:revision>
  <dcterms:created xsi:type="dcterms:W3CDTF">2025-06-02T21:07:03Z</dcterms:created>
  <dcterms:modified xsi:type="dcterms:W3CDTF">2026-05-21T13:55:21Z</dcterms:modified>
</cp:coreProperties>
</file>