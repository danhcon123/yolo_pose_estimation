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omments/modernComment_105_ADDE997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
  </p:notesMasterIdLst>
  <p:sldIdLst>
    <p:sldId id="261" r:id="rId2"/>
    <p:sldId id="263" r:id="rId3"/>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showGuides="1">
      <p:cViewPr>
        <p:scale>
          <a:sx n="33" d="100"/>
          <a:sy n="33" d="100"/>
        </p:scale>
        <p:origin x="1638" y="-2016"/>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 Id="rId9" Type="http://schemas.microsoft.com/office/2018/10/relationships/authors" Target="authors.xml"/></Relationships>
</file>

<file path=ppt/comments/modernComment_105_ADDE997C.xml><?xml version="1.0" encoding="utf-8"?>
<p188:cmLst xmlns:a="http://schemas.openxmlformats.org/drawingml/2006/main" xmlns:r="http://schemas.openxmlformats.org/officeDocument/2006/relationships" xmlns:p188="http://schemas.microsoft.com/office/powerpoint/2018/8/main">
  <p188:cm id="{590E9B7D-7A2B-485C-B2DB-A8BC2C359D0D}"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2917046652" sldId="261"/>
      <ac:spMk id="35" creationId="{75857444-4912-0D64-D9A3-9F6B50536CBA}"/>
    </ac:deMkLst>
    <p188:txBody>
      <a:bodyPr/>
      <a:lstStyle/>
      <a:p>
        <a:r>
          <a:rPr lang="en-DE"/>
          <a:t>@Richard
Lösch einfach die Texte, die du nicht brauchst</a:t>
        </a:r>
      </a:p>
    </p188:txBody>
  </p188:cm>
  <p188:cm id="{B2FB8AAF-3D5E-414A-B86E-39D791B26D79}"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2917046652" sldId="261"/>
      <ac:graphicFrameMk id="73" creationId="{066AE830-800F-6160-D25F-FC3B01F2247A}"/>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30E5DFA-3CC2-4C7B-B909-FD3D0B04B9BD}"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10">
        <ac:context len="555" hash="260736694"/>
      </ac:txMk>
    </ac:txMkLst>
    <p188:pos x="7754258" y="1082901"/>
    <p188:txBody>
      <a:bodyPr/>
      <a:lstStyle/>
      <a:p>
        <a:r>
          <a:rPr lang="en-DE"/>
          <a:t>— nur Klasse „Person", pro Instanz: Bounding Box + 17 Keypoints</a:t>
        </a:r>
      </a:p>
    </p188:txBody>
  </p188:cm>
  <p188:cm id="{9809F4D1-3D8C-4A5D-957B-0D262597E229}"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6E0956AC-B907-47B7-BC7C-5B89886E534B}"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3134525756" sldId="260"/>
      <ac:picMk id="26" creationId="{895F0B32-63E2-09A1-3BBF-F97031699597}"/>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5348127A-EDF6-4E05-95D2-EF1F108194F2}"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2917046652" sldId="261"/>
      <ac:picMk id="34" creationId="{04F273D0-20B0-B4C2-E0A0-69ACAA5111EB}"/>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A626461E-ABD7-4926-B847-C2D8BCE5388D}"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276">
        <ac:context len="555" hash="260736694"/>
      </ac:txMk>
    </ac:txMkLst>
    <p188:pos x="6926944" y="4276044"/>
    <p188:txBody>
      <a:bodyPr/>
      <a:lstStyle/>
      <a:p>
        <a:r>
          <a:rPr lang="en-DE"/>
          <a:t>verdeckte/mehrdeutige Punkte werden automatisch heruntergewichtet</a:t>
        </a:r>
      </a:p>
    </p188:txBody>
  </p188:cm>
  <p188:cm id="{72C3AACE-46D1-41B6-88B7-3B9F44CC89B3}"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525">
        <ac:context len="555" hash="260736694"/>
      </ac:txMk>
    </ac:txMkLst>
    <p188:pos x="8509001" y="7933644"/>
    <p188:txBody>
      <a:bodyPr/>
      <a:lstStyle/>
      <a:p>
        <a:r>
          <a:rPr lang="en-DE"/>
          <a:t>(Boxen &lt; 8 px werden bei der Kandidatenwahl auf 16 px aufgeweitet)</a:t>
        </a:r>
      </a:p>
    </p188:txBody>
  </p188:cm>
  <p188:cm id="{AD92B7A1-5D86-4978-AEA1-E9F1B60214C5}"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583">
        <ac:context len="609" hash="739473273"/>
      </ac:txMk>
    </ac:txMkLst>
    <p188:pos x="8064501" y="8885237"/>
    <p188:txBody>
      <a:bodyPr/>
      <a:lstStyle/>
      <a:p>
        <a:r>
          <a:rPr lang="en-DE"/>
          <a:t>(500 statt 600 Epochen)</a:t>
        </a:r>
      </a:p>
    </p188:txBody>
  </p188:cm>
  <p188:cm id="{5656D0BA-DB89-4338-94D7-5472D6607A8B}"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303">
        <ac:context len="555" hash="260736694"/>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A5B4B334-CD37-46D3-8717-3521BE4A02BE}"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637">
        <ac:context len="671" hash="3398042947"/>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19/07/2026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12.png"/><Relationship Id="rId3" Type="http://schemas.openxmlformats.org/officeDocument/2006/relationships/image" Target="../media/image5.png"/><Relationship Id="rId7" Type="http://schemas.openxmlformats.org/officeDocument/2006/relationships/image" Target="../media/image3.png"/><Relationship Id="rId12" Type="http://schemas.openxmlformats.org/officeDocument/2006/relationships/image" Target="../media/image11.jpg"/><Relationship Id="rId2" Type="http://schemas.microsoft.com/office/2018/10/relationships/comments" Target="../comments/modernComment_105_ADDE997C.xml"/><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0.png"/><Relationship Id="rId5" Type="http://schemas.openxmlformats.org/officeDocument/2006/relationships/hyperlink" Target="https://arxiv.org/pdf/2606.03748" TargetMode="External"/><Relationship Id="rId15" Type="http://schemas.openxmlformats.org/officeDocument/2006/relationships/image" Target="../media/image14.jpeg"/><Relationship Id="rId10" Type="http://schemas.openxmlformats.org/officeDocument/2006/relationships/image" Target="../media/image9.png"/><Relationship Id="rId4" Type="http://schemas.openxmlformats.org/officeDocument/2006/relationships/image" Target="../media/image6.png"/><Relationship Id="rId9" Type="http://schemas.openxmlformats.org/officeDocument/2006/relationships/image" Target="../media/image8.png"/><Relationship Id="rId14" Type="http://schemas.openxmlformats.org/officeDocument/2006/relationships/image" Target="../media/image13.svg"/></Relationships>
</file>

<file path=ppt/slides/_rels/slide2.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12.png"/><Relationship Id="rId3" Type="http://schemas.openxmlformats.org/officeDocument/2006/relationships/image" Target="../media/image50.png"/><Relationship Id="rId7" Type="http://schemas.openxmlformats.org/officeDocument/2006/relationships/image" Target="../media/image3.png"/><Relationship Id="rId12" Type="http://schemas.openxmlformats.org/officeDocument/2006/relationships/image" Target="../media/image11.jpg"/><Relationship Id="rId1" Type="http://schemas.openxmlformats.org/officeDocument/2006/relationships/slideLayout" Target="../slideLayouts/slideLayout2.xml"/><Relationship Id="rId6" Type="http://schemas.openxmlformats.org/officeDocument/2006/relationships/image" Target="../media/image70.png"/><Relationship Id="rId11" Type="http://schemas.openxmlformats.org/officeDocument/2006/relationships/image" Target="../media/image10.png"/><Relationship Id="rId5" Type="http://schemas.openxmlformats.org/officeDocument/2006/relationships/hyperlink" Target="https://arxiv.org/pdf/2606.03748" TargetMode="External"/><Relationship Id="rId15" Type="http://schemas.openxmlformats.org/officeDocument/2006/relationships/image" Target="../media/image15.jpg"/><Relationship Id="rId10" Type="http://schemas.openxmlformats.org/officeDocument/2006/relationships/image" Target="../media/image9.png"/><Relationship Id="rId4" Type="http://schemas.openxmlformats.org/officeDocument/2006/relationships/image" Target="../media/image60.png"/><Relationship Id="rId9" Type="http://schemas.openxmlformats.org/officeDocument/2006/relationships/image" Target="../media/image8.png"/><Relationship Id="rId14" Type="http://schemas.openxmlformats.org/officeDocument/2006/relationships/image" Target="../media/image1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mc:AlternateContent xmlns:mc="http://schemas.openxmlformats.org/markup-compatibility/2006" xmlns:a14="http://schemas.microsoft.com/office/drawing/2010/main">
        <mc:Choice Requires="a14">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21997693"/>
                <a:ext cx="8472488" cy="6797137"/>
              </a:xfrm>
            </p:spPr>
            <p:txBody>
              <a:bodyPr/>
              <a:lstStyle/>
              <a:p>
                <a:pPr>
                  <a:spcBef>
                    <a:spcPts val="3300"/>
                  </a:spcBef>
                </a:pPr>
                <a:r>
                  <a:rPr lang="en-DE" b="1" dirty="0"/>
                  <a:t>EINGANGSDATEN DES NETZES</a:t>
                </a:r>
                <a:endParaRPr lang="de-DE" b="1" dirty="0"/>
              </a:p>
              <a:p>
                <a:pPr algn="just">
                  <a:spcBef>
                    <a:spcPts val="3300"/>
                  </a:spcBef>
                </a:pPr>
                <a:r>
                  <a:rPr lang="de-DE" dirty="0"/>
                  <a:t>Das neuronale Netz verarbeitet Bilder als Tensor der Form</a:t>
                </a:r>
              </a:p>
              <a:p>
                <a:pPr algn="ctr">
                  <a:spcBef>
                    <a:spcPts val="1511"/>
                  </a:spcBef>
                </a:pPr>
                <a14:m>
                  <m:oMathPara xmlns:m="http://schemas.openxmlformats.org/officeDocument/2006/math">
                    <m:oMathParaPr>
                      <m:jc m:val="centerGroup"/>
                    </m:oMathParaPr>
                    <m:oMath xmlns:m="http://schemas.openxmlformats.org/officeDocument/2006/math">
                      <m:r>
                        <a:rPr lang="de-DE" i="1" dirty="0" smtClean="0">
                          <a:latin typeface="Cambria Math" panose="02040503050406030204" pitchFamily="18" charset="0"/>
                        </a:rPr>
                        <m:t>𝐻</m:t>
                      </m:r>
                      <m:r>
                        <a:rPr lang="de-DE" i="1" dirty="0" smtClean="0">
                          <a:latin typeface="Cambria Math" panose="02040503050406030204" pitchFamily="18" charset="0"/>
                        </a:rPr>
                        <m:t>ö</m:t>
                      </m:r>
                      <m:r>
                        <a:rPr lang="de-DE" i="1" dirty="0" smtClean="0">
                          <a:latin typeface="Cambria Math" panose="02040503050406030204" pitchFamily="18" charset="0"/>
                        </a:rPr>
                        <m:t>h𝑒</m:t>
                      </m:r>
                      <m:r>
                        <a:rPr lang="de-DE" i="1" dirty="0" smtClean="0">
                          <a:latin typeface="Cambria Math" panose="02040503050406030204" pitchFamily="18" charset="0"/>
                        </a:rPr>
                        <m:t> × </m:t>
                      </m:r>
                      <m:r>
                        <a:rPr lang="de-DE" i="1" dirty="0" smtClean="0">
                          <a:latin typeface="Cambria Math" panose="02040503050406030204" pitchFamily="18" charset="0"/>
                        </a:rPr>
                        <m:t>𝐵𝑟𝑒𝑖𝑡𝑒</m:t>
                      </m:r>
                      <m:r>
                        <a:rPr lang="de-DE" i="1" dirty="0" smtClean="0">
                          <a:latin typeface="Cambria Math" panose="02040503050406030204" pitchFamily="18" charset="0"/>
                        </a:rPr>
                        <m:t> × </m:t>
                      </m:r>
                      <m:r>
                        <a:rPr lang="de-DE" i="1" dirty="0" smtClean="0">
                          <a:latin typeface="Cambria Math" panose="02040503050406030204" pitchFamily="18" charset="0"/>
                        </a:rPr>
                        <m:t>𝐹𝑎𝑟𝑏𝑘𝑎𝑛</m:t>
                      </m:r>
                      <m:r>
                        <a:rPr lang="de-DE" i="1" dirty="0" smtClean="0">
                          <a:latin typeface="Cambria Math" panose="02040503050406030204" pitchFamily="18" charset="0"/>
                        </a:rPr>
                        <m:t>ä</m:t>
                      </m:r>
                      <m:r>
                        <a:rPr lang="de-DE" i="1" dirty="0" smtClean="0">
                          <a:latin typeface="Cambria Math" panose="02040503050406030204" pitchFamily="18" charset="0"/>
                        </a:rPr>
                        <m:t>𝑙𝑒</m:t>
                      </m:r>
                    </m:oMath>
                  </m:oMathPara>
                </a14:m>
                <a:endParaRPr lang="de-DE" dirty="0"/>
              </a:p>
              <a:p>
                <a:pPr algn="just">
                  <a:spcBef>
                    <a:spcPts val="1511"/>
                  </a:spcBef>
                </a:pPr>
                <a:r>
                  <a:rPr lang="de-DE" dirty="0"/>
                  <a:t>YOLO26 verwendet eine feste Eingangsgröße von 640 × 640 Pixeln mit drei RGB-Farbkanälen :</a:t>
                </a:r>
              </a:p>
              <a:p>
                <a:pPr algn="ctr">
                  <a:spcBef>
                    <a:spcPts val="1511"/>
                  </a:spcBef>
                </a:pPr>
                <a:r>
                  <a:rPr lang="de-DE" i="1" dirty="0"/>
                  <a:t>float32[640, 640, 3]</a:t>
                </a:r>
              </a:p>
              <a:p>
                <a:pPr algn="just">
                  <a:spcBef>
                    <a:spcPts val="1511"/>
                  </a:spcBef>
                </a:pPr>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mc:Choice>
        <mc:Fallback xmlns="">
          <p:sp>
            <p:nvSpPr>
              <p:cNvPr id="32" name="Textplatzhalter 31">
                <a:extLst>
                  <a:ext uri="{FF2B5EF4-FFF2-40B4-BE49-F238E27FC236}">
                    <a16:creationId xmlns:a16="http://schemas.microsoft.com/office/drawing/2014/main" id="{87D31E3C-4770-06CB-3DB1-B4DC27480A9A}"/>
                  </a:ext>
                </a:extLst>
              </p:cNvPr>
              <p:cNvSpPr>
                <a:spLocks noGrp="1" noRot="1" noChangeAspect="1" noMove="1" noResize="1" noEditPoints="1" noAdjustHandles="1" noChangeArrowheads="1" noChangeShapeType="1" noTextEdit="1"/>
              </p:cNvSpPr>
              <p:nvPr>
                <p:ph type="body" sz="quarter" idx="26"/>
              </p:nvPr>
            </p:nvSpPr>
            <p:spPr>
              <a:xfrm>
                <a:off x="1558926" y="21997693"/>
                <a:ext cx="8472488" cy="6797137"/>
              </a:xfrm>
              <a:blipFill>
                <a:blip r:embed="rId3"/>
                <a:stretch>
                  <a:fillRect l="-2446" t="-2242" r="-2446"/>
                </a:stretch>
              </a:blipFill>
            </p:spPr>
            <p:txBody>
              <a:bodyPr/>
              <a:lstStyle/>
              <a:p>
                <a:r>
                  <a:rPr lang="de-DE">
                    <a:noFill/>
                  </a:rPr>
                  <a:t> </a:t>
                </a:r>
              </a:p>
            </p:txBody>
          </p:sp>
        </mc:Fallback>
      </mc:AlternateContent>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4"/>
            <a:ext cx="8472488" cy="5333272"/>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xmlns:a14="http://schemas.microsoft.com/office/drawing/2010/main">
        <mc:Choice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8506759"/>
              </a:xfrm>
            </p:spPr>
            <p:txBody>
              <a:bodyPr/>
              <a:lstStyle/>
              <a:p>
                <a:pPr algn="just"/>
                <a:r>
                  <a:rPr lang="en-DE" b="1" dirty="0"/>
                  <a:t>TRAINING</a:t>
                </a:r>
                <a:endParaRPr lang="en-US" b="1" dirty="0"/>
              </a:p>
              <a:p>
                <a:pPr algn="just">
                  <a:spcBef>
                    <a:spcPts val="0"/>
                  </a:spcBef>
                </a:pPr>
                <a:endParaRPr lang="en-US" b="1" dirty="0"/>
              </a:p>
              <a:p>
                <a:pPr algn="just">
                  <a:spcBef>
                    <a:spcPts val="0"/>
                  </a:spcBef>
                </a:pPr>
                <a:r>
                  <a:rPr lang="en-DE" b="1" dirty="0" err="1"/>
                  <a:t>Datensatz</a:t>
                </a:r>
                <a:r>
                  <a:rPr lang="en-DE" b="1" dirty="0"/>
                  <a:t>:</a:t>
                </a:r>
                <a:r>
                  <a:rPr lang="en-DE" dirty="0"/>
                  <a:t> COCO-Pose (COCO </a:t>
                </a:r>
                <a:r>
                  <a:rPr lang="en-DE" dirty="0" err="1"/>
                  <a:t>Keypoints</a:t>
                </a:r>
                <a:r>
                  <a:rPr lang="en-DE" dirty="0"/>
                  <a:t> 2017)</a:t>
                </a:r>
              </a:p>
              <a:p>
                <a:pPr algn="just">
                  <a:spcBef>
                    <a:spcPts val="0"/>
                  </a:spcBef>
                </a:pPr>
                <a:r>
                  <a:rPr lang="en-DE" b="1" dirty="0" err="1"/>
                  <a:t>Gesamtverlust</a:t>
                </a:r>
                <a:r>
                  <a:rPr lang="en-DE" b="1" dirty="0"/>
                  <a:t>:</a:t>
                </a:r>
                <a:endParaRPr lang="en-DE" dirty="0"/>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a:latin typeface="Cambria Math" panose="02040503050406030204" pitchFamily="18" charset="0"/>
                          </a:rPr>
                          <m:t>ℒ</m:t>
                        </m:r>
                      </m:e>
                      <m:sub>
                        <m:r>
                          <m:rPr>
                            <m:sty m:val="p"/>
                          </m:rPr>
                          <a:rPr lang="de-DE" b="0" i="1" smtClean="0">
                            <a:latin typeface="Cambria Math" panose="02040503050406030204" pitchFamily="18" charset="0"/>
                          </a:rPr>
                          <m:t>x</m:t>
                        </m:r>
                      </m:sub>
                    </m:sSub>
                  </m:oMath>
                </a14:m>
                <a:r>
                  <a:rPr lang="en-DE" dirty="0"/>
                  <a:t>:</a:t>
                </a:r>
                <a:r>
                  <a:rPr lang="de-DE" dirty="0"/>
                  <a:t> Verlustfunktion der jeweiligen Komponente</a:t>
                </a: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i="1">
                            <a:latin typeface="Cambria Math" panose="02040503050406030204" pitchFamily="18" charset="0"/>
                          </a:rPr>
                          <m:t>𝜆</m:t>
                        </m:r>
                      </m:e>
                      <m:sub>
                        <m:r>
                          <m:rPr>
                            <m:sty m:val="p"/>
                          </m:rPr>
                          <a:rPr lang="de-DE" b="0" i="1" smtClean="0">
                            <a:latin typeface="Cambria Math" panose="02040503050406030204" pitchFamily="18" charset="0"/>
                          </a:rPr>
                          <m:t>x</m:t>
                        </m:r>
                      </m:sub>
                    </m:sSub>
                  </m:oMath>
                </a14:m>
                <a:r>
                  <a:rPr lang="en-DE" dirty="0"/>
                  <a:t>: </a:t>
                </a:r>
                <a:r>
                  <a:rPr lang="de-DE" dirty="0"/>
                  <a:t>Gewicht der jeweiligen Verlustkomponente</a:t>
                </a:r>
              </a:p>
              <a:p>
                <a:pPr algn="just">
                  <a:lnSpc>
                    <a:spcPct val="100000"/>
                  </a:lnSpc>
                  <a:spcBef>
                    <a:spcPts val="0"/>
                  </a:spcBef>
                </a:pPr>
                <a:endParaRPr lang="en-DE" dirty="0"/>
              </a:p>
              <a:p>
                <a:pPr algn="just">
                  <a:spcBef>
                    <a:spcPts val="0"/>
                  </a:spcBef>
                </a:pPr>
                <a:r>
                  <a:rPr lang="en-DE" b="1" dirty="0"/>
                  <a:t>YOLO26-Trainingstechniken:</a:t>
                </a:r>
                <a:endParaRPr lang="en-DE" dirty="0"/>
              </a:p>
              <a:p>
                <a:pPr marL="457200" indent="-457200" algn="just">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gn="just">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gn="just">
                  <a:lnSpc>
                    <a:spcPct val="100000"/>
                  </a:lnSpc>
                  <a:spcBef>
                    <a:spcPts val="0"/>
                  </a:spcBef>
                  <a:buFont typeface="Arial" panose="020B0604020202020204" pitchFamily="34" charset="0"/>
                  <a:buChar char="•"/>
                </a:pPr>
                <a:r>
                  <a:rPr lang="en-DE" b="1" dirty="0"/>
                  <a:t>STAL:</a:t>
                </a:r>
                <a:r>
                  <a:rPr lang="en-DE" dirty="0"/>
                  <a:t> garantiert Zuordnungen für kleine Objekte </a:t>
                </a:r>
                <a:endParaRPr lang="en-US" dirty="0"/>
              </a:p>
              <a:p>
                <a:pPr marL="457200" indent="-457200" algn="just">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gn="just">
                  <a:lnSpc>
                    <a:spcPct val="100000"/>
                  </a:lnSpc>
                  <a:spcBef>
                    <a:spcPts val="0"/>
                  </a:spcBef>
                  <a:buFont typeface="Arial" panose="020B0604020202020204" pitchFamily="34" charset="0"/>
                  <a:buChar char="•"/>
                </a:pPr>
                <a:r>
                  <a:rPr lang="en-DE" b="1" dirty="0"/>
                  <a:t>Kein DFL </a:t>
                </a:r>
                <a:r>
                  <a:rPr lang="en-DE" dirty="0"/>
                  <a:t>→ direkte Box-Regression</a:t>
                </a:r>
              </a:p>
            </p:txBody>
          </p:sp>
        </mc:Choice>
        <mc:Fallback xmlns="">
          <p:sp>
            <p:nvSpPr>
              <p:cNvPr id="39" name="Bildplatzhalter 38">
                <a:extLst>
                  <a:ext uri="{FF2B5EF4-FFF2-40B4-BE49-F238E27FC236}">
                    <a16:creationId xmlns:a16="http://schemas.microsoft.com/office/drawing/2014/main" id="{F1DD7E1F-42A6-F91B-C72E-D76F811C8E7D}"/>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8506759"/>
              </a:xfrm>
              <a:blipFill>
                <a:blip r:embed="rId4"/>
                <a:stretch>
                  <a:fillRect l="-2446" t="-1719" r="-2446"/>
                </a:stretch>
              </a:blipFill>
            </p:spPr>
            <p:txBody>
              <a:bodyPr/>
              <a:lstStyle/>
              <a:p>
                <a:r>
                  <a:rPr lang="de-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20275550" y="40148356"/>
            <a:ext cx="8586724" cy="4781726"/>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5"/>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20185059" y="39458585"/>
            <a:ext cx="8472488" cy="1070435"/>
          </a:xfrm>
        </p:spPr>
        <p:txBody>
          <a:bodyPr/>
          <a:lstStyle/>
          <a:p>
            <a:r>
              <a:rPr lang="de-DE" sz="2700" b="1" dirty="0">
                <a:latin typeface="+mn-lt"/>
              </a:rPr>
              <a:t>QUELLE</a:t>
            </a: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612363" y="34211840"/>
            <a:ext cx="8356733" cy="524674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endParaRPr lang="de-DE" i="1" dirty="0"/>
          </a:p>
          <a:p>
            <a:pPr algn="ctr">
              <a:spcBef>
                <a:spcPts val="1511"/>
              </a:spcBef>
            </a:pPr>
            <a:r>
              <a:rPr lang="de-DE" i="1" dirty="0"/>
              <a:t>float32[300, 57] </a:t>
            </a:r>
          </a:p>
          <a:p>
            <a:pPr algn="just">
              <a:spcBef>
                <a:spcPts val="1511"/>
              </a:spcBef>
            </a:pPr>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799" y="20563796"/>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spcBef>
                <a:spcPts val="1511"/>
              </a:spcBef>
            </a:pPr>
            <a:r>
              <a:rPr lang="en-US" b="1" dirty="0"/>
              <a:t>LAUFZEIT- UND GENAUIGKEITSANALYSE</a:t>
            </a:r>
          </a:p>
          <a:p>
            <a:pPr>
              <a:lnSpc>
                <a:spcPct val="100000"/>
              </a:lnSpc>
              <a:spcBef>
                <a:spcPts val="1511"/>
              </a:spcBef>
            </a:pPr>
            <a:endParaRPr lang="en-US" b="1" dirty="0"/>
          </a:p>
          <a:p>
            <a:pPr algn="just">
              <a:lnSpc>
                <a:spcPct val="100000"/>
              </a:lnSpc>
              <a:spcBef>
                <a:spcPts val="11"/>
              </a:spcBef>
            </a:pPr>
            <a:r>
              <a:rPr lang="en-DE" b="1" dirty="0"/>
              <a:t>Testzie</a:t>
            </a:r>
            <a:r>
              <a:rPr lang="en-US" b="1" dirty="0"/>
              <a:t>l: </a:t>
            </a:r>
            <a:r>
              <a:rPr lang="de-DE" dirty="0"/>
              <a:t>Vergleich der Laufzeit und Erkennungs-genauigkeit von YOLO26n-Pose und YOLO11n-Pose auf verschiedenen Hardwareplattformen.</a:t>
            </a:r>
          </a:p>
          <a:p>
            <a:pPr algn="just">
              <a:lnSpc>
                <a:spcPct val="100000"/>
              </a:lnSpc>
              <a:spcBef>
                <a:spcPts val="11"/>
              </a:spcBef>
            </a:pPr>
            <a:endParaRPr lang="en-US" dirty="0"/>
          </a:p>
          <a:p>
            <a:pPr algn="just">
              <a:lnSpc>
                <a:spcPct val="100000"/>
              </a:lnSpc>
              <a:spcBef>
                <a:spcPts val="11"/>
              </a:spcBef>
            </a:pPr>
            <a:r>
              <a:rPr lang="en-US" b="1" dirty="0" err="1"/>
              <a:t>Testaufbau</a:t>
            </a:r>
            <a:r>
              <a:rPr lang="en-US" b="1" dirty="0"/>
              <a:t>: </a:t>
            </a:r>
            <a:r>
              <a:rPr lang="en-DE" dirty="0"/>
              <a:t>Beide Modelle wurden mit identischen Einstellungen auf zwei CPUs und einer CUDA-GPU getestet. </a:t>
            </a:r>
            <a:r>
              <a:rPr lang="de-DE" dirty="0"/>
              <a:t>Als Datengrundlage dienten zehn Bilder mit mehreren, teilweise stark verdeckten Personen. Die Laufzeiten für Vorverarbeitung, Inferenz und Nachverarbeitung wurden getrennt erfasst und über alle Testbilder gemittelt. Die verwendeten Hardwareplattformen sind in der Abbildung dargestellt.</a:t>
            </a:r>
          </a:p>
          <a:p>
            <a:pPr algn="just">
              <a:lnSpc>
                <a:spcPct val="100000"/>
              </a:lnSpc>
              <a:spcBef>
                <a:spcPts val="11"/>
              </a:spcBef>
            </a:pPr>
            <a:endParaRPr lang="de-DE" dirty="0"/>
          </a:p>
          <a:p>
            <a:pPr algn="just">
              <a:lnSpc>
                <a:spcPct val="100000"/>
              </a:lnSpc>
              <a:spcBef>
                <a:spcPts val="11"/>
              </a:spcBef>
            </a:pPr>
            <a:r>
              <a:rPr lang="en-US" b="1" dirty="0" err="1"/>
              <a:t>Ergebnis</a:t>
            </a:r>
            <a:r>
              <a:rPr lang="en-US" b="1" dirty="0"/>
              <a:t>: </a:t>
            </a:r>
            <a:r>
              <a:rPr lang="en-DE" dirty="0"/>
              <a:t>Die Nachbearbeitung ist bei YOLO26 auf allen Plattformen kürzer und die Laufzeit stabiler. Der Gesamtvorteil ist jedoch hardwareabhängig: Auf den CPUs ist YOLO26 leicht langsamer auf der GPU schneller</a:t>
            </a:r>
            <a:r>
              <a:rPr lang="de-DE" dirty="0"/>
              <a:t>.</a:t>
            </a:r>
            <a:r>
              <a:rPr lang="en-DE" dirty="0"/>
              <a:t> </a:t>
            </a:r>
            <a:r>
              <a:rPr lang="de-DE" dirty="0"/>
              <a:t>YOLO26-Pose erreicht eine höhere Erkennungsgenauigkeit und erkennt weitere Personen im Hintergrund.</a:t>
            </a: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3: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8330672" cy="114361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en-US" dirty="0" err="1"/>
              <a:t>Abbildung</a:t>
            </a:r>
            <a:r>
              <a:rPr lang="en-US" dirty="0"/>
              <a:t> 4: </a:t>
            </a:r>
            <a:r>
              <a:rPr lang="en-DE" dirty="0"/>
              <a:t>Merkmalskarten </a:t>
            </a:r>
            <a:r>
              <a:rPr lang="de-DE" dirty="0"/>
              <a:t>von </a:t>
            </a:r>
            <a:r>
              <a:rPr lang="en-DE" dirty="0"/>
              <a:t>Schichten des YOLO26n-Pose-Backbone</a:t>
            </a:r>
            <a:r>
              <a:rPr lang="de-DE" dirty="0"/>
              <a:t>s</a:t>
            </a:r>
            <a:r>
              <a:rPr lang="en-DE" dirty="0"/>
              <a:t> </a:t>
            </a:r>
            <a:br>
              <a:rPr lang="de-DE" dirty="0"/>
            </a:br>
            <a:r>
              <a:rPr lang="en-DE" dirty="0"/>
              <a:t>Oben</a:t>
            </a:r>
            <a:r>
              <a:rPr lang="de-DE" dirty="0"/>
              <a:t>: </a:t>
            </a:r>
            <a:r>
              <a:rPr lang="en-DE" dirty="0"/>
              <a:t>S</a:t>
            </a:r>
            <a:r>
              <a:rPr lang="de-DE" dirty="0" err="1"/>
              <a:t>chichten</a:t>
            </a:r>
            <a:r>
              <a:rPr lang="en-DE" dirty="0"/>
              <a:t> P1/2 bis P5/32 in ihrer tatsächlichen relativen Größe dargestellt</a:t>
            </a:r>
            <a:r>
              <a:rPr lang="de-DE" dirty="0"/>
              <a:t> </a:t>
            </a:r>
            <a:br>
              <a:rPr lang="de-DE" dirty="0"/>
            </a:br>
            <a:r>
              <a:rPr lang="en-DE" dirty="0"/>
              <a:t>Mitte</a:t>
            </a:r>
            <a:r>
              <a:rPr lang="de-DE" dirty="0"/>
              <a:t>:</a:t>
            </a:r>
            <a:r>
              <a:rPr lang="en-DE" dirty="0"/>
              <a:t> </a:t>
            </a:r>
            <a:r>
              <a:rPr lang="de-DE" dirty="0"/>
              <a:t>Ausgaben auf </a:t>
            </a:r>
            <a:r>
              <a:rPr lang="en-DE" dirty="0"/>
              <a:t>einheitliche Anzeigegröße skaliert</a:t>
            </a:r>
            <a:br>
              <a:rPr lang="de-DE" dirty="0"/>
            </a:br>
            <a:r>
              <a:rPr lang="en-DE" dirty="0"/>
              <a:t>Unten</a:t>
            </a:r>
            <a:r>
              <a:rPr lang="de-DE" dirty="0"/>
              <a:t>:</a:t>
            </a:r>
            <a:r>
              <a:rPr lang="en-DE" dirty="0"/>
              <a:t> Kanalmittel und sechs ausgewählte Einzelkanäle der P2/4-Stufe</a:t>
            </a:r>
            <a:endParaRPr lang="de-DE" dirty="0"/>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extLst>
              <p:ext uri="{D42A27DB-BD31-4B8C-83A1-F6EECF244321}">
                <p14:modId xmlns:p14="http://schemas.microsoft.com/office/powerpoint/2010/main" val="2965190168"/>
              </p:ext>
            </p:extLst>
          </p:nvPr>
        </p:nvGraphicFramePr>
        <p:xfrm>
          <a:off x="10953044" y="21294275"/>
          <a:ext cx="8944883" cy="1000511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dirty="0"/>
                        <a:t>SPPF-Block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1×1-Conv → </a:t>
                      </a:r>
                      <a:r>
                        <a:rPr lang="en-DE" sz="2800" dirty="0" err="1"/>
                        <a:t>drei</a:t>
                      </a:r>
                      <a:r>
                        <a:rPr lang="en-DE" sz="2800" dirty="0"/>
                        <a:t> </a:t>
                      </a:r>
                      <a:r>
                        <a:rPr lang="en-DE" sz="2800" dirty="0" err="1"/>
                        <a:t>serielle</a:t>
                      </a:r>
                      <a:r>
                        <a:rPr lang="en-DE" sz="2800" dirty="0"/>
                        <a:t> 5×5-MaxPool-Schritte → </a:t>
                      </a:r>
                      <a:r>
                        <a:rPr lang="en-DE" sz="2800" dirty="0" err="1"/>
                        <a:t>Zusammenführung</a:t>
                      </a:r>
                      <a:r>
                        <a:rPr lang="en-DE" sz="2800" dirty="0"/>
                        <a:t> → 1×1-Conv</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Erfasst</a:t>
                      </a:r>
                      <a:r>
                        <a:rPr lang="en-DE" sz="2800" dirty="0"/>
                        <a:t> </a:t>
                      </a:r>
                      <a:r>
                        <a:rPr lang="en-DE" sz="2800" dirty="0" err="1"/>
                        <a:t>Bildmerkmale</a:t>
                      </a:r>
                      <a:r>
                        <a:rPr lang="en-DE" sz="2800" dirty="0"/>
                        <a:t> auf </a:t>
                      </a:r>
                      <a:r>
                        <a:rPr lang="en-DE" sz="2800" dirty="0" err="1"/>
                        <a:t>verschiedenen</a:t>
                      </a:r>
                      <a:r>
                        <a:rPr lang="en-DE" sz="2800" dirty="0"/>
                        <a:t> </a:t>
                      </a:r>
                      <a:r>
                        <a:rPr lang="en-DE" sz="2800" dirty="0" err="1"/>
                        <a:t>Kontextgrößen</a:t>
                      </a:r>
                      <a:r>
                        <a:rPr lang="en-DE" sz="2800" dirty="0"/>
                        <a:t>, </a:t>
                      </a:r>
                      <a:r>
                        <a:rPr lang="en-DE" sz="2800" dirty="0" err="1"/>
                        <a:t>ohne</a:t>
                      </a:r>
                      <a:r>
                        <a:rPr lang="en-DE" sz="2800" dirty="0"/>
                        <a:t> die </a:t>
                      </a:r>
                      <a:r>
                        <a:rPr lang="en-DE" sz="2800" dirty="0" err="1"/>
                        <a:t>räumliche</a:t>
                      </a:r>
                      <a:r>
                        <a:rPr lang="en-DE" sz="2800" dirty="0"/>
                        <a:t> </a:t>
                      </a:r>
                      <a:r>
                        <a:rPr lang="en-DE" sz="2800" dirty="0" err="1"/>
                        <a:t>Auflösung</a:t>
                      </a:r>
                      <a:r>
                        <a:rPr lang="en-DE" sz="2800" dirty="0"/>
                        <a:t> </a:t>
                      </a:r>
                      <a:r>
                        <a:rPr lang="en-DE" sz="2800" dirty="0" err="1"/>
                        <a:t>zu</a:t>
                      </a:r>
                      <a:r>
                        <a:rPr lang="en-DE" sz="2800" dirty="0"/>
                        <a:t> </a:t>
                      </a:r>
                      <a:r>
                        <a:rPr lang="en-DE" sz="2800" dirty="0" err="1"/>
                        <a:t>reduzieren</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dirty="0"/>
                        <a:t>C2PSA-Block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2946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ED7AEBF6-8891-71BA-A80D-EF4DDE18A5C5}"/>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6"/>
                <a:stretch>
                  <a:fillRect/>
                </a:stretch>
              </a:blipFill>
            </p:spPr>
            <p:txBody>
              <a:bodyPr/>
              <a:lstStyle/>
              <a:p>
                <a:r>
                  <a:rPr lang="de-DE">
                    <a:noFill/>
                  </a:rPr>
                  <a:t> </a:t>
                </a:r>
              </a:p>
            </p:txBody>
          </p:sp>
        </mc:Fallback>
      </mc:AlternateContent>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7"/>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9">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10">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9" name="Group 8">
            <a:extLst>
              <a:ext uri="{FF2B5EF4-FFF2-40B4-BE49-F238E27FC236}">
                <a16:creationId xmlns:a16="http://schemas.microsoft.com/office/drawing/2014/main" id="{6EFAE0D9-8626-3AF6-96A9-67F6C712C339}"/>
              </a:ext>
            </a:extLst>
          </p:cNvPr>
          <p:cNvGrpSpPr/>
          <p:nvPr/>
        </p:nvGrpSpPr>
        <p:grpSpPr>
          <a:xfrm>
            <a:off x="4656795" y="28788287"/>
            <a:ext cx="5602081" cy="4568263"/>
            <a:chOff x="4617632" y="25508568"/>
            <a:chExt cx="5649366" cy="4668472"/>
          </a:xfrm>
        </p:grpSpPr>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1">
              <a:extLst>
                <a:ext uri="{28A0092B-C50C-407E-A947-70E740481C1C}">
                  <a14:useLocalDpi xmlns:a14="http://schemas.microsoft.com/office/drawing/2010/main" val="0"/>
                </a:ext>
              </a:extLst>
            </a:blip>
            <a:srcRect l="16358" t="9830" r="15451" b="5420"/>
            <a:stretch>
              <a:fillRect/>
            </a:stretch>
          </p:blipFill>
          <p:spPr>
            <a:xfrm>
              <a:off x="5258530" y="2550856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617632" y="27210365"/>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grpSp>
      <p:sp>
        <p:nvSpPr>
          <p:cNvPr id="10" name="Textplatzhalter 36">
            <a:extLst>
              <a:ext uri="{FF2B5EF4-FFF2-40B4-BE49-F238E27FC236}">
                <a16:creationId xmlns:a16="http://schemas.microsoft.com/office/drawing/2014/main" id="{424C8F34-E40E-0F7F-97FB-1B6FCF06EC77}"/>
              </a:ext>
            </a:extLst>
          </p:cNvPr>
          <p:cNvSpPr>
            <a:spLocks noGrp="1"/>
          </p:cNvSpPr>
          <p:nvPr>
            <p:ph type="body" sz="quarter" idx="36"/>
          </p:nvPr>
        </p:nvSpPr>
        <p:spPr>
          <a:xfrm>
            <a:off x="1625279" y="33679634"/>
            <a:ext cx="8472488" cy="238479"/>
          </a:xfrm>
        </p:spPr>
        <p:txBody>
          <a:bodyPr/>
          <a:lstStyle/>
          <a:p>
            <a:r>
              <a:rPr lang="de-DE" dirty="0"/>
              <a:t>Abbildung 2: </a:t>
            </a:r>
            <a:r>
              <a:rPr lang="en-US" dirty="0" err="1"/>
              <a:t>Anpassung</a:t>
            </a:r>
            <a:r>
              <a:rPr lang="en-US" dirty="0"/>
              <a:t> der </a:t>
            </a:r>
            <a:r>
              <a:rPr lang="en-US" dirty="0" err="1"/>
              <a:t>Eingabedimension</a:t>
            </a:r>
            <a:r>
              <a:rPr lang="en-US" dirty="0"/>
              <a:t> </a:t>
            </a:r>
            <a:r>
              <a:rPr lang="en-US" dirty="0" err="1"/>
              <a:t>mittels</a:t>
            </a:r>
            <a:r>
              <a:rPr lang="en-US" dirty="0"/>
              <a:t> Padding</a:t>
            </a:r>
            <a:endParaRPr lang="de-DE" dirty="0"/>
          </a:p>
        </p:txBody>
      </p:sp>
      <p:pic>
        <p:nvPicPr>
          <p:cNvPr id="14" name="Picture 13">
            <a:extLst>
              <a:ext uri="{FF2B5EF4-FFF2-40B4-BE49-F238E27FC236}">
                <a16:creationId xmlns:a16="http://schemas.microsoft.com/office/drawing/2014/main" id="{B1B0A517-754A-584F-30F6-94ADC5BB35B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570776" y="28912458"/>
            <a:ext cx="2752103" cy="4129768"/>
          </a:xfrm>
          <a:prstGeom prst="rect">
            <a:avLst/>
          </a:prstGeom>
        </p:spPr>
      </p:pic>
      <p:sp>
        <p:nvSpPr>
          <p:cNvPr id="19" name="Textplatzhalter 36">
            <a:extLst>
              <a:ext uri="{FF2B5EF4-FFF2-40B4-BE49-F238E27FC236}">
                <a16:creationId xmlns:a16="http://schemas.microsoft.com/office/drawing/2014/main" id="{54965D31-3182-2AF6-504A-BADDEC048BDA}"/>
              </a:ext>
            </a:extLst>
          </p:cNvPr>
          <p:cNvSpPr txBox="1">
            <a:spLocks/>
          </p:cNvSpPr>
          <p:nvPr/>
        </p:nvSpPr>
        <p:spPr>
          <a:xfrm>
            <a:off x="1570776" y="21187863"/>
            <a:ext cx="8973027" cy="55524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a:t>
            </a:r>
            <a:r>
              <a:rPr lang="en-DE" dirty="0"/>
              <a:t>YOLO26-Pose </a:t>
            </a:r>
            <a:r>
              <a:rPr lang="en-DE" dirty="0" err="1"/>
              <a:t>zur</a:t>
            </a:r>
            <a:r>
              <a:rPr lang="en-DE" dirty="0"/>
              <a:t> </a:t>
            </a:r>
            <a:r>
              <a:rPr lang="en-DE" dirty="0" err="1"/>
              <a:t>Bestimmung</a:t>
            </a:r>
            <a:r>
              <a:rPr lang="en-DE" dirty="0"/>
              <a:t> von </a:t>
            </a:r>
            <a:r>
              <a:rPr lang="en-DE" dirty="0" err="1"/>
              <a:t>Objekt</a:t>
            </a:r>
            <a:r>
              <a:rPr lang="en-DE" dirty="0"/>
              <a:t>-Posen in </a:t>
            </a:r>
            <a:r>
              <a:rPr lang="en-DE" dirty="0" err="1"/>
              <a:t>Bildern</a:t>
            </a:r>
            <a:r>
              <a:rPr lang="en-DE" dirty="0"/>
              <a:t> – </a:t>
            </a:r>
            <a:r>
              <a:rPr lang="en-DE" dirty="0" err="1"/>
              <a:t>Ausgabe</a:t>
            </a:r>
            <a:r>
              <a:rPr lang="en-DE" dirty="0"/>
              <a:t> </a:t>
            </a:r>
            <a:r>
              <a:rPr lang="en-DE" dirty="0" err="1"/>
              <a:t>mit</a:t>
            </a:r>
            <a:r>
              <a:rPr lang="en-DE" dirty="0"/>
              <a:t> Bounding Boxes, </a:t>
            </a:r>
            <a:r>
              <a:rPr lang="en-DE" dirty="0" err="1"/>
              <a:t>Konfidenzwerten</a:t>
            </a:r>
            <a:r>
              <a:rPr lang="en-DE" dirty="0"/>
              <a:t> und </a:t>
            </a:r>
            <a:r>
              <a:rPr lang="en-DE" dirty="0" err="1"/>
              <a:t>Keypoints</a:t>
            </a:r>
            <a:r>
              <a:rPr lang="en-DE" dirty="0"/>
              <a:t>.</a:t>
            </a:r>
            <a:endParaRPr lang="de-DE" dirty="0"/>
          </a:p>
        </p:txBody>
      </p:sp>
      <p:grpSp>
        <p:nvGrpSpPr>
          <p:cNvPr id="11" name="Group 10">
            <a:extLst>
              <a:ext uri="{FF2B5EF4-FFF2-40B4-BE49-F238E27FC236}">
                <a16:creationId xmlns:a16="http://schemas.microsoft.com/office/drawing/2014/main" id="{F515C2DC-A1E3-4621-D8A1-131F1BC0C112}"/>
              </a:ext>
            </a:extLst>
          </p:cNvPr>
          <p:cNvGrpSpPr/>
          <p:nvPr/>
        </p:nvGrpSpPr>
        <p:grpSpPr>
          <a:xfrm>
            <a:off x="20214429" y="30343146"/>
            <a:ext cx="8531228" cy="8770553"/>
            <a:chOff x="20243006" y="32395219"/>
            <a:chExt cx="8531228" cy="8770553"/>
          </a:xfrm>
        </p:grpSpPr>
        <p:pic>
          <p:nvPicPr>
            <p:cNvPr id="23" name="Picture 22">
              <a:extLst>
                <a:ext uri="{FF2B5EF4-FFF2-40B4-BE49-F238E27FC236}">
                  <a16:creationId xmlns:a16="http://schemas.microsoft.com/office/drawing/2014/main" id="{5B0C4976-77C7-2BD0-ED2E-55AFF2D29796}"/>
                </a:ext>
              </a:extLst>
            </p:cNvPr>
            <p:cNvPicPr>
              <a:picLocks noChangeAspect="1"/>
            </p:cNvPicPr>
            <p:nvPr/>
          </p:nvPicPr>
          <p:blipFill rotWithShape="1">
            <a:blip r:embed="rId13" cstate="print">
              <a:extLst>
                <a:ext uri="{28A0092B-C50C-407E-A947-70E740481C1C}">
                  <a14:useLocalDpi xmlns:a14="http://schemas.microsoft.com/office/drawing/2010/main" val="0"/>
                </a:ext>
              </a:extLst>
            </a:blip>
            <a:srcRect t="17009"/>
            <a:stretch>
              <a:fillRect/>
            </a:stretch>
          </p:blipFill>
          <p:spPr bwMode="auto">
            <a:xfrm>
              <a:off x="20243006" y="32395219"/>
              <a:ext cx="8531228" cy="3083472"/>
            </a:xfrm>
            <a:prstGeom prst="rect">
              <a:avLst/>
            </a:prstGeom>
            <a:noFill/>
            <a:ln>
              <a:noFill/>
            </a:ln>
            <a:extLst>
              <a:ext uri="{53640926-AAD7-44D8-BBD7-CCE9431645EC}">
                <a14:shadowObscured xmlns:a14="http://schemas.microsoft.com/office/drawing/2010/main"/>
              </a:ext>
            </a:extLst>
          </p:spPr>
        </p:pic>
        <p:sp>
          <p:nvSpPr>
            <p:cNvPr id="24" name="Textplatzhalter 36">
              <a:extLst>
                <a:ext uri="{FF2B5EF4-FFF2-40B4-BE49-F238E27FC236}">
                  <a16:creationId xmlns:a16="http://schemas.microsoft.com/office/drawing/2014/main" id="{D2631D9A-AB31-A022-1742-57F9E8659A06}"/>
                </a:ext>
              </a:extLst>
            </p:cNvPr>
            <p:cNvSpPr txBox="1">
              <a:spLocks/>
            </p:cNvSpPr>
            <p:nvPr/>
          </p:nvSpPr>
          <p:spPr>
            <a:xfrm>
              <a:off x="20298106" y="40173887"/>
              <a:ext cx="8418906" cy="99188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5: YOLO11n- vs. YOLO26n-Pose </a:t>
              </a:r>
              <a:br>
                <a:rPr lang="de-DE" dirty="0"/>
              </a:br>
              <a:r>
                <a:rPr lang="de-DE" dirty="0"/>
                <a:t>Oben: Qualitativer Vergleich YOLO26 erkennt zusätzlich entfernte Personen. </a:t>
              </a:r>
              <a:br>
                <a:rPr lang="de-DE" dirty="0"/>
              </a:br>
              <a:r>
                <a:rPr lang="de-DE" dirty="0"/>
                <a:t>Unten: Laufzeitkomponenten pro Bild auf zwei CPUs und einer GPU; Fehlerbalken: ±1 Standardabweichung.</a:t>
              </a:r>
            </a:p>
          </p:txBody>
        </p:sp>
        <p:pic>
          <p:nvPicPr>
            <p:cNvPr id="5" name="Graphic 4">
              <a:extLst>
                <a:ext uri="{FF2B5EF4-FFF2-40B4-BE49-F238E27FC236}">
                  <a16:creationId xmlns:a16="http://schemas.microsoft.com/office/drawing/2014/main" id="{EBF47CBD-A06E-5823-9081-9A78EEA3C0D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0308034" y="35583519"/>
              <a:ext cx="8407460" cy="4442222"/>
            </a:xfrm>
            <a:prstGeom prst="rect">
              <a:avLst/>
            </a:prstGeom>
          </p:spPr>
        </p:pic>
      </p:grpSp>
      <p:sp>
        <p:nvSpPr>
          <p:cNvPr id="4" name="Textplatzhalter 31">
            <a:extLst>
              <a:ext uri="{FF2B5EF4-FFF2-40B4-BE49-F238E27FC236}">
                <a16:creationId xmlns:a16="http://schemas.microsoft.com/office/drawing/2014/main" id="{2141C70F-CFA5-7FEC-D432-9959D294EC2C}"/>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pic>
        <p:nvPicPr>
          <p:cNvPr id="22" name="Picture 21">
            <a:extLst>
              <a:ext uri="{FF2B5EF4-FFF2-40B4-BE49-F238E27FC236}">
                <a16:creationId xmlns:a16="http://schemas.microsoft.com/office/drawing/2014/main" id="{4F573373-B5C0-7590-A102-57BDDD0173A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536510" y="17738083"/>
            <a:ext cx="8552053" cy="3332152"/>
          </a:xfrm>
          <a:prstGeom prst="rect">
            <a:avLst/>
          </a:prstGeom>
        </p:spPr>
      </p:pic>
    </p:spTree>
    <p:extLst>
      <p:ext uri="{BB962C8B-B14F-4D97-AF65-F5344CB8AC3E}">
        <p14:creationId xmlns:p14="http://schemas.microsoft.com/office/powerpoint/2010/main" val="291704665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mc:AlternateContent xmlns:mc="http://schemas.openxmlformats.org/markup-compatibility/2006" xmlns:a14="http://schemas.microsoft.com/office/drawing/2010/main">
        <mc:Choice Requires="a14">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21997693"/>
                <a:ext cx="8472488" cy="6797137"/>
              </a:xfrm>
            </p:spPr>
            <p:txBody>
              <a:bodyPr/>
              <a:lstStyle/>
              <a:p>
                <a:pPr>
                  <a:spcBef>
                    <a:spcPts val="3300"/>
                  </a:spcBef>
                </a:pPr>
                <a:r>
                  <a:rPr lang="en-DE" b="1" dirty="0"/>
                  <a:t>EINGANGSDATEN DES NETZES</a:t>
                </a:r>
                <a:endParaRPr lang="de-DE" b="1" dirty="0"/>
              </a:p>
              <a:p>
                <a:pPr algn="just">
                  <a:spcBef>
                    <a:spcPts val="3300"/>
                  </a:spcBef>
                </a:pPr>
                <a:r>
                  <a:rPr lang="de-DE" dirty="0"/>
                  <a:t>Das neuronale Netz verarbeitet Bilder als Tensor der Form</a:t>
                </a:r>
              </a:p>
              <a:p>
                <a:pPr algn="ctr">
                  <a:spcBef>
                    <a:spcPts val="1511"/>
                  </a:spcBef>
                </a:pPr>
                <a14:m>
                  <m:oMathPara xmlns:m="http://schemas.openxmlformats.org/officeDocument/2006/math">
                    <m:oMathParaPr>
                      <m:jc m:val="centerGroup"/>
                    </m:oMathParaPr>
                    <m:oMath xmlns:m="http://schemas.openxmlformats.org/officeDocument/2006/math">
                      <m:r>
                        <a:rPr lang="de-DE" i="1" dirty="0" smtClean="0">
                          <a:latin typeface="Cambria Math" panose="02040503050406030204" pitchFamily="18" charset="0"/>
                        </a:rPr>
                        <m:t>𝐻</m:t>
                      </m:r>
                      <m:r>
                        <a:rPr lang="de-DE" i="1" dirty="0" smtClean="0">
                          <a:latin typeface="Cambria Math" panose="02040503050406030204" pitchFamily="18" charset="0"/>
                        </a:rPr>
                        <m:t>ö</m:t>
                      </m:r>
                      <m:r>
                        <a:rPr lang="de-DE" i="1" dirty="0" smtClean="0">
                          <a:latin typeface="Cambria Math" panose="02040503050406030204" pitchFamily="18" charset="0"/>
                        </a:rPr>
                        <m:t>h𝑒</m:t>
                      </m:r>
                      <m:r>
                        <a:rPr lang="de-DE" i="1" dirty="0" smtClean="0">
                          <a:latin typeface="Cambria Math" panose="02040503050406030204" pitchFamily="18" charset="0"/>
                        </a:rPr>
                        <m:t> × </m:t>
                      </m:r>
                      <m:r>
                        <a:rPr lang="de-DE" i="1" dirty="0" smtClean="0">
                          <a:latin typeface="Cambria Math" panose="02040503050406030204" pitchFamily="18" charset="0"/>
                        </a:rPr>
                        <m:t>𝐵𝑟𝑒𝑖𝑡𝑒</m:t>
                      </m:r>
                      <m:r>
                        <a:rPr lang="de-DE" i="1" dirty="0" smtClean="0">
                          <a:latin typeface="Cambria Math" panose="02040503050406030204" pitchFamily="18" charset="0"/>
                        </a:rPr>
                        <m:t> × </m:t>
                      </m:r>
                      <m:r>
                        <a:rPr lang="de-DE" i="1" dirty="0" smtClean="0">
                          <a:latin typeface="Cambria Math" panose="02040503050406030204" pitchFamily="18" charset="0"/>
                        </a:rPr>
                        <m:t>𝐹𝑎𝑟𝑏𝑘𝑎𝑛</m:t>
                      </m:r>
                      <m:r>
                        <a:rPr lang="de-DE" i="1" dirty="0" smtClean="0">
                          <a:latin typeface="Cambria Math" panose="02040503050406030204" pitchFamily="18" charset="0"/>
                        </a:rPr>
                        <m:t>ä</m:t>
                      </m:r>
                      <m:r>
                        <a:rPr lang="de-DE" i="1" dirty="0" smtClean="0">
                          <a:latin typeface="Cambria Math" panose="02040503050406030204" pitchFamily="18" charset="0"/>
                        </a:rPr>
                        <m:t>𝑙𝑒</m:t>
                      </m:r>
                    </m:oMath>
                  </m:oMathPara>
                </a14:m>
                <a:endParaRPr lang="de-DE" dirty="0"/>
              </a:p>
              <a:p>
                <a:pPr algn="just">
                  <a:spcBef>
                    <a:spcPts val="1511"/>
                  </a:spcBef>
                </a:pPr>
                <a:r>
                  <a:rPr lang="de-DE" dirty="0"/>
                  <a:t>YOLO26 verwendet eine feste Eingangsgröße von 640 × 640 Pixeln mit drei RGB-Farbkanälen :</a:t>
                </a:r>
              </a:p>
              <a:p>
                <a:pPr algn="ctr">
                  <a:spcBef>
                    <a:spcPts val="1511"/>
                  </a:spcBef>
                </a:pPr>
                <a:r>
                  <a:rPr lang="de-DE" i="1" dirty="0"/>
                  <a:t>float32[640, 640, 3]</a:t>
                </a:r>
              </a:p>
              <a:p>
                <a:pPr algn="just">
                  <a:spcBef>
                    <a:spcPts val="1511"/>
                  </a:spcBef>
                </a:pPr>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mc:Choice>
        <mc:Fallback xmlns="">
          <p:sp>
            <p:nvSpPr>
              <p:cNvPr id="32" name="Textplatzhalter 31">
                <a:extLst>
                  <a:ext uri="{FF2B5EF4-FFF2-40B4-BE49-F238E27FC236}">
                    <a16:creationId xmlns:a16="http://schemas.microsoft.com/office/drawing/2014/main" id="{87D31E3C-4770-06CB-3DB1-B4DC27480A9A}"/>
                  </a:ext>
                </a:extLst>
              </p:cNvPr>
              <p:cNvSpPr>
                <a:spLocks noGrp="1" noRot="1" noChangeAspect="1" noMove="1" noResize="1" noEditPoints="1" noAdjustHandles="1" noChangeArrowheads="1" noChangeShapeType="1" noTextEdit="1"/>
              </p:cNvSpPr>
              <p:nvPr>
                <p:ph type="body" sz="quarter" idx="26"/>
              </p:nvPr>
            </p:nvSpPr>
            <p:spPr>
              <a:xfrm>
                <a:off x="1558926" y="21997693"/>
                <a:ext cx="8472488" cy="6797137"/>
              </a:xfrm>
              <a:blipFill>
                <a:blip r:embed="rId3"/>
                <a:stretch>
                  <a:fillRect l="-2446" t="-2242" r="-2446"/>
                </a:stretch>
              </a:blipFill>
            </p:spPr>
            <p:txBody>
              <a:bodyPr/>
              <a:lstStyle/>
              <a:p>
                <a:r>
                  <a:rPr lang="de-DE">
                    <a:noFill/>
                  </a:rPr>
                  <a:t> </a:t>
                </a:r>
              </a:p>
            </p:txBody>
          </p:sp>
        </mc:Fallback>
      </mc:AlternateContent>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4"/>
            <a:ext cx="8472488" cy="5333272"/>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xmlns:a14="http://schemas.microsoft.com/office/drawing/2010/main">
        <mc:Choice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8506759"/>
              </a:xfrm>
            </p:spPr>
            <p:txBody>
              <a:bodyPr/>
              <a:lstStyle/>
              <a:p>
                <a:pPr algn="just"/>
                <a:r>
                  <a:rPr lang="en-DE" b="1" dirty="0"/>
                  <a:t>TRAINING</a:t>
                </a:r>
                <a:endParaRPr lang="en-US" b="1" dirty="0"/>
              </a:p>
              <a:p>
                <a:pPr algn="just">
                  <a:spcBef>
                    <a:spcPts val="0"/>
                  </a:spcBef>
                </a:pPr>
                <a:endParaRPr lang="en-US" b="1" dirty="0"/>
              </a:p>
              <a:p>
                <a:pPr algn="just">
                  <a:spcBef>
                    <a:spcPts val="0"/>
                  </a:spcBef>
                </a:pPr>
                <a:r>
                  <a:rPr lang="en-DE" b="1" dirty="0" err="1"/>
                  <a:t>Datensatz</a:t>
                </a:r>
                <a:r>
                  <a:rPr lang="en-DE" b="1" dirty="0"/>
                  <a:t>:</a:t>
                </a:r>
                <a:r>
                  <a:rPr lang="en-DE" dirty="0"/>
                  <a:t> COCO-Pose (COCO </a:t>
                </a:r>
                <a:r>
                  <a:rPr lang="en-DE" dirty="0" err="1"/>
                  <a:t>Keypoints</a:t>
                </a:r>
                <a:r>
                  <a:rPr lang="en-DE" dirty="0"/>
                  <a:t> 2017)</a:t>
                </a:r>
              </a:p>
              <a:p>
                <a:pPr algn="just">
                  <a:spcBef>
                    <a:spcPts val="0"/>
                  </a:spcBef>
                </a:pPr>
                <a:r>
                  <a:rPr lang="en-DE" b="1" dirty="0" err="1"/>
                  <a:t>Gesamtverlust</a:t>
                </a:r>
                <a:r>
                  <a:rPr lang="en-DE" b="1" dirty="0"/>
                  <a:t>:</a:t>
                </a:r>
                <a:endParaRPr lang="en-DE" dirty="0"/>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a:latin typeface="Cambria Math" panose="02040503050406030204" pitchFamily="18" charset="0"/>
                          </a:rPr>
                          <m:t>ℒ</m:t>
                        </m:r>
                      </m:e>
                      <m:sub>
                        <m:r>
                          <m:rPr>
                            <m:sty m:val="p"/>
                          </m:rPr>
                          <a:rPr lang="de-DE" b="0" i="1" smtClean="0">
                            <a:latin typeface="Cambria Math" panose="02040503050406030204" pitchFamily="18" charset="0"/>
                          </a:rPr>
                          <m:t>x</m:t>
                        </m:r>
                      </m:sub>
                    </m:sSub>
                  </m:oMath>
                </a14:m>
                <a:r>
                  <a:rPr lang="en-DE" dirty="0"/>
                  <a:t>:</a:t>
                </a:r>
                <a:r>
                  <a:rPr lang="de-DE" dirty="0"/>
                  <a:t> Verlustfunktion der jeweiligen Komponente</a:t>
                </a: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i="1">
                            <a:latin typeface="Cambria Math" panose="02040503050406030204" pitchFamily="18" charset="0"/>
                          </a:rPr>
                          <m:t>𝜆</m:t>
                        </m:r>
                      </m:e>
                      <m:sub>
                        <m:r>
                          <m:rPr>
                            <m:sty m:val="p"/>
                          </m:rPr>
                          <a:rPr lang="de-DE" b="0" i="1" smtClean="0">
                            <a:latin typeface="Cambria Math" panose="02040503050406030204" pitchFamily="18" charset="0"/>
                          </a:rPr>
                          <m:t>x</m:t>
                        </m:r>
                      </m:sub>
                    </m:sSub>
                  </m:oMath>
                </a14:m>
                <a:r>
                  <a:rPr lang="en-DE" dirty="0"/>
                  <a:t>: </a:t>
                </a:r>
                <a:r>
                  <a:rPr lang="de-DE" dirty="0"/>
                  <a:t>Gewicht der jeweiligen Verlustkomponente</a:t>
                </a:r>
              </a:p>
              <a:p>
                <a:pPr algn="just">
                  <a:lnSpc>
                    <a:spcPct val="100000"/>
                  </a:lnSpc>
                  <a:spcBef>
                    <a:spcPts val="0"/>
                  </a:spcBef>
                </a:pPr>
                <a:endParaRPr lang="en-DE" dirty="0"/>
              </a:p>
              <a:p>
                <a:pPr algn="just">
                  <a:spcBef>
                    <a:spcPts val="0"/>
                  </a:spcBef>
                </a:pPr>
                <a:r>
                  <a:rPr lang="en-DE" b="1" dirty="0"/>
                  <a:t>YOLO26-Trainingstechniken:</a:t>
                </a:r>
                <a:endParaRPr lang="en-DE" dirty="0"/>
              </a:p>
              <a:p>
                <a:pPr marL="457200" indent="-457200" algn="just">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gn="just">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gn="just">
                  <a:lnSpc>
                    <a:spcPct val="100000"/>
                  </a:lnSpc>
                  <a:spcBef>
                    <a:spcPts val="0"/>
                  </a:spcBef>
                  <a:buFont typeface="Arial" panose="020B0604020202020204" pitchFamily="34" charset="0"/>
                  <a:buChar char="•"/>
                </a:pPr>
                <a:r>
                  <a:rPr lang="en-DE" b="1" dirty="0"/>
                  <a:t>STAL:</a:t>
                </a:r>
                <a:r>
                  <a:rPr lang="en-DE" dirty="0"/>
                  <a:t> garantiert Zuordnungen für kleine Objekte </a:t>
                </a:r>
                <a:endParaRPr lang="en-US" dirty="0"/>
              </a:p>
              <a:p>
                <a:pPr marL="457200" indent="-457200" algn="just">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gn="just">
                  <a:lnSpc>
                    <a:spcPct val="100000"/>
                  </a:lnSpc>
                  <a:spcBef>
                    <a:spcPts val="0"/>
                  </a:spcBef>
                  <a:buFont typeface="Arial" panose="020B0604020202020204" pitchFamily="34" charset="0"/>
                  <a:buChar char="•"/>
                </a:pPr>
                <a:r>
                  <a:rPr lang="en-DE" b="1" dirty="0"/>
                  <a:t>Kein DFL </a:t>
                </a:r>
                <a:r>
                  <a:rPr lang="en-DE" dirty="0"/>
                  <a:t>→ direkte Box-Regression</a:t>
                </a:r>
              </a:p>
            </p:txBody>
          </p:sp>
        </mc:Choice>
        <mc:Fallback xmlns="">
          <p:sp>
            <p:nvSpPr>
              <p:cNvPr id="39" name="Bildplatzhalter 38">
                <a:extLst>
                  <a:ext uri="{FF2B5EF4-FFF2-40B4-BE49-F238E27FC236}">
                    <a16:creationId xmlns:a16="http://schemas.microsoft.com/office/drawing/2014/main" id="{F1DD7E1F-42A6-F91B-C72E-D76F811C8E7D}"/>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8506759"/>
              </a:xfrm>
              <a:blipFill>
                <a:blip r:embed="rId4"/>
                <a:stretch>
                  <a:fillRect l="-2446" t="-1719" r="-2446"/>
                </a:stretch>
              </a:blipFill>
            </p:spPr>
            <p:txBody>
              <a:bodyPr/>
              <a:lstStyle/>
              <a:p>
                <a:r>
                  <a:rPr lang="de-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20275550" y="40148356"/>
            <a:ext cx="8586724" cy="4781726"/>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5"/>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20185059" y="39458585"/>
            <a:ext cx="8472488" cy="1070435"/>
          </a:xfrm>
        </p:spPr>
        <p:txBody>
          <a:bodyPr/>
          <a:lstStyle/>
          <a:p>
            <a:r>
              <a:rPr lang="de-DE" sz="2700" b="1" dirty="0">
                <a:latin typeface="+mn-lt"/>
              </a:rPr>
              <a:t>QUELLE</a:t>
            </a: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612363" y="34211840"/>
            <a:ext cx="8356733" cy="524674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endParaRPr lang="de-DE" i="1" dirty="0"/>
          </a:p>
          <a:p>
            <a:pPr algn="ctr">
              <a:spcBef>
                <a:spcPts val="1511"/>
              </a:spcBef>
            </a:pPr>
            <a:r>
              <a:rPr lang="de-DE" i="1" dirty="0"/>
              <a:t>float32[300, 57] </a:t>
            </a:r>
          </a:p>
          <a:p>
            <a:pPr algn="just">
              <a:spcBef>
                <a:spcPts val="1511"/>
              </a:spcBef>
            </a:pPr>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799" y="20563796"/>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spcBef>
                <a:spcPts val="1511"/>
              </a:spcBef>
            </a:pPr>
            <a:r>
              <a:rPr lang="en-US" b="1" dirty="0"/>
              <a:t>LAUFZEIT- UND GENAUIGKEITSANALYSE</a:t>
            </a:r>
          </a:p>
          <a:p>
            <a:pPr>
              <a:lnSpc>
                <a:spcPct val="100000"/>
              </a:lnSpc>
              <a:spcBef>
                <a:spcPts val="1511"/>
              </a:spcBef>
            </a:pPr>
            <a:endParaRPr lang="en-US" b="1" dirty="0"/>
          </a:p>
          <a:p>
            <a:pPr algn="just">
              <a:lnSpc>
                <a:spcPct val="100000"/>
              </a:lnSpc>
              <a:spcBef>
                <a:spcPts val="11"/>
              </a:spcBef>
            </a:pPr>
            <a:r>
              <a:rPr lang="en-DE" b="1" dirty="0"/>
              <a:t>Testzie</a:t>
            </a:r>
            <a:r>
              <a:rPr lang="en-US" b="1" dirty="0"/>
              <a:t>l: </a:t>
            </a:r>
            <a:r>
              <a:rPr lang="de-DE" dirty="0"/>
              <a:t>Vergleich der Laufzeit und Erkennungs-genauigkeit von YOLO26n-Pose und YOLO11n-Pose auf verschiedenen Hardwareplattformen.</a:t>
            </a:r>
          </a:p>
          <a:p>
            <a:pPr algn="just">
              <a:lnSpc>
                <a:spcPct val="100000"/>
              </a:lnSpc>
              <a:spcBef>
                <a:spcPts val="11"/>
              </a:spcBef>
            </a:pPr>
            <a:endParaRPr lang="en-US" dirty="0"/>
          </a:p>
          <a:p>
            <a:pPr algn="just">
              <a:lnSpc>
                <a:spcPct val="100000"/>
              </a:lnSpc>
              <a:spcBef>
                <a:spcPts val="11"/>
              </a:spcBef>
            </a:pPr>
            <a:r>
              <a:rPr lang="en-US" b="1" dirty="0" err="1"/>
              <a:t>Testaufbau</a:t>
            </a:r>
            <a:r>
              <a:rPr lang="en-US" b="1" dirty="0"/>
              <a:t>: </a:t>
            </a:r>
            <a:r>
              <a:rPr lang="en-DE" dirty="0"/>
              <a:t>Beide Modelle wurden mit identischen Einstellungen auf zwei CPUs und einer CUDA-GPU getestet. </a:t>
            </a:r>
            <a:r>
              <a:rPr lang="de-DE" dirty="0"/>
              <a:t>Als Datengrundlage dienten zehn Bilder mit mehreren, teilweise stark verdeckten Personen. Die Laufzeiten für Vorverarbeitung, Inferenz und Nachverarbeitung wurden getrennt erfasst und über alle Testbilder gemittelt. Die verwendeten Hardwareplattformen sind in der Abbildung dargestellt.</a:t>
            </a:r>
          </a:p>
          <a:p>
            <a:pPr algn="just">
              <a:lnSpc>
                <a:spcPct val="100000"/>
              </a:lnSpc>
              <a:spcBef>
                <a:spcPts val="11"/>
              </a:spcBef>
            </a:pPr>
            <a:endParaRPr lang="de-DE" dirty="0"/>
          </a:p>
          <a:p>
            <a:pPr algn="just">
              <a:lnSpc>
                <a:spcPct val="100000"/>
              </a:lnSpc>
              <a:spcBef>
                <a:spcPts val="11"/>
              </a:spcBef>
            </a:pPr>
            <a:r>
              <a:rPr lang="en-US" b="1" dirty="0" err="1"/>
              <a:t>Ergebnis</a:t>
            </a:r>
            <a:r>
              <a:rPr lang="en-US" b="1" dirty="0"/>
              <a:t>: </a:t>
            </a:r>
            <a:r>
              <a:rPr lang="en-DE" dirty="0"/>
              <a:t>Die Nachbearbeitung ist bei YOLO26 auf allen Plattformen kürzer und die Laufzeit stabiler. Der Gesamtvorteil ist jedoch hardwareabhängig: Auf den CPUs ist YOLO26 leicht langsamer auf der GPU schneller</a:t>
            </a:r>
            <a:r>
              <a:rPr lang="de-DE" dirty="0"/>
              <a:t>.</a:t>
            </a:r>
            <a:r>
              <a:rPr lang="en-DE" dirty="0"/>
              <a:t> </a:t>
            </a:r>
            <a:r>
              <a:rPr lang="de-DE" dirty="0"/>
              <a:t>YOLO26-Pose erreicht eine höhere Erkennungsgenauigkeit und erkennt weitere Personen im Hintergrund.</a:t>
            </a: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3: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8330672" cy="114361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en-US" dirty="0" err="1"/>
              <a:t>Abbildung</a:t>
            </a:r>
            <a:r>
              <a:rPr lang="en-US" dirty="0"/>
              <a:t> 4: </a:t>
            </a:r>
            <a:r>
              <a:rPr lang="en-DE" dirty="0"/>
              <a:t>Merkmalskarten </a:t>
            </a:r>
            <a:r>
              <a:rPr lang="de-DE" dirty="0"/>
              <a:t>von </a:t>
            </a:r>
            <a:r>
              <a:rPr lang="en-DE" dirty="0"/>
              <a:t>Schichten des YOLO26n-Pose-Backbone</a:t>
            </a:r>
            <a:r>
              <a:rPr lang="de-DE" dirty="0"/>
              <a:t>s</a:t>
            </a:r>
            <a:r>
              <a:rPr lang="en-DE" dirty="0"/>
              <a:t> </a:t>
            </a:r>
            <a:br>
              <a:rPr lang="de-DE" dirty="0"/>
            </a:br>
            <a:r>
              <a:rPr lang="en-DE" dirty="0"/>
              <a:t>Oben</a:t>
            </a:r>
            <a:r>
              <a:rPr lang="de-DE" dirty="0"/>
              <a:t>: </a:t>
            </a:r>
            <a:r>
              <a:rPr lang="en-DE" dirty="0"/>
              <a:t>S</a:t>
            </a:r>
            <a:r>
              <a:rPr lang="de-DE" dirty="0" err="1"/>
              <a:t>chichten</a:t>
            </a:r>
            <a:r>
              <a:rPr lang="en-DE" dirty="0"/>
              <a:t> P1/2 bis P5/32 in ihrer tatsächlichen relativen Größe dargestellt</a:t>
            </a:r>
            <a:r>
              <a:rPr lang="de-DE" dirty="0"/>
              <a:t> </a:t>
            </a:r>
            <a:br>
              <a:rPr lang="de-DE" dirty="0"/>
            </a:br>
            <a:r>
              <a:rPr lang="en-DE" dirty="0"/>
              <a:t>Mitte</a:t>
            </a:r>
            <a:r>
              <a:rPr lang="de-DE" dirty="0"/>
              <a:t>:</a:t>
            </a:r>
            <a:r>
              <a:rPr lang="en-DE" dirty="0"/>
              <a:t> </a:t>
            </a:r>
            <a:r>
              <a:rPr lang="de-DE" dirty="0"/>
              <a:t>Ausgaben auf </a:t>
            </a:r>
            <a:r>
              <a:rPr lang="en-DE" dirty="0"/>
              <a:t>einheitliche Anzeigegröße skaliert</a:t>
            </a:r>
            <a:br>
              <a:rPr lang="de-DE" dirty="0"/>
            </a:br>
            <a:r>
              <a:rPr lang="en-DE" dirty="0"/>
              <a:t>Unten</a:t>
            </a:r>
            <a:r>
              <a:rPr lang="de-DE" dirty="0"/>
              <a:t>:</a:t>
            </a:r>
            <a:r>
              <a:rPr lang="en-DE" dirty="0"/>
              <a:t> Kanalmittel und sechs ausgewählte Einzelkanäle der P2/4-Stufe</a:t>
            </a:r>
            <a:endParaRPr lang="de-DE" dirty="0"/>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nvGraphicFramePr>
        <p:xfrm>
          <a:off x="10953044" y="21294275"/>
          <a:ext cx="8944883" cy="1000511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dirty="0"/>
                        <a:t>SPPF-Block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1×1-Conv → </a:t>
                      </a:r>
                      <a:r>
                        <a:rPr lang="en-DE" sz="2800" dirty="0" err="1"/>
                        <a:t>drei</a:t>
                      </a:r>
                      <a:r>
                        <a:rPr lang="en-DE" sz="2800" dirty="0"/>
                        <a:t> </a:t>
                      </a:r>
                      <a:r>
                        <a:rPr lang="en-DE" sz="2800" dirty="0" err="1"/>
                        <a:t>serielle</a:t>
                      </a:r>
                      <a:r>
                        <a:rPr lang="en-DE" sz="2800" dirty="0"/>
                        <a:t> 5×5-MaxPool-Schritte → </a:t>
                      </a:r>
                      <a:r>
                        <a:rPr lang="en-DE" sz="2800" dirty="0" err="1"/>
                        <a:t>Zusammenführung</a:t>
                      </a:r>
                      <a:r>
                        <a:rPr lang="en-DE" sz="2800" dirty="0"/>
                        <a:t> → 1×1-Conv</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Erfasst</a:t>
                      </a:r>
                      <a:r>
                        <a:rPr lang="en-DE" sz="2800" dirty="0"/>
                        <a:t> </a:t>
                      </a:r>
                      <a:r>
                        <a:rPr lang="en-DE" sz="2800" dirty="0" err="1"/>
                        <a:t>Bildmerkmale</a:t>
                      </a:r>
                      <a:r>
                        <a:rPr lang="en-DE" sz="2800" dirty="0"/>
                        <a:t> auf </a:t>
                      </a:r>
                      <a:r>
                        <a:rPr lang="en-DE" sz="2800" dirty="0" err="1"/>
                        <a:t>verschiedenen</a:t>
                      </a:r>
                      <a:r>
                        <a:rPr lang="en-DE" sz="2800" dirty="0"/>
                        <a:t> </a:t>
                      </a:r>
                      <a:r>
                        <a:rPr lang="en-DE" sz="2800" dirty="0" err="1"/>
                        <a:t>Kontextgrößen</a:t>
                      </a:r>
                      <a:r>
                        <a:rPr lang="en-DE" sz="2800" dirty="0"/>
                        <a:t>, </a:t>
                      </a:r>
                      <a:r>
                        <a:rPr lang="en-DE" sz="2800" dirty="0" err="1"/>
                        <a:t>ohne</a:t>
                      </a:r>
                      <a:r>
                        <a:rPr lang="en-DE" sz="2800" dirty="0"/>
                        <a:t> die </a:t>
                      </a:r>
                      <a:r>
                        <a:rPr lang="en-DE" sz="2800" dirty="0" err="1"/>
                        <a:t>räumliche</a:t>
                      </a:r>
                      <a:r>
                        <a:rPr lang="en-DE" sz="2800" dirty="0"/>
                        <a:t> </a:t>
                      </a:r>
                      <a:r>
                        <a:rPr lang="en-DE" sz="2800" dirty="0" err="1"/>
                        <a:t>Auflösung</a:t>
                      </a:r>
                      <a:r>
                        <a:rPr lang="en-DE" sz="2800" dirty="0"/>
                        <a:t> </a:t>
                      </a:r>
                      <a:r>
                        <a:rPr lang="en-DE" sz="2800" dirty="0" err="1"/>
                        <a:t>zu</a:t>
                      </a:r>
                      <a:r>
                        <a:rPr lang="en-DE" sz="2800" dirty="0"/>
                        <a:t> </a:t>
                      </a:r>
                      <a:r>
                        <a:rPr lang="en-DE" sz="2800" dirty="0" err="1"/>
                        <a:t>reduzieren</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dirty="0"/>
                        <a:t>C2PSA-Block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2946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ED7AEBF6-8891-71BA-A80D-EF4DDE18A5C5}"/>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6"/>
                <a:stretch>
                  <a:fillRect/>
                </a:stretch>
              </a:blipFill>
            </p:spPr>
            <p:txBody>
              <a:bodyPr/>
              <a:lstStyle/>
              <a:p>
                <a:r>
                  <a:rPr lang="de-DE">
                    <a:noFill/>
                  </a:rPr>
                  <a:t> </a:t>
                </a:r>
              </a:p>
            </p:txBody>
          </p:sp>
        </mc:Fallback>
      </mc:AlternateContent>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7"/>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9">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10">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9" name="Group 8">
            <a:extLst>
              <a:ext uri="{FF2B5EF4-FFF2-40B4-BE49-F238E27FC236}">
                <a16:creationId xmlns:a16="http://schemas.microsoft.com/office/drawing/2014/main" id="{6EFAE0D9-8626-3AF6-96A9-67F6C712C339}"/>
              </a:ext>
            </a:extLst>
          </p:cNvPr>
          <p:cNvGrpSpPr/>
          <p:nvPr/>
        </p:nvGrpSpPr>
        <p:grpSpPr>
          <a:xfrm>
            <a:off x="4656795" y="28788287"/>
            <a:ext cx="5602081" cy="4568263"/>
            <a:chOff x="4617632" y="25508568"/>
            <a:chExt cx="5649366" cy="4668472"/>
          </a:xfrm>
        </p:grpSpPr>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1">
              <a:extLst>
                <a:ext uri="{28A0092B-C50C-407E-A947-70E740481C1C}">
                  <a14:useLocalDpi xmlns:a14="http://schemas.microsoft.com/office/drawing/2010/main" val="0"/>
                </a:ext>
              </a:extLst>
            </a:blip>
            <a:srcRect l="16358" t="9830" r="15451" b="5420"/>
            <a:stretch>
              <a:fillRect/>
            </a:stretch>
          </p:blipFill>
          <p:spPr>
            <a:xfrm>
              <a:off x="5258530" y="2550856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617632" y="27210365"/>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grpSp>
      <p:sp>
        <p:nvSpPr>
          <p:cNvPr id="10" name="Textplatzhalter 36">
            <a:extLst>
              <a:ext uri="{FF2B5EF4-FFF2-40B4-BE49-F238E27FC236}">
                <a16:creationId xmlns:a16="http://schemas.microsoft.com/office/drawing/2014/main" id="{424C8F34-E40E-0F7F-97FB-1B6FCF06EC77}"/>
              </a:ext>
            </a:extLst>
          </p:cNvPr>
          <p:cNvSpPr>
            <a:spLocks noGrp="1"/>
          </p:cNvSpPr>
          <p:nvPr>
            <p:ph type="body" sz="quarter" idx="36"/>
          </p:nvPr>
        </p:nvSpPr>
        <p:spPr>
          <a:xfrm>
            <a:off x="1625279" y="33679634"/>
            <a:ext cx="8472488" cy="238479"/>
          </a:xfrm>
        </p:spPr>
        <p:txBody>
          <a:bodyPr/>
          <a:lstStyle/>
          <a:p>
            <a:r>
              <a:rPr lang="de-DE" dirty="0"/>
              <a:t>Abbildung 2: </a:t>
            </a:r>
            <a:r>
              <a:rPr lang="en-US" dirty="0" err="1"/>
              <a:t>Anpassung</a:t>
            </a:r>
            <a:r>
              <a:rPr lang="en-US" dirty="0"/>
              <a:t> der </a:t>
            </a:r>
            <a:r>
              <a:rPr lang="en-US" dirty="0" err="1"/>
              <a:t>Eingabedimension</a:t>
            </a:r>
            <a:r>
              <a:rPr lang="en-US" dirty="0"/>
              <a:t> </a:t>
            </a:r>
            <a:r>
              <a:rPr lang="en-US" dirty="0" err="1"/>
              <a:t>mittels</a:t>
            </a:r>
            <a:r>
              <a:rPr lang="en-US" dirty="0"/>
              <a:t> Padding</a:t>
            </a:r>
            <a:endParaRPr lang="de-DE" dirty="0"/>
          </a:p>
        </p:txBody>
      </p:sp>
      <p:pic>
        <p:nvPicPr>
          <p:cNvPr id="14" name="Picture 13">
            <a:extLst>
              <a:ext uri="{FF2B5EF4-FFF2-40B4-BE49-F238E27FC236}">
                <a16:creationId xmlns:a16="http://schemas.microsoft.com/office/drawing/2014/main" id="{B1B0A517-754A-584F-30F6-94ADC5BB35B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570776" y="28912458"/>
            <a:ext cx="2752103" cy="4129768"/>
          </a:xfrm>
          <a:prstGeom prst="rect">
            <a:avLst/>
          </a:prstGeom>
        </p:spPr>
      </p:pic>
      <p:sp>
        <p:nvSpPr>
          <p:cNvPr id="19" name="Textplatzhalter 36">
            <a:extLst>
              <a:ext uri="{FF2B5EF4-FFF2-40B4-BE49-F238E27FC236}">
                <a16:creationId xmlns:a16="http://schemas.microsoft.com/office/drawing/2014/main" id="{54965D31-3182-2AF6-504A-BADDEC048BDA}"/>
              </a:ext>
            </a:extLst>
          </p:cNvPr>
          <p:cNvSpPr txBox="1">
            <a:spLocks/>
          </p:cNvSpPr>
          <p:nvPr/>
        </p:nvSpPr>
        <p:spPr>
          <a:xfrm>
            <a:off x="1570776" y="21187863"/>
            <a:ext cx="8973027" cy="55524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a:t>
            </a:r>
            <a:r>
              <a:rPr lang="en-DE" dirty="0"/>
              <a:t>YOLO26-Pose </a:t>
            </a:r>
            <a:r>
              <a:rPr lang="en-DE" dirty="0" err="1"/>
              <a:t>zur</a:t>
            </a:r>
            <a:r>
              <a:rPr lang="en-DE" dirty="0"/>
              <a:t> </a:t>
            </a:r>
            <a:r>
              <a:rPr lang="en-DE" dirty="0" err="1"/>
              <a:t>Bestimmung</a:t>
            </a:r>
            <a:r>
              <a:rPr lang="en-DE" dirty="0"/>
              <a:t> von </a:t>
            </a:r>
            <a:r>
              <a:rPr lang="en-DE" dirty="0" err="1"/>
              <a:t>Objekt</a:t>
            </a:r>
            <a:r>
              <a:rPr lang="en-DE" dirty="0"/>
              <a:t>-Posen in </a:t>
            </a:r>
            <a:r>
              <a:rPr lang="en-DE" dirty="0" err="1"/>
              <a:t>Bildern</a:t>
            </a:r>
            <a:r>
              <a:rPr lang="en-DE" dirty="0"/>
              <a:t> – </a:t>
            </a:r>
            <a:r>
              <a:rPr lang="en-DE" dirty="0" err="1"/>
              <a:t>Ausgabe</a:t>
            </a:r>
            <a:r>
              <a:rPr lang="en-DE" dirty="0"/>
              <a:t> </a:t>
            </a:r>
            <a:r>
              <a:rPr lang="en-DE" dirty="0" err="1"/>
              <a:t>mit</a:t>
            </a:r>
            <a:r>
              <a:rPr lang="en-DE" dirty="0"/>
              <a:t> Bounding Boxes, </a:t>
            </a:r>
            <a:r>
              <a:rPr lang="en-DE" dirty="0" err="1"/>
              <a:t>Konfidenzwerten</a:t>
            </a:r>
            <a:r>
              <a:rPr lang="en-DE" dirty="0"/>
              <a:t> und </a:t>
            </a:r>
            <a:r>
              <a:rPr lang="en-DE" dirty="0" err="1"/>
              <a:t>Keypoints</a:t>
            </a:r>
            <a:r>
              <a:rPr lang="en-DE" dirty="0"/>
              <a:t>.</a:t>
            </a:r>
            <a:endParaRPr lang="de-DE" dirty="0"/>
          </a:p>
        </p:txBody>
      </p:sp>
      <p:grpSp>
        <p:nvGrpSpPr>
          <p:cNvPr id="11" name="Group 10">
            <a:extLst>
              <a:ext uri="{FF2B5EF4-FFF2-40B4-BE49-F238E27FC236}">
                <a16:creationId xmlns:a16="http://schemas.microsoft.com/office/drawing/2014/main" id="{F515C2DC-A1E3-4621-D8A1-131F1BC0C112}"/>
              </a:ext>
            </a:extLst>
          </p:cNvPr>
          <p:cNvGrpSpPr/>
          <p:nvPr/>
        </p:nvGrpSpPr>
        <p:grpSpPr>
          <a:xfrm>
            <a:off x="20214429" y="30343146"/>
            <a:ext cx="8531228" cy="8770553"/>
            <a:chOff x="20243006" y="32395219"/>
            <a:chExt cx="8531228" cy="8770553"/>
          </a:xfrm>
        </p:grpSpPr>
        <p:pic>
          <p:nvPicPr>
            <p:cNvPr id="23" name="Picture 22">
              <a:extLst>
                <a:ext uri="{FF2B5EF4-FFF2-40B4-BE49-F238E27FC236}">
                  <a16:creationId xmlns:a16="http://schemas.microsoft.com/office/drawing/2014/main" id="{5B0C4976-77C7-2BD0-ED2E-55AFF2D29796}"/>
                </a:ext>
              </a:extLst>
            </p:cNvPr>
            <p:cNvPicPr>
              <a:picLocks noChangeAspect="1"/>
            </p:cNvPicPr>
            <p:nvPr/>
          </p:nvPicPr>
          <p:blipFill rotWithShape="1">
            <a:blip r:embed="rId13" cstate="print">
              <a:extLst>
                <a:ext uri="{28A0092B-C50C-407E-A947-70E740481C1C}">
                  <a14:useLocalDpi xmlns:a14="http://schemas.microsoft.com/office/drawing/2010/main" val="0"/>
                </a:ext>
              </a:extLst>
            </a:blip>
            <a:srcRect t="17009"/>
            <a:stretch>
              <a:fillRect/>
            </a:stretch>
          </p:blipFill>
          <p:spPr bwMode="auto">
            <a:xfrm>
              <a:off x="20243006" y="32395219"/>
              <a:ext cx="8531228" cy="3083472"/>
            </a:xfrm>
            <a:prstGeom prst="rect">
              <a:avLst/>
            </a:prstGeom>
            <a:noFill/>
            <a:ln>
              <a:noFill/>
            </a:ln>
            <a:extLst>
              <a:ext uri="{53640926-AAD7-44D8-BBD7-CCE9431645EC}">
                <a14:shadowObscured xmlns:a14="http://schemas.microsoft.com/office/drawing/2010/main"/>
              </a:ext>
            </a:extLst>
          </p:spPr>
        </p:pic>
        <p:sp>
          <p:nvSpPr>
            <p:cNvPr id="24" name="Textplatzhalter 36">
              <a:extLst>
                <a:ext uri="{FF2B5EF4-FFF2-40B4-BE49-F238E27FC236}">
                  <a16:creationId xmlns:a16="http://schemas.microsoft.com/office/drawing/2014/main" id="{D2631D9A-AB31-A022-1742-57F9E8659A06}"/>
                </a:ext>
              </a:extLst>
            </p:cNvPr>
            <p:cNvSpPr txBox="1">
              <a:spLocks/>
            </p:cNvSpPr>
            <p:nvPr/>
          </p:nvSpPr>
          <p:spPr>
            <a:xfrm>
              <a:off x="20298106" y="40173887"/>
              <a:ext cx="8418906" cy="99188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5: YOLO11n- vs. YOLO26n-Pose </a:t>
              </a:r>
              <a:br>
                <a:rPr lang="de-DE" dirty="0"/>
              </a:br>
              <a:r>
                <a:rPr lang="de-DE" dirty="0"/>
                <a:t>Oben: Qualitativer Vergleich YOLO26 erkennt zusätzlich entfernte Personen. </a:t>
              </a:r>
              <a:br>
                <a:rPr lang="de-DE" dirty="0"/>
              </a:br>
              <a:r>
                <a:rPr lang="de-DE" dirty="0"/>
                <a:t>Unten: Laufzeitkomponenten pro Bild auf zwei CPUs und einer GPU; Fehlerbalken: ±1 Standardabweichung.</a:t>
              </a:r>
            </a:p>
          </p:txBody>
        </p:sp>
        <p:pic>
          <p:nvPicPr>
            <p:cNvPr id="5" name="Graphic 4">
              <a:extLst>
                <a:ext uri="{FF2B5EF4-FFF2-40B4-BE49-F238E27FC236}">
                  <a16:creationId xmlns:a16="http://schemas.microsoft.com/office/drawing/2014/main" id="{EBF47CBD-A06E-5823-9081-9A78EEA3C0D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0308034" y="35583519"/>
              <a:ext cx="8407460" cy="4442222"/>
            </a:xfrm>
            <a:prstGeom prst="rect">
              <a:avLst/>
            </a:prstGeom>
          </p:spPr>
        </p:pic>
      </p:grpSp>
      <p:sp>
        <p:nvSpPr>
          <p:cNvPr id="4" name="Textplatzhalter 31">
            <a:extLst>
              <a:ext uri="{FF2B5EF4-FFF2-40B4-BE49-F238E27FC236}">
                <a16:creationId xmlns:a16="http://schemas.microsoft.com/office/drawing/2014/main" id="{2141C70F-CFA5-7FEC-D432-9959D294EC2C}"/>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pic>
        <p:nvPicPr>
          <p:cNvPr id="3" name="Picture 2">
            <a:extLst>
              <a:ext uri="{FF2B5EF4-FFF2-40B4-BE49-F238E27FC236}">
                <a16:creationId xmlns:a16="http://schemas.microsoft.com/office/drawing/2014/main" id="{AAFA8065-16EE-7F7D-E244-73C75F557281}"/>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541861" y="17748654"/>
            <a:ext cx="8427236" cy="3282013"/>
          </a:xfrm>
          <a:prstGeom prst="rect">
            <a:avLst/>
          </a:prstGeom>
        </p:spPr>
      </p:pic>
    </p:spTree>
    <p:extLst>
      <p:ext uri="{BB962C8B-B14F-4D97-AF65-F5344CB8AC3E}">
        <p14:creationId xmlns:p14="http://schemas.microsoft.com/office/powerpoint/2010/main" val="1390604118"/>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1478</Words>
  <Application>Microsoft Office PowerPoint</Application>
  <PresentationFormat>Custom</PresentationFormat>
  <Paragraphs>126</Paragraphs>
  <Slides>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vt:i4>
      </vt:variant>
    </vt:vector>
  </HeadingPairs>
  <TitlesOfParts>
    <vt:vector size="10" baseType="lpstr">
      <vt:lpstr>Aptos</vt:lpstr>
      <vt:lpstr>Arial</vt:lpstr>
      <vt:lpstr>Cambria Math</vt:lpstr>
      <vt:lpstr>Noto Sans</vt:lpstr>
      <vt:lpstr>Noto Sans Medium</vt:lpstr>
      <vt:lpstr>Noto Sans SemiBold</vt:lpstr>
      <vt:lpstr>Noto Serif</vt:lpstr>
      <vt:lpstr>Office</vt:lpstr>
      <vt:lpstr>Oberseminar Automatisierungstechnik SS2026</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74</cp:revision>
  <dcterms:created xsi:type="dcterms:W3CDTF">2025-09-04T12:04:34Z</dcterms:created>
  <dcterms:modified xsi:type="dcterms:W3CDTF">2026-07-19T20:11:08Z</dcterms:modified>
</cp:coreProperties>
</file>