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2_E5F74A01.xml" ContentType="application/vnd.ms-powerpoint.comments+xml"/>
  <Override PartName="/ppt/comments/modernComment_103_6E82594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58" r:id="rId2"/>
    <p:sldId id="259" r:id="rId3"/>
    <p:sldId id="257" r:id="rId4"/>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93" autoAdjust="0"/>
    <p:restoredTop sz="94660"/>
  </p:normalViewPr>
  <p:slideViewPr>
    <p:cSldViewPr snapToGrid="0" showGuides="1">
      <p:cViewPr>
        <p:scale>
          <a:sx n="33" d="100"/>
          <a:sy n="33" d="100"/>
        </p:scale>
        <p:origin x="840" y="-3216"/>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2_E5F74A01.xml><?xml version="1.0" encoding="utf-8"?>
<p188:cmLst xmlns:a="http://schemas.openxmlformats.org/drawingml/2006/main" xmlns:r="http://schemas.openxmlformats.org/officeDocument/2006/relationships" xmlns:p188="http://schemas.microsoft.com/office/powerpoint/2018/8/main">
  <p188:cm id="{F8A82B58-2AE5-47E2-9978-869139ED8619}"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3858188801" sldId="258"/>
      <ac:spMk id="35" creationId="{01090178-3DA9-47EA-719C-9A6F7C87649B}"/>
    </ac:deMkLst>
    <p188:txBody>
      <a:bodyPr/>
      <a:lstStyle/>
      <a:p>
        <a:r>
          <a:rPr lang="en-DE"/>
          <a:t>@Richard
Lösch einfach die Texte, die du nicht brauchst</a:t>
        </a:r>
      </a:p>
    </p188:txBody>
  </p188:cm>
  <p188:cm id="{4C70E3B9-C37B-42D0-93C2-F21181C5ECB6}"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3858188801" sldId="258"/>
      <ac:graphicFrameMk id="73" creationId="{1AEEAADC-8346-07FE-093A-0C0B63C01F88}"/>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6E76A830-BEF6-41E6-9E7E-9F374E75ED83}"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10" len="42">
        <ac:context len="698" hash="853012638"/>
      </ac:txMk>
    </ac:txMkLst>
    <p188:pos x="7754258" y="1082901"/>
    <p188:txBody>
      <a:bodyPr/>
      <a:lstStyle/>
      <a:p>
        <a:r>
          <a:rPr lang="en-DE"/>
          <a:t>— nur Klasse „Person", pro Instanz: Bounding Box + 17 Keypoints</a:t>
        </a:r>
      </a:p>
    </p188:txBody>
  </p188:cm>
  <p188:cm id="{DB2B3D6B-7019-46C5-9DEA-84E59B810E9C}"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0126DC15-485B-4E30-9208-331B2E7FAC42}"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858188801" sldId="258"/>
      <ac:picMk id="26" creationId="{1D0C6E7D-31DD-D862-25D9-1EFE5731747F}"/>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E766D3D-2217-4F3C-A97D-E0DFC93DE136}"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3858188801" sldId="258"/>
      <ac:picMk id="34" creationId="{8D341E01-AB4D-A084-6E80-184C38D700E7}"/>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BF8A2AB3-FF12-40C0-AD12-DF4443FA8EB9}"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249" len="25">
        <ac:context len="698" hash="853012638"/>
      </ac:txMk>
    </ac:txMkLst>
    <p188:pos x="6926944" y="4276044"/>
    <p188:txBody>
      <a:bodyPr/>
      <a:lstStyle/>
      <a:p>
        <a:r>
          <a:rPr lang="en-DE"/>
          <a:t>verdeckte/mehrdeutige Punkte werden automatisch heruntergewichtet</a:t>
        </a:r>
      </a:p>
    </p188:txBody>
  </p188:cm>
  <p188:cm id="{B5CB0243-2B37-4AA5-9913-6EBD0C3AA82C}"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525" len="57">
        <ac:context len="698" hash="853012638"/>
      </ac:txMk>
    </ac:txMkLst>
    <p188:pos x="8509001" y="7933644"/>
    <p188:txBody>
      <a:bodyPr/>
      <a:lstStyle/>
      <a:p>
        <a:r>
          <a:rPr lang="en-DE"/>
          <a:t>(Boxen &lt; 8 px werden bei der Kandidatenwahl auf 16 px aufgeweitet)</a:t>
        </a:r>
      </a:p>
    </p188:txBody>
  </p188:cm>
  <p188:cm id="{70924A07-E84F-4AE3-ADF2-2CDD529B079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583" len="53">
        <ac:context len="698" hash="853012638"/>
      </ac:txMk>
    </ac:txMkLst>
    <p188:pos x="8064501" y="8885237"/>
    <p188:txBody>
      <a:bodyPr/>
      <a:lstStyle/>
      <a:p>
        <a:r>
          <a:rPr lang="en-DE"/>
          <a:t>(500 statt 600 Epochen)</a:t>
        </a:r>
      </a:p>
    </p188:txBody>
  </p188:cm>
  <p188:cm id="{C6A57355-4D47-4976-8564-5A61C8E254CC}"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340" len="61">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7DD7C774-2FBD-4919-BD92-5C4035B39BB2}"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3858188801" sldId="258"/>
      <ac:spMk id="39" creationId="{4CCA6A15-1D6E-C338-1C6B-39E8F8709B10}"/>
      <ac:txMk cp="637" len="60">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comments/modernComment_103_6E82594D.xml><?xml version="1.0" encoding="utf-8"?>
<p188:cmLst xmlns:a="http://schemas.openxmlformats.org/drawingml/2006/main" xmlns:r="http://schemas.openxmlformats.org/officeDocument/2006/relationships" xmlns:p188="http://schemas.microsoft.com/office/powerpoint/2018/8/main">
  <p188:cm id="{8DD57D58-5111-40B5-94D8-B48D8FF626AE}"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1854036301" sldId="259"/>
      <ac:spMk id="35" creationId="{B2229693-2B0E-1FBF-1E54-40F2C47A6E03}"/>
    </ac:deMkLst>
    <p188:txBody>
      <a:bodyPr/>
      <a:lstStyle/>
      <a:p>
        <a:r>
          <a:rPr lang="en-DE"/>
          <a:t>@Richard
Lösch einfach die Texte, die du nicht brauchst</a:t>
        </a:r>
      </a:p>
    </p188:txBody>
  </p188:cm>
  <p188:cm id="{C476D5C5-C5E9-4BEA-B0DA-124C1AE32920}"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1854036301" sldId="259"/>
      <ac:graphicFrameMk id="73" creationId="{F7F5567A-F4FF-58A9-A714-F08B5772409F}"/>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DA7EEB8-5030-4476-94BA-88684BFCB3CF}"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10">
        <ac:context len="969" hash="2602705858"/>
      </ac:txMk>
    </ac:txMkLst>
    <p188:pos x="7754258" y="1082901"/>
    <p188:txBody>
      <a:bodyPr/>
      <a:lstStyle/>
      <a:p>
        <a:r>
          <a:rPr lang="en-DE"/>
          <a:t>— nur Klasse „Person", pro Instanz: Bounding Box + 17 Keypoints</a:t>
        </a:r>
      </a:p>
    </p188:txBody>
  </p188:cm>
  <p188:cm id="{B53CDAE7-9D43-426A-9095-AAB78199D872}"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57B76B4D-D583-432B-8C51-8256945B03D9}"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1854036301" sldId="259"/>
      <ac:picMk id="26" creationId="{753AA8B6-416F-2CD0-32EC-21F2920185FA}"/>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A888471F-7E43-4599-BA50-81A8D890EF4B}"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1854036301" sldId="259"/>
      <ac:picMk id="34" creationId="{961712F0-A07E-8107-FF28-A960A12C8389}"/>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532DBE4F-110A-458C-BAFB-410CEA743A8C}"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6926944" y="4276044"/>
    <p188:txBody>
      <a:bodyPr/>
      <a:lstStyle/>
      <a:p>
        <a:r>
          <a:rPr lang="en-DE"/>
          <a:t>verdeckte/mehrdeutige Punkte werden automatisch heruntergewichtet</a:t>
        </a:r>
      </a:p>
    </p188:txBody>
  </p188:cm>
  <p188:cm id="{2F61DC9C-98A2-4CA2-B4EB-D55B1BBE35C0}"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509001" y="7933644"/>
    <p188:txBody>
      <a:bodyPr/>
      <a:lstStyle/>
      <a:p>
        <a:r>
          <a:rPr lang="en-DE"/>
          <a:t>(Boxen &lt; 8 px werden bei der Kandidatenwahl auf 16 px aufgeweitet)</a:t>
        </a:r>
      </a:p>
    </p188:txBody>
  </p188:cm>
  <p188:cm id="{24AFD992-8B29-4B6C-9693-5B5290B42B83}"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064501" y="8885237"/>
    <p188:txBody>
      <a:bodyPr/>
      <a:lstStyle/>
      <a:p>
        <a:r>
          <a:rPr lang="en-DE"/>
          <a:t>(500 statt 600 Epochen)</a:t>
        </a:r>
      </a:p>
    </p188:txBody>
  </p188:cm>
  <p188:cm id="{925E77AD-E0F9-4A0E-A09E-541EA28E214C}"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B5E47BCB-3046-4B98-AC21-E85F8762D46C}"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12/07/2026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svg"/><Relationship Id="rId2" Type="http://schemas.microsoft.com/office/2018/10/relationships/comments" Target="../comments/modernComment_102_E5F74A01.xml"/><Relationship Id="rId1" Type="http://schemas.openxmlformats.org/officeDocument/2006/relationships/slideLayout" Target="../slideLayouts/slideLayout2.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hyperlink" Target="https://arxiv.org/pdf/2606.03748?utm_source=chatgpt.com" TargetMode="External"/><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arxiv.org/pdf/2606.03748?utm_source=chatgpt.com" TargetMode="External"/><Relationship Id="rId7" Type="http://schemas.openxmlformats.org/officeDocument/2006/relationships/image" Target="../media/image7.png"/><Relationship Id="rId2" Type="http://schemas.microsoft.com/office/2018/10/relationships/comments" Target="../comments/modernComment_103_6E82594D.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11.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662A1-907B-A551-BB3B-D9A9E1FFDFDD}"/>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3A692FA5-9025-A5AF-4221-D6E55732FB90}"/>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EA610CE-6696-3EB0-18F9-B182E7A80E85}"/>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5AF7E329-DF0C-8541-4094-B551681A2506}"/>
              </a:ext>
            </a:extLst>
          </p:cNvPr>
          <p:cNvSpPr>
            <a:spLocks noGrp="1"/>
          </p:cNvSpPr>
          <p:nvPr>
            <p:ph type="body" sz="quarter" idx="26"/>
          </p:nvPr>
        </p:nvSpPr>
        <p:spPr>
          <a:xfrm>
            <a:off x="1527176" y="22019770"/>
            <a:ext cx="8472488" cy="6726680"/>
          </a:xfrm>
        </p:spPr>
        <p:txBody>
          <a:bodyPr/>
          <a:lstStyle/>
          <a:p>
            <a:pPr algn="just"/>
            <a:r>
              <a:rPr lang="en-DE" b="1" dirty="0" err="1">
                <a:highlight>
                  <a:srgbClr val="00FFFF"/>
                </a:highlight>
              </a:rPr>
              <a:t>Eingangsdaten</a:t>
            </a:r>
            <a:r>
              <a:rPr lang="en-DE" b="1" dirty="0">
                <a:highlight>
                  <a:srgbClr val="00FFFF"/>
                </a:highlight>
              </a:rPr>
              <a:t> des </a:t>
            </a:r>
            <a:r>
              <a:rPr lang="en-DE" b="1" dirty="0" err="1">
                <a:highlight>
                  <a:srgbClr val="00FFFF"/>
                </a:highlight>
              </a:rPr>
              <a:t>Netzes</a:t>
            </a:r>
            <a:r>
              <a:rPr lang="en-DE" b="1" dirty="0">
                <a:highlight>
                  <a:srgbClr val="00FFFF"/>
                </a:highlight>
              </a:rPr>
              <a:t> [F2]</a:t>
            </a:r>
          </a:p>
          <a:p>
            <a:pPr algn="just"/>
            <a:r>
              <a:rPr lang="en-DE" b="1" dirty="0">
                <a:highlight>
                  <a:srgbClr val="00FFFF"/>
                </a:highlight>
              </a:rPr>
              <a:t>float32 [640, 640, 3]</a:t>
            </a:r>
            <a:r>
              <a:rPr lang="en-DE" dirty="0">
                <a:highlight>
                  <a:srgbClr val="00FFFF"/>
                </a:highlight>
              </a:rPr>
              <a:t> </a:t>
            </a:r>
            <a:endParaRPr lang="en-US" dirty="0">
              <a:highlight>
                <a:srgbClr val="00FFFF"/>
              </a:highlight>
            </a:endParaRPr>
          </a:p>
          <a:p>
            <a:pPr algn="just"/>
            <a:r>
              <a:rPr lang="en-DE" dirty="0" err="1">
                <a:highlight>
                  <a:srgbClr val="00FFFF"/>
                </a:highlight>
              </a:rPr>
              <a:t>Höhe</a:t>
            </a:r>
            <a:r>
              <a:rPr lang="en-DE" dirty="0">
                <a:highlight>
                  <a:srgbClr val="00FFFF"/>
                </a:highlight>
              </a:rPr>
              <a:t> × Breite × RGB-</a:t>
            </a:r>
            <a:r>
              <a:rPr lang="en-DE" dirty="0" err="1">
                <a:highlight>
                  <a:srgbClr val="00FFFF"/>
                </a:highlight>
              </a:rPr>
              <a:t>Farbkanäle</a:t>
            </a:r>
            <a:endParaRPr lang="en-DE" dirty="0">
              <a:highlight>
                <a:srgbClr val="00FFFF"/>
              </a:highlight>
            </a:endParaRPr>
          </a:p>
          <a:p>
            <a:pPr algn="just"/>
            <a:r>
              <a:rPr lang="en-DE" b="1" dirty="0" err="1">
                <a:highlight>
                  <a:srgbClr val="00FFFF"/>
                </a:highlight>
              </a:rPr>
              <a:t>Vorverarbeitung</a:t>
            </a:r>
            <a:r>
              <a:rPr lang="en-DE" b="1" dirty="0">
                <a:highlight>
                  <a:srgbClr val="00FFFF"/>
                </a:highlight>
              </a:rPr>
              <a:t>:</a:t>
            </a:r>
            <a:endParaRPr lang="en-DE" dirty="0">
              <a:highlight>
                <a:srgbClr val="00FFFF"/>
              </a:highlight>
            </a:endParaRPr>
          </a:p>
          <a:p>
            <a:pPr algn="just"/>
            <a:r>
              <a:rPr lang="en-DE" dirty="0" err="1">
                <a:highlight>
                  <a:srgbClr val="00FFFF"/>
                </a:highlight>
              </a:rPr>
              <a:t>Skalierung</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Beibehaltung</a:t>
            </a:r>
            <a:r>
              <a:rPr lang="en-DE" dirty="0">
                <a:highlight>
                  <a:srgbClr val="00FFFF"/>
                </a:highlight>
              </a:rPr>
              <a:t> des </a:t>
            </a:r>
            <a:r>
              <a:rPr lang="en-DE" dirty="0" err="1">
                <a:highlight>
                  <a:srgbClr val="00FFFF"/>
                </a:highlight>
              </a:rPr>
              <a:t>Seitenverhältnisses</a:t>
            </a:r>
            <a:r>
              <a:rPr lang="en-DE" dirty="0">
                <a:highlight>
                  <a:srgbClr val="00FFFF"/>
                </a:highlight>
              </a:rPr>
              <a:t> → </a:t>
            </a:r>
            <a:r>
              <a:rPr lang="en-DE" dirty="0" err="1">
                <a:highlight>
                  <a:srgbClr val="00FFFF"/>
                </a:highlight>
              </a:rPr>
              <a:t>längere</a:t>
            </a:r>
            <a:r>
              <a:rPr lang="en-DE" dirty="0">
                <a:highlight>
                  <a:srgbClr val="00FFFF"/>
                </a:highlight>
              </a:rPr>
              <a:t> </a:t>
            </a:r>
            <a:r>
              <a:rPr lang="en-DE" dirty="0" err="1">
                <a:highlight>
                  <a:srgbClr val="00FFFF"/>
                </a:highlight>
              </a:rPr>
              <a:t>Seite</a:t>
            </a:r>
            <a:r>
              <a:rPr lang="en-DE" dirty="0">
                <a:highlight>
                  <a:srgbClr val="00FFFF"/>
                </a:highlight>
              </a:rPr>
              <a:t> = 640 </a:t>
            </a:r>
            <a:r>
              <a:rPr lang="en-DE" dirty="0" err="1">
                <a:highlight>
                  <a:srgbClr val="00FFFF"/>
                </a:highlight>
              </a:rPr>
              <a:t>px</a:t>
            </a:r>
            <a:endParaRPr lang="en-DE" dirty="0">
              <a:highlight>
                <a:srgbClr val="00FFFF"/>
              </a:highlight>
            </a:endParaRPr>
          </a:p>
          <a:p>
            <a:pPr algn="just"/>
            <a:r>
              <a:rPr lang="en-DE" dirty="0">
                <a:highlight>
                  <a:srgbClr val="00FFFF"/>
                </a:highlight>
              </a:rPr>
              <a:t>Padding der </a:t>
            </a:r>
            <a:r>
              <a:rPr lang="en-DE" dirty="0" err="1">
                <a:highlight>
                  <a:srgbClr val="00FFFF"/>
                </a:highlight>
              </a:rPr>
              <a:t>Randbereiche</a:t>
            </a:r>
            <a:r>
              <a:rPr lang="en-DE" dirty="0">
                <a:highlight>
                  <a:srgbClr val="00FFFF"/>
                </a:highlight>
              </a:rPr>
              <a:t> </a:t>
            </a:r>
            <a:r>
              <a:rPr lang="en-DE" dirty="0" err="1">
                <a:highlight>
                  <a:srgbClr val="00FFFF"/>
                </a:highlight>
              </a:rPr>
              <a:t>mit</a:t>
            </a:r>
            <a:r>
              <a:rPr lang="en-DE" dirty="0">
                <a:highlight>
                  <a:srgbClr val="00FFFF"/>
                </a:highlight>
              </a:rPr>
              <a:t> </a:t>
            </a:r>
            <a:r>
              <a:rPr lang="en-DE" dirty="0" err="1">
                <a:highlight>
                  <a:srgbClr val="00FFFF"/>
                </a:highlight>
              </a:rPr>
              <a:t>Nullwerten</a:t>
            </a:r>
            <a:r>
              <a:rPr lang="en-DE" dirty="0">
                <a:highlight>
                  <a:srgbClr val="00FFFF"/>
                </a:highlight>
              </a:rPr>
              <a:t> (schwarz) → </a:t>
            </a:r>
            <a:r>
              <a:rPr lang="en-DE" dirty="0" err="1">
                <a:highlight>
                  <a:srgbClr val="00FFFF"/>
                </a:highlight>
              </a:rPr>
              <a:t>quadratisches</a:t>
            </a:r>
            <a:r>
              <a:rPr lang="en-DE" dirty="0">
                <a:highlight>
                  <a:srgbClr val="00FFFF"/>
                </a:highlight>
              </a:rPr>
              <a:t> Format</a:t>
            </a:r>
          </a:p>
          <a:p>
            <a:pPr algn="just"/>
            <a:r>
              <a:rPr lang="en-DE" dirty="0" err="1">
                <a:highlight>
                  <a:srgbClr val="00FFFF"/>
                </a:highlight>
              </a:rPr>
              <a:t>Normierung</a:t>
            </a:r>
            <a:r>
              <a:rPr lang="en-DE" dirty="0">
                <a:highlight>
                  <a:srgbClr val="00FFFF"/>
                </a:highlight>
              </a:rPr>
              <a:t> der </a:t>
            </a:r>
            <a:r>
              <a:rPr lang="en-DE" dirty="0" err="1">
                <a:highlight>
                  <a:srgbClr val="00FFFF"/>
                </a:highlight>
              </a:rPr>
              <a:t>Pixelwerte</a:t>
            </a:r>
            <a:r>
              <a:rPr lang="en-DE" dirty="0">
                <a:highlight>
                  <a:srgbClr val="00FFFF"/>
                </a:highlight>
              </a:rPr>
              <a:t> auf float32</a:t>
            </a:r>
          </a:p>
        </p:txBody>
      </p:sp>
      <p:sp>
        <p:nvSpPr>
          <p:cNvPr id="35" name="Bildplatzhalter 34">
            <a:extLst>
              <a:ext uri="{FF2B5EF4-FFF2-40B4-BE49-F238E27FC236}">
                <a16:creationId xmlns:a16="http://schemas.microsoft.com/office/drawing/2014/main" id="{01090178-3DA9-47EA-719C-9A6F7C87649B}"/>
              </a:ext>
            </a:extLst>
          </p:cNvPr>
          <p:cNvSpPr>
            <a:spLocks noGrp="1"/>
          </p:cNvSpPr>
          <p:nvPr>
            <p:ph type="pic" sz="quarter" idx="33"/>
          </p:nvPr>
        </p:nvSpPr>
        <p:spPr>
          <a:xfrm>
            <a:off x="1527176" y="12241212"/>
            <a:ext cx="8472488" cy="9160669"/>
          </a:xfrm>
        </p:spPr>
        <p:txBody>
          <a:bodyPr/>
          <a:lstStyle/>
          <a:p>
            <a:pPr algn="just"/>
            <a:r>
              <a:rPr lang="en-US" b="1" dirty="0">
                <a:highlight>
                  <a:srgbClr val="00FFFF"/>
                </a:highlight>
              </a:rPr>
              <a:t>Motivation &amp; </a:t>
            </a:r>
            <a:r>
              <a:rPr lang="en-US" b="1" dirty="0" err="1">
                <a:highlight>
                  <a:srgbClr val="00FFFF"/>
                </a:highlight>
              </a:rPr>
              <a:t>Einordnung</a:t>
            </a:r>
            <a:endParaRPr lang="en-US" b="1" dirty="0">
              <a:highlight>
                <a:srgbClr val="00FFFF"/>
              </a:highlight>
            </a:endParaRPr>
          </a:p>
          <a:p>
            <a:pPr algn="just"/>
            <a:r>
              <a:rPr lang="en-DE" b="1" dirty="0" err="1">
                <a:highlight>
                  <a:srgbClr val="00FFFF"/>
                </a:highlight>
              </a:rPr>
              <a:t>Posenbestimmung</a:t>
            </a:r>
            <a:r>
              <a:rPr lang="en-DE" b="1" dirty="0">
                <a:highlight>
                  <a:srgbClr val="00FFFF"/>
                </a:highlight>
              </a:rPr>
              <a:t> in der Navigation </a:t>
            </a:r>
            <a:r>
              <a:rPr lang="en-DE" b="1" dirty="0" err="1">
                <a:highlight>
                  <a:srgbClr val="00FFFF"/>
                </a:highlight>
              </a:rPr>
              <a:t>mobiler</a:t>
            </a:r>
            <a:r>
              <a:rPr lang="en-DE" b="1" dirty="0">
                <a:highlight>
                  <a:srgbClr val="00FFFF"/>
                </a:highlight>
              </a:rPr>
              <a:t> </a:t>
            </a:r>
            <a:r>
              <a:rPr lang="en-DE" b="1" dirty="0" err="1">
                <a:highlight>
                  <a:srgbClr val="00FFFF"/>
                </a:highlight>
              </a:rPr>
              <a:t>Roboter</a:t>
            </a:r>
            <a:endParaRPr lang="en-DE" dirty="0">
              <a:highlight>
                <a:srgbClr val="00FFFF"/>
              </a:highlight>
            </a:endParaRPr>
          </a:p>
          <a:p>
            <a:pPr algn="just"/>
            <a:r>
              <a:rPr lang="en-DE" dirty="0">
                <a:highlight>
                  <a:srgbClr val="00FFFF"/>
                </a:highlight>
              </a:rPr>
              <a:t>Navigation = </a:t>
            </a:r>
            <a:r>
              <a:rPr lang="en-DE" dirty="0" err="1">
                <a:highlight>
                  <a:srgbClr val="00FFFF"/>
                </a:highlight>
              </a:rPr>
              <a:t>Wahrnehmung</a:t>
            </a:r>
            <a:r>
              <a:rPr lang="en-DE" dirty="0">
                <a:highlight>
                  <a:srgbClr val="00FFFF"/>
                </a:highlight>
              </a:rPr>
              <a:t> &amp; Interpretation der </a:t>
            </a:r>
            <a:r>
              <a:rPr lang="en-DE" dirty="0" err="1">
                <a:highlight>
                  <a:srgbClr val="00FFFF"/>
                </a:highlight>
              </a:rPr>
              <a:t>Umgebung</a:t>
            </a:r>
            <a:r>
              <a:rPr lang="en-DE" dirty="0">
                <a:highlight>
                  <a:srgbClr val="00FFFF"/>
                </a:highlight>
              </a:rPr>
              <a:t> (Localization &amp; Mapping) → </a:t>
            </a:r>
            <a:r>
              <a:rPr lang="en-DE" dirty="0" err="1">
                <a:highlight>
                  <a:srgbClr val="00FFFF"/>
                </a:highlight>
              </a:rPr>
              <a:t>Grundlage</a:t>
            </a:r>
            <a:r>
              <a:rPr lang="en-DE" dirty="0">
                <a:highlight>
                  <a:srgbClr val="00FFFF"/>
                </a:highlight>
              </a:rPr>
              <a:t> für Guidance &amp; Control</a:t>
            </a:r>
          </a:p>
          <a:p>
            <a:pPr algn="just"/>
            <a:r>
              <a:rPr lang="en-DE" dirty="0" err="1">
                <a:highlight>
                  <a:srgbClr val="00FFFF"/>
                </a:highlight>
              </a:rPr>
              <a:t>Personen</a:t>
            </a:r>
            <a:r>
              <a:rPr lang="en-DE" dirty="0">
                <a:highlight>
                  <a:srgbClr val="00FFFF"/>
                </a:highlight>
              </a:rPr>
              <a:t> </a:t>
            </a:r>
            <a:r>
              <a:rPr lang="en-DE" dirty="0" err="1">
                <a:highlight>
                  <a:srgbClr val="00FFFF"/>
                </a:highlight>
              </a:rPr>
              <a:t>sind</a:t>
            </a:r>
            <a:r>
              <a:rPr lang="en-DE" dirty="0">
                <a:highlight>
                  <a:srgbClr val="00FFFF"/>
                </a:highlight>
              </a:rPr>
              <a:t> </a:t>
            </a:r>
            <a:r>
              <a:rPr lang="en-DE" b="1" dirty="0" err="1">
                <a:highlight>
                  <a:srgbClr val="00FFFF"/>
                </a:highlight>
              </a:rPr>
              <a:t>dynamische</a:t>
            </a:r>
            <a:r>
              <a:rPr lang="en-DE" b="1" dirty="0">
                <a:highlight>
                  <a:srgbClr val="00FFFF"/>
                </a:highlight>
              </a:rPr>
              <a:t> </a:t>
            </a:r>
            <a:r>
              <a:rPr lang="en-DE" b="1" dirty="0" err="1">
                <a:highlight>
                  <a:srgbClr val="00FFFF"/>
                </a:highlight>
              </a:rPr>
              <a:t>Objekte</a:t>
            </a:r>
            <a:r>
              <a:rPr lang="en-DE" dirty="0">
                <a:highlight>
                  <a:srgbClr val="00FFFF"/>
                </a:highlight>
              </a:rPr>
              <a:t>: </a:t>
            </a:r>
            <a:r>
              <a:rPr lang="en-DE" dirty="0" err="1">
                <a:highlight>
                  <a:srgbClr val="00FFFF"/>
                </a:highlight>
              </a:rPr>
              <a:t>Roboter</a:t>
            </a:r>
            <a:r>
              <a:rPr lang="en-DE" dirty="0">
                <a:highlight>
                  <a:srgbClr val="00FFFF"/>
                </a:highlight>
              </a:rPr>
              <a:t> muss nicht </a:t>
            </a:r>
            <a:r>
              <a:rPr lang="en-DE" dirty="0" err="1">
                <a:highlight>
                  <a:srgbClr val="00FFFF"/>
                </a:highlight>
              </a:rPr>
              <a:t>nur</a:t>
            </a:r>
            <a:r>
              <a:rPr lang="en-DE" dirty="0">
                <a:highlight>
                  <a:srgbClr val="00FFFF"/>
                </a:highlight>
              </a:rPr>
              <a:t> Position, </a:t>
            </a:r>
            <a:r>
              <a:rPr lang="en-DE" dirty="0" err="1">
                <a:highlight>
                  <a:srgbClr val="00FFFF"/>
                </a:highlight>
              </a:rPr>
              <a:t>sondern</a:t>
            </a:r>
            <a:r>
              <a:rPr lang="en-DE" dirty="0">
                <a:highlight>
                  <a:srgbClr val="00FFFF"/>
                </a:highlight>
              </a:rPr>
              <a:t> </a:t>
            </a:r>
            <a:r>
              <a:rPr lang="en-DE" dirty="0" err="1">
                <a:highlight>
                  <a:srgbClr val="00FFFF"/>
                </a:highlight>
              </a:rPr>
              <a:t>auch</a:t>
            </a:r>
            <a:r>
              <a:rPr lang="en-DE" dirty="0">
                <a:highlight>
                  <a:srgbClr val="00FFFF"/>
                </a:highlight>
              </a:rPr>
              <a:t> </a:t>
            </a:r>
            <a:r>
              <a:rPr lang="en-DE" b="1" dirty="0" err="1">
                <a:highlight>
                  <a:srgbClr val="00FFFF"/>
                </a:highlight>
              </a:rPr>
              <a:t>Haltung</a:t>
            </a:r>
            <a:r>
              <a:rPr lang="en-DE" b="1" dirty="0">
                <a:highlight>
                  <a:srgbClr val="00FFFF"/>
                </a:highlight>
              </a:rPr>
              <a:t> &amp; </a:t>
            </a:r>
            <a:r>
              <a:rPr lang="en-DE" b="1" dirty="0" err="1">
                <a:highlight>
                  <a:srgbClr val="00FFFF"/>
                </a:highlight>
              </a:rPr>
              <a:t>Bewegungsabsicht</a:t>
            </a:r>
            <a:r>
              <a:rPr lang="en-DE" dirty="0">
                <a:highlight>
                  <a:srgbClr val="00FFFF"/>
                </a:highlight>
              </a:rPr>
              <a:t> </a:t>
            </a:r>
            <a:r>
              <a:rPr lang="en-DE" dirty="0" err="1">
                <a:highlight>
                  <a:srgbClr val="00FFFF"/>
                </a:highlight>
              </a:rPr>
              <a:t>erfassen</a:t>
            </a:r>
            <a:endParaRPr lang="en-DE" dirty="0">
              <a:highlight>
                <a:srgbClr val="00FFFF"/>
              </a:highlight>
            </a:endParaRPr>
          </a:p>
          <a:p>
            <a:pPr algn="just"/>
            <a:r>
              <a:rPr lang="en-DE" dirty="0" err="1">
                <a:highlight>
                  <a:srgbClr val="00FFFF"/>
                </a:highlight>
              </a:rPr>
              <a:t>Keypoint-basierte</a:t>
            </a:r>
            <a:r>
              <a:rPr lang="en-DE" dirty="0">
                <a:highlight>
                  <a:srgbClr val="00FFFF"/>
                </a:highlight>
              </a:rPr>
              <a:t> </a:t>
            </a:r>
            <a:r>
              <a:rPr lang="en-DE" dirty="0" err="1">
                <a:highlight>
                  <a:srgbClr val="00FFFF"/>
                </a:highlight>
              </a:rPr>
              <a:t>Körperposen</a:t>
            </a:r>
            <a:r>
              <a:rPr lang="en-DE" dirty="0">
                <a:highlight>
                  <a:srgbClr val="00FFFF"/>
                </a:highlight>
              </a:rPr>
              <a:t> </a:t>
            </a:r>
            <a:r>
              <a:rPr lang="en-DE" dirty="0" err="1">
                <a:highlight>
                  <a:srgbClr val="00FFFF"/>
                </a:highlight>
              </a:rPr>
              <a:t>ermöglichen</a:t>
            </a:r>
            <a:r>
              <a:rPr lang="en-DE" dirty="0">
                <a:highlight>
                  <a:srgbClr val="00FFFF"/>
                </a:highlight>
              </a:rPr>
              <a:t>: </a:t>
            </a:r>
          </a:p>
          <a:p>
            <a:pPr marL="457200" indent="-457200" algn="just">
              <a:buFont typeface="Arial" panose="020B0604020202020204" pitchFamily="34" charset="0"/>
              <a:buChar char="•"/>
            </a:pPr>
            <a:r>
              <a:rPr lang="en-DE" dirty="0" err="1">
                <a:highlight>
                  <a:srgbClr val="00FFFF"/>
                </a:highlight>
              </a:rPr>
              <a:t>vorausschauende</a:t>
            </a:r>
            <a:r>
              <a:rPr lang="en-DE" dirty="0">
                <a:highlight>
                  <a:srgbClr val="00FFFF"/>
                </a:highlight>
              </a:rPr>
              <a:t> </a:t>
            </a:r>
            <a:r>
              <a:rPr lang="en-DE" dirty="0" err="1">
                <a:highlight>
                  <a:srgbClr val="00FFFF"/>
                </a:highlight>
              </a:rPr>
              <a:t>Bahnplanung</a:t>
            </a:r>
            <a:r>
              <a:rPr lang="en-DE" dirty="0">
                <a:highlight>
                  <a:srgbClr val="00FFFF"/>
                </a:highlight>
              </a:rPr>
              <a:t> &amp; </a:t>
            </a:r>
            <a:r>
              <a:rPr lang="en-DE" dirty="0" err="1">
                <a:highlight>
                  <a:srgbClr val="00FFFF"/>
                </a:highlight>
              </a:rPr>
              <a:t>Kollisionsvermeidung</a:t>
            </a:r>
            <a:endParaRPr lang="en-DE" dirty="0">
              <a:highlight>
                <a:srgbClr val="00FFFF"/>
              </a:highlight>
            </a:endParaRPr>
          </a:p>
          <a:p>
            <a:pPr marL="457200" indent="-457200" algn="just">
              <a:buFont typeface="Arial" panose="020B0604020202020204" pitchFamily="34" charset="0"/>
              <a:buChar char="•"/>
            </a:pPr>
            <a:r>
              <a:rPr lang="en-DE" dirty="0">
                <a:highlight>
                  <a:srgbClr val="00FFFF"/>
                </a:highlight>
              </a:rPr>
              <a:t>Mensch-Roboter-Interaktion (</a:t>
            </a:r>
            <a:r>
              <a:rPr lang="en-DE" dirty="0" err="1">
                <a:highlight>
                  <a:srgbClr val="00FFFF"/>
                </a:highlight>
              </a:rPr>
              <a:t>Gestenerkennung</a:t>
            </a:r>
            <a:r>
              <a:rPr lang="en-DE" dirty="0">
                <a:highlight>
                  <a:srgbClr val="00FFFF"/>
                </a:highlight>
              </a:rPr>
              <a:t>, </a:t>
            </a:r>
            <a:r>
              <a:rPr lang="en-DE" dirty="0" err="1">
                <a:highlight>
                  <a:srgbClr val="00FFFF"/>
                </a:highlight>
              </a:rPr>
              <a:t>Annäherungsposition</a:t>
            </a:r>
            <a:r>
              <a:rPr lang="en-DE" dirty="0">
                <a:highlight>
                  <a:srgbClr val="00FFFF"/>
                </a:highlight>
              </a:rPr>
              <a:t>)</a:t>
            </a:r>
          </a:p>
          <a:p>
            <a:pPr algn="just"/>
            <a:r>
              <a:rPr lang="en-DE" dirty="0" err="1">
                <a:highlight>
                  <a:srgbClr val="00FFFF"/>
                </a:highlight>
              </a:rPr>
              <a:t>Gelöste</a:t>
            </a:r>
            <a:r>
              <a:rPr lang="en-DE" dirty="0">
                <a:highlight>
                  <a:srgbClr val="00FFFF"/>
                </a:highlight>
              </a:rPr>
              <a:t> </a:t>
            </a:r>
            <a:r>
              <a:rPr lang="en-DE" dirty="0" err="1">
                <a:highlight>
                  <a:srgbClr val="00FFFF"/>
                </a:highlight>
              </a:rPr>
              <a:t>Teilaufgabe</a:t>
            </a:r>
            <a:r>
              <a:rPr lang="en-DE" dirty="0">
                <a:highlight>
                  <a:srgbClr val="00FFFF"/>
                </a:highlight>
              </a:rPr>
              <a:t>: </a:t>
            </a:r>
            <a:r>
              <a:rPr lang="en-DE" b="1" dirty="0" err="1">
                <a:highlight>
                  <a:srgbClr val="00FFFF"/>
                </a:highlight>
              </a:rPr>
              <a:t>Detektion</a:t>
            </a:r>
            <a:r>
              <a:rPr lang="en-DE" b="1" dirty="0">
                <a:highlight>
                  <a:srgbClr val="00FFFF"/>
                </a:highlight>
              </a:rPr>
              <a:t> von </a:t>
            </a:r>
            <a:r>
              <a:rPr lang="en-DE" b="1" dirty="0" err="1">
                <a:highlight>
                  <a:srgbClr val="00FFFF"/>
                </a:highlight>
              </a:rPr>
              <a:t>Personen</a:t>
            </a:r>
            <a:r>
              <a:rPr lang="en-DE" b="1" dirty="0">
                <a:highlight>
                  <a:srgbClr val="00FFFF"/>
                </a:highlight>
              </a:rPr>
              <a:t> + </a:t>
            </a:r>
            <a:r>
              <a:rPr lang="en-DE" b="1" dirty="0" err="1">
                <a:highlight>
                  <a:srgbClr val="00FFFF"/>
                </a:highlight>
              </a:rPr>
              <a:t>Schätzung</a:t>
            </a:r>
            <a:r>
              <a:rPr lang="en-DE" b="1" dirty="0">
                <a:highlight>
                  <a:srgbClr val="00FFFF"/>
                </a:highlight>
              </a:rPr>
              <a:t> von 17 Körper-</a:t>
            </a:r>
            <a:r>
              <a:rPr lang="en-DE" b="1" dirty="0" err="1">
                <a:highlight>
                  <a:srgbClr val="00FFFF"/>
                </a:highlight>
              </a:rPr>
              <a:t>Keypoints</a:t>
            </a:r>
            <a:r>
              <a:rPr lang="en-DE" b="1" dirty="0">
                <a:highlight>
                  <a:srgbClr val="00FFFF"/>
                </a:highlight>
              </a:rPr>
              <a:t> in 2D-Bildern</a:t>
            </a:r>
            <a:r>
              <a:rPr lang="en-DE" dirty="0">
                <a:highlight>
                  <a:srgbClr val="00FFFF"/>
                </a:highlight>
              </a:rPr>
              <a:t> </a:t>
            </a:r>
            <a:r>
              <a:rPr lang="en-DE" dirty="0" err="1">
                <a:highlight>
                  <a:srgbClr val="00FFFF"/>
                </a:highlight>
              </a:rPr>
              <a:t>mit</a:t>
            </a:r>
            <a:r>
              <a:rPr lang="en-DE" dirty="0">
                <a:highlight>
                  <a:srgbClr val="00FFFF"/>
                </a:highlight>
              </a:rPr>
              <a:t> YOLO26-Pose</a:t>
            </a:r>
          </a:p>
          <a:p>
            <a:pPr algn="just"/>
            <a:endParaRPr lang="en-DE" b="1" dirty="0">
              <a:highlight>
                <a:srgbClr val="00FFFF"/>
              </a:highlight>
            </a:endParaRPr>
          </a:p>
        </p:txBody>
      </p:sp>
      <p:sp>
        <p:nvSpPr>
          <p:cNvPr id="38" name="Bildplatzhalter 37">
            <a:extLst>
              <a:ext uri="{FF2B5EF4-FFF2-40B4-BE49-F238E27FC236}">
                <a16:creationId xmlns:a16="http://schemas.microsoft.com/office/drawing/2014/main" id="{97CF74B9-95BC-2A4F-D416-9CC46052AB26}"/>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mc:Choice xmlns:a14="http://schemas.microsoft.com/office/drawing/2010/main" Requires="a14">
          <p:sp>
            <p:nvSpPr>
              <p:cNvPr id="39" name="Bildplatzhalter 38">
                <a:extLst>
                  <a:ext uri="{FF2B5EF4-FFF2-40B4-BE49-F238E27FC236}">
                    <a16:creationId xmlns:a16="http://schemas.microsoft.com/office/drawing/2014/main" id="{4CCA6A15-1D6E-C338-1C6B-39E8F8709B10}"/>
                  </a:ext>
                </a:extLst>
              </p:cNvPr>
              <p:cNvSpPr>
                <a:spLocks noGrp="1"/>
              </p:cNvSpPr>
              <p:nvPr>
                <p:ph type="pic" sz="quarter" idx="48"/>
              </p:nvPr>
            </p:nvSpPr>
            <p:spPr>
              <a:xfrm>
                <a:off x="20243799" y="12241213"/>
                <a:ext cx="8472488" cy="9914525"/>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b="1" dirty="0" err="1"/>
                  <a:t>Datensatz</a:t>
                </a:r>
                <a:r>
                  <a:rPr lang="en-DE" b="1" dirty="0"/>
                  <a:t>:</a:t>
                </a:r>
                <a:r>
                  <a:rPr lang="en-DE" dirty="0"/>
                  <a:t> COCO-Pose (COCO </a:t>
                </a:r>
                <a:r>
                  <a:rPr lang="en-DE" dirty="0" err="1"/>
                  <a:t>Keypoints</a:t>
                </a:r>
                <a:r>
                  <a:rPr lang="en-DE" dirty="0"/>
                  <a:t> 2017)</a:t>
                </a:r>
              </a:p>
              <a:p>
                <a:pPr algn="just">
                  <a:spcBef>
                    <a:spcPts val="0"/>
                  </a:spcBef>
                </a:pPr>
                <a:r>
                  <a:rPr lang="en-DE" b="1" dirty="0" err="1"/>
                  <a:t>Gesamtverlust</a:t>
                </a:r>
                <a:r>
                  <a:rPr lang="en-DE" b="1" dirty="0"/>
                  <a:t>:</a:t>
                </a:r>
                <a:endParaRPr lang="en-DE" dirty="0"/>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spcBef>
                    <a:spcPts val="0"/>
                  </a:spcBef>
                  <a:buFont typeface="Arial" panose="020B0604020202020204" pitchFamily="34" charset="0"/>
                  <a:buChar char="•"/>
                </a:pPr>
                <a:endParaRPr lang="en-US" i="1" dirty="0">
                  <a:latin typeface="Cambria Math" panose="02040503050406030204" pitchFamily="18" charset="0"/>
                </a:endParaRP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gn="just">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gn="just">
                  <a:lnSpc>
                    <a:spcPct val="100000"/>
                  </a:lnSpc>
                  <a:spcBef>
                    <a:spcPts val="0"/>
                  </a:spcBef>
                </a:pPr>
                <a:endParaRPr lang="en-DE" dirty="0"/>
              </a:p>
              <a:p>
                <a:pPr algn="just">
                  <a:spcBef>
                    <a:spcPts val="0"/>
                  </a:spcBef>
                </a:pPr>
                <a:r>
                  <a:rPr lang="en-DE" b="1" dirty="0"/>
                  <a:t>YOLO26-Trainingstechniken:</a:t>
                </a:r>
                <a:endParaRPr lang="en-DE" dirty="0"/>
              </a:p>
              <a:p>
                <a:pPr marL="457200" indent="-457200" algn="just">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gn="just">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gn="just">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gn="just">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gn="just">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p:sp>
            <p:nvSpPr>
              <p:cNvPr id="39" name="Bildplatzhalter 38">
                <a:extLst>
                  <a:ext uri="{FF2B5EF4-FFF2-40B4-BE49-F238E27FC236}">
                    <a16:creationId xmlns:a16="http://schemas.microsoft.com/office/drawing/2014/main" id="{4CCA6A15-1D6E-C338-1C6B-39E8F8709B10}"/>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2446"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E82295C3-D8CB-90A4-ECAA-6DEA2B16E1FD}"/>
              </a:ext>
            </a:extLst>
          </p:cNvPr>
          <p:cNvSpPr>
            <a:spLocks noGrp="1"/>
          </p:cNvSpPr>
          <p:nvPr>
            <p:ph type="body" sz="quarter" idx="51"/>
          </p:nvPr>
        </p:nvSpPr>
        <p:spPr>
          <a:xfrm>
            <a:off x="20272375" y="39554845"/>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C382F5D-6299-B6B3-A93A-1A40E113041F}"/>
              </a:ext>
            </a:extLst>
          </p:cNvPr>
          <p:cNvSpPr>
            <a:spLocks noGrp="1"/>
          </p:cNvSpPr>
          <p:nvPr>
            <p:ph type="body" sz="quarter" idx="52"/>
          </p:nvPr>
        </p:nvSpPr>
        <p:spPr>
          <a:xfrm>
            <a:off x="20213637" y="38928634"/>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3349C028-D861-0EF0-AC93-83AD90CC5ED1}"/>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D6FB69DD-136D-8195-B308-56E284C7D656}"/>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FF2AEF08-B612-5B96-C212-CD7C57A0E2EB}"/>
              </a:ext>
            </a:extLst>
          </p:cNvPr>
          <p:cNvSpPr txBox="1">
            <a:spLocks/>
          </p:cNvSpPr>
          <p:nvPr/>
        </p:nvSpPr>
        <p:spPr>
          <a:xfrm>
            <a:off x="1527175" y="29030170"/>
            <a:ext cx="8472488" cy="1059201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r>
              <a:rPr lang="en-DE" b="1" dirty="0" err="1">
                <a:highlight>
                  <a:srgbClr val="00FFFF"/>
                </a:highlight>
              </a:rPr>
              <a:t>Ausgangsdaten</a:t>
            </a:r>
            <a:r>
              <a:rPr lang="en-DE" b="1" dirty="0">
                <a:highlight>
                  <a:srgbClr val="00FFFF"/>
                </a:highlight>
              </a:rPr>
              <a:t> des </a:t>
            </a:r>
            <a:r>
              <a:rPr lang="en-DE" b="1" dirty="0" err="1">
                <a:highlight>
                  <a:srgbClr val="00FFFF"/>
                </a:highlight>
              </a:rPr>
              <a:t>Netzes</a:t>
            </a:r>
            <a:r>
              <a:rPr lang="en-DE" b="1" dirty="0">
                <a:highlight>
                  <a:srgbClr val="00FFFF"/>
                </a:highlight>
              </a:rPr>
              <a:t> [F3]</a:t>
            </a:r>
            <a:endParaRPr lang="en-US" b="1" dirty="0">
              <a:highlight>
                <a:srgbClr val="00FFFF"/>
              </a:highlight>
            </a:endParaRPr>
          </a:p>
          <a:p>
            <a:pPr algn="just"/>
            <a:r>
              <a:rPr lang="en-DE" b="1" dirty="0">
                <a:highlight>
                  <a:srgbClr val="00FFFF"/>
                </a:highlight>
              </a:rPr>
              <a:t>float32 [300, 57]</a:t>
            </a:r>
            <a:endParaRPr lang="en-US" b="1" dirty="0">
              <a:highlight>
                <a:srgbClr val="00FFFF"/>
              </a:highlight>
            </a:endParaRPr>
          </a:p>
          <a:p>
            <a:pPr algn="just"/>
            <a:r>
              <a:rPr lang="en-US" b="1" dirty="0" err="1">
                <a:highlight>
                  <a:srgbClr val="00FFFF"/>
                </a:highlight>
              </a:rPr>
              <a:t>Nachbearbeitung</a:t>
            </a:r>
            <a:r>
              <a:rPr lang="en-US" b="1" dirty="0">
                <a:highlight>
                  <a:srgbClr val="00FFFF"/>
                </a:highlight>
              </a:rPr>
              <a:t> </a:t>
            </a:r>
            <a:r>
              <a:rPr lang="en-DE" b="1" dirty="0">
                <a:highlight>
                  <a:srgbClr val="00FFFF"/>
                </a:highlight>
              </a:rPr>
              <a:t>[F</a:t>
            </a:r>
            <a:r>
              <a:rPr lang="en-US" b="1" dirty="0">
                <a:highlight>
                  <a:srgbClr val="00FFFF"/>
                </a:highlight>
              </a:rPr>
              <a:t>4</a:t>
            </a:r>
            <a:r>
              <a:rPr lang="en-DE" b="1" dirty="0">
                <a:highlight>
                  <a:srgbClr val="00FFFF"/>
                </a:highlight>
              </a:rPr>
              <a:t>]</a:t>
            </a:r>
            <a:endParaRPr lang="en-US" b="1" dirty="0">
              <a:highlight>
                <a:srgbClr val="00FFFF"/>
              </a:highlight>
            </a:endParaRPr>
          </a:p>
          <a:p>
            <a:pPr algn="just"/>
            <a:r>
              <a:rPr lang="en-DE" b="1" dirty="0" err="1">
                <a:highlight>
                  <a:srgbClr val="00FFFF"/>
                </a:highlight>
              </a:rPr>
              <a:t>Ausgangsdaten</a:t>
            </a:r>
            <a:r>
              <a:rPr lang="en-DE" b="1" dirty="0">
                <a:highlight>
                  <a:srgbClr val="00FFFF"/>
                </a:highlight>
              </a:rPr>
              <a:t> der </a:t>
            </a:r>
            <a:r>
              <a:rPr lang="en-DE" b="1" dirty="0" err="1">
                <a:highlight>
                  <a:srgbClr val="00FFFF"/>
                </a:highlight>
              </a:rPr>
              <a:t>Nachbearbeitung</a:t>
            </a:r>
            <a:r>
              <a:rPr lang="en-DE" b="1" dirty="0">
                <a:highlight>
                  <a:srgbClr val="00FFFF"/>
                </a:highlight>
              </a:rPr>
              <a:t>:</a:t>
            </a:r>
            <a:endParaRPr lang="en-DE" dirty="0">
              <a:highlight>
                <a:srgbClr val="00FFFF"/>
              </a:highlight>
            </a:endParaRPr>
          </a:p>
          <a:p>
            <a:pPr algn="just"/>
            <a:r>
              <a:rPr lang="en-DE" b="1" dirty="0" err="1">
                <a:highlight>
                  <a:srgbClr val="00FFFF"/>
                </a:highlight>
              </a:rPr>
              <a:t>Konfidenz-Filterung</a:t>
            </a:r>
            <a:r>
              <a:rPr lang="en-DE" b="1" dirty="0">
                <a:highlight>
                  <a:srgbClr val="00FFFF"/>
                </a:highlight>
              </a:rPr>
              <a:t>:</a:t>
            </a:r>
            <a:r>
              <a:rPr lang="en-DE" dirty="0">
                <a:highlight>
                  <a:srgbClr val="00FFFF"/>
                </a:highlight>
              </a:rPr>
              <a:t> </a:t>
            </a:r>
            <a:endParaRPr lang="en-US" dirty="0">
              <a:highlight>
                <a:srgbClr val="00FFFF"/>
              </a:highlight>
            </a:endParaRPr>
          </a:p>
          <a:p>
            <a:pPr algn="just"/>
            <a:r>
              <a:rPr lang="en-DE" dirty="0">
                <a:highlight>
                  <a:srgbClr val="00FFFF"/>
                </a:highlight>
              </a:rPr>
              <a:t>→ </a:t>
            </a:r>
            <a:r>
              <a:rPr lang="en-DE" dirty="0" err="1">
                <a:highlight>
                  <a:srgbClr val="00FFFF"/>
                </a:highlight>
              </a:rPr>
              <a:t>Detektionen</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Schwellwert</a:t>
            </a:r>
            <a:r>
              <a:rPr lang="en-DE" dirty="0">
                <a:highlight>
                  <a:srgbClr val="00FFFF"/>
                </a:highlight>
              </a:rPr>
              <a:t> </a:t>
            </a:r>
            <a:r>
              <a:rPr lang="en-DE" dirty="0" err="1">
                <a:highlight>
                  <a:srgbClr val="00FFFF"/>
                </a:highlight>
              </a:rPr>
              <a:t>werden</a:t>
            </a:r>
            <a:r>
              <a:rPr lang="en-DE" dirty="0">
                <a:highlight>
                  <a:srgbClr val="00FFFF"/>
                </a:highlight>
              </a:rPr>
              <a:t> </a:t>
            </a:r>
            <a:r>
              <a:rPr lang="en-DE" dirty="0" err="1">
                <a:highlight>
                  <a:srgbClr val="00FFFF"/>
                </a:highlight>
              </a:rPr>
              <a:t>verworfen</a:t>
            </a:r>
            <a:r>
              <a:rPr lang="en-DE" dirty="0">
                <a:highlight>
                  <a:srgbClr val="00FFFF"/>
                </a:highlight>
              </a:rPr>
              <a:t> </a:t>
            </a:r>
            <a:endParaRPr lang="en-US" dirty="0">
              <a:highlight>
                <a:srgbClr val="00FFFF"/>
              </a:highlight>
            </a:endParaRPr>
          </a:p>
          <a:p>
            <a:pPr algn="just"/>
            <a:r>
              <a:rPr lang="en-DE" dirty="0">
                <a:highlight>
                  <a:srgbClr val="00FFFF"/>
                </a:highlight>
              </a:rPr>
              <a:t>→ [300, 57] → </a:t>
            </a:r>
            <a:r>
              <a:rPr lang="en-DE" b="1" dirty="0">
                <a:highlight>
                  <a:srgbClr val="00FFFF"/>
                </a:highlight>
              </a:rPr>
              <a:t>[P, 57]</a:t>
            </a:r>
            <a:r>
              <a:rPr lang="en-US" b="1" dirty="0">
                <a:highlight>
                  <a:srgbClr val="00FFFF"/>
                </a:highlight>
              </a:rPr>
              <a:t> (</a:t>
            </a:r>
            <a:r>
              <a:rPr lang="en-DE" dirty="0">
                <a:highlight>
                  <a:srgbClr val="00FFFF"/>
                </a:highlight>
              </a:rPr>
              <a:t>P = </a:t>
            </a:r>
            <a:r>
              <a:rPr lang="en-DE" dirty="0" err="1">
                <a:highlight>
                  <a:srgbClr val="00FFFF"/>
                </a:highlight>
              </a:rPr>
              <a:t>tatsächlich</a:t>
            </a:r>
            <a:r>
              <a:rPr lang="en-DE" dirty="0">
                <a:highlight>
                  <a:srgbClr val="00FFFF"/>
                </a:highlight>
              </a:rPr>
              <a:t> </a:t>
            </a:r>
            <a:r>
              <a:rPr lang="en-DE" dirty="0" err="1">
                <a:highlight>
                  <a:srgbClr val="00FFFF"/>
                </a:highlight>
              </a:rPr>
              <a:t>erkannte</a:t>
            </a:r>
            <a:r>
              <a:rPr lang="en-DE" dirty="0">
                <a:highlight>
                  <a:srgbClr val="00FFFF"/>
                </a:highlight>
              </a:rPr>
              <a:t> </a:t>
            </a:r>
            <a:r>
              <a:rPr lang="en-DE" dirty="0" err="1">
                <a:highlight>
                  <a:srgbClr val="00FFFF"/>
                </a:highlight>
              </a:rPr>
              <a:t>Personen</a:t>
            </a:r>
            <a:r>
              <a:rPr lang="en-US" dirty="0">
                <a:highlight>
                  <a:srgbClr val="00FFFF"/>
                </a:highlight>
              </a:rPr>
              <a:t>)</a:t>
            </a:r>
            <a:endParaRPr lang="en-DE" dirty="0">
              <a:highlight>
                <a:srgbClr val="00FFFF"/>
              </a:highlight>
            </a:endParaRPr>
          </a:p>
          <a:p>
            <a:pPr algn="just"/>
            <a:r>
              <a:rPr lang="en-DE" b="1" dirty="0" err="1">
                <a:highlight>
                  <a:srgbClr val="00FFFF"/>
                </a:highlight>
              </a:rPr>
              <a:t>Rückskalierung</a:t>
            </a:r>
            <a:r>
              <a:rPr lang="en-DE" b="1" dirty="0">
                <a:highlight>
                  <a:srgbClr val="00FFFF"/>
                </a:highlight>
              </a:rPr>
              <a:t>:</a:t>
            </a:r>
            <a:r>
              <a:rPr lang="en-DE" dirty="0">
                <a:highlight>
                  <a:srgbClr val="00FFFF"/>
                </a:highlight>
              </a:rPr>
              <a:t> Box- &amp; </a:t>
            </a:r>
            <a:r>
              <a:rPr lang="en-DE" dirty="0" err="1">
                <a:highlight>
                  <a:srgbClr val="00FFFF"/>
                </a:highlight>
              </a:rPr>
              <a:t>Keypoint-Koordinaten</a:t>
            </a:r>
            <a:r>
              <a:rPr lang="en-DE" dirty="0">
                <a:highlight>
                  <a:srgbClr val="00FFFF"/>
                </a:highlight>
              </a:rPr>
              <a:t> von 640×640 </a:t>
            </a:r>
            <a:r>
              <a:rPr lang="en-DE" dirty="0" err="1">
                <a:highlight>
                  <a:srgbClr val="00FFFF"/>
                </a:highlight>
              </a:rPr>
              <a:t>zurück</a:t>
            </a:r>
            <a:r>
              <a:rPr lang="en-DE" dirty="0">
                <a:highlight>
                  <a:srgbClr val="00FFFF"/>
                </a:highlight>
              </a:rPr>
              <a:t> auf die </a:t>
            </a:r>
            <a:r>
              <a:rPr lang="en-DE" dirty="0" err="1">
                <a:highlight>
                  <a:srgbClr val="00FFFF"/>
                </a:highlight>
              </a:rPr>
              <a:t>Originalauflösung</a:t>
            </a:r>
            <a:endParaRPr lang="en-DE" dirty="0">
              <a:highlight>
                <a:srgbClr val="00FFFF"/>
              </a:highlight>
            </a:endParaRPr>
          </a:p>
          <a:p>
            <a:pPr algn="just"/>
            <a:r>
              <a:rPr lang="en-DE" b="1" dirty="0" err="1">
                <a:highlight>
                  <a:srgbClr val="00FFFF"/>
                </a:highlight>
              </a:rPr>
              <a:t>Besonderheit</a:t>
            </a:r>
            <a:r>
              <a:rPr lang="en-DE" b="1" dirty="0">
                <a:highlight>
                  <a:srgbClr val="00FFFF"/>
                </a:highlight>
              </a:rPr>
              <a:t> YOLO26: </a:t>
            </a:r>
            <a:r>
              <a:rPr lang="en-DE" b="1" dirty="0" err="1">
                <a:highlight>
                  <a:srgbClr val="00FFFF"/>
                </a:highlight>
              </a:rPr>
              <a:t>keine</a:t>
            </a:r>
            <a:r>
              <a:rPr lang="en-DE" b="1" dirty="0">
                <a:highlight>
                  <a:srgbClr val="00FFFF"/>
                </a:highlight>
              </a:rPr>
              <a:t> NMS!</a:t>
            </a:r>
            <a:endParaRPr lang="en-DE" dirty="0">
              <a:highlight>
                <a:srgbClr val="00FFFF"/>
              </a:highlight>
            </a:endParaRPr>
          </a:p>
          <a:p>
            <a:pPr algn="just"/>
            <a:r>
              <a:rPr lang="en-DE" dirty="0" err="1">
                <a:highlight>
                  <a:srgbClr val="00FFFF"/>
                </a:highlight>
              </a:rPr>
              <a:t>Unterdrückung</a:t>
            </a:r>
            <a:r>
              <a:rPr lang="en-DE" dirty="0">
                <a:highlight>
                  <a:srgbClr val="00FFFF"/>
                </a:highlight>
              </a:rPr>
              <a:t> </a:t>
            </a:r>
            <a:r>
              <a:rPr lang="en-DE" dirty="0" err="1">
                <a:highlight>
                  <a:srgbClr val="00FFFF"/>
                </a:highlight>
              </a:rPr>
              <a:t>redundanter</a:t>
            </a:r>
            <a:r>
              <a:rPr lang="en-DE" dirty="0">
                <a:highlight>
                  <a:srgbClr val="00FFFF"/>
                </a:highlight>
              </a:rPr>
              <a:t> </a:t>
            </a:r>
            <a:r>
              <a:rPr lang="en-DE" dirty="0" err="1">
                <a:highlight>
                  <a:srgbClr val="00FFFF"/>
                </a:highlight>
              </a:rPr>
              <a:t>Detektionen</a:t>
            </a:r>
            <a:r>
              <a:rPr lang="en-DE" dirty="0">
                <a:highlight>
                  <a:srgbClr val="00FFFF"/>
                </a:highlight>
              </a:rPr>
              <a:t> </a:t>
            </a:r>
            <a:r>
              <a:rPr lang="en-DE" dirty="0" err="1">
                <a:highlight>
                  <a:srgbClr val="00FFFF"/>
                </a:highlight>
              </a:rPr>
              <a:t>wird</a:t>
            </a:r>
            <a:r>
              <a:rPr lang="en-DE" dirty="0">
                <a:highlight>
                  <a:srgbClr val="00FFFF"/>
                </a:highlight>
              </a:rPr>
              <a:t> </a:t>
            </a:r>
            <a:r>
              <a:rPr lang="en-DE" dirty="0" err="1">
                <a:highlight>
                  <a:srgbClr val="00FFFF"/>
                </a:highlight>
              </a:rPr>
              <a:t>bereits</a:t>
            </a:r>
            <a:r>
              <a:rPr lang="en-DE" dirty="0">
                <a:highlight>
                  <a:srgbClr val="00FFFF"/>
                </a:highlight>
              </a:rPr>
              <a:t> </a:t>
            </a:r>
            <a:r>
              <a:rPr lang="en-DE" b="1" dirty="0" err="1">
                <a:highlight>
                  <a:srgbClr val="00FFFF"/>
                </a:highlight>
              </a:rPr>
              <a:t>im</a:t>
            </a:r>
            <a:r>
              <a:rPr lang="en-DE" b="1" dirty="0">
                <a:highlight>
                  <a:srgbClr val="00FFFF"/>
                </a:highlight>
              </a:rPr>
              <a:t> Training</a:t>
            </a:r>
            <a:r>
              <a:rPr lang="en-DE" dirty="0">
                <a:highlight>
                  <a:srgbClr val="00FFFF"/>
                </a:highlight>
              </a:rPr>
              <a:t> </a:t>
            </a:r>
            <a:r>
              <a:rPr lang="en-DE" dirty="0" err="1">
                <a:highlight>
                  <a:srgbClr val="00FFFF"/>
                </a:highlight>
              </a:rPr>
              <a:t>gelernt</a:t>
            </a:r>
            <a:r>
              <a:rPr lang="en-DE" dirty="0">
                <a:highlight>
                  <a:srgbClr val="00FFFF"/>
                </a:highlight>
              </a:rPr>
              <a:t> → native End-to-End-</a:t>
            </a:r>
            <a:r>
              <a:rPr lang="en-DE" dirty="0" err="1">
                <a:highlight>
                  <a:srgbClr val="00FFFF"/>
                </a:highlight>
              </a:rPr>
              <a:t>Inferenz</a:t>
            </a:r>
            <a:endParaRPr lang="en-DE" dirty="0">
              <a:highlight>
                <a:srgbClr val="00FFFF"/>
              </a:highlight>
            </a:endParaRPr>
          </a:p>
          <a:p>
            <a:pPr algn="just"/>
            <a:r>
              <a:rPr lang="en-DE" dirty="0">
                <a:highlight>
                  <a:srgbClr val="00FFFF"/>
                </a:highlight>
              </a:rPr>
              <a:t>Optional: Dual-Head-</a:t>
            </a:r>
            <a:r>
              <a:rPr lang="en-DE" dirty="0" err="1">
                <a:highlight>
                  <a:srgbClr val="00FFFF"/>
                </a:highlight>
              </a:rPr>
              <a:t>Architektur</a:t>
            </a:r>
            <a:r>
              <a:rPr lang="en-DE" dirty="0">
                <a:highlight>
                  <a:srgbClr val="00FFFF"/>
                </a:highlight>
              </a:rPr>
              <a:t> </a:t>
            </a:r>
            <a:r>
              <a:rPr lang="en-DE" dirty="0" err="1">
                <a:highlight>
                  <a:srgbClr val="00FFFF"/>
                </a:highlight>
              </a:rPr>
              <a:t>erlaubt</a:t>
            </a:r>
            <a:r>
              <a:rPr lang="en-DE" dirty="0">
                <a:highlight>
                  <a:srgbClr val="00FFFF"/>
                </a:highlight>
              </a:rPr>
              <a:t> </a:t>
            </a:r>
            <a:r>
              <a:rPr lang="en-DE" dirty="0" err="1">
                <a:highlight>
                  <a:srgbClr val="00FFFF"/>
                </a:highlight>
              </a:rPr>
              <a:t>Umschalten</a:t>
            </a:r>
            <a:r>
              <a:rPr lang="en-DE" dirty="0">
                <a:highlight>
                  <a:srgbClr val="00FFFF"/>
                </a:highlight>
              </a:rPr>
              <a:t> auf One-to-Many-Head </a:t>
            </a:r>
            <a:r>
              <a:rPr lang="en-DE" dirty="0" err="1">
                <a:highlight>
                  <a:srgbClr val="00FFFF"/>
                </a:highlight>
              </a:rPr>
              <a:t>mit</a:t>
            </a:r>
            <a:r>
              <a:rPr lang="en-DE" dirty="0">
                <a:highlight>
                  <a:srgbClr val="00FFFF"/>
                </a:highlight>
              </a:rPr>
              <a:t> NMS (</a:t>
            </a:r>
            <a:r>
              <a:rPr lang="en-DE" dirty="0" err="1">
                <a:highlight>
                  <a:srgbClr val="00FFFF"/>
                </a:highlight>
              </a:rPr>
              <a:t>etwas</a:t>
            </a:r>
            <a:r>
              <a:rPr lang="en-DE" dirty="0">
                <a:highlight>
                  <a:srgbClr val="00FFFF"/>
                </a:highlight>
              </a:rPr>
              <a:t> </a:t>
            </a:r>
            <a:r>
              <a:rPr lang="en-DE" dirty="0" err="1">
                <a:highlight>
                  <a:srgbClr val="00FFFF"/>
                </a:highlight>
              </a:rPr>
              <a:t>genauer</a:t>
            </a:r>
            <a:r>
              <a:rPr lang="en-DE" dirty="0">
                <a:highlight>
                  <a:srgbClr val="00FFFF"/>
                </a:highlight>
              </a:rPr>
              <a:t>, </a:t>
            </a:r>
            <a:r>
              <a:rPr lang="en-DE" dirty="0" err="1">
                <a:highlight>
                  <a:srgbClr val="00FFFF"/>
                </a:highlight>
              </a:rPr>
              <a:t>aber</a:t>
            </a:r>
            <a:r>
              <a:rPr lang="en-DE" dirty="0">
                <a:highlight>
                  <a:srgbClr val="00FFFF"/>
                </a:highlight>
              </a:rPr>
              <a:t> </a:t>
            </a:r>
            <a:r>
              <a:rPr lang="en-DE" dirty="0" err="1">
                <a:highlight>
                  <a:srgbClr val="00FFFF"/>
                </a:highlight>
              </a:rPr>
              <a:t>langsamer</a:t>
            </a:r>
            <a:r>
              <a:rPr lang="en-DE" dirty="0">
                <a:highlight>
                  <a:srgbClr val="00FFFF"/>
                </a:highlight>
              </a:rPr>
              <a:t>)</a:t>
            </a:r>
          </a:p>
          <a:p>
            <a:pPr algn="just"/>
            <a:endParaRPr lang="en-DE" dirty="0">
              <a:highlight>
                <a:srgbClr val="00FFFF"/>
              </a:highlight>
            </a:endParaRPr>
          </a:p>
        </p:txBody>
      </p:sp>
      <p:sp>
        <p:nvSpPr>
          <p:cNvPr id="18" name="Bildplatzhalter 37">
            <a:extLst>
              <a:ext uri="{FF2B5EF4-FFF2-40B4-BE49-F238E27FC236}">
                <a16:creationId xmlns:a16="http://schemas.microsoft.com/office/drawing/2014/main" id="{AE495290-6533-0D15-347F-D42405009191}"/>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1EC3BD97-77D8-7EFA-D9F2-7390D499DFCA}"/>
              </a:ext>
            </a:extLst>
          </p:cNvPr>
          <p:cNvSpPr txBox="1">
            <a:spLocks/>
          </p:cNvSpPr>
          <p:nvPr/>
        </p:nvSpPr>
        <p:spPr>
          <a:xfrm>
            <a:off x="20243006" y="23540292"/>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spcBef>
                <a:spcPts val="1111"/>
              </a:spcBef>
            </a:pPr>
            <a:r>
              <a:rPr lang="en-DE" b="1" dirty="0" err="1"/>
              <a:t>Testziel</a:t>
            </a:r>
            <a:r>
              <a:rPr lang="en-DE" b="1" dirty="0"/>
              <a:t>:</a:t>
            </a:r>
            <a:r>
              <a:rPr lang="en-DE" dirty="0"/>
              <a:t> </a:t>
            </a:r>
            <a:endParaRPr lang="en-US" dirty="0"/>
          </a:p>
          <a:p>
            <a:pPr algn="just">
              <a:spcBef>
                <a:spcPts val="1111"/>
              </a:spcBef>
            </a:pPr>
            <a:r>
              <a:rPr lang="en-DE" dirty="0" err="1"/>
              <a:t>Verkürzt</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 und </a:t>
            </a:r>
            <a:r>
              <a:rPr lang="en-DE" dirty="0" err="1"/>
              <a:t>hängt</a:t>
            </a:r>
            <a:r>
              <a:rPr lang="en-DE" dirty="0"/>
              <a:t> der </a:t>
            </a:r>
            <a:r>
              <a:rPr lang="en-DE" dirty="0" err="1"/>
              <a:t>Gesamtzeitvorteil</a:t>
            </a:r>
            <a:r>
              <a:rPr lang="en-DE" dirty="0"/>
              <a:t> von der Hardware-</a:t>
            </a:r>
            <a:r>
              <a:rPr lang="en-DE" dirty="0" err="1"/>
              <a:t>Plattform</a:t>
            </a:r>
            <a:r>
              <a:rPr lang="en-DE" dirty="0"/>
              <a:t> (CPU vs. GPU) ab?</a:t>
            </a:r>
            <a:endParaRPr lang="en-US" dirty="0"/>
          </a:p>
          <a:p>
            <a:pPr algn="just">
              <a:spcBef>
                <a:spcPts val="1111"/>
              </a:spcBef>
            </a:pPr>
            <a:r>
              <a:rPr lang="en-US" b="1" dirty="0"/>
              <a:t>Test-Setup:</a:t>
            </a:r>
          </a:p>
          <a:p>
            <a:pPr marL="457200" indent="-457200" algn="just">
              <a:spcBef>
                <a:spcPts val="1111"/>
              </a:spcBef>
              <a:buFont typeface="Arial" panose="020B0604020202020204" pitchFamily="34" charset="0"/>
              <a:buChar char="•"/>
            </a:pPr>
            <a:r>
              <a:rPr lang="en-US" dirty="0"/>
              <a:t>Dataset: 1</a:t>
            </a:r>
            <a:r>
              <a:rPr lang="en-DE" dirty="0"/>
              <a:t>0 </a:t>
            </a:r>
            <a:r>
              <a:rPr lang="en-DE" dirty="0" err="1"/>
              <a:t>frei</a:t>
            </a:r>
            <a:r>
              <a:rPr lang="en-DE" dirty="0"/>
              <a:t> </a:t>
            </a:r>
            <a:r>
              <a:rPr lang="en-DE" dirty="0" err="1"/>
              <a:t>verfügbare</a:t>
            </a:r>
            <a:r>
              <a:rPr lang="en-DE" dirty="0"/>
              <a:t> Bilder — </a:t>
            </a:r>
            <a:r>
              <a:rPr lang="en-DE" dirty="0" err="1"/>
              <a:t>mehrere</a:t>
            </a:r>
            <a:r>
              <a:rPr lang="en-DE" dirty="0"/>
              <a:t> </a:t>
            </a:r>
            <a:r>
              <a:rPr lang="en-DE" dirty="0" err="1"/>
              <a:t>Personen</a:t>
            </a:r>
            <a:r>
              <a:rPr lang="en-DE" dirty="0"/>
              <a:t>, </a:t>
            </a:r>
            <a:r>
              <a:rPr lang="en-DE" dirty="0" err="1"/>
              <a:t>verschiedene</a:t>
            </a:r>
            <a:r>
              <a:rPr lang="en-DE" dirty="0"/>
              <a:t> </a:t>
            </a:r>
            <a:r>
              <a:rPr lang="en-DE" dirty="0" err="1"/>
              <a:t>Auflösungen</a:t>
            </a:r>
            <a:r>
              <a:rPr lang="en-DE" dirty="0"/>
              <a:t>, teils </a:t>
            </a:r>
            <a:r>
              <a:rPr lang="en-DE" dirty="0" err="1"/>
              <a:t>starke</a:t>
            </a:r>
            <a:r>
              <a:rPr lang="en-DE" dirty="0"/>
              <a:t> </a:t>
            </a:r>
            <a:r>
              <a:rPr lang="en-DE" dirty="0" err="1"/>
              <a:t>Verdeckungen</a:t>
            </a:r>
            <a:endParaRPr lang="en-US" dirty="0"/>
          </a:p>
          <a:p>
            <a:pPr marL="457200" indent="-457200" algn="just">
              <a:spcBef>
                <a:spcPts val="511"/>
              </a:spcBef>
              <a:buFont typeface="Arial" panose="020B0604020202020204" pitchFamily="34" charset="0"/>
              <a:buChar char="•"/>
            </a:pPr>
            <a:r>
              <a:rPr lang="en-US" dirty="0"/>
              <a:t>Hardware: </a:t>
            </a:r>
            <a:r>
              <a:rPr lang="en-DE" dirty="0"/>
              <a:t>2× CPU (Intel i5-1335U, AMD </a:t>
            </a:r>
            <a:r>
              <a:rPr lang="en-DE" dirty="0" err="1"/>
              <a:t>Ryzen</a:t>
            </a:r>
            <a:r>
              <a:rPr lang="en-DE" dirty="0"/>
              <a:t> 7 5800X), 1× GPU (NVIDIA RTX 4070 Ti SUPER)</a:t>
            </a:r>
            <a:r>
              <a:rPr lang="en-US" dirty="0"/>
              <a:t> </a:t>
            </a:r>
          </a:p>
          <a:p>
            <a:pPr marL="457200" indent="-457200" algn="just">
              <a:spcBef>
                <a:spcPts val="1111"/>
              </a:spcBef>
              <a:buFont typeface="Arial" panose="020B0604020202020204" pitchFamily="34" charset="0"/>
              <a:buChar char="•"/>
            </a:pPr>
            <a:r>
              <a:rPr lang="en-DE" dirty="0" err="1"/>
              <a:t>Ablauf</a:t>
            </a:r>
            <a:r>
              <a:rPr lang="en-DE" b="1" dirty="0"/>
              <a:t>:</a:t>
            </a:r>
            <a:r>
              <a:rPr lang="en-DE" dirty="0"/>
              <a:t> </a:t>
            </a:r>
            <a:r>
              <a:rPr lang="en-US" dirty="0"/>
              <a:t>4</a:t>
            </a:r>
            <a:r>
              <a:rPr lang="en-DE" dirty="0"/>
              <a:t> </a:t>
            </a:r>
            <a:r>
              <a:rPr lang="en-DE" dirty="0" err="1"/>
              <a:t>Aufwärmläufe</a:t>
            </a:r>
            <a:r>
              <a:rPr lang="en-DE" dirty="0"/>
              <a:t>, </a:t>
            </a:r>
            <a:r>
              <a:rPr lang="en-DE" dirty="0" err="1"/>
              <a:t>gemessen</a:t>
            </a:r>
            <a:r>
              <a:rPr lang="en-DE" dirty="0"/>
              <a:t>: Vor-/</a:t>
            </a:r>
            <a:r>
              <a:rPr lang="en-DE" dirty="0" err="1"/>
              <a:t>Inferenz</a:t>
            </a:r>
            <a:r>
              <a:rPr lang="en-DE" dirty="0"/>
              <a:t>-/</a:t>
            </a:r>
            <a:r>
              <a:rPr lang="en-DE" dirty="0" err="1"/>
              <a:t>Nachbearbeitungszeit</a:t>
            </a:r>
            <a:r>
              <a:rPr lang="en-DE" dirty="0"/>
              <a:t> pro Bild</a:t>
            </a:r>
            <a:endParaRPr lang="en-US" dirty="0"/>
          </a:p>
          <a:p>
            <a:pPr marL="457200" indent="-457200" algn="just">
              <a:spcBef>
                <a:spcPts val="1111"/>
              </a:spcBef>
              <a:buFont typeface="Arial" panose="020B0604020202020204" pitchFamily="34" charset="0"/>
              <a:buChar char="•"/>
            </a:pPr>
            <a:endParaRPr lang="en-US" dirty="0"/>
          </a:p>
          <a:p>
            <a:pPr algn="just">
              <a:spcBef>
                <a:spcPts val="1111"/>
              </a:spcBef>
            </a:pPr>
            <a:endParaRPr lang="en-DE" dirty="0"/>
          </a:p>
        </p:txBody>
      </p:sp>
      <p:sp>
        <p:nvSpPr>
          <p:cNvPr id="57" name="Textplatzhalter 36">
            <a:extLst>
              <a:ext uri="{FF2B5EF4-FFF2-40B4-BE49-F238E27FC236}">
                <a16:creationId xmlns:a16="http://schemas.microsoft.com/office/drawing/2014/main" id="{A63A8BFE-F2D8-BD3C-515B-40E101720DCB}"/>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EE4CE850-A457-0571-A96D-C566173A6C4E}"/>
              </a:ext>
            </a:extLst>
          </p:cNvPr>
          <p:cNvSpPr txBox="1">
            <a:spLocks/>
          </p:cNvSpPr>
          <p:nvPr/>
        </p:nvSpPr>
        <p:spPr>
          <a:xfrm>
            <a:off x="10899775" y="38099384"/>
            <a:ext cx="5701384" cy="67353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10FE75B7-D20C-7A99-FC1B-2534FF11683B}"/>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1AEEAADC-8346-07FE-093A-0C0B63C01F88}"/>
              </a:ext>
            </a:extLst>
          </p:cNvPr>
          <p:cNvGraphicFramePr>
            <a:graphicFrameLocks noGrp="1"/>
          </p:cNvGraphicFramePr>
          <p:nvPr>
            <p:extLst>
              <p:ext uri="{D42A27DB-BD31-4B8C-83A1-F6EECF244321}">
                <p14:modId xmlns:p14="http://schemas.microsoft.com/office/powerpoint/2010/main" val="434063568"/>
              </p:ext>
            </p:extLst>
          </p:nvPr>
        </p:nvGraphicFramePr>
        <p:xfrm>
          <a:off x="10953044" y="21446675"/>
          <a:ext cx="8531227" cy="9726004"/>
        </p:xfrm>
        <a:graphic>
          <a:graphicData uri="http://schemas.openxmlformats.org/drawingml/2006/table">
            <a:tbl>
              <a:tblPr>
                <a:tableStyleId>{2D5ABB26-0587-4C30-8999-92F81FD0307C}</a:tableStyleId>
              </a:tblPr>
              <a:tblGrid>
                <a:gridCol w="1559736">
                  <a:extLst>
                    <a:ext uri="{9D8B030D-6E8A-4147-A177-3AD203B41FA5}">
                      <a16:colId xmlns:a16="http://schemas.microsoft.com/office/drawing/2014/main" val="1145915623"/>
                    </a:ext>
                  </a:extLst>
                </a:gridCol>
                <a:gridCol w="3236759">
                  <a:extLst>
                    <a:ext uri="{9D8B030D-6E8A-4147-A177-3AD203B41FA5}">
                      <a16:colId xmlns:a16="http://schemas.microsoft.com/office/drawing/2014/main" val="921209941"/>
                    </a:ext>
                  </a:extLst>
                </a:gridCol>
                <a:gridCol w="3734732">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a:t>SPPF-Block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3× 5×5-Max-Pooling in Serie (</a:t>
                      </a:r>
                      <a:r>
                        <a:rPr lang="en-DE" sz="2800" dirty="0" err="1"/>
                        <a:t>wirkt</a:t>
                      </a:r>
                      <a:r>
                        <a:rPr lang="en-DE" sz="2800" dirty="0"/>
                        <a:t> </a:t>
                      </a:r>
                      <a:r>
                        <a:rPr lang="en-DE" sz="2800" dirty="0" err="1"/>
                        <a:t>wie</a:t>
                      </a:r>
                      <a:r>
                        <a:rPr lang="en-DE" sz="2800" dirty="0"/>
                        <a:t> 5/9/13) → </a:t>
                      </a:r>
                      <a:r>
                        <a:rPr lang="en-DE" sz="2800" dirty="0" err="1"/>
                        <a:t>Zusammen</a:t>
                      </a:r>
                      <a:r>
                        <a:rPr lang="en-US" sz="2800" dirty="0"/>
                        <a:t>-</a:t>
                      </a:r>
                      <a:r>
                        <a:rPr lang="en-DE" sz="2800" dirty="0" err="1"/>
                        <a:t>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Erfasst</a:t>
                      </a:r>
                      <a:r>
                        <a:rPr lang="en-DE" sz="2700" b="0" dirty="0"/>
                        <a:t> </a:t>
                      </a:r>
                      <a:r>
                        <a:rPr lang="en-DE" sz="2700" b="0" dirty="0" err="1"/>
                        <a:t>lokalen</a:t>
                      </a:r>
                      <a:r>
                        <a:rPr lang="en-DE" sz="2700" b="0" dirty="0"/>
                        <a:t> und </a:t>
                      </a:r>
                      <a:r>
                        <a:rPr lang="en-DE" sz="2700" b="0" dirty="0" err="1"/>
                        <a:t>großräumigen</a:t>
                      </a:r>
                      <a:r>
                        <a:rPr lang="en-DE" sz="2700" b="0" dirty="0"/>
                        <a:t> </a:t>
                      </a:r>
                      <a:r>
                        <a:rPr lang="en-DE" sz="2700" b="0" dirty="0" err="1"/>
                        <a:t>Bildkontext</a:t>
                      </a:r>
                      <a:r>
                        <a:rPr lang="en-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a:t>C2PSA-Block</a:t>
                      </a:r>
                      <a:endParaRPr lang="en-DE" sz="2700" b="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a:t>
                      </a:r>
                      <a:r>
                        <a:rPr lang="en-US" sz="2700" b="0" dirty="0"/>
                        <a:t>-</a:t>
                      </a:r>
                      <a:r>
                        <a:rPr lang="en-DE" sz="2700" b="0" dirty="0" err="1"/>
                        <a:t>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7C26619E-62FB-1D81-410F-BDB6DDF6399A}"/>
              </a:ext>
            </a:extLst>
          </p:cNvPr>
          <p:cNvSpPr>
            <a:spLocks noGrp="1"/>
          </p:cNvSpPr>
          <p:nvPr>
            <p:ph type="body" sz="quarter" idx="27"/>
          </p:nvPr>
        </p:nvSpPr>
        <p:spPr>
          <a:xfrm>
            <a:off x="10918800" y="20504182"/>
            <a:ext cx="8472488" cy="1070435"/>
          </a:xfrm>
        </p:spPr>
        <p:txBody>
          <a:bodyPr/>
          <a:lstStyle/>
          <a:p>
            <a:pPr algn="just"/>
            <a:r>
              <a:rPr lang="en-DE" sz="2700" b="1" dirty="0">
                <a:latin typeface="+mn-lt"/>
              </a:rPr>
              <a:t>ZENTRALE BAUSTEINE DER YOLO26-POSE-ARCHITEKTUR</a:t>
            </a:r>
            <a:endParaRPr lang="de-DE" sz="2700" b="1" dirty="0">
              <a:latin typeface="+mn-lt"/>
            </a:endParaRPr>
          </a:p>
        </p:txBody>
      </p:sp>
      <mc:AlternateContent xmlns:mc="http://schemas.openxmlformats.org/markup-compatibility/2006">
        <mc:Choice xmlns:a14="http://schemas.microsoft.com/office/drawing/2010/main" Requires="a14">
          <p:sp>
            <p:nvSpPr>
              <p:cNvPr id="131" name="TextBox 130">
                <a:extLst>
                  <a:ext uri="{FF2B5EF4-FFF2-40B4-BE49-F238E27FC236}">
                    <a16:creationId xmlns:a16="http://schemas.microsoft.com/office/drawing/2014/main" id="{6363AD94-D1D1-ED36-C9C5-9A2D62079A11}"/>
                  </a:ext>
                </a:extLst>
              </p:cNvPr>
              <p:cNvSpPr txBox="1"/>
              <p:nvPr/>
            </p:nvSpPr>
            <p:spPr>
              <a:xfrm>
                <a:off x="198217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21727" y="13845384"/>
                <a:ext cx="10155602" cy="546303"/>
              </a:xfrm>
              <a:prstGeom prst="rect">
                <a:avLst/>
              </a:prstGeom>
              <a:blipFill>
                <a:blip r:embed="rId5"/>
                <a:stretch>
                  <a:fillRect/>
                </a:stretch>
              </a:blipFill>
            </p:spPr>
            <p:txBody>
              <a:bodyPr/>
              <a:lstStyle/>
              <a:p>
                <a:r>
                  <a:rPr lang="en-DE">
                    <a:noFill/>
                  </a:rPr>
                  <a:t> </a:t>
                </a:r>
              </a:p>
            </p:txBody>
          </p:sp>
        </mc:Fallback>
      </mc:AlternateContent>
      <p:sp>
        <p:nvSpPr>
          <p:cNvPr id="17" name="Textplatzhalter 42">
            <a:extLst>
              <a:ext uri="{FF2B5EF4-FFF2-40B4-BE49-F238E27FC236}">
                <a16:creationId xmlns:a16="http://schemas.microsoft.com/office/drawing/2014/main" id="{9DFA956A-9B49-60E5-E9D0-93959070ECD2}"/>
              </a:ext>
            </a:extLst>
          </p:cNvPr>
          <p:cNvSpPr txBox="1">
            <a:spLocks/>
          </p:cNvSpPr>
          <p:nvPr/>
        </p:nvSpPr>
        <p:spPr>
          <a:xfrm>
            <a:off x="20213637" y="22798652"/>
            <a:ext cx="8472488" cy="107043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3500" kern="1200">
                <a:solidFill>
                  <a:schemeClr val="tx1"/>
                </a:solidFill>
                <a:latin typeface="+mj-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2700" b="1" dirty="0">
                <a:latin typeface="+mn-lt"/>
              </a:rPr>
              <a:t>TEST + ERGEBNIS</a:t>
            </a:r>
          </a:p>
        </p:txBody>
      </p:sp>
      <p:grpSp>
        <p:nvGrpSpPr>
          <p:cNvPr id="58" name="Group 57">
            <a:extLst>
              <a:ext uri="{FF2B5EF4-FFF2-40B4-BE49-F238E27FC236}">
                <a16:creationId xmlns:a16="http://schemas.microsoft.com/office/drawing/2014/main" id="{5B8CC390-5EB6-395A-148A-D2E569E5DA91}"/>
              </a:ext>
            </a:extLst>
          </p:cNvPr>
          <p:cNvGrpSpPr/>
          <p:nvPr/>
        </p:nvGrpSpPr>
        <p:grpSpPr>
          <a:xfrm>
            <a:off x="20241488" y="29314703"/>
            <a:ext cx="8531228" cy="8328863"/>
            <a:chOff x="20241488" y="28818410"/>
            <a:chExt cx="8531228" cy="8328863"/>
          </a:xfrm>
        </p:grpSpPr>
        <p:pic>
          <p:nvPicPr>
            <p:cNvPr id="132" name="Picture 131">
              <a:extLst>
                <a:ext uri="{FF2B5EF4-FFF2-40B4-BE49-F238E27FC236}">
                  <a16:creationId xmlns:a16="http://schemas.microsoft.com/office/drawing/2014/main" id="{3D1DE328-10E3-BE45-26E4-4503F9EC2A2F}"/>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D0B33EE5-FFF6-7407-81F7-304B1DE7D192}"/>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20) auf zwei CPUs und einer GPU; Fehlerbalken: ±1 Standardabweichung.</a:t>
              </a:r>
            </a:p>
          </p:txBody>
        </p:sp>
        <p:pic>
          <p:nvPicPr>
            <p:cNvPr id="26" name="Graphic 25">
              <a:extLst>
                <a:ext uri="{FF2B5EF4-FFF2-40B4-BE49-F238E27FC236}">
                  <a16:creationId xmlns:a16="http://schemas.microsoft.com/office/drawing/2014/main" id="{1D0C6E7D-31DD-D862-25D9-1EFE5731747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8D341E01-AB4D-A084-6E80-184C38D700E7}"/>
              </a:ext>
            </a:extLst>
          </p:cNvPr>
          <p:cNvPicPr>
            <a:picLocks noChangeAspect="1"/>
          </p:cNvPicPr>
          <p:nvPr/>
        </p:nvPicPr>
        <p:blipFill>
          <a:blip r:embed="rId8"/>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06772857-0DA6-1524-CD6A-8B863017617A}"/>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6A9BAC99-2A0A-1CFB-0AF7-36320EF20AFF}"/>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BF8E5871-E5CC-3E89-A138-B354ABEF738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05EF19DD-31D5-61A0-3641-274B45F5DC54}"/>
                  </a:ext>
                </a:extLst>
              </p:cNvPr>
              <p:cNvPicPr>
                <a:picLocks noChangeAspect="1"/>
              </p:cNvPicPr>
              <p:nvPr/>
            </p:nvPicPr>
            <p:blipFill>
              <a:blip r:embed="rId10">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60998B3E-FF0E-1E52-C979-7FE8E8487456}"/>
                  </a:ext>
                </a:extLst>
              </p:cNvPr>
              <p:cNvPicPr>
                <a:picLocks noChangeAspect="1"/>
              </p:cNvPicPr>
              <p:nvPr/>
            </p:nvPicPr>
            <p:blipFill>
              <a:blip r:embed="rId11">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F1C1982B-B845-3383-20B7-D4AD74A4F955}"/>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028C22CD-0F9E-F161-D695-4CA79B2F5D6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9219298E-442B-E6B2-2731-AD03C1C886AC}"/>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533D04BF-CFFA-AD7F-6769-917DB1D36FA6}"/>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C4BFA2D4-BEE6-4B75-400F-F3BFEF5B2360}"/>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CEFD6B54-4F68-9388-8683-EADE2313851C}"/>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1335F005-76C2-71A6-4CB4-75D1C6BB5436}"/>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B6700ADE-CF8A-9521-BB8D-93584CF7CE46}"/>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9A48B4FA-8763-51D6-CC52-B75634BB3450}"/>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3858188801"/>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B8766-8D56-0BE1-12A9-65837A3245D7}"/>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18D5243B-5A71-AB8D-859A-4B78071F7209}"/>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8C26801F-D9E6-9D07-04C8-1AB9C5C0E593}"/>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B4313753-4F97-3536-DCF2-1EA62DE94003}"/>
              </a:ext>
            </a:extLst>
          </p:cNvPr>
          <p:cNvSpPr>
            <a:spLocks noGrp="1"/>
          </p:cNvSpPr>
          <p:nvPr>
            <p:ph type="body" sz="quarter" idx="26"/>
          </p:nvPr>
        </p:nvSpPr>
        <p:spPr>
          <a:xfrm>
            <a:off x="1527176" y="22019770"/>
            <a:ext cx="8472488" cy="6726680"/>
          </a:xfrm>
        </p:spPr>
        <p:txBody>
          <a:bodyPr/>
          <a:lstStyle/>
          <a:p>
            <a:pPr algn="just"/>
            <a:r>
              <a:rPr lang="en-DE" b="1" dirty="0" err="1">
                <a:highlight>
                  <a:srgbClr val="00FFFF"/>
                </a:highlight>
              </a:rPr>
              <a:t>Eingangsdaten</a:t>
            </a:r>
            <a:r>
              <a:rPr lang="en-DE" b="1" dirty="0">
                <a:highlight>
                  <a:srgbClr val="00FFFF"/>
                </a:highlight>
              </a:rPr>
              <a:t> des </a:t>
            </a:r>
            <a:r>
              <a:rPr lang="en-DE" b="1" dirty="0" err="1">
                <a:highlight>
                  <a:srgbClr val="00FFFF"/>
                </a:highlight>
              </a:rPr>
              <a:t>Netzes</a:t>
            </a:r>
            <a:r>
              <a:rPr lang="en-DE" b="1" dirty="0">
                <a:highlight>
                  <a:srgbClr val="00FFFF"/>
                </a:highlight>
              </a:rPr>
              <a:t> [F2]</a:t>
            </a:r>
          </a:p>
          <a:p>
            <a:pPr algn="just"/>
            <a:r>
              <a:rPr lang="en-DE" b="1" dirty="0">
                <a:highlight>
                  <a:srgbClr val="00FFFF"/>
                </a:highlight>
              </a:rPr>
              <a:t>float32 [640, 640, 3]</a:t>
            </a:r>
            <a:r>
              <a:rPr lang="en-DE" dirty="0">
                <a:highlight>
                  <a:srgbClr val="00FFFF"/>
                </a:highlight>
              </a:rPr>
              <a:t> </a:t>
            </a:r>
            <a:endParaRPr lang="en-US" dirty="0">
              <a:highlight>
                <a:srgbClr val="00FFFF"/>
              </a:highlight>
            </a:endParaRPr>
          </a:p>
          <a:p>
            <a:pPr algn="just"/>
            <a:r>
              <a:rPr lang="en-DE" dirty="0" err="1">
                <a:highlight>
                  <a:srgbClr val="00FFFF"/>
                </a:highlight>
              </a:rPr>
              <a:t>Höhe</a:t>
            </a:r>
            <a:r>
              <a:rPr lang="en-DE" dirty="0">
                <a:highlight>
                  <a:srgbClr val="00FFFF"/>
                </a:highlight>
              </a:rPr>
              <a:t> × Breite × RGB-</a:t>
            </a:r>
            <a:r>
              <a:rPr lang="en-DE" dirty="0" err="1">
                <a:highlight>
                  <a:srgbClr val="00FFFF"/>
                </a:highlight>
              </a:rPr>
              <a:t>Farbkanäle</a:t>
            </a:r>
            <a:endParaRPr lang="en-DE" dirty="0">
              <a:highlight>
                <a:srgbClr val="00FFFF"/>
              </a:highlight>
            </a:endParaRPr>
          </a:p>
          <a:p>
            <a:pPr algn="just"/>
            <a:r>
              <a:rPr lang="en-DE" b="1" dirty="0" err="1">
                <a:highlight>
                  <a:srgbClr val="00FFFF"/>
                </a:highlight>
              </a:rPr>
              <a:t>Vorverarbeitung</a:t>
            </a:r>
            <a:r>
              <a:rPr lang="en-DE" b="1" dirty="0">
                <a:highlight>
                  <a:srgbClr val="00FFFF"/>
                </a:highlight>
              </a:rPr>
              <a:t>:</a:t>
            </a:r>
            <a:endParaRPr lang="en-DE" dirty="0">
              <a:highlight>
                <a:srgbClr val="00FFFF"/>
              </a:highlight>
            </a:endParaRPr>
          </a:p>
          <a:p>
            <a:pPr algn="just"/>
            <a:r>
              <a:rPr lang="en-DE" dirty="0" err="1">
                <a:highlight>
                  <a:srgbClr val="00FFFF"/>
                </a:highlight>
              </a:rPr>
              <a:t>Skalierung</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Beibehaltung</a:t>
            </a:r>
            <a:r>
              <a:rPr lang="en-DE" dirty="0">
                <a:highlight>
                  <a:srgbClr val="00FFFF"/>
                </a:highlight>
              </a:rPr>
              <a:t> des </a:t>
            </a:r>
            <a:r>
              <a:rPr lang="en-DE" dirty="0" err="1">
                <a:highlight>
                  <a:srgbClr val="00FFFF"/>
                </a:highlight>
              </a:rPr>
              <a:t>Seitenverhältnisses</a:t>
            </a:r>
            <a:r>
              <a:rPr lang="en-DE" dirty="0">
                <a:highlight>
                  <a:srgbClr val="00FFFF"/>
                </a:highlight>
              </a:rPr>
              <a:t> → </a:t>
            </a:r>
            <a:r>
              <a:rPr lang="en-DE" dirty="0" err="1">
                <a:highlight>
                  <a:srgbClr val="00FFFF"/>
                </a:highlight>
              </a:rPr>
              <a:t>längere</a:t>
            </a:r>
            <a:r>
              <a:rPr lang="en-DE" dirty="0">
                <a:highlight>
                  <a:srgbClr val="00FFFF"/>
                </a:highlight>
              </a:rPr>
              <a:t> </a:t>
            </a:r>
            <a:r>
              <a:rPr lang="en-DE" dirty="0" err="1">
                <a:highlight>
                  <a:srgbClr val="00FFFF"/>
                </a:highlight>
              </a:rPr>
              <a:t>Seite</a:t>
            </a:r>
            <a:r>
              <a:rPr lang="en-DE" dirty="0">
                <a:highlight>
                  <a:srgbClr val="00FFFF"/>
                </a:highlight>
              </a:rPr>
              <a:t> = 640 </a:t>
            </a:r>
            <a:r>
              <a:rPr lang="en-DE" dirty="0" err="1">
                <a:highlight>
                  <a:srgbClr val="00FFFF"/>
                </a:highlight>
              </a:rPr>
              <a:t>px</a:t>
            </a:r>
            <a:endParaRPr lang="en-DE" dirty="0">
              <a:highlight>
                <a:srgbClr val="00FFFF"/>
              </a:highlight>
            </a:endParaRPr>
          </a:p>
          <a:p>
            <a:pPr algn="just"/>
            <a:r>
              <a:rPr lang="en-DE" dirty="0">
                <a:highlight>
                  <a:srgbClr val="00FFFF"/>
                </a:highlight>
              </a:rPr>
              <a:t>Padding der </a:t>
            </a:r>
            <a:r>
              <a:rPr lang="en-DE" dirty="0" err="1">
                <a:highlight>
                  <a:srgbClr val="00FFFF"/>
                </a:highlight>
              </a:rPr>
              <a:t>Randbereiche</a:t>
            </a:r>
            <a:r>
              <a:rPr lang="en-DE" dirty="0">
                <a:highlight>
                  <a:srgbClr val="00FFFF"/>
                </a:highlight>
              </a:rPr>
              <a:t> </a:t>
            </a:r>
            <a:r>
              <a:rPr lang="en-DE" dirty="0" err="1">
                <a:highlight>
                  <a:srgbClr val="00FFFF"/>
                </a:highlight>
              </a:rPr>
              <a:t>mit</a:t>
            </a:r>
            <a:r>
              <a:rPr lang="en-DE" dirty="0">
                <a:highlight>
                  <a:srgbClr val="00FFFF"/>
                </a:highlight>
              </a:rPr>
              <a:t> </a:t>
            </a:r>
            <a:r>
              <a:rPr lang="en-DE" dirty="0" err="1">
                <a:highlight>
                  <a:srgbClr val="00FFFF"/>
                </a:highlight>
              </a:rPr>
              <a:t>Nullwerten</a:t>
            </a:r>
            <a:r>
              <a:rPr lang="en-DE" dirty="0">
                <a:highlight>
                  <a:srgbClr val="00FFFF"/>
                </a:highlight>
              </a:rPr>
              <a:t> (schwarz) → </a:t>
            </a:r>
            <a:r>
              <a:rPr lang="en-DE" dirty="0" err="1">
                <a:highlight>
                  <a:srgbClr val="00FFFF"/>
                </a:highlight>
              </a:rPr>
              <a:t>quadratisches</a:t>
            </a:r>
            <a:r>
              <a:rPr lang="en-DE" dirty="0">
                <a:highlight>
                  <a:srgbClr val="00FFFF"/>
                </a:highlight>
              </a:rPr>
              <a:t> Format</a:t>
            </a:r>
          </a:p>
          <a:p>
            <a:pPr algn="just"/>
            <a:r>
              <a:rPr lang="en-DE" dirty="0" err="1">
                <a:highlight>
                  <a:srgbClr val="00FFFF"/>
                </a:highlight>
              </a:rPr>
              <a:t>Normierung</a:t>
            </a:r>
            <a:r>
              <a:rPr lang="en-DE" dirty="0">
                <a:highlight>
                  <a:srgbClr val="00FFFF"/>
                </a:highlight>
              </a:rPr>
              <a:t> der </a:t>
            </a:r>
            <a:r>
              <a:rPr lang="en-DE" dirty="0" err="1">
                <a:highlight>
                  <a:srgbClr val="00FFFF"/>
                </a:highlight>
              </a:rPr>
              <a:t>Pixelwerte</a:t>
            </a:r>
            <a:r>
              <a:rPr lang="en-DE" dirty="0">
                <a:highlight>
                  <a:srgbClr val="00FFFF"/>
                </a:highlight>
              </a:rPr>
              <a:t> auf float32</a:t>
            </a:r>
          </a:p>
        </p:txBody>
      </p:sp>
      <p:sp>
        <p:nvSpPr>
          <p:cNvPr id="35" name="Bildplatzhalter 34">
            <a:extLst>
              <a:ext uri="{FF2B5EF4-FFF2-40B4-BE49-F238E27FC236}">
                <a16:creationId xmlns:a16="http://schemas.microsoft.com/office/drawing/2014/main" id="{B2229693-2B0E-1FBF-1E54-40F2C47A6E03}"/>
              </a:ext>
            </a:extLst>
          </p:cNvPr>
          <p:cNvSpPr>
            <a:spLocks noGrp="1"/>
          </p:cNvSpPr>
          <p:nvPr>
            <p:ph type="pic" sz="quarter" idx="33"/>
          </p:nvPr>
        </p:nvSpPr>
        <p:spPr>
          <a:xfrm>
            <a:off x="1527176" y="12241212"/>
            <a:ext cx="8472488" cy="9160669"/>
          </a:xfrm>
        </p:spPr>
        <p:txBody>
          <a:bodyPr/>
          <a:lstStyle/>
          <a:p>
            <a:pPr algn="just"/>
            <a:r>
              <a:rPr lang="en-US" b="1" dirty="0">
                <a:highlight>
                  <a:srgbClr val="00FFFF"/>
                </a:highlight>
              </a:rPr>
              <a:t>Motivation &amp; </a:t>
            </a:r>
            <a:r>
              <a:rPr lang="en-US" b="1" dirty="0" err="1">
                <a:highlight>
                  <a:srgbClr val="00FFFF"/>
                </a:highlight>
              </a:rPr>
              <a:t>Einordnung</a:t>
            </a:r>
            <a:endParaRPr lang="en-US" b="1" dirty="0">
              <a:highlight>
                <a:srgbClr val="00FFFF"/>
              </a:highlight>
            </a:endParaRPr>
          </a:p>
          <a:p>
            <a:pPr algn="just"/>
            <a:r>
              <a:rPr lang="en-DE" b="1" dirty="0" err="1">
                <a:highlight>
                  <a:srgbClr val="00FFFF"/>
                </a:highlight>
              </a:rPr>
              <a:t>Posenbestimmung</a:t>
            </a:r>
            <a:r>
              <a:rPr lang="en-DE" b="1" dirty="0">
                <a:highlight>
                  <a:srgbClr val="00FFFF"/>
                </a:highlight>
              </a:rPr>
              <a:t> in der Navigation </a:t>
            </a:r>
            <a:r>
              <a:rPr lang="en-DE" b="1" dirty="0" err="1">
                <a:highlight>
                  <a:srgbClr val="00FFFF"/>
                </a:highlight>
              </a:rPr>
              <a:t>mobiler</a:t>
            </a:r>
            <a:r>
              <a:rPr lang="en-DE" b="1" dirty="0">
                <a:highlight>
                  <a:srgbClr val="00FFFF"/>
                </a:highlight>
              </a:rPr>
              <a:t> </a:t>
            </a:r>
            <a:r>
              <a:rPr lang="en-DE" b="1" dirty="0" err="1">
                <a:highlight>
                  <a:srgbClr val="00FFFF"/>
                </a:highlight>
              </a:rPr>
              <a:t>Roboter</a:t>
            </a:r>
            <a:endParaRPr lang="en-DE" dirty="0">
              <a:highlight>
                <a:srgbClr val="00FFFF"/>
              </a:highlight>
            </a:endParaRPr>
          </a:p>
          <a:p>
            <a:pPr algn="just"/>
            <a:r>
              <a:rPr lang="en-DE" dirty="0">
                <a:highlight>
                  <a:srgbClr val="00FFFF"/>
                </a:highlight>
              </a:rPr>
              <a:t>Navigation = </a:t>
            </a:r>
            <a:r>
              <a:rPr lang="en-DE" dirty="0" err="1">
                <a:highlight>
                  <a:srgbClr val="00FFFF"/>
                </a:highlight>
              </a:rPr>
              <a:t>Wahrnehmung</a:t>
            </a:r>
            <a:r>
              <a:rPr lang="en-DE" dirty="0">
                <a:highlight>
                  <a:srgbClr val="00FFFF"/>
                </a:highlight>
              </a:rPr>
              <a:t> &amp; Interpretation der </a:t>
            </a:r>
            <a:r>
              <a:rPr lang="en-DE" dirty="0" err="1">
                <a:highlight>
                  <a:srgbClr val="00FFFF"/>
                </a:highlight>
              </a:rPr>
              <a:t>Umgebung</a:t>
            </a:r>
            <a:r>
              <a:rPr lang="en-DE" dirty="0">
                <a:highlight>
                  <a:srgbClr val="00FFFF"/>
                </a:highlight>
              </a:rPr>
              <a:t> (Localization &amp; Mapping) → </a:t>
            </a:r>
            <a:r>
              <a:rPr lang="en-DE" dirty="0" err="1">
                <a:highlight>
                  <a:srgbClr val="00FFFF"/>
                </a:highlight>
              </a:rPr>
              <a:t>Grundlage</a:t>
            </a:r>
            <a:r>
              <a:rPr lang="en-DE" dirty="0">
                <a:highlight>
                  <a:srgbClr val="00FFFF"/>
                </a:highlight>
              </a:rPr>
              <a:t> für Guidance &amp; Control</a:t>
            </a:r>
          </a:p>
          <a:p>
            <a:pPr algn="just"/>
            <a:r>
              <a:rPr lang="en-DE" dirty="0" err="1">
                <a:highlight>
                  <a:srgbClr val="00FFFF"/>
                </a:highlight>
              </a:rPr>
              <a:t>Personen</a:t>
            </a:r>
            <a:r>
              <a:rPr lang="en-DE" dirty="0">
                <a:highlight>
                  <a:srgbClr val="00FFFF"/>
                </a:highlight>
              </a:rPr>
              <a:t> </a:t>
            </a:r>
            <a:r>
              <a:rPr lang="en-DE" dirty="0" err="1">
                <a:highlight>
                  <a:srgbClr val="00FFFF"/>
                </a:highlight>
              </a:rPr>
              <a:t>sind</a:t>
            </a:r>
            <a:r>
              <a:rPr lang="en-DE" dirty="0">
                <a:highlight>
                  <a:srgbClr val="00FFFF"/>
                </a:highlight>
              </a:rPr>
              <a:t> </a:t>
            </a:r>
            <a:r>
              <a:rPr lang="en-DE" b="1" dirty="0" err="1">
                <a:highlight>
                  <a:srgbClr val="00FFFF"/>
                </a:highlight>
              </a:rPr>
              <a:t>dynamische</a:t>
            </a:r>
            <a:r>
              <a:rPr lang="en-DE" b="1" dirty="0">
                <a:highlight>
                  <a:srgbClr val="00FFFF"/>
                </a:highlight>
              </a:rPr>
              <a:t> </a:t>
            </a:r>
            <a:r>
              <a:rPr lang="en-DE" b="1" dirty="0" err="1">
                <a:highlight>
                  <a:srgbClr val="00FFFF"/>
                </a:highlight>
              </a:rPr>
              <a:t>Objekte</a:t>
            </a:r>
            <a:r>
              <a:rPr lang="en-DE" dirty="0">
                <a:highlight>
                  <a:srgbClr val="00FFFF"/>
                </a:highlight>
              </a:rPr>
              <a:t>: </a:t>
            </a:r>
            <a:r>
              <a:rPr lang="en-DE" dirty="0" err="1">
                <a:highlight>
                  <a:srgbClr val="00FFFF"/>
                </a:highlight>
              </a:rPr>
              <a:t>Roboter</a:t>
            </a:r>
            <a:r>
              <a:rPr lang="en-DE" dirty="0">
                <a:highlight>
                  <a:srgbClr val="00FFFF"/>
                </a:highlight>
              </a:rPr>
              <a:t> muss nicht </a:t>
            </a:r>
            <a:r>
              <a:rPr lang="en-DE" dirty="0" err="1">
                <a:highlight>
                  <a:srgbClr val="00FFFF"/>
                </a:highlight>
              </a:rPr>
              <a:t>nur</a:t>
            </a:r>
            <a:r>
              <a:rPr lang="en-DE" dirty="0">
                <a:highlight>
                  <a:srgbClr val="00FFFF"/>
                </a:highlight>
              </a:rPr>
              <a:t> Position, </a:t>
            </a:r>
            <a:r>
              <a:rPr lang="en-DE" dirty="0" err="1">
                <a:highlight>
                  <a:srgbClr val="00FFFF"/>
                </a:highlight>
              </a:rPr>
              <a:t>sondern</a:t>
            </a:r>
            <a:r>
              <a:rPr lang="en-DE" dirty="0">
                <a:highlight>
                  <a:srgbClr val="00FFFF"/>
                </a:highlight>
              </a:rPr>
              <a:t> </a:t>
            </a:r>
            <a:r>
              <a:rPr lang="en-DE" dirty="0" err="1">
                <a:highlight>
                  <a:srgbClr val="00FFFF"/>
                </a:highlight>
              </a:rPr>
              <a:t>auch</a:t>
            </a:r>
            <a:r>
              <a:rPr lang="en-DE" dirty="0">
                <a:highlight>
                  <a:srgbClr val="00FFFF"/>
                </a:highlight>
              </a:rPr>
              <a:t> </a:t>
            </a:r>
            <a:r>
              <a:rPr lang="en-DE" b="1" dirty="0" err="1">
                <a:highlight>
                  <a:srgbClr val="00FFFF"/>
                </a:highlight>
              </a:rPr>
              <a:t>Haltung</a:t>
            </a:r>
            <a:r>
              <a:rPr lang="en-DE" b="1" dirty="0">
                <a:highlight>
                  <a:srgbClr val="00FFFF"/>
                </a:highlight>
              </a:rPr>
              <a:t> &amp; </a:t>
            </a:r>
            <a:r>
              <a:rPr lang="en-DE" b="1" dirty="0" err="1">
                <a:highlight>
                  <a:srgbClr val="00FFFF"/>
                </a:highlight>
              </a:rPr>
              <a:t>Bewegungsabsicht</a:t>
            </a:r>
            <a:r>
              <a:rPr lang="en-DE" dirty="0">
                <a:highlight>
                  <a:srgbClr val="00FFFF"/>
                </a:highlight>
              </a:rPr>
              <a:t> </a:t>
            </a:r>
            <a:r>
              <a:rPr lang="en-DE" dirty="0" err="1">
                <a:highlight>
                  <a:srgbClr val="00FFFF"/>
                </a:highlight>
              </a:rPr>
              <a:t>erfassen</a:t>
            </a:r>
            <a:endParaRPr lang="en-DE" dirty="0">
              <a:highlight>
                <a:srgbClr val="00FFFF"/>
              </a:highlight>
            </a:endParaRPr>
          </a:p>
          <a:p>
            <a:pPr algn="just"/>
            <a:r>
              <a:rPr lang="en-DE" dirty="0" err="1">
                <a:highlight>
                  <a:srgbClr val="00FFFF"/>
                </a:highlight>
              </a:rPr>
              <a:t>Keypoint-basierte</a:t>
            </a:r>
            <a:r>
              <a:rPr lang="en-DE" dirty="0">
                <a:highlight>
                  <a:srgbClr val="00FFFF"/>
                </a:highlight>
              </a:rPr>
              <a:t> </a:t>
            </a:r>
            <a:r>
              <a:rPr lang="en-DE" dirty="0" err="1">
                <a:highlight>
                  <a:srgbClr val="00FFFF"/>
                </a:highlight>
              </a:rPr>
              <a:t>Körperposen</a:t>
            </a:r>
            <a:r>
              <a:rPr lang="en-DE" dirty="0">
                <a:highlight>
                  <a:srgbClr val="00FFFF"/>
                </a:highlight>
              </a:rPr>
              <a:t> </a:t>
            </a:r>
            <a:r>
              <a:rPr lang="en-DE" dirty="0" err="1">
                <a:highlight>
                  <a:srgbClr val="00FFFF"/>
                </a:highlight>
              </a:rPr>
              <a:t>ermöglichen</a:t>
            </a:r>
            <a:r>
              <a:rPr lang="en-DE" dirty="0">
                <a:highlight>
                  <a:srgbClr val="00FFFF"/>
                </a:highlight>
              </a:rPr>
              <a:t>: </a:t>
            </a:r>
          </a:p>
          <a:p>
            <a:pPr marL="457200" indent="-457200" algn="just">
              <a:buFont typeface="Arial" panose="020B0604020202020204" pitchFamily="34" charset="0"/>
              <a:buChar char="•"/>
            </a:pPr>
            <a:r>
              <a:rPr lang="en-DE" dirty="0" err="1">
                <a:highlight>
                  <a:srgbClr val="00FFFF"/>
                </a:highlight>
              </a:rPr>
              <a:t>vorausschauende</a:t>
            </a:r>
            <a:r>
              <a:rPr lang="en-DE" dirty="0">
                <a:highlight>
                  <a:srgbClr val="00FFFF"/>
                </a:highlight>
              </a:rPr>
              <a:t> </a:t>
            </a:r>
            <a:r>
              <a:rPr lang="en-DE" dirty="0" err="1">
                <a:highlight>
                  <a:srgbClr val="00FFFF"/>
                </a:highlight>
              </a:rPr>
              <a:t>Bahnplanung</a:t>
            </a:r>
            <a:r>
              <a:rPr lang="en-DE" dirty="0">
                <a:highlight>
                  <a:srgbClr val="00FFFF"/>
                </a:highlight>
              </a:rPr>
              <a:t> &amp; </a:t>
            </a:r>
            <a:r>
              <a:rPr lang="en-DE" dirty="0" err="1">
                <a:highlight>
                  <a:srgbClr val="00FFFF"/>
                </a:highlight>
              </a:rPr>
              <a:t>Kollisionsvermeidung</a:t>
            </a:r>
            <a:endParaRPr lang="en-DE" dirty="0">
              <a:highlight>
                <a:srgbClr val="00FFFF"/>
              </a:highlight>
            </a:endParaRPr>
          </a:p>
          <a:p>
            <a:pPr marL="457200" indent="-457200" algn="just">
              <a:buFont typeface="Arial" panose="020B0604020202020204" pitchFamily="34" charset="0"/>
              <a:buChar char="•"/>
            </a:pPr>
            <a:r>
              <a:rPr lang="en-DE" dirty="0">
                <a:highlight>
                  <a:srgbClr val="00FFFF"/>
                </a:highlight>
              </a:rPr>
              <a:t>Mensch-Roboter-Interaktion (</a:t>
            </a:r>
            <a:r>
              <a:rPr lang="en-DE" dirty="0" err="1">
                <a:highlight>
                  <a:srgbClr val="00FFFF"/>
                </a:highlight>
              </a:rPr>
              <a:t>Gestenerkennung</a:t>
            </a:r>
            <a:r>
              <a:rPr lang="en-DE" dirty="0">
                <a:highlight>
                  <a:srgbClr val="00FFFF"/>
                </a:highlight>
              </a:rPr>
              <a:t>, </a:t>
            </a:r>
            <a:r>
              <a:rPr lang="en-DE" dirty="0" err="1">
                <a:highlight>
                  <a:srgbClr val="00FFFF"/>
                </a:highlight>
              </a:rPr>
              <a:t>Annäherungsposition</a:t>
            </a:r>
            <a:r>
              <a:rPr lang="en-DE" dirty="0">
                <a:highlight>
                  <a:srgbClr val="00FFFF"/>
                </a:highlight>
              </a:rPr>
              <a:t>)</a:t>
            </a:r>
          </a:p>
          <a:p>
            <a:pPr algn="just"/>
            <a:r>
              <a:rPr lang="en-DE" dirty="0" err="1">
                <a:highlight>
                  <a:srgbClr val="00FFFF"/>
                </a:highlight>
              </a:rPr>
              <a:t>Gelöste</a:t>
            </a:r>
            <a:r>
              <a:rPr lang="en-DE" dirty="0">
                <a:highlight>
                  <a:srgbClr val="00FFFF"/>
                </a:highlight>
              </a:rPr>
              <a:t> </a:t>
            </a:r>
            <a:r>
              <a:rPr lang="en-DE" dirty="0" err="1">
                <a:highlight>
                  <a:srgbClr val="00FFFF"/>
                </a:highlight>
              </a:rPr>
              <a:t>Teilaufgabe</a:t>
            </a:r>
            <a:r>
              <a:rPr lang="en-DE" dirty="0">
                <a:highlight>
                  <a:srgbClr val="00FFFF"/>
                </a:highlight>
              </a:rPr>
              <a:t>: </a:t>
            </a:r>
            <a:r>
              <a:rPr lang="en-DE" b="1" dirty="0" err="1">
                <a:highlight>
                  <a:srgbClr val="00FFFF"/>
                </a:highlight>
              </a:rPr>
              <a:t>Detektion</a:t>
            </a:r>
            <a:r>
              <a:rPr lang="en-DE" b="1" dirty="0">
                <a:highlight>
                  <a:srgbClr val="00FFFF"/>
                </a:highlight>
              </a:rPr>
              <a:t> von </a:t>
            </a:r>
            <a:r>
              <a:rPr lang="en-DE" b="1" dirty="0" err="1">
                <a:highlight>
                  <a:srgbClr val="00FFFF"/>
                </a:highlight>
              </a:rPr>
              <a:t>Personen</a:t>
            </a:r>
            <a:r>
              <a:rPr lang="en-DE" b="1" dirty="0">
                <a:highlight>
                  <a:srgbClr val="00FFFF"/>
                </a:highlight>
              </a:rPr>
              <a:t> + </a:t>
            </a:r>
            <a:r>
              <a:rPr lang="en-DE" b="1" dirty="0" err="1">
                <a:highlight>
                  <a:srgbClr val="00FFFF"/>
                </a:highlight>
              </a:rPr>
              <a:t>Schätzung</a:t>
            </a:r>
            <a:r>
              <a:rPr lang="en-DE" b="1" dirty="0">
                <a:highlight>
                  <a:srgbClr val="00FFFF"/>
                </a:highlight>
              </a:rPr>
              <a:t> von 17 Körper-</a:t>
            </a:r>
            <a:r>
              <a:rPr lang="en-DE" b="1" dirty="0" err="1">
                <a:highlight>
                  <a:srgbClr val="00FFFF"/>
                </a:highlight>
              </a:rPr>
              <a:t>Keypoints</a:t>
            </a:r>
            <a:r>
              <a:rPr lang="en-DE" b="1" dirty="0">
                <a:highlight>
                  <a:srgbClr val="00FFFF"/>
                </a:highlight>
              </a:rPr>
              <a:t> in 2D-Bildern</a:t>
            </a:r>
            <a:r>
              <a:rPr lang="en-DE" dirty="0">
                <a:highlight>
                  <a:srgbClr val="00FFFF"/>
                </a:highlight>
              </a:rPr>
              <a:t> </a:t>
            </a:r>
            <a:r>
              <a:rPr lang="en-DE" dirty="0" err="1">
                <a:highlight>
                  <a:srgbClr val="00FFFF"/>
                </a:highlight>
              </a:rPr>
              <a:t>mit</a:t>
            </a:r>
            <a:r>
              <a:rPr lang="en-DE" dirty="0">
                <a:highlight>
                  <a:srgbClr val="00FFFF"/>
                </a:highlight>
              </a:rPr>
              <a:t> YOLO26-Pose</a:t>
            </a:r>
          </a:p>
          <a:p>
            <a:pPr algn="just"/>
            <a:endParaRPr lang="en-DE" b="1" dirty="0">
              <a:highlight>
                <a:srgbClr val="00FFFF"/>
              </a:highlight>
            </a:endParaRPr>
          </a:p>
        </p:txBody>
      </p:sp>
      <p:sp>
        <p:nvSpPr>
          <p:cNvPr id="38" name="Bildplatzhalter 37">
            <a:extLst>
              <a:ext uri="{FF2B5EF4-FFF2-40B4-BE49-F238E27FC236}">
                <a16:creationId xmlns:a16="http://schemas.microsoft.com/office/drawing/2014/main" id="{975FE7C7-2C4D-245B-B0A7-DA8F34163A8C}"/>
              </a:ext>
            </a:extLst>
          </p:cNvPr>
          <p:cNvSpPr>
            <a:spLocks noGrp="1"/>
          </p:cNvSpPr>
          <p:nvPr>
            <p:ph type="pic" sz="quarter" idx="47"/>
          </p:nvPr>
        </p:nvSpPr>
        <p:spPr/>
        <p:txBody>
          <a:bodyPr/>
          <a:lstStyle/>
          <a:p>
            <a:r>
              <a:rPr lang="en-US" b="1" dirty="0"/>
              <a:t>GESAMTARCHITEKTUR</a:t>
            </a:r>
            <a:endParaRPr lang="en-DE" b="1" dirty="0"/>
          </a:p>
        </p:txBody>
      </p:sp>
      <p:sp>
        <p:nvSpPr>
          <p:cNvPr id="39" name="Bildplatzhalter 38">
            <a:extLst>
              <a:ext uri="{FF2B5EF4-FFF2-40B4-BE49-F238E27FC236}">
                <a16:creationId xmlns:a16="http://schemas.microsoft.com/office/drawing/2014/main" id="{EACADA21-8010-3D9C-EF8D-930B5FB2D57E}"/>
              </a:ext>
            </a:extLst>
          </p:cNvPr>
          <p:cNvSpPr>
            <a:spLocks noGrp="1"/>
          </p:cNvSpPr>
          <p:nvPr>
            <p:ph type="pic" sz="quarter" idx="48"/>
          </p:nvPr>
        </p:nvSpPr>
        <p:spPr>
          <a:xfrm>
            <a:off x="20243799" y="12241213"/>
            <a:ext cx="8472488" cy="9914525"/>
          </a:xfrm>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dirty="0" err="1"/>
              <a:t>Trainiert</a:t>
            </a:r>
            <a:r>
              <a:rPr lang="en-DE" dirty="0"/>
              <a:t> </a:t>
            </a:r>
            <a:r>
              <a:rPr lang="en-DE" dirty="0" err="1"/>
              <a:t>wird</a:t>
            </a:r>
            <a:r>
              <a:rPr lang="en-DE" dirty="0"/>
              <a:t> auf COCO-Pose (COCO </a:t>
            </a:r>
            <a:r>
              <a:rPr lang="en-DE" dirty="0" err="1"/>
              <a:t>Keypoints</a:t>
            </a:r>
            <a:r>
              <a:rPr lang="en-DE" dirty="0"/>
              <a:t> 2017); </a:t>
            </a:r>
            <a:r>
              <a:rPr lang="en-DE" dirty="0" err="1"/>
              <a:t>jedes</a:t>
            </a:r>
            <a:r>
              <a:rPr lang="en-DE" dirty="0"/>
              <a:t> Label </a:t>
            </a:r>
            <a:r>
              <a:rPr lang="en-DE" dirty="0" err="1"/>
              <a:t>enthält</a:t>
            </a:r>
            <a:r>
              <a:rPr lang="en-DE" dirty="0"/>
              <a:t> pro Person die Bounding Box und 17 </a:t>
            </a:r>
            <a:r>
              <a:rPr lang="en-DE" dirty="0" err="1"/>
              <a:t>Keypoints</a:t>
            </a:r>
            <a:r>
              <a:rPr lang="en-DE" dirty="0"/>
              <a:t>. Das Netz </a:t>
            </a:r>
            <a:r>
              <a:rPr lang="en-DE" dirty="0" err="1"/>
              <a:t>lernt</a:t>
            </a:r>
            <a:r>
              <a:rPr lang="en-DE" dirty="0"/>
              <a:t> </a:t>
            </a:r>
            <a:r>
              <a:rPr lang="en-DE" dirty="0" err="1"/>
              <a:t>mehrere</a:t>
            </a:r>
            <a:r>
              <a:rPr lang="en-DE" dirty="0"/>
              <a:t> </a:t>
            </a:r>
            <a:r>
              <a:rPr lang="en-DE" dirty="0" err="1"/>
              <a:t>Ziele</a:t>
            </a:r>
            <a:r>
              <a:rPr lang="en-DE" dirty="0"/>
              <a:t> </a:t>
            </a:r>
            <a:r>
              <a:rPr lang="en-DE" dirty="0" err="1"/>
              <a:t>gleichzeitig</a:t>
            </a:r>
            <a:r>
              <a:rPr lang="en-DE" dirty="0"/>
              <a:t> </a:t>
            </a:r>
            <a:r>
              <a:rPr lang="en-DE" dirty="0" err="1"/>
              <a:t>über</a:t>
            </a:r>
            <a:r>
              <a:rPr lang="en-DE" dirty="0"/>
              <a:t> den </a:t>
            </a:r>
            <a:r>
              <a:rPr lang="en-DE" dirty="0" err="1"/>
              <a:t>gewichteten</a:t>
            </a:r>
            <a:r>
              <a:rPr lang="en-DE" dirty="0"/>
              <a:t> </a:t>
            </a:r>
            <a:r>
              <a:rPr lang="en-DE" dirty="0" err="1"/>
              <a:t>Gesamtverlust</a:t>
            </a:r>
            <a:endParaRPr lang="en-US" dirty="0"/>
          </a:p>
          <a:p>
            <a:pPr algn="just">
              <a:spcBef>
                <a:spcPts val="0"/>
              </a:spcBef>
            </a:pPr>
            <a:endParaRPr lang="en-US" dirty="0"/>
          </a:p>
          <a:p>
            <a:r>
              <a:rPr lang="en-DE" dirty="0"/>
              <a:t>Dabei </a:t>
            </a:r>
            <a:r>
              <a:rPr lang="en-DE" dirty="0" err="1"/>
              <a:t>bestraft</a:t>
            </a:r>
            <a:r>
              <a:rPr lang="en-DE" dirty="0"/>
              <a:t> </a:t>
            </a:r>
            <a:r>
              <a:rPr lang="en-DE" dirty="0" err="1"/>
              <a:t>ℒ_pose</a:t>
            </a:r>
            <a:r>
              <a:rPr lang="en-DE" dirty="0"/>
              <a:t> die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DE" dirty="0"/>
              <a:t> (OKS-</a:t>
            </a:r>
            <a:r>
              <a:rPr lang="en-DE" dirty="0" err="1"/>
              <a:t>basiert</a:t>
            </a:r>
            <a:r>
              <a:rPr lang="en-DE" dirty="0"/>
              <a:t>), </a:t>
            </a:r>
            <a:r>
              <a:rPr lang="en-DE" dirty="0" err="1"/>
              <a:t>ℒ_kobj</a:t>
            </a:r>
            <a:r>
              <a:rPr lang="en-DE" dirty="0"/>
              <a:t> </a:t>
            </a:r>
            <a:r>
              <a:rPr lang="en-DE" dirty="0" err="1"/>
              <a:t>bewertet</a:t>
            </a:r>
            <a:r>
              <a:rPr lang="en-DE" dirty="0"/>
              <a:t> die </a:t>
            </a:r>
            <a:r>
              <a:rPr lang="en-DE" dirty="0" err="1"/>
              <a:t>Sichtbarkeit</a:t>
            </a:r>
            <a:r>
              <a:rPr lang="en-DE" dirty="0"/>
              <a:t> der </a:t>
            </a:r>
            <a:r>
              <a:rPr lang="en-DE" dirty="0" err="1"/>
              <a:t>Keypoints</a:t>
            </a:r>
            <a:r>
              <a:rPr lang="en-DE" dirty="0"/>
              <a:t>, und der </a:t>
            </a:r>
            <a:r>
              <a:rPr lang="en-DE" dirty="0" err="1"/>
              <a:t>neue</a:t>
            </a:r>
            <a:r>
              <a:rPr lang="en-DE" dirty="0"/>
              <a:t> RLE-Term </a:t>
            </a:r>
            <a:r>
              <a:rPr lang="en-DE" dirty="0" err="1"/>
              <a:t>lässt</a:t>
            </a:r>
            <a:r>
              <a:rPr lang="en-DE" dirty="0"/>
              <a:t> das Netz je </a:t>
            </a:r>
            <a:r>
              <a:rPr lang="en-DE" dirty="0" err="1"/>
              <a:t>Keypoint</a:t>
            </a:r>
            <a:r>
              <a:rPr lang="en-DE" dirty="0"/>
              <a:t> </a:t>
            </a:r>
            <a:r>
              <a:rPr lang="en-DE" dirty="0" err="1"/>
              <a:t>eine</a:t>
            </a:r>
            <a:r>
              <a:rPr lang="en-DE" dirty="0"/>
              <a:t> </a:t>
            </a:r>
            <a:r>
              <a:rPr lang="en-DE" dirty="0" err="1"/>
              <a:t>Unsicherheit</a:t>
            </a:r>
            <a:r>
              <a:rPr lang="en-DE" dirty="0"/>
              <a:t> σ </a:t>
            </a:r>
            <a:r>
              <a:rPr lang="en-DE" dirty="0" err="1"/>
              <a:t>mitlernen</a:t>
            </a:r>
            <a:r>
              <a:rPr lang="en-DE" dirty="0"/>
              <a:t> — </a:t>
            </a:r>
            <a:r>
              <a:rPr lang="en-DE" dirty="0" err="1"/>
              <a:t>verdeckte</a:t>
            </a:r>
            <a:r>
              <a:rPr lang="en-DE" dirty="0"/>
              <a:t> </a:t>
            </a:r>
            <a:r>
              <a:rPr lang="en-DE" dirty="0" err="1"/>
              <a:t>Punkte</a:t>
            </a:r>
            <a:r>
              <a:rPr lang="en-DE" dirty="0"/>
              <a:t> </a:t>
            </a:r>
            <a:r>
              <a:rPr lang="en-DE" dirty="0" err="1"/>
              <a:t>werden</a:t>
            </a:r>
            <a:r>
              <a:rPr lang="en-DE" dirty="0"/>
              <a:t> so </a:t>
            </a:r>
            <a:r>
              <a:rPr lang="en-DE" dirty="0" err="1"/>
              <a:t>automatisch</a:t>
            </a:r>
            <a:r>
              <a:rPr lang="en-DE" dirty="0"/>
              <a:t> </a:t>
            </a:r>
            <a:r>
              <a:rPr lang="en-DE" dirty="0" err="1"/>
              <a:t>heruntergewichtet</a:t>
            </a:r>
            <a:r>
              <a:rPr lang="en-DE" dirty="0"/>
              <a:t>.</a:t>
            </a:r>
          </a:p>
          <a:p>
            <a:pPr algn="just"/>
            <a:r>
              <a:rPr lang="en-DE" dirty="0"/>
              <a:t>YOLO26 </a:t>
            </a:r>
            <a:r>
              <a:rPr lang="en-DE" dirty="0" err="1"/>
              <a:t>verlagert</a:t>
            </a:r>
            <a:r>
              <a:rPr lang="en-DE" dirty="0"/>
              <a:t> </a:t>
            </a:r>
            <a:r>
              <a:rPr lang="en-DE" dirty="0" err="1"/>
              <a:t>zudem</a:t>
            </a:r>
            <a:r>
              <a:rPr lang="en-DE" dirty="0"/>
              <a:t> die NMS ins Training: Ein One-to-Many-Head </a:t>
            </a:r>
            <a:r>
              <a:rPr lang="en-DE" dirty="0" err="1"/>
              <a:t>liefert</a:t>
            </a:r>
            <a:r>
              <a:rPr lang="en-DE" dirty="0"/>
              <a:t> </a:t>
            </a:r>
            <a:r>
              <a:rPr lang="en-DE" dirty="0" err="1"/>
              <a:t>dichte</a:t>
            </a:r>
            <a:r>
              <a:rPr lang="en-DE" dirty="0"/>
              <a:t> </a:t>
            </a:r>
            <a:r>
              <a:rPr lang="en-DE" dirty="0" err="1"/>
              <a:t>Lernsignale</a:t>
            </a:r>
            <a:r>
              <a:rPr lang="en-DE" dirty="0"/>
              <a:t>, </a:t>
            </a:r>
            <a:r>
              <a:rPr lang="en-DE" dirty="0" err="1"/>
              <a:t>während</a:t>
            </a:r>
            <a:r>
              <a:rPr lang="en-DE" dirty="0"/>
              <a:t> der One-to-One-Head — der </a:t>
            </a:r>
            <a:r>
              <a:rPr lang="en-DE" dirty="0" err="1"/>
              <a:t>spätere</a:t>
            </a:r>
            <a:r>
              <a:rPr lang="en-DE" dirty="0"/>
              <a:t> </a:t>
            </a:r>
            <a:r>
              <a:rPr lang="en-DE" dirty="0" err="1"/>
              <a:t>Inferenzpfad</a:t>
            </a:r>
            <a:r>
              <a:rPr lang="en-DE" dirty="0"/>
              <a:t> — </a:t>
            </a:r>
            <a:r>
              <a:rPr lang="en-DE" dirty="0" err="1"/>
              <a:t>genau</a:t>
            </a:r>
            <a:r>
              <a:rPr lang="en-DE" dirty="0"/>
              <a:t> </a:t>
            </a:r>
            <a:r>
              <a:rPr lang="en-DE" dirty="0" err="1"/>
              <a:t>eine</a:t>
            </a:r>
            <a:r>
              <a:rPr lang="en-DE" dirty="0"/>
              <a:t> </a:t>
            </a:r>
            <a:r>
              <a:rPr lang="en-DE" dirty="0" err="1"/>
              <a:t>Zuordnung</a:t>
            </a:r>
            <a:r>
              <a:rPr lang="en-DE" dirty="0"/>
              <a:t> pro </a:t>
            </a:r>
            <a:r>
              <a:rPr lang="en-DE" dirty="0" err="1"/>
              <a:t>Objekt</a:t>
            </a:r>
            <a:r>
              <a:rPr lang="en-DE" dirty="0"/>
              <a:t> </a:t>
            </a:r>
            <a:r>
              <a:rPr lang="en-DE" dirty="0" err="1"/>
              <a:t>lernt</a:t>
            </a:r>
            <a:r>
              <a:rPr lang="en-DE" dirty="0"/>
              <a:t>; der Progressive Loss </a:t>
            </a:r>
            <a:r>
              <a:rPr lang="en-DE" dirty="0" err="1"/>
              <a:t>verschiebt</a:t>
            </a:r>
            <a:r>
              <a:rPr lang="en-DE" dirty="0"/>
              <a:t> die </a:t>
            </a:r>
            <a:r>
              <a:rPr lang="en-DE" dirty="0" err="1"/>
              <a:t>Gewichtung</a:t>
            </a:r>
            <a:r>
              <a:rPr lang="en-DE" dirty="0"/>
              <a:t> von (0,8/0,2) </a:t>
            </a:r>
            <a:r>
              <a:rPr lang="en-DE" dirty="0" err="1"/>
              <a:t>zu</a:t>
            </a:r>
            <a:r>
              <a:rPr lang="en-DE" dirty="0"/>
              <a:t> (0,1/0,9) </a:t>
            </a:r>
            <a:r>
              <a:rPr lang="en-DE" dirty="0" err="1"/>
              <a:t>zugunsten</a:t>
            </a:r>
            <a:r>
              <a:rPr lang="en-DE" dirty="0"/>
              <a:t> des </a:t>
            </a:r>
            <a:r>
              <a:rPr lang="en-DE" dirty="0" err="1"/>
              <a:t>Inferenz</a:t>
            </a:r>
            <a:r>
              <a:rPr lang="en-DE" dirty="0"/>
              <a:t>-Heads. STAL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der Hybrid-</a:t>
            </a:r>
            <a:r>
              <a:rPr lang="en-DE" dirty="0" err="1"/>
              <a:t>Optimierer</a:t>
            </a:r>
            <a:r>
              <a:rPr lang="en-DE" dirty="0"/>
              <a:t> </a:t>
            </a:r>
            <a:r>
              <a:rPr lang="en-DE" dirty="0" err="1"/>
              <a:t>MuSGD</a:t>
            </a:r>
            <a:r>
              <a:rPr lang="en-DE" dirty="0"/>
              <a:t> (Muon + SGD) </a:t>
            </a:r>
            <a:r>
              <a:rPr lang="en-DE" dirty="0" err="1"/>
              <a:t>beschleunigt</a:t>
            </a:r>
            <a:r>
              <a:rPr lang="en-DE" dirty="0"/>
              <a:t> die </a:t>
            </a:r>
            <a:r>
              <a:rPr lang="en-DE" dirty="0" err="1"/>
              <a:t>Konvergenz</a:t>
            </a:r>
            <a:r>
              <a:rPr lang="en-DE" dirty="0"/>
              <a:t>, und der </a:t>
            </a:r>
            <a:r>
              <a:rPr lang="en-DE" dirty="0" err="1"/>
              <a:t>Verzicht</a:t>
            </a:r>
            <a:r>
              <a:rPr lang="en-DE" dirty="0"/>
              <a:t> auf DFL </a:t>
            </a:r>
            <a:r>
              <a:rPr lang="en-DE" dirty="0" err="1"/>
              <a:t>ermöglicht</a:t>
            </a:r>
            <a:r>
              <a:rPr lang="en-DE" dirty="0"/>
              <a:t> </a:t>
            </a:r>
            <a:r>
              <a:rPr lang="en-DE" dirty="0" err="1"/>
              <a:t>eine</a:t>
            </a:r>
            <a:r>
              <a:rPr lang="en-DE" dirty="0"/>
              <a:t> </a:t>
            </a:r>
            <a:r>
              <a:rPr lang="en-DE" dirty="0" err="1"/>
              <a:t>direkte</a:t>
            </a:r>
            <a:r>
              <a:rPr lang="en-DE" dirty="0"/>
              <a:t> Box-Regression.</a:t>
            </a:r>
          </a:p>
          <a:p>
            <a:pPr algn="just">
              <a:spcBef>
                <a:spcPts val="0"/>
              </a:spcBef>
            </a:pPr>
            <a:endParaRPr lang="en-US" dirty="0"/>
          </a:p>
          <a:p>
            <a:pPr algn="just">
              <a:spcBef>
                <a:spcPts val="0"/>
              </a:spcBef>
            </a:pPr>
            <a:endParaRPr lang="en-US" i="1" dirty="0">
              <a:latin typeface="Cambria Math" panose="02040503050406030204" pitchFamily="18" charset="0"/>
            </a:endParaRPr>
          </a:p>
          <a:p>
            <a:pPr algn="just">
              <a:spcBef>
                <a:spcPts val="0"/>
              </a:spcBef>
            </a:pPr>
            <a:endParaRPr lang="en-US" i="1" dirty="0">
              <a:latin typeface="Cambria Math" panose="02040503050406030204" pitchFamily="18" charset="0"/>
            </a:endParaRPr>
          </a:p>
          <a:p>
            <a:pPr algn="just">
              <a:spcBef>
                <a:spcPts val="0"/>
              </a:spcBef>
            </a:pPr>
            <a:endParaRPr lang="en-US" i="1" dirty="0">
              <a:latin typeface="Cambria Math" panose="02040503050406030204" pitchFamily="18" charset="0"/>
            </a:endParaRPr>
          </a:p>
        </p:txBody>
      </p:sp>
      <p:sp>
        <p:nvSpPr>
          <p:cNvPr id="42" name="Textplatzhalter 41">
            <a:extLst>
              <a:ext uri="{FF2B5EF4-FFF2-40B4-BE49-F238E27FC236}">
                <a16:creationId xmlns:a16="http://schemas.microsoft.com/office/drawing/2014/main" id="{CCB13725-A724-7835-A589-DFFFE15A834F}"/>
              </a:ext>
            </a:extLst>
          </p:cNvPr>
          <p:cNvSpPr>
            <a:spLocks noGrp="1"/>
          </p:cNvSpPr>
          <p:nvPr>
            <p:ph type="body" sz="quarter" idx="51"/>
          </p:nvPr>
        </p:nvSpPr>
        <p:spPr>
          <a:xfrm>
            <a:off x="20272375" y="41265660"/>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3"/>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4FF6321A-2008-39CB-7032-5E1E6FADF971}"/>
              </a:ext>
            </a:extLst>
          </p:cNvPr>
          <p:cNvSpPr>
            <a:spLocks noGrp="1"/>
          </p:cNvSpPr>
          <p:nvPr>
            <p:ph type="body" sz="quarter" idx="52"/>
          </p:nvPr>
        </p:nvSpPr>
        <p:spPr>
          <a:xfrm>
            <a:off x="20213637" y="40639449"/>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D6960CF5-CEFE-55FB-7E1A-5BB183ABA53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A371D5B1-E0D0-E1FF-C07A-6F28759018F8}"/>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8" name="Bildplatzhalter 37">
            <a:extLst>
              <a:ext uri="{FF2B5EF4-FFF2-40B4-BE49-F238E27FC236}">
                <a16:creationId xmlns:a16="http://schemas.microsoft.com/office/drawing/2014/main" id="{FAD5CD6D-1FE6-ED55-935D-79FFC4BA70BF}"/>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C1BFEF04-9281-B57F-82F5-FDADFEF436FF}"/>
              </a:ext>
            </a:extLst>
          </p:cNvPr>
          <p:cNvSpPr txBox="1">
            <a:spLocks/>
          </p:cNvSpPr>
          <p:nvPr/>
        </p:nvSpPr>
        <p:spPr>
          <a:xfrm>
            <a:off x="20243006" y="22548458"/>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r>
              <a:rPr lang="de-DE" b="1" dirty="0"/>
              <a:t>TEST + ERGEBNIS</a:t>
            </a:r>
          </a:p>
          <a:p>
            <a:pPr algn="just"/>
            <a:r>
              <a:rPr lang="en-DE" b="1" dirty="0" err="1"/>
              <a:t>Testziel</a:t>
            </a:r>
            <a:r>
              <a:rPr lang="en-DE" b="1" dirty="0"/>
              <a:t>:</a:t>
            </a:r>
            <a:r>
              <a:rPr lang="en-DE" dirty="0"/>
              <a:t> </a:t>
            </a:r>
            <a:r>
              <a:rPr lang="en-DE" dirty="0" err="1"/>
              <a:t>Untersucht</a:t>
            </a:r>
            <a:r>
              <a:rPr lang="en-DE" dirty="0"/>
              <a:t> </a:t>
            </a:r>
            <a:r>
              <a:rPr lang="en-DE" dirty="0" err="1"/>
              <a:t>wird</a:t>
            </a:r>
            <a:r>
              <a:rPr lang="en-DE" dirty="0"/>
              <a:t>, </a:t>
            </a:r>
            <a:r>
              <a:rPr lang="en-DE" dirty="0" err="1"/>
              <a:t>ob</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a:t>
            </a:r>
            <a:r>
              <a:rPr lang="en-DE" dirty="0" err="1"/>
              <a:t>verkürzt</a:t>
            </a:r>
            <a:r>
              <a:rPr lang="en-DE" dirty="0"/>
              <a:t> und </a:t>
            </a:r>
            <a:r>
              <a:rPr lang="en-DE" dirty="0" err="1"/>
              <a:t>ob</a:t>
            </a:r>
            <a:r>
              <a:rPr lang="en-DE" dirty="0"/>
              <a:t> </a:t>
            </a:r>
            <a:r>
              <a:rPr lang="en-DE" dirty="0" err="1"/>
              <a:t>ein</a:t>
            </a:r>
            <a:r>
              <a:rPr lang="en-DE" dirty="0"/>
              <a:t> </a:t>
            </a:r>
            <a:r>
              <a:rPr lang="en-DE" dirty="0" err="1"/>
              <a:t>Gesamtzeitvorteil</a:t>
            </a:r>
            <a:r>
              <a:rPr lang="en-DE" dirty="0"/>
              <a:t> von der Hardware-</a:t>
            </a:r>
            <a:r>
              <a:rPr lang="en-DE" dirty="0" err="1"/>
              <a:t>Plattform</a:t>
            </a:r>
            <a:r>
              <a:rPr lang="en-DE" dirty="0"/>
              <a:t> </a:t>
            </a:r>
            <a:r>
              <a:rPr lang="en-DE" dirty="0" err="1"/>
              <a:t>abhängt</a:t>
            </a:r>
            <a:r>
              <a:rPr lang="en-DE" dirty="0"/>
              <a:t>.</a:t>
            </a:r>
          </a:p>
          <a:p>
            <a:pPr algn="just"/>
            <a:r>
              <a:rPr lang="en-DE" b="1" dirty="0"/>
              <a:t>Test-Setup:</a:t>
            </a:r>
            <a:r>
              <a:rPr lang="en-DE" dirty="0"/>
              <a:t> </a:t>
            </a:r>
            <a:r>
              <a:rPr lang="en-DE" dirty="0" err="1"/>
              <a:t>Beide</a:t>
            </a:r>
            <a:r>
              <a:rPr lang="en-DE" dirty="0"/>
              <a:t> Modelle (Nano-</a:t>
            </a:r>
            <a:r>
              <a:rPr lang="en-DE" dirty="0" err="1"/>
              <a:t>Variante</a:t>
            </a:r>
            <a:r>
              <a:rPr lang="en-DE" dirty="0"/>
              <a:t>) </a:t>
            </a:r>
            <a:r>
              <a:rPr lang="en-DE" dirty="0" err="1"/>
              <a:t>wurden</a:t>
            </a:r>
            <a:r>
              <a:rPr lang="en-DE" dirty="0"/>
              <a:t> </a:t>
            </a:r>
            <a:r>
              <a:rPr lang="en-DE" dirty="0" err="1"/>
              <a:t>unter</a:t>
            </a:r>
            <a:r>
              <a:rPr lang="en-DE" dirty="0"/>
              <a:t> </a:t>
            </a:r>
            <a:r>
              <a:rPr lang="en-DE" dirty="0" err="1"/>
              <a:t>identischen</a:t>
            </a:r>
            <a:r>
              <a:rPr lang="en-DE" dirty="0"/>
              <a:t> </a:t>
            </a:r>
            <a:r>
              <a:rPr lang="en-DE" dirty="0" err="1"/>
              <a:t>Bedingungen</a:t>
            </a:r>
            <a:r>
              <a:rPr lang="en-DE" dirty="0"/>
              <a:t> auf 10 </a:t>
            </a:r>
            <a:r>
              <a:rPr lang="en-DE" dirty="0" err="1"/>
              <a:t>frei</a:t>
            </a:r>
            <a:r>
              <a:rPr lang="en-DE" dirty="0"/>
              <a:t> </a:t>
            </a:r>
            <a:r>
              <a:rPr lang="en-DE" dirty="0" err="1"/>
              <a:t>verfügbaren</a:t>
            </a:r>
            <a:r>
              <a:rPr lang="en-DE" dirty="0"/>
              <a:t> </a:t>
            </a:r>
            <a:r>
              <a:rPr lang="en-DE" dirty="0" err="1"/>
              <a:t>Bildern</a:t>
            </a:r>
            <a:r>
              <a:rPr lang="en-DE" dirty="0"/>
              <a:t> </a:t>
            </a:r>
            <a:r>
              <a:rPr lang="en-DE" dirty="0" err="1"/>
              <a:t>mit</a:t>
            </a:r>
            <a:r>
              <a:rPr lang="en-DE" dirty="0"/>
              <a:t> </a:t>
            </a:r>
            <a:r>
              <a:rPr lang="en-DE" dirty="0" err="1"/>
              <a:t>mehreren</a:t>
            </a:r>
            <a:r>
              <a:rPr lang="en-DE" dirty="0"/>
              <a:t>, teils stark </a:t>
            </a:r>
            <a:r>
              <a:rPr lang="en-DE" dirty="0" err="1"/>
              <a:t>verdeckten</a:t>
            </a:r>
            <a:r>
              <a:rPr lang="en-DE" dirty="0"/>
              <a:t> </a:t>
            </a:r>
            <a:r>
              <a:rPr lang="en-DE" dirty="0" err="1"/>
              <a:t>Personen</a:t>
            </a:r>
            <a:r>
              <a:rPr lang="en-DE" dirty="0"/>
              <a:t> </a:t>
            </a:r>
            <a:r>
              <a:rPr lang="en-DE" dirty="0" err="1"/>
              <a:t>ausgeführt</a:t>
            </a:r>
            <a:r>
              <a:rPr lang="en-DE" dirty="0"/>
              <a:t> — auf </a:t>
            </a:r>
            <a:r>
              <a:rPr lang="en-DE" dirty="0" err="1"/>
              <a:t>zwei</a:t>
            </a:r>
            <a:r>
              <a:rPr lang="en-DE" dirty="0"/>
              <a:t> CPUs (Intel i5-1335U, AMD </a:t>
            </a:r>
            <a:r>
              <a:rPr lang="en-DE" dirty="0" err="1"/>
              <a:t>Ryzen</a:t>
            </a:r>
            <a:r>
              <a:rPr lang="en-DE" dirty="0"/>
              <a:t> 7 5800X) und </a:t>
            </a:r>
            <a:r>
              <a:rPr lang="en-DE" dirty="0" err="1"/>
              <a:t>einer</a:t>
            </a:r>
            <a:r>
              <a:rPr lang="en-DE" dirty="0"/>
              <a:t> GPU (NVIDIA RTX 4070 Ti SUPER). Nach 4 </a:t>
            </a:r>
            <a:r>
              <a:rPr lang="en-DE" dirty="0" err="1"/>
              <a:t>Aufwärmläufen</a:t>
            </a:r>
            <a:r>
              <a:rPr lang="en-DE" dirty="0"/>
              <a:t> </a:t>
            </a:r>
            <a:r>
              <a:rPr lang="en-DE" dirty="0" err="1"/>
              <a:t>wurden</a:t>
            </a:r>
            <a:r>
              <a:rPr lang="en-DE" dirty="0"/>
              <a:t> Vor-, </a:t>
            </a:r>
            <a:r>
              <a:rPr lang="en-DE" dirty="0" err="1"/>
              <a:t>Inferenz</a:t>
            </a:r>
            <a:r>
              <a:rPr lang="en-DE" dirty="0"/>
              <a:t>- und </a:t>
            </a:r>
            <a:r>
              <a:rPr lang="en-DE" dirty="0" err="1"/>
              <a:t>Nachbearbeitungszeit</a:t>
            </a:r>
            <a:r>
              <a:rPr lang="en-DE" dirty="0"/>
              <a:t> pro Bild </a:t>
            </a:r>
            <a:r>
              <a:rPr lang="en-DE" dirty="0" err="1"/>
              <a:t>getrennt</a:t>
            </a:r>
            <a:r>
              <a:rPr lang="en-DE" dirty="0"/>
              <a:t> </a:t>
            </a:r>
            <a:r>
              <a:rPr lang="en-DE" dirty="0" err="1"/>
              <a:t>gemessen</a:t>
            </a:r>
            <a:r>
              <a:rPr lang="en-DE" dirty="0"/>
              <a:t>.</a:t>
            </a:r>
          </a:p>
          <a:p>
            <a:pPr algn="just"/>
            <a:r>
              <a:rPr lang="en-DE" b="1" dirty="0" err="1"/>
              <a:t>Ergebnisse</a:t>
            </a:r>
            <a:r>
              <a:rPr lang="en-DE" b="1" dirty="0"/>
              <a:t>:</a:t>
            </a:r>
            <a:r>
              <a:rPr lang="en-DE" dirty="0"/>
              <a:t> Die </a:t>
            </a:r>
            <a:r>
              <a:rPr lang="en-DE" dirty="0" err="1"/>
              <a:t>Nachbearbeitung</a:t>
            </a:r>
            <a:r>
              <a:rPr lang="en-DE" dirty="0"/>
              <a:t> </a:t>
            </a:r>
            <a:r>
              <a:rPr lang="en-DE" dirty="0" err="1"/>
              <a:t>ist</a:t>
            </a:r>
            <a:r>
              <a:rPr lang="en-DE" dirty="0"/>
              <a:t> </a:t>
            </a:r>
            <a:r>
              <a:rPr lang="en-DE" dirty="0" err="1"/>
              <a:t>bei</a:t>
            </a:r>
            <a:r>
              <a:rPr lang="en-DE" dirty="0"/>
              <a:t> YOLO26 auf </a:t>
            </a:r>
            <a:r>
              <a:rPr lang="en-DE" dirty="0" err="1"/>
              <a:t>allen</a:t>
            </a:r>
            <a:r>
              <a:rPr lang="en-DE" dirty="0"/>
              <a:t> </a:t>
            </a:r>
            <a:r>
              <a:rPr lang="en-DE" dirty="0" err="1"/>
              <a:t>Plattformen</a:t>
            </a:r>
            <a:r>
              <a:rPr lang="en-DE" dirty="0"/>
              <a:t> </a:t>
            </a:r>
            <a:r>
              <a:rPr lang="en-DE" dirty="0" err="1"/>
              <a:t>kürzer</a:t>
            </a:r>
            <a:r>
              <a:rPr lang="en-DE" dirty="0"/>
              <a:t> und die </a:t>
            </a:r>
            <a:r>
              <a:rPr lang="en-DE" dirty="0" err="1"/>
              <a:t>Laufzeit</a:t>
            </a:r>
            <a:r>
              <a:rPr lang="en-DE" dirty="0"/>
              <a:t> </a:t>
            </a:r>
            <a:r>
              <a:rPr lang="en-DE" dirty="0" err="1"/>
              <a:t>stabiler</a:t>
            </a:r>
            <a:r>
              <a:rPr lang="en-DE" dirty="0"/>
              <a:t>. Der </a:t>
            </a:r>
            <a:r>
              <a:rPr lang="en-DE" dirty="0" err="1"/>
              <a:t>Gesamtvorteil</a:t>
            </a:r>
            <a:r>
              <a:rPr lang="en-DE" dirty="0"/>
              <a:t> </a:t>
            </a:r>
            <a:r>
              <a:rPr lang="en-DE" dirty="0" err="1"/>
              <a:t>ist</a:t>
            </a:r>
            <a:r>
              <a:rPr lang="en-DE" dirty="0"/>
              <a:t> </a:t>
            </a:r>
            <a:r>
              <a:rPr lang="en-DE" dirty="0" err="1"/>
              <a:t>jedoch</a:t>
            </a:r>
            <a:r>
              <a:rPr lang="en-DE" dirty="0"/>
              <a:t> </a:t>
            </a:r>
            <a:r>
              <a:rPr lang="en-DE" dirty="0" err="1"/>
              <a:t>hardwareabhängig</a:t>
            </a:r>
            <a:r>
              <a:rPr lang="en-DE" dirty="0"/>
              <a:t>: Auf den CPUs </a:t>
            </a:r>
            <a:r>
              <a:rPr lang="en-DE" dirty="0" err="1"/>
              <a:t>ist</a:t>
            </a:r>
            <a:r>
              <a:rPr lang="en-DE" dirty="0"/>
              <a:t> YOLO26 </a:t>
            </a:r>
            <a:r>
              <a:rPr lang="en-DE" dirty="0" err="1"/>
              <a:t>leicht</a:t>
            </a:r>
            <a:r>
              <a:rPr lang="en-DE" dirty="0"/>
              <a:t> </a:t>
            </a:r>
            <a:r>
              <a:rPr lang="en-DE" dirty="0" err="1"/>
              <a:t>langsamer</a:t>
            </a:r>
            <a:r>
              <a:rPr lang="en-DE" dirty="0"/>
              <a:t> (182,1 vs. 160,4 </a:t>
            </a:r>
            <a:r>
              <a:rPr lang="en-DE" dirty="0" err="1"/>
              <a:t>ms</a:t>
            </a:r>
            <a:r>
              <a:rPr lang="en-DE" dirty="0"/>
              <a:t>; 48,6 vs. 45,2 </a:t>
            </a:r>
            <a:r>
              <a:rPr lang="en-DE" dirty="0" err="1"/>
              <a:t>ms</a:t>
            </a:r>
            <a:r>
              <a:rPr lang="en-DE" dirty="0"/>
              <a:t>), auf der GPU </a:t>
            </a:r>
            <a:r>
              <a:rPr lang="en-DE" dirty="0" err="1"/>
              <a:t>schneller</a:t>
            </a:r>
            <a:r>
              <a:rPr lang="en-DE" dirty="0"/>
              <a:t> (21,8 vs. 24,7 </a:t>
            </a:r>
            <a:r>
              <a:rPr lang="en-DE" dirty="0" err="1"/>
              <a:t>ms</a:t>
            </a:r>
            <a:r>
              <a:rPr lang="en-DE" dirty="0"/>
              <a:t> — </a:t>
            </a:r>
            <a:r>
              <a:rPr lang="en-DE" dirty="0" err="1"/>
              <a:t>über</a:t>
            </a:r>
            <a:r>
              <a:rPr lang="en-DE" dirty="0"/>
              <a:t> 40 Bilder/s). </a:t>
            </a:r>
            <a:r>
              <a:rPr lang="en-DE" dirty="0" err="1"/>
              <a:t>Qualitativ</a:t>
            </a:r>
            <a:r>
              <a:rPr lang="en-DE" dirty="0"/>
              <a:t> </a:t>
            </a:r>
            <a:r>
              <a:rPr lang="en-DE" dirty="0" err="1"/>
              <a:t>erkennt</a:t>
            </a:r>
            <a:r>
              <a:rPr lang="en-DE" dirty="0"/>
              <a:t> YOLO26 </a:t>
            </a:r>
            <a:r>
              <a:rPr lang="en-DE" dirty="0" err="1"/>
              <a:t>zusätzlich</a:t>
            </a:r>
            <a:r>
              <a:rPr lang="en-DE" dirty="0"/>
              <a:t> </a:t>
            </a:r>
            <a:r>
              <a:rPr lang="en-DE" dirty="0" err="1"/>
              <a:t>entfernte</a:t>
            </a:r>
            <a:r>
              <a:rPr lang="en-DE" dirty="0"/>
              <a:t> und </a:t>
            </a:r>
            <a:r>
              <a:rPr lang="en-DE" dirty="0" err="1"/>
              <a:t>verdeckte</a:t>
            </a:r>
            <a:r>
              <a:rPr lang="en-DE" dirty="0"/>
              <a:t> </a:t>
            </a:r>
            <a:r>
              <a:rPr lang="en-DE" dirty="0" err="1"/>
              <a:t>Personen</a:t>
            </a:r>
            <a:r>
              <a:rPr lang="en-DE" dirty="0"/>
              <a:t>. </a:t>
            </a:r>
          </a:p>
        </p:txBody>
      </p:sp>
      <p:sp>
        <p:nvSpPr>
          <p:cNvPr id="57" name="Textplatzhalter 36">
            <a:extLst>
              <a:ext uri="{FF2B5EF4-FFF2-40B4-BE49-F238E27FC236}">
                <a16:creationId xmlns:a16="http://schemas.microsoft.com/office/drawing/2014/main" id="{F7873E98-0908-648E-C05C-9296D05F332C}"/>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5BF250AF-F175-A243-700A-8EB3A2BE73EE}"/>
              </a:ext>
            </a:extLst>
          </p:cNvPr>
          <p:cNvSpPr txBox="1">
            <a:spLocks/>
          </p:cNvSpPr>
          <p:nvPr/>
        </p:nvSpPr>
        <p:spPr>
          <a:xfrm>
            <a:off x="1502497" y="37011216"/>
            <a:ext cx="8497166" cy="756597"/>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5CEF0381-BCE1-348F-ABC9-5502212953A0}"/>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sp>
        <p:nvSpPr>
          <p:cNvPr id="74" name="Textplatzhalter 32">
            <a:extLst>
              <a:ext uri="{FF2B5EF4-FFF2-40B4-BE49-F238E27FC236}">
                <a16:creationId xmlns:a16="http://schemas.microsoft.com/office/drawing/2014/main" id="{155E5BE5-5E5D-2806-3E4E-121F43C862AE}"/>
              </a:ext>
            </a:extLst>
          </p:cNvPr>
          <p:cNvSpPr>
            <a:spLocks noGrp="1"/>
          </p:cNvSpPr>
          <p:nvPr>
            <p:ph type="body" sz="quarter" idx="27"/>
          </p:nvPr>
        </p:nvSpPr>
        <p:spPr>
          <a:xfrm>
            <a:off x="10918799" y="19914245"/>
            <a:ext cx="8483625" cy="1070435"/>
          </a:xfrm>
        </p:spPr>
        <p:txBody>
          <a:bodyPr/>
          <a:lstStyle/>
          <a:p>
            <a:pPr algn="just"/>
            <a:r>
              <a:rPr lang="en-DE" sz="2700" b="1" dirty="0">
                <a:latin typeface="+mn-lt"/>
              </a:rPr>
              <a:t>ZENTRALE BAUSTEINE DER YOLO26-POSE-ARCHITEKTUR</a:t>
            </a:r>
            <a:endParaRPr lang="en-US" sz="2700" b="1" dirty="0">
              <a:latin typeface="+mn-lt"/>
            </a:endParaRPr>
          </a:p>
          <a:p>
            <a:r>
              <a:rPr lang="en-DE" sz="2700" dirty="0">
                <a:latin typeface="+mn-lt"/>
              </a:rPr>
              <a:t>YOLO26-Pose </a:t>
            </a:r>
            <a:r>
              <a:rPr lang="en-DE" sz="2700" dirty="0" err="1">
                <a:latin typeface="+mn-lt"/>
              </a:rPr>
              <a:t>gliedert</a:t>
            </a:r>
            <a:r>
              <a:rPr lang="en-DE" sz="2700" dirty="0">
                <a:latin typeface="+mn-lt"/>
              </a:rPr>
              <a:t> </a:t>
            </a:r>
            <a:r>
              <a:rPr lang="en-DE" sz="2700" dirty="0" err="1">
                <a:latin typeface="+mn-lt"/>
              </a:rPr>
              <a:t>sich</a:t>
            </a:r>
            <a:r>
              <a:rPr lang="en-DE" sz="2700" dirty="0">
                <a:latin typeface="+mn-lt"/>
              </a:rPr>
              <a:t> in Backbone, Neck und Head (Abb. 1) und </a:t>
            </a:r>
            <a:r>
              <a:rPr lang="en-DE" sz="2700" dirty="0" err="1">
                <a:latin typeface="+mn-lt"/>
              </a:rPr>
              <a:t>verarbeitet</a:t>
            </a:r>
            <a:r>
              <a:rPr lang="en-DE" sz="2700" dirty="0">
                <a:latin typeface="+mn-lt"/>
              </a:rPr>
              <a:t> </a:t>
            </a:r>
            <a:r>
              <a:rPr lang="en-DE" sz="2700" dirty="0" err="1">
                <a:latin typeface="+mn-lt"/>
              </a:rPr>
              <a:t>Eingangsbilder</a:t>
            </a:r>
            <a:r>
              <a:rPr lang="en-DE" sz="2700" dirty="0">
                <a:latin typeface="+mn-lt"/>
              </a:rPr>
              <a:t> </a:t>
            </a:r>
            <a:r>
              <a:rPr lang="en-DE" sz="2700" dirty="0" err="1">
                <a:latin typeface="+mn-lt"/>
              </a:rPr>
              <a:t>als</a:t>
            </a:r>
            <a:r>
              <a:rPr lang="en-DE" sz="2700" dirty="0">
                <a:latin typeface="+mn-lt"/>
              </a:rPr>
              <a:t> Tensor der </a:t>
            </a:r>
            <a:r>
              <a:rPr lang="en-DE" sz="2700" dirty="0" err="1">
                <a:latin typeface="+mn-lt"/>
              </a:rPr>
              <a:t>Größe</a:t>
            </a:r>
            <a:r>
              <a:rPr lang="en-DE" sz="2700" dirty="0">
                <a:latin typeface="+mn-lt"/>
              </a:rPr>
              <a:t> 640×640×3.</a:t>
            </a:r>
          </a:p>
          <a:p>
            <a:pPr algn="just"/>
            <a:r>
              <a:rPr lang="en-DE" sz="2700" dirty="0">
                <a:latin typeface="+mn-lt"/>
              </a:rPr>
              <a:t>Der </a:t>
            </a:r>
            <a:r>
              <a:rPr lang="en-DE" sz="2700" b="1" dirty="0">
                <a:latin typeface="+mn-lt"/>
              </a:rPr>
              <a:t>Backbone</a:t>
            </a:r>
            <a:r>
              <a:rPr lang="en-DE" sz="2700" dirty="0">
                <a:latin typeface="+mn-lt"/>
              </a:rPr>
              <a:t> </a:t>
            </a:r>
            <a:r>
              <a:rPr lang="en-DE" sz="2700" dirty="0" err="1">
                <a:latin typeface="+mn-lt"/>
              </a:rPr>
              <a:t>extrahiert</a:t>
            </a:r>
            <a:r>
              <a:rPr lang="en-DE" sz="2700" dirty="0">
                <a:latin typeface="+mn-lt"/>
              </a:rPr>
              <a:t> </a:t>
            </a:r>
            <a:r>
              <a:rPr lang="en-DE" sz="2700" dirty="0" err="1">
                <a:latin typeface="+mn-lt"/>
              </a:rPr>
              <a:t>Merkmale</a:t>
            </a:r>
            <a:r>
              <a:rPr lang="en-DE" sz="2700" dirty="0">
                <a:latin typeface="+mn-lt"/>
              </a:rPr>
              <a:t> in </a:t>
            </a:r>
            <a:r>
              <a:rPr lang="en-DE" sz="2700" dirty="0" err="1">
                <a:latin typeface="+mn-lt"/>
              </a:rPr>
              <a:t>fünf</a:t>
            </a:r>
            <a:r>
              <a:rPr lang="en-DE" sz="2700" dirty="0">
                <a:latin typeface="+mn-lt"/>
              </a:rPr>
              <a:t> </a:t>
            </a:r>
            <a:r>
              <a:rPr lang="en-DE" sz="2700" dirty="0" err="1">
                <a:latin typeface="+mn-lt"/>
              </a:rPr>
              <a:t>Stufen</a:t>
            </a:r>
            <a:r>
              <a:rPr lang="en-DE" sz="2700" dirty="0">
                <a:latin typeface="+mn-lt"/>
              </a:rPr>
              <a:t>: Conv-</a:t>
            </a:r>
            <a:r>
              <a:rPr lang="en-DE" sz="2700" dirty="0" err="1">
                <a:latin typeface="+mn-lt"/>
              </a:rPr>
              <a:t>Blöcke</a:t>
            </a:r>
            <a:r>
              <a:rPr lang="en-DE" sz="2700" dirty="0">
                <a:latin typeface="+mn-lt"/>
              </a:rPr>
              <a:t> (Conv2d → </a:t>
            </a:r>
            <a:r>
              <a:rPr lang="en-DE" sz="2700" dirty="0" err="1">
                <a:latin typeface="+mn-lt"/>
              </a:rPr>
              <a:t>BatchNorm</a:t>
            </a:r>
            <a:r>
              <a:rPr lang="en-DE" sz="2700" dirty="0">
                <a:latin typeface="+mn-lt"/>
              </a:rPr>
              <a:t> → </a:t>
            </a:r>
            <a:r>
              <a:rPr lang="en-DE" sz="2700" dirty="0" err="1">
                <a:latin typeface="+mn-lt"/>
              </a:rPr>
              <a:t>SiLU</a:t>
            </a:r>
            <a:r>
              <a:rPr lang="en-DE" sz="2700" dirty="0">
                <a:latin typeface="+mn-lt"/>
              </a:rPr>
              <a:t>) </a:t>
            </a:r>
            <a:r>
              <a:rPr lang="en-DE" sz="2700" dirty="0" err="1">
                <a:latin typeface="+mn-lt"/>
              </a:rPr>
              <a:t>mit</a:t>
            </a:r>
            <a:r>
              <a:rPr lang="en-DE" sz="2700" dirty="0">
                <a:latin typeface="+mn-lt"/>
              </a:rPr>
              <a:t> Stride 2 </a:t>
            </a:r>
            <a:r>
              <a:rPr lang="en-DE" sz="2700" dirty="0" err="1">
                <a:latin typeface="+mn-lt"/>
              </a:rPr>
              <a:t>halbieren</a:t>
            </a:r>
            <a:r>
              <a:rPr lang="en-DE" sz="2700" dirty="0">
                <a:latin typeface="+mn-lt"/>
              </a:rPr>
              <a:t> </a:t>
            </a:r>
            <a:r>
              <a:rPr lang="en-DE" sz="2700" dirty="0" err="1">
                <a:latin typeface="+mn-lt"/>
              </a:rPr>
              <a:t>jeweils</a:t>
            </a:r>
            <a:r>
              <a:rPr lang="en-DE" sz="2700" dirty="0">
                <a:latin typeface="+mn-lt"/>
              </a:rPr>
              <a:t> die </a:t>
            </a:r>
            <a:r>
              <a:rPr lang="en-DE" sz="2700" dirty="0" err="1">
                <a:latin typeface="+mn-lt"/>
              </a:rPr>
              <a:t>Auflösung</a:t>
            </a:r>
            <a:r>
              <a:rPr lang="en-DE" sz="2700" dirty="0">
                <a:latin typeface="+mn-lt"/>
              </a:rPr>
              <a:t>, </a:t>
            </a:r>
            <a:r>
              <a:rPr lang="en-DE" sz="2700" dirty="0" err="1">
                <a:latin typeface="+mn-lt"/>
              </a:rPr>
              <a:t>dazwischenliegende</a:t>
            </a:r>
            <a:r>
              <a:rPr lang="en-DE" sz="2700" dirty="0">
                <a:latin typeface="+mn-lt"/>
              </a:rPr>
              <a:t> C3k2-Blöcke </a:t>
            </a:r>
            <a:r>
              <a:rPr lang="en-DE" sz="2700" dirty="0" err="1">
                <a:latin typeface="+mn-lt"/>
              </a:rPr>
              <a:t>verfeinern</a:t>
            </a:r>
            <a:r>
              <a:rPr lang="en-DE" sz="2700" dirty="0">
                <a:latin typeface="+mn-lt"/>
              </a:rPr>
              <a:t> die </a:t>
            </a:r>
            <a:r>
              <a:rPr lang="en-DE" sz="2700" dirty="0" err="1">
                <a:latin typeface="+mn-lt"/>
              </a:rPr>
              <a:t>Merkmale</a:t>
            </a:r>
            <a:r>
              <a:rPr lang="en-DE" sz="2700" dirty="0">
                <a:latin typeface="+mn-lt"/>
              </a:rPr>
              <a:t> auf </a:t>
            </a:r>
            <a:r>
              <a:rPr lang="en-DE" sz="2700" dirty="0" err="1">
                <a:latin typeface="+mn-lt"/>
              </a:rPr>
              <a:t>gleichbleibender</a:t>
            </a:r>
            <a:r>
              <a:rPr lang="en-DE" sz="2700" dirty="0">
                <a:latin typeface="+mn-lt"/>
              </a:rPr>
              <a:t> </a:t>
            </a:r>
            <a:r>
              <a:rPr lang="en-DE" sz="2700" dirty="0" err="1">
                <a:latin typeface="+mn-lt"/>
              </a:rPr>
              <a:t>Auflösung</a:t>
            </a:r>
            <a:r>
              <a:rPr lang="en-DE" sz="2700" dirty="0">
                <a:latin typeface="+mn-lt"/>
              </a:rPr>
              <a:t>. Deren CSP-</a:t>
            </a:r>
            <a:r>
              <a:rPr lang="en-DE" sz="2700" dirty="0" err="1">
                <a:latin typeface="+mn-lt"/>
              </a:rPr>
              <a:t>Prinzip</a:t>
            </a:r>
            <a:r>
              <a:rPr lang="en-DE" sz="2700" dirty="0">
                <a:latin typeface="+mn-lt"/>
              </a:rPr>
              <a:t>: Nur </a:t>
            </a:r>
            <a:r>
              <a:rPr lang="en-DE" sz="2700" dirty="0" err="1">
                <a:latin typeface="+mn-lt"/>
              </a:rPr>
              <a:t>ein</a:t>
            </a:r>
            <a:r>
              <a:rPr lang="en-DE" sz="2700" dirty="0">
                <a:latin typeface="+mn-lt"/>
              </a:rPr>
              <a:t> </a:t>
            </a:r>
            <a:r>
              <a:rPr lang="en-DE" sz="2700" dirty="0" err="1">
                <a:latin typeface="+mn-lt"/>
              </a:rPr>
              <a:t>Teilpfad</a:t>
            </a:r>
            <a:r>
              <a:rPr lang="en-DE" sz="2700" dirty="0">
                <a:latin typeface="+mn-lt"/>
              </a:rPr>
              <a:t> </a:t>
            </a:r>
            <a:r>
              <a:rPr lang="en-DE" sz="2700" dirty="0" err="1">
                <a:latin typeface="+mn-lt"/>
              </a:rPr>
              <a:t>durchläuft</a:t>
            </a:r>
            <a:r>
              <a:rPr lang="en-DE" sz="2700" dirty="0">
                <a:latin typeface="+mn-lt"/>
              </a:rPr>
              <a:t> die </a:t>
            </a:r>
            <a:r>
              <a:rPr lang="en-DE" sz="2700" dirty="0" err="1">
                <a:latin typeface="+mn-lt"/>
              </a:rPr>
              <a:t>rechenintensiven</a:t>
            </a:r>
            <a:r>
              <a:rPr lang="en-DE" sz="2700" dirty="0">
                <a:latin typeface="+mn-lt"/>
              </a:rPr>
              <a:t> Bottlenecks, der </a:t>
            </a:r>
            <a:r>
              <a:rPr lang="en-DE" sz="2700" dirty="0" err="1">
                <a:latin typeface="+mn-lt"/>
              </a:rPr>
              <a:t>zweite</a:t>
            </a:r>
            <a:r>
              <a:rPr lang="en-DE" sz="2700" dirty="0">
                <a:latin typeface="+mn-lt"/>
              </a:rPr>
              <a:t> </a:t>
            </a:r>
            <a:r>
              <a:rPr lang="en-DE" sz="2700" dirty="0" err="1">
                <a:latin typeface="+mn-lt"/>
              </a:rPr>
              <a:t>dient</a:t>
            </a:r>
            <a:r>
              <a:rPr lang="en-DE" sz="2700" dirty="0">
                <a:latin typeface="+mn-lt"/>
              </a:rPr>
              <a:t> </a:t>
            </a:r>
            <a:r>
              <a:rPr lang="en-DE" sz="2700" dirty="0" err="1">
                <a:latin typeface="+mn-lt"/>
              </a:rPr>
              <a:t>als</a:t>
            </a:r>
            <a:r>
              <a:rPr lang="en-DE" sz="2700" dirty="0">
                <a:latin typeface="+mn-lt"/>
              </a:rPr>
              <a:t> Bypass; die </a:t>
            </a:r>
            <a:r>
              <a:rPr lang="en-DE" sz="2700" dirty="0" err="1">
                <a:latin typeface="+mn-lt"/>
              </a:rPr>
              <a:t>Zusammenführung</a:t>
            </a:r>
            <a:r>
              <a:rPr lang="en-DE" sz="2700" dirty="0">
                <a:latin typeface="+mn-lt"/>
              </a:rPr>
              <a:t> </a:t>
            </a:r>
            <a:r>
              <a:rPr lang="en-DE" sz="2700" dirty="0" err="1">
                <a:latin typeface="+mn-lt"/>
              </a:rPr>
              <a:t>aller</a:t>
            </a:r>
            <a:r>
              <a:rPr lang="en-DE" sz="2700" dirty="0">
                <a:latin typeface="+mn-lt"/>
              </a:rPr>
              <a:t> </a:t>
            </a:r>
            <a:r>
              <a:rPr lang="en-DE" sz="2700" dirty="0" err="1">
                <a:latin typeface="+mn-lt"/>
              </a:rPr>
              <a:t>Zwischenergebnisse</a:t>
            </a:r>
            <a:r>
              <a:rPr lang="en-DE" sz="2700" dirty="0">
                <a:latin typeface="+mn-lt"/>
              </a:rPr>
              <a:t> </a:t>
            </a:r>
            <a:r>
              <a:rPr lang="en-DE" sz="2700" dirty="0" err="1">
                <a:latin typeface="+mn-lt"/>
              </a:rPr>
              <a:t>verbessert</a:t>
            </a:r>
            <a:r>
              <a:rPr lang="en-DE" sz="2700" dirty="0">
                <a:latin typeface="+mn-lt"/>
              </a:rPr>
              <a:t> den </a:t>
            </a:r>
            <a:r>
              <a:rPr lang="en-DE" sz="2700" dirty="0" err="1">
                <a:latin typeface="+mn-lt"/>
              </a:rPr>
              <a:t>Gradientenfluss</a:t>
            </a:r>
            <a:r>
              <a:rPr lang="en-DE" sz="2700" dirty="0">
                <a:latin typeface="+mn-lt"/>
              </a:rPr>
              <a:t> </a:t>
            </a:r>
            <a:r>
              <a:rPr lang="en-DE" sz="2700" dirty="0" err="1">
                <a:latin typeface="+mn-lt"/>
              </a:rPr>
              <a:t>bei</a:t>
            </a:r>
            <a:r>
              <a:rPr lang="en-DE" sz="2700" dirty="0">
                <a:latin typeface="+mn-lt"/>
              </a:rPr>
              <a:t> </a:t>
            </a:r>
            <a:r>
              <a:rPr lang="en-DE" sz="2700" dirty="0" err="1">
                <a:latin typeface="+mn-lt"/>
              </a:rPr>
              <a:t>geringem</a:t>
            </a:r>
            <a:r>
              <a:rPr lang="en-DE" sz="2700" dirty="0">
                <a:latin typeface="+mn-lt"/>
              </a:rPr>
              <a:t> </a:t>
            </a:r>
            <a:r>
              <a:rPr lang="en-DE" sz="2700" dirty="0" err="1">
                <a:latin typeface="+mn-lt"/>
              </a:rPr>
              <a:t>Rechenaufwand</a:t>
            </a:r>
            <a:r>
              <a:rPr lang="en-DE" sz="2700" dirty="0">
                <a:latin typeface="+mn-lt"/>
              </a:rPr>
              <a:t>. Am Ende des Backbones </a:t>
            </a:r>
            <a:r>
              <a:rPr lang="en-DE" sz="2700" dirty="0" err="1">
                <a:latin typeface="+mn-lt"/>
              </a:rPr>
              <a:t>erweitert</a:t>
            </a:r>
            <a:r>
              <a:rPr lang="en-DE" sz="2700" dirty="0">
                <a:latin typeface="+mn-lt"/>
              </a:rPr>
              <a:t> SPPF den </a:t>
            </a:r>
            <a:r>
              <a:rPr lang="en-DE" sz="2700" dirty="0" err="1">
                <a:latin typeface="+mn-lt"/>
              </a:rPr>
              <a:t>Bildkontext</a:t>
            </a:r>
            <a:r>
              <a:rPr lang="en-DE" sz="2700" dirty="0">
                <a:latin typeface="+mn-lt"/>
              </a:rPr>
              <a:t> </a:t>
            </a:r>
            <a:r>
              <a:rPr lang="en-DE" sz="2700" dirty="0" err="1">
                <a:latin typeface="+mn-lt"/>
              </a:rPr>
              <a:t>über</a:t>
            </a:r>
            <a:r>
              <a:rPr lang="en-DE" sz="2700" dirty="0">
                <a:latin typeface="+mn-lt"/>
              </a:rPr>
              <a:t> </a:t>
            </a:r>
            <a:r>
              <a:rPr lang="en-DE" sz="2700" dirty="0" err="1">
                <a:latin typeface="+mn-lt"/>
              </a:rPr>
              <a:t>mehrere</a:t>
            </a:r>
            <a:r>
              <a:rPr lang="en-DE" sz="2700" dirty="0">
                <a:latin typeface="+mn-lt"/>
              </a:rPr>
              <a:t> </a:t>
            </a:r>
            <a:r>
              <a:rPr lang="en-DE" sz="2700" dirty="0" err="1">
                <a:latin typeface="+mn-lt"/>
              </a:rPr>
              <a:t>Skalen</a:t>
            </a:r>
            <a:r>
              <a:rPr lang="en-DE" sz="2700" dirty="0">
                <a:latin typeface="+mn-lt"/>
              </a:rPr>
              <a:t> (</a:t>
            </a:r>
            <a:r>
              <a:rPr lang="en-DE" sz="2700" dirty="0" err="1">
                <a:latin typeface="+mn-lt"/>
              </a:rPr>
              <a:t>dreifaches</a:t>
            </a:r>
            <a:r>
              <a:rPr lang="en-DE" sz="2700" dirty="0">
                <a:latin typeface="+mn-lt"/>
              </a:rPr>
              <a:t> 5×5-Pooling in Serie), und C2PSA </a:t>
            </a:r>
            <a:r>
              <a:rPr lang="en-DE" sz="2700" dirty="0" err="1">
                <a:latin typeface="+mn-lt"/>
              </a:rPr>
              <a:t>gewichtet</a:t>
            </a:r>
            <a:r>
              <a:rPr lang="en-DE" sz="2700" dirty="0">
                <a:latin typeface="+mn-lt"/>
              </a:rPr>
              <a:t> </a:t>
            </a:r>
            <a:r>
              <a:rPr lang="en-DE" sz="2700" dirty="0" err="1">
                <a:latin typeface="+mn-lt"/>
              </a:rPr>
              <a:t>Bildbereiche</a:t>
            </a:r>
            <a:r>
              <a:rPr lang="en-DE" sz="2700" dirty="0">
                <a:latin typeface="+mn-lt"/>
              </a:rPr>
              <a:t> </a:t>
            </a:r>
            <a:r>
              <a:rPr lang="en-DE" sz="2700" dirty="0" err="1">
                <a:latin typeface="+mn-lt"/>
              </a:rPr>
              <a:t>kontextabhängig</a:t>
            </a:r>
            <a:r>
              <a:rPr lang="en-DE" sz="2700" dirty="0">
                <a:latin typeface="+mn-lt"/>
              </a:rPr>
              <a:t> per Self-Attention. </a:t>
            </a:r>
            <a:r>
              <a:rPr lang="en-DE" sz="2700" dirty="0" err="1">
                <a:latin typeface="+mn-lt"/>
              </a:rPr>
              <a:t>Diese</a:t>
            </a:r>
            <a:r>
              <a:rPr lang="en-DE" sz="2700" dirty="0">
                <a:latin typeface="+mn-lt"/>
              </a:rPr>
              <a:t> </a:t>
            </a:r>
            <a:r>
              <a:rPr lang="en-DE" sz="2700" dirty="0" err="1">
                <a:latin typeface="+mn-lt"/>
              </a:rPr>
              <a:t>schrittweise</a:t>
            </a:r>
            <a:r>
              <a:rPr lang="en-DE" sz="2700" dirty="0">
                <a:latin typeface="+mn-lt"/>
              </a:rPr>
              <a:t> </a:t>
            </a:r>
            <a:r>
              <a:rPr lang="en-DE" sz="2700" dirty="0" err="1">
                <a:latin typeface="+mn-lt"/>
              </a:rPr>
              <a:t>Abstraktion</a:t>
            </a:r>
            <a:r>
              <a:rPr lang="en-DE" sz="2700" dirty="0">
                <a:latin typeface="+mn-lt"/>
              </a:rPr>
              <a:t> </a:t>
            </a:r>
            <a:r>
              <a:rPr lang="en-DE" sz="2700" dirty="0" err="1">
                <a:latin typeface="+mn-lt"/>
              </a:rPr>
              <a:t>zeigt</a:t>
            </a:r>
            <a:r>
              <a:rPr lang="en-DE" sz="2700" dirty="0">
                <a:latin typeface="+mn-lt"/>
              </a:rPr>
              <a:t> Abb. 2 am </a:t>
            </a:r>
            <a:r>
              <a:rPr lang="en-DE" sz="2700" dirty="0" err="1">
                <a:latin typeface="+mn-lt"/>
              </a:rPr>
              <a:t>trainierten</a:t>
            </a:r>
            <a:r>
              <a:rPr lang="en-DE" sz="2700" dirty="0">
                <a:latin typeface="+mn-lt"/>
              </a:rPr>
              <a:t> Netz: </a:t>
            </a:r>
            <a:r>
              <a:rPr lang="en-DE" sz="2700" dirty="0" err="1">
                <a:latin typeface="+mn-lt"/>
              </a:rPr>
              <a:t>Frühe</a:t>
            </a:r>
            <a:r>
              <a:rPr lang="en-DE" sz="2700" dirty="0">
                <a:latin typeface="+mn-lt"/>
              </a:rPr>
              <a:t> </a:t>
            </a:r>
            <a:r>
              <a:rPr lang="en-DE" sz="2700" dirty="0" err="1">
                <a:latin typeface="+mn-lt"/>
              </a:rPr>
              <a:t>Ebenen</a:t>
            </a:r>
            <a:r>
              <a:rPr lang="en-DE" sz="2700" dirty="0">
                <a:latin typeface="+mn-lt"/>
              </a:rPr>
              <a:t> (P1/2, 320×320×16) </a:t>
            </a:r>
            <a:r>
              <a:rPr lang="en-DE" sz="2700" dirty="0" err="1">
                <a:latin typeface="+mn-lt"/>
              </a:rPr>
              <a:t>bilden</a:t>
            </a:r>
            <a:r>
              <a:rPr lang="en-DE" sz="2700" dirty="0">
                <a:latin typeface="+mn-lt"/>
              </a:rPr>
              <a:t> </a:t>
            </a:r>
            <a:r>
              <a:rPr lang="en-DE" sz="2700" dirty="0" err="1">
                <a:latin typeface="+mn-lt"/>
              </a:rPr>
              <a:t>feine</a:t>
            </a:r>
            <a:r>
              <a:rPr lang="en-DE" sz="2700" dirty="0">
                <a:latin typeface="+mn-lt"/>
              </a:rPr>
              <a:t> </a:t>
            </a:r>
            <a:r>
              <a:rPr lang="en-DE" sz="2700" dirty="0" err="1">
                <a:latin typeface="+mn-lt"/>
              </a:rPr>
              <a:t>Konturen</a:t>
            </a:r>
            <a:r>
              <a:rPr lang="en-DE" sz="2700" dirty="0">
                <a:latin typeface="+mn-lt"/>
              </a:rPr>
              <a:t> ab, </a:t>
            </a:r>
            <a:r>
              <a:rPr lang="en-DE" sz="2700" dirty="0" err="1">
                <a:latin typeface="+mn-lt"/>
              </a:rPr>
              <a:t>tiefe</a:t>
            </a:r>
            <a:r>
              <a:rPr lang="en-DE" sz="2700" dirty="0">
                <a:latin typeface="+mn-lt"/>
              </a:rPr>
              <a:t> </a:t>
            </a:r>
            <a:r>
              <a:rPr lang="en-DE" sz="2700" dirty="0" err="1">
                <a:latin typeface="+mn-lt"/>
              </a:rPr>
              <a:t>Ebenen</a:t>
            </a:r>
            <a:r>
              <a:rPr lang="en-DE" sz="2700" dirty="0">
                <a:latin typeface="+mn-lt"/>
              </a:rPr>
              <a:t> (P5/32, 20×20×256) </a:t>
            </a:r>
            <a:r>
              <a:rPr lang="en-DE" sz="2700" dirty="0" err="1">
                <a:latin typeface="+mn-lt"/>
              </a:rPr>
              <a:t>kodieren</a:t>
            </a:r>
            <a:r>
              <a:rPr lang="en-DE" sz="2700" dirty="0">
                <a:latin typeface="+mn-lt"/>
              </a:rPr>
              <a:t> auf </a:t>
            </a:r>
            <a:r>
              <a:rPr lang="en-DE" sz="2700" dirty="0" err="1">
                <a:latin typeface="+mn-lt"/>
              </a:rPr>
              <a:t>wenigen</a:t>
            </a:r>
            <a:r>
              <a:rPr lang="en-DE" sz="2700" dirty="0">
                <a:latin typeface="+mn-lt"/>
              </a:rPr>
              <a:t> </a:t>
            </a:r>
            <a:r>
              <a:rPr lang="en-DE" sz="2700" dirty="0" err="1">
                <a:latin typeface="+mn-lt"/>
              </a:rPr>
              <a:t>Positionen</a:t>
            </a:r>
            <a:r>
              <a:rPr lang="en-DE" sz="2700" dirty="0">
                <a:latin typeface="+mn-lt"/>
              </a:rPr>
              <a:t> </a:t>
            </a:r>
            <a:r>
              <a:rPr lang="en-DE" sz="2700" dirty="0" err="1">
                <a:latin typeface="+mn-lt"/>
              </a:rPr>
              <a:t>grobe</a:t>
            </a:r>
            <a:r>
              <a:rPr lang="en-DE" sz="2700" dirty="0">
                <a:latin typeface="+mn-lt"/>
              </a:rPr>
              <a:t>, </a:t>
            </a:r>
            <a:r>
              <a:rPr lang="en-DE" sz="2700" dirty="0" err="1">
                <a:latin typeface="+mn-lt"/>
              </a:rPr>
              <a:t>semantisch</a:t>
            </a:r>
            <a:r>
              <a:rPr lang="en-DE" sz="2700" dirty="0">
                <a:latin typeface="+mn-lt"/>
              </a:rPr>
              <a:t> </a:t>
            </a:r>
            <a:r>
              <a:rPr lang="en-DE" sz="2700" dirty="0" err="1">
                <a:latin typeface="+mn-lt"/>
              </a:rPr>
              <a:t>reiche</a:t>
            </a:r>
            <a:r>
              <a:rPr lang="en-DE" sz="2700" dirty="0">
                <a:latin typeface="+mn-lt"/>
              </a:rPr>
              <a:t> </a:t>
            </a:r>
            <a:r>
              <a:rPr lang="en-DE" sz="2700" dirty="0" err="1">
                <a:latin typeface="+mn-lt"/>
              </a:rPr>
              <a:t>Strukturen</a:t>
            </a:r>
            <a:r>
              <a:rPr lang="en-DE" sz="2700" dirty="0">
                <a:latin typeface="+mn-lt"/>
              </a:rPr>
              <a:t> — die </a:t>
            </a:r>
            <a:r>
              <a:rPr lang="en-DE" sz="2700" dirty="0" err="1">
                <a:latin typeface="+mn-lt"/>
              </a:rPr>
              <a:t>räumliche</a:t>
            </a:r>
            <a:r>
              <a:rPr lang="en-DE" sz="2700" dirty="0">
                <a:latin typeface="+mn-lt"/>
              </a:rPr>
              <a:t> </a:t>
            </a:r>
            <a:r>
              <a:rPr lang="en-DE" sz="2700" dirty="0" err="1">
                <a:latin typeface="+mn-lt"/>
              </a:rPr>
              <a:t>Auflösung</a:t>
            </a:r>
            <a:r>
              <a:rPr lang="en-DE" sz="2700" dirty="0">
                <a:latin typeface="+mn-lt"/>
              </a:rPr>
              <a:t> </a:t>
            </a:r>
            <a:r>
              <a:rPr lang="en-DE" sz="2700" dirty="0" err="1">
                <a:latin typeface="+mn-lt"/>
              </a:rPr>
              <a:t>sinkt</a:t>
            </a:r>
            <a:r>
              <a:rPr lang="en-DE" sz="2700" dirty="0">
                <a:latin typeface="+mn-lt"/>
              </a:rPr>
              <a:t>, </a:t>
            </a:r>
            <a:r>
              <a:rPr lang="en-DE" sz="2700" dirty="0" err="1">
                <a:latin typeface="+mn-lt"/>
              </a:rPr>
              <a:t>während</a:t>
            </a:r>
            <a:r>
              <a:rPr lang="en-DE" sz="2700" dirty="0">
                <a:latin typeface="+mn-lt"/>
              </a:rPr>
              <a:t> die </a:t>
            </a:r>
            <a:r>
              <a:rPr lang="en-DE" sz="2700" dirty="0" err="1">
                <a:latin typeface="+mn-lt"/>
              </a:rPr>
              <a:t>Merkmalstiefe</a:t>
            </a:r>
            <a:r>
              <a:rPr lang="en-DE" sz="2700" dirty="0">
                <a:latin typeface="+mn-lt"/>
              </a:rPr>
              <a:t> </a:t>
            </a:r>
            <a:r>
              <a:rPr lang="en-DE" sz="2700" dirty="0" err="1">
                <a:latin typeface="+mn-lt"/>
              </a:rPr>
              <a:t>wächst</a:t>
            </a:r>
            <a:r>
              <a:rPr lang="en-DE" sz="2700" dirty="0">
                <a:latin typeface="+mn-lt"/>
              </a:rPr>
              <a:t>. Die </a:t>
            </a:r>
            <a:r>
              <a:rPr lang="en-DE" sz="2700" dirty="0" err="1">
                <a:latin typeface="+mn-lt"/>
              </a:rPr>
              <a:t>Zerlegung</a:t>
            </a:r>
            <a:r>
              <a:rPr lang="en-DE" sz="2700" dirty="0">
                <a:latin typeface="+mn-lt"/>
              </a:rPr>
              <a:t> der P2/4-Ebene (Abb. 2, </a:t>
            </a:r>
            <a:r>
              <a:rPr lang="en-DE" sz="2700" dirty="0" err="1">
                <a:latin typeface="+mn-lt"/>
              </a:rPr>
              <a:t>unten</a:t>
            </a:r>
            <a:r>
              <a:rPr lang="en-DE" sz="2700" dirty="0">
                <a:latin typeface="+mn-lt"/>
              </a:rPr>
              <a:t>) </a:t>
            </a:r>
            <a:r>
              <a:rPr lang="en-DE" sz="2700" dirty="0" err="1">
                <a:latin typeface="+mn-lt"/>
              </a:rPr>
              <a:t>macht</a:t>
            </a:r>
            <a:r>
              <a:rPr lang="en-DE" sz="2700" dirty="0">
                <a:latin typeface="+mn-lt"/>
              </a:rPr>
              <a:t> </a:t>
            </a:r>
            <a:r>
              <a:rPr lang="en-DE" sz="2700" dirty="0" err="1">
                <a:latin typeface="+mn-lt"/>
              </a:rPr>
              <a:t>zudem</a:t>
            </a:r>
            <a:r>
              <a:rPr lang="en-DE" sz="2700" dirty="0">
                <a:latin typeface="+mn-lt"/>
              </a:rPr>
              <a:t> </a:t>
            </a:r>
            <a:r>
              <a:rPr lang="en-DE" sz="2700" dirty="0" err="1">
                <a:latin typeface="+mn-lt"/>
              </a:rPr>
              <a:t>sichtbar</a:t>
            </a:r>
            <a:r>
              <a:rPr lang="en-DE" sz="2700" dirty="0">
                <a:latin typeface="+mn-lt"/>
              </a:rPr>
              <a:t>, </a:t>
            </a:r>
            <a:r>
              <a:rPr lang="en-DE" sz="2700" dirty="0" err="1">
                <a:latin typeface="+mn-lt"/>
              </a:rPr>
              <a:t>dass</a:t>
            </a:r>
            <a:r>
              <a:rPr lang="en-DE" sz="2700" dirty="0">
                <a:latin typeface="+mn-lt"/>
              </a:rPr>
              <a:t> </a:t>
            </a:r>
            <a:r>
              <a:rPr lang="en-DE" sz="2700" dirty="0" err="1">
                <a:latin typeface="+mn-lt"/>
              </a:rPr>
              <a:t>einzelne</a:t>
            </a:r>
            <a:r>
              <a:rPr lang="en-DE" sz="2700" dirty="0">
                <a:latin typeface="+mn-lt"/>
              </a:rPr>
              <a:t> </a:t>
            </a:r>
            <a:r>
              <a:rPr lang="en-DE" sz="2700" dirty="0" err="1">
                <a:latin typeface="+mn-lt"/>
              </a:rPr>
              <a:t>gelernte</a:t>
            </a:r>
            <a:r>
              <a:rPr lang="en-DE" sz="2700" dirty="0">
                <a:latin typeface="+mn-lt"/>
              </a:rPr>
              <a:t> Filter auf </a:t>
            </a:r>
            <a:r>
              <a:rPr lang="en-DE" sz="2700" dirty="0" err="1">
                <a:latin typeface="+mn-lt"/>
              </a:rPr>
              <a:t>unterschiedliche</a:t>
            </a:r>
            <a:r>
              <a:rPr lang="en-DE" sz="2700" dirty="0">
                <a:latin typeface="+mn-lt"/>
              </a:rPr>
              <a:t> </a:t>
            </a:r>
            <a:r>
              <a:rPr lang="en-DE" sz="2700" dirty="0" err="1">
                <a:latin typeface="+mn-lt"/>
              </a:rPr>
              <a:t>Strukturen</a:t>
            </a:r>
            <a:r>
              <a:rPr lang="en-DE" sz="2700" dirty="0">
                <a:latin typeface="+mn-lt"/>
              </a:rPr>
              <a:t> </a:t>
            </a:r>
            <a:r>
              <a:rPr lang="en-DE" sz="2700" dirty="0" err="1">
                <a:latin typeface="+mn-lt"/>
              </a:rPr>
              <a:t>wie</a:t>
            </a:r>
            <a:r>
              <a:rPr lang="en-DE" sz="2700" dirty="0">
                <a:latin typeface="+mn-lt"/>
              </a:rPr>
              <a:t> Silhouette, </a:t>
            </a:r>
            <a:r>
              <a:rPr lang="en-DE" sz="2700" dirty="0" err="1">
                <a:latin typeface="+mn-lt"/>
              </a:rPr>
              <a:t>Textur</a:t>
            </a:r>
            <a:r>
              <a:rPr lang="en-DE" sz="2700" dirty="0">
                <a:latin typeface="+mn-lt"/>
              </a:rPr>
              <a:t> </a:t>
            </a:r>
            <a:r>
              <a:rPr lang="en-DE" sz="2700" dirty="0" err="1">
                <a:latin typeface="+mn-lt"/>
              </a:rPr>
              <a:t>oder</a:t>
            </a:r>
            <a:r>
              <a:rPr lang="en-DE" sz="2700" dirty="0">
                <a:latin typeface="+mn-lt"/>
              </a:rPr>
              <a:t> </a:t>
            </a:r>
            <a:r>
              <a:rPr lang="en-DE" sz="2700" dirty="0" err="1">
                <a:latin typeface="+mn-lt"/>
              </a:rPr>
              <a:t>Hintergrund</a:t>
            </a:r>
            <a:r>
              <a:rPr lang="en-DE" sz="2700" dirty="0">
                <a:latin typeface="+mn-lt"/>
              </a:rPr>
              <a:t> </a:t>
            </a:r>
            <a:r>
              <a:rPr lang="en-DE" sz="2700" dirty="0" err="1">
                <a:latin typeface="+mn-lt"/>
              </a:rPr>
              <a:t>reagieren</a:t>
            </a:r>
            <a:r>
              <a:rPr lang="en-DE" sz="2700" dirty="0">
                <a:latin typeface="+mn-lt"/>
              </a:rPr>
              <a:t>.</a:t>
            </a:r>
          </a:p>
          <a:p>
            <a:r>
              <a:rPr lang="en-DE" sz="2700" dirty="0">
                <a:latin typeface="+mn-lt"/>
              </a:rPr>
              <a:t>Der </a:t>
            </a:r>
            <a:r>
              <a:rPr lang="en-DE" sz="2700" b="1" dirty="0">
                <a:latin typeface="+mn-lt"/>
              </a:rPr>
              <a:t>Neck</a:t>
            </a:r>
            <a:r>
              <a:rPr lang="en-DE" sz="2700" dirty="0">
                <a:latin typeface="+mn-lt"/>
              </a:rPr>
              <a:t> </a:t>
            </a:r>
            <a:r>
              <a:rPr lang="en-DE" sz="2700" dirty="0" err="1">
                <a:latin typeface="+mn-lt"/>
              </a:rPr>
              <a:t>führt</a:t>
            </a:r>
            <a:r>
              <a:rPr lang="en-DE" sz="2700" dirty="0">
                <a:latin typeface="+mn-lt"/>
              </a:rPr>
              <a:t> die </a:t>
            </a:r>
            <a:r>
              <a:rPr lang="en-DE" sz="2700" dirty="0" err="1">
                <a:latin typeface="+mn-lt"/>
              </a:rPr>
              <a:t>Ebenen</a:t>
            </a:r>
            <a:r>
              <a:rPr lang="en-DE" sz="2700" dirty="0">
                <a:latin typeface="+mn-lt"/>
              </a:rPr>
              <a:t> P3–P5 </a:t>
            </a:r>
            <a:r>
              <a:rPr lang="en-DE" sz="2700" dirty="0" err="1">
                <a:latin typeface="+mn-lt"/>
              </a:rPr>
              <a:t>zusammen</a:t>
            </a:r>
            <a:r>
              <a:rPr lang="en-DE" sz="2700" dirty="0">
                <a:latin typeface="+mn-lt"/>
              </a:rPr>
              <a:t>: </a:t>
            </a:r>
            <a:r>
              <a:rPr lang="en-DE" sz="2700" dirty="0" err="1">
                <a:latin typeface="+mn-lt"/>
              </a:rPr>
              <a:t>Tiefe</a:t>
            </a:r>
            <a:r>
              <a:rPr lang="en-DE" sz="2700" dirty="0">
                <a:latin typeface="+mn-lt"/>
              </a:rPr>
              <a:t> </a:t>
            </a:r>
            <a:r>
              <a:rPr lang="en-DE" sz="2700" dirty="0" err="1">
                <a:latin typeface="+mn-lt"/>
              </a:rPr>
              <a:t>Merkmalskarten</a:t>
            </a:r>
            <a:r>
              <a:rPr lang="en-DE" sz="2700" dirty="0">
                <a:latin typeface="+mn-lt"/>
              </a:rPr>
              <a:t> </a:t>
            </a:r>
            <a:r>
              <a:rPr lang="en-DE" sz="2700" dirty="0" err="1">
                <a:latin typeface="+mn-lt"/>
              </a:rPr>
              <a:t>werden</a:t>
            </a:r>
            <a:r>
              <a:rPr lang="en-DE" sz="2700" dirty="0">
                <a:latin typeface="+mn-lt"/>
              </a:rPr>
              <a:t> per </a:t>
            </a:r>
            <a:r>
              <a:rPr lang="en-DE" sz="2700" dirty="0" err="1">
                <a:latin typeface="+mn-lt"/>
              </a:rPr>
              <a:t>Upsampling</a:t>
            </a:r>
            <a:r>
              <a:rPr lang="en-DE" sz="2700" dirty="0">
                <a:latin typeface="+mn-lt"/>
              </a:rPr>
              <a:t> </a:t>
            </a:r>
            <a:r>
              <a:rPr lang="en-DE" sz="2700" dirty="0" err="1">
                <a:latin typeface="+mn-lt"/>
              </a:rPr>
              <a:t>hochskaliert</a:t>
            </a:r>
            <a:r>
              <a:rPr lang="en-DE" sz="2700" dirty="0">
                <a:latin typeface="+mn-lt"/>
              </a:rPr>
              <a:t>, </a:t>
            </a:r>
            <a:r>
              <a:rPr lang="en-DE" sz="2700" dirty="0" err="1">
                <a:latin typeface="+mn-lt"/>
              </a:rPr>
              <a:t>mit</a:t>
            </a:r>
            <a:r>
              <a:rPr lang="en-DE" sz="2700" dirty="0">
                <a:latin typeface="+mn-lt"/>
              </a:rPr>
              <a:t> </a:t>
            </a:r>
            <a:r>
              <a:rPr lang="en-DE" sz="2700" dirty="0" err="1">
                <a:latin typeface="+mn-lt"/>
              </a:rPr>
              <a:t>feiner</a:t>
            </a:r>
            <a:r>
              <a:rPr lang="en-DE" sz="2700" dirty="0">
                <a:latin typeface="+mn-lt"/>
              </a:rPr>
              <a:t> </a:t>
            </a:r>
            <a:r>
              <a:rPr lang="en-DE" sz="2700" dirty="0" err="1">
                <a:latin typeface="+mn-lt"/>
              </a:rPr>
              <a:t>aufgelösten</a:t>
            </a:r>
            <a:r>
              <a:rPr lang="en-DE" sz="2700" dirty="0">
                <a:latin typeface="+mn-lt"/>
              </a:rPr>
              <a:t> </a:t>
            </a:r>
            <a:r>
              <a:rPr lang="en-DE" sz="2700" dirty="0" err="1">
                <a:latin typeface="+mn-lt"/>
              </a:rPr>
              <a:t>konkateniert</a:t>
            </a:r>
            <a:r>
              <a:rPr lang="en-DE" sz="2700" dirty="0">
                <a:latin typeface="+mn-lt"/>
              </a:rPr>
              <a:t> und von C3k2-Blöcken </a:t>
            </a:r>
            <a:r>
              <a:rPr lang="en-DE" sz="2700" dirty="0" err="1">
                <a:latin typeface="+mn-lt"/>
              </a:rPr>
              <a:t>fusioniert</a:t>
            </a:r>
            <a:r>
              <a:rPr lang="en-DE" sz="2700" dirty="0">
                <a:latin typeface="+mn-lt"/>
              </a:rPr>
              <a:t>. So </a:t>
            </a:r>
            <a:r>
              <a:rPr lang="en-DE" sz="2700" dirty="0" err="1">
                <a:latin typeface="+mn-lt"/>
              </a:rPr>
              <a:t>entstehen</a:t>
            </a:r>
            <a:r>
              <a:rPr lang="en-DE" sz="2700" dirty="0">
                <a:latin typeface="+mn-lt"/>
              </a:rPr>
              <a:t> </a:t>
            </a:r>
            <a:r>
              <a:rPr lang="en-DE" sz="2700" dirty="0" err="1">
                <a:latin typeface="+mn-lt"/>
              </a:rPr>
              <a:t>drei</a:t>
            </a:r>
            <a:r>
              <a:rPr lang="en-DE" sz="2700" dirty="0">
                <a:latin typeface="+mn-lt"/>
              </a:rPr>
              <a:t> </a:t>
            </a:r>
            <a:r>
              <a:rPr lang="en-DE" sz="2700" dirty="0" err="1">
                <a:latin typeface="+mn-lt"/>
              </a:rPr>
              <a:t>Ausgabepfade</a:t>
            </a:r>
            <a:r>
              <a:rPr lang="en-DE" sz="2700" dirty="0">
                <a:latin typeface="+mn-lt"/>
              </a:rPr>
              <a:t>, die </a:t>
            </a:r>
            <a:r>
              <a:rPr lang="en-DE" sz="2700" dirty="0" err="1">
                <a:latin typeface="+mn-lt"/>
              </a:rPr>
              <a:t>feine</a:t>
            </a:r>
            <a:r>
              <a:rPr lang="en-DE" sz="2700" dirty="0">
                <a:latin typeface="+mn-lt"/>
              </a:rPr>
              <a:t> </a:t>
            </a:r>
            <a:r>
              <a:rPr lang="en-DE" sz="2700" dirty="0" err="1">
                <a:latin typeface="+mn-lt"/>
              </a:rPr>
              <a:t>räumliche</a:t>
            </a:r>
            <a:r>
              <a:rPr lang="en-DE" sz="2700" dirty="0">
                <a:latin typeface="+mn-lt"/>
              </a:rPr>
              <a:t> Details </a:t>
            </a:r>
            <a:r>
              <a:rPr lang="en-DE" sz="2700" dirty="0" err="1">
                <a:latin typeface="+mn-lt"/>
              </a:rPr>
              <a:t>mit</a:t>
            </a:r>
            <a:r>
              <a:rPr lang="en-DE" sz="2700" dirty="0">
                <a:latin typeface="+mn-lt"/>
              </a:rPr>
              <a:t> </a:t>
            </a:r>
            <a:r>
              <a:rPr lang="en-DE" sz="2700" dirty="0" err="1">
                <a:latin typeface="+mn-lt"/>
              </a:rPr>
              <a:t>semantisch</a:t>
            </a:r>
            <a:r>
              <a:rPr lang="en-DE" sz="2700" dirty="0">
                <a:latin typeface="+mn-lt"/>
              </a:rPr>
              <a:t> starken </a:t>
            </a:r>
            <a:r>
              <a:rPr lang="en-DE" sz="2700" dirty="0" err="1">
                <a:latin typeface="+mn-lt"/>
              </a:rPr>
              <a:t>Merkmalen</a:t>
            </a:r>
            <a:r>
              <a:rPr lang="en-DE" sz="2700" dirty="0">
                <a:latin typeface="+mn-lt"/>
              </a:rPr>
              <a:t> </a:t>
            </a:r>
            <a:r>
              <a:rPr lang="en-DE" sz="2700" dirty="0" err="1">
                <a:latin typeface="+mn-lt"/>
              </a:rPr>
              <a:t>kombinieren</a:t>
            </a:r>
            <a:r>
              <a:rPr lang="en-DE" sz="2700" dirty="0">
                <a:latin typeface="+mn-lt"/>
              </a:rPr>
              <a:t> — P3 für </a:t>
            </a:r>
            <a:r>
              <a:rPr lang="en-DE" sz="2700" dirty="0" err="1">
                <a:latin typeface="+mn-lt"/>
              </a:rPr>
              <a:t>kleine</a:t>
            </a:r>
            <a:r>
              <a:rPr lang="en-DE" sz="2700" dirty="0">
                <a:latin typeface="+mn-lt"/>
              </a:rPr>
              <a:t> </a:t>
            </a:r>
            <a:r>
              <a:rPr lang="en-DE" sz="2700" dirty="0" err="1">
                <a:latin typeface="+mn-lt"/>
              </a:rPr>
              <a:t>bzw</a:t>
            </a:r>
            <a:r>
              <a:rPr lang="en-DE" sz="2700" dirty="0">
                <a:latin typeface="+mn-lt"/>
              </a:rPr>
              <a:t>. </a:t>
            </a:r>
            <a:r>
              <a:rPr lang="en-DE" sz="2700" dirty="0" err="1">
                <a:latin typeface="+mn-lt"/>
              </a:rPr>
              <a:t>entfernte</a:t>
            </a:r>
            <a:r>
              <a:rPr lang="en-DE" sz="2700" dirty="0">
                <a:latin typeface="+mn-lt"/>
              </a:rPr>
              <a:t>, P4 für </a:t>
            </a:r>
            <a:r>
              <a:rPr lang="en-DE" sz="2700" dirty="0" err="1">
                <a:latin typeface="+mn-lt"/>
              </a:rPr>
              <a:t>mittlere</a:t>
            </a:r>
            <a:r>
              <a:rPr lang="en-DE" sz="2700" dirty="0">
                <a:latin typeface="+mn-lt"/>
              </a:rPr>
              <a:t> und P5 für </a:t>
            </a:r>
            <a:r>
              <a:rPr lang="en-DE" sz="2700" dirty="0" err="1">
                <a:latin typeface="+mn-lt"/>
              </a:rPr>
              <a:t>große</a:t>
            </a:r>
            <a:r>
              <a:rPr lang="en-DE" sz="2700" dirty="0">
                <a:latin typeface="+mn-lt"/>
              </a:rPr>
              <a:t> </a:t>
            </a:r>
            <a:r>
              <a:rPr lang="en-DE" sz="2700" dirty="0" err="1">
                <a:latin typeface="+mn-lt"/>
              </a:rPr>
              <a:t>Personen</a:t>
            </a:r>
            <a:r>
              <a:rPr lang="en-DE" sz="2700" dirty="0">
                <a:latin typeface="+mn-lt"/>
              </a:rPr>
              <a:t>. Neu in YOLO26 </a:t>
            </a:r>
            <a:r>
              <a:rPr lang="en-DE" sz="2700" dirty="0" err="1">
                <a:latin typeface="+mn-lt"/>
              </a:rPr>
              <a:t>ist</a:t>
            </a:r>
            <a:r>
              <a:rPr lang="en-DE" sz="2700" dirty="0">
                <a:latin typeface="+mn-lt"/>
              </a:rPr>
              <a:t> </a:t>
            </a:r>
            <a:r>
              <a:rPr lang="en-DE" sz="2700" dirty="0" err="1">
                <a:latin typeface="+mn-lt"/>
              </a:rPr>
              <a:t>ein</a:t>
            </a:r>
            <a:r>
              <a:rPr lang="en-DE" sz="2700" dirty="0">
                <a:latin typeface="+mn-lt"/>
              </a:rPr>
              <a:t> </a:t>
            </a:r>
            <a:r>
              <a:rPr lang="en-DE" sz="2700" dirty="0" err="1">
                <a:latin typeface="+mn-lt"/>
              </a:rPr>
              <a:t>zusätzlicher</a:t>
            </a:r>
            <a:r>
              <a:rPr lang="en-DE" sz="2700" dirty="0">
                <a:latin typeface="+mn-lt"/>
              </a:rPr>
              <a:t> Attention-Block </a:t>
            </a:r>
            <a:r>
              <a:rPr lang="en-DE" sz="2700" dirty="0" err="1">
                <a:latin typeface="+mn-lt"/>
              </a:rPr>
              <a:t>im</a:t>
            </a:r>
            <a:r>
              <a:rPr lang="en-DE" sz="2700" dirty="0">
                <a:latin typeface="+mn-lt"/>
              </a:rPr>
              <a:t> </a:t>
            </a:r>
            <a:r>
              <a:rPr lang="en-DE" sz="2700" dirty="0" err="1">
                <a:latin typeface="+mn-lt"/>
              </a:rPr>
              <a:t>letzten</a:t>
            </a:r>
            <a:r>
              <a:rPr lang="en-DE" sz="2700" dirty="0">
                <a:latin typeface="+mn-lt"/>
              </a:rPr>
              <a:t> Neck-Segment (C3k2 </a:t>
            </a:r>
            <a:r>
              <a:rPr lang="en-DE" sz="2700" dirty="0" err="1">
                <a:latin typeface="+mn-lt"/>
              </a:rPr>
              <a:t>mit</a:t>
            </a:r>
            <a:r>
              <a:rPr lang="en-DE" sz="2700" dirty="0">
                <a:latin typeface="+mn-lt"/>
              </a:rPr>
              <a:t> attn=True), der die </a:t>
            </a:r>
            <a:r>
              <a:rPr lang="en-DE" sz="2700" dirty="0" err="1">
                <a:latin typeface="+mn-lt"/>
              </a:rPr>
              <a:t>Genauigkeit</a:t>
            </a:r>
            <a:r>
              <a:rPr lang="en-DE" sz="2700" dirty="0">
                <a:latin typeface="+mn-lt"/>
              </a:rPr>
              <a:t> </a:t>
            </a:r>
            <a:r>
              <a:rPr lang="en-DE" sz="2700" dirty="0" err="1">
                <a:latin typeface="+mn-lt"/>
              </a:rPr>
              <a:t>bei</a:t>
            </a:r>
            <a:r>
              <a:rPr lang="en-DE" sz="2700" dirty="0">
                <a:latin typeface="+mn-lt"/>
              </a:rPr>
              <a:t> </a:t>
            </a:r>
            <a:r>
              <a:rPr lang="en-DE" sz="2700" dirty="0" err="1">
                <a:latin typeface="+mn-lt"/>
              </a:rPr>
              <a:t>nahezu</a:t>
            </a:r>
            <a:r>
              <a:rPr lang="en-DE" sz="2700" dirty="0">
                <a:latin typeface="+mn-lt"/>
              </a:rPr>
              <a:t> </a:t>
            </a:r>
            <a:r>
              <a:rPr lang="en-DE" sz="2700" dirty="0" err="1">
                <a:latin typeface="+mn-lt"/>
              </a:rPr>
              <a:t>gleicher</a:t>
            </a:r>
            <a:r>
              <a:rPr lang="en-DE" sz="2700" dirty="0">
                <a:latin typeface="+mn-lt"/>
              </a:rPr>
              <a:t> </a:t>
            </a:r>
            <a:r>
              <a:rPr lang="en-DE" sz="2700" dirty="0" err="1">
                <a:latin typeface="+mn-lt"/>
              </a:rPr>
              <a:t>Latenz</a:t>
            </a:r>
            <a:r>
              <a:rPr lang="en-DE" sz="2700" dirty="0">
                <a:latin typeface="+mn-lt"/>
              </a:rPr>
              <a:t> </a:t>
            </a:r>
            <a:r>
              <a:rPr lang="en-DE" sz="2700" dirty="0" err="1">
                <a:latin typeface="+mn-lt"/>
              </a:rPr>
              <a:t>erhöht</a:t>
            </a:r>
            <a:r>
              <a:rPr lang="en-DE" sz="2700" dirty="0">
                <a:latin typeface="+mn-lt"/>
              </a:rPr>
              <a:t>.</a:t>
            </a:r>
          </a:p>
          <a:p>
            <a:r>
              <a:rPr lang="en-DE" sz="2700" dirty="0">
                <a:latin typeface="+mn-lt"/>
              </a:rPr>
              <a:t>Der </a:t>
            </a:r>
            <a:r>
              <a:rPr lang="en-DE" sz="2700" b="1" dirty="0">
                <a:latin typeface="+mn-lt"/>
              </a:rPr>
              <a:t>Pose-Head</a:t>
            </a:r>
            <a:r>
              <a:rPr lang="en-DE" sz="2700" dirty="0">
                <a:latin typeface="+mn-lt"/>
              </a:rPr>
              <a:t> </a:t>
            </a:r>
            <a:r>
              <a:rPr lang="en-DE" sz="2700" dirty="0" err="1">
                <a:latin typeface="+mn-lt"/>
              </a:rPr>
              <a:t>sagt</a:t>
            </a:r>
            <a:r>
              <a:rPr lang="en-DE" sz="2700" dirty="0">
                <a:latin typeface="+mn-lt"/>
              </a:rPr>
              <a:t> auf </a:t>
            </a:r>
            <a:r>
              <a:rPr lang="en-DE" sz="2700" dirty="0" err="1">
                <a:latin typeface="+mn-lt"/>
              </a:rPr>
              <a:t>jeder</a:t>
            </a:r>
            <a:r>
              <a:rPr lang="en-DE" sz="2700" dirty="0">
                <a:latin typeface="+mn-lt"/>
              </a:rPr>
              <a:t> der </a:t>
            </a:r>
            <a:r>
              <a:rPr lang="en-DE" sz="2700" dirty="0" err="1">
                <a:latin typeface="+mn-lt"/>
              </a:rPr>
              <a:t>drei</a:t>
            </a:r>
            <a:r>
              <a:rPr lang="en-DE" sz="2700" dirty="0">
                <a:latin typeface="+mn-lt"/>
              </a:rPr>
              <a:t> </a:t>
            </a:r>
            <a:r>
              <a:rPr lang="en-DE" sz="2700" dirty="0" err="1">
                <a:latin typeface="+mn-lt"/>
              </a:rPr>
              <a:t>Skalen</a:t>
            </a:r>
            <a:r>
              <a:rPr lang="en-DE" sz="2700" dirty="0">
                <a:latin typeface="+mn-lt"/>
              </a:rPr>
              <a:t> pro </a:t>
            </a:r>
            <a:r>
              <a:rPr lang="en-DE" sz="2700" dirty="0" err="1">
                <a:latin typeface="+mn-lt"/>
              </a:rPr>
              <a:t>Kandidat</a:t>
            </a:r>
            <a:r>
              <a:rPr lang="en-DE" sz="2700" dirty="0">
                <a:latin typeface="+mn-lt"/>
              </a:rPr>
              <a:t> Bounding Box, </a:t>
            </a:r>
            <a:r>
              <a:rPr lang="en-DE" sz="2700" dirty="0" err="1">
                <a:latin typeface="+mn-lt"/>
              </a:rPr>
              <a:t>Konfidenz</a:t>
            </a:r>
            <a:r>
              <a:rPr lang="en-DE" sz="2700" dirty="0">
                <a:latin typeface="+mn-lt"/>
              </a:rPr>
              <a:t> und die 17 </a:t>
            </a:r>
            <a:r>
              <a:rPr lang="en-DE" sz="2700" dirty="0" err="1">
                <a:latin typeface="+mn-lt"/>
              </a:rPr>
              <a:t>Keypoints</a:t>
            </a:r>
            <a:r>
              <a:rPr lang="en-DE" sz="2700" dirty="0">
                <a:latin typeface="+mn-lt"/>
              </a:rPr>
              <a:t> </a:t>
            </a:r>
            <a:r>
              <a:rPr lang="en-DE" sz="2700" dirty="0" err="1">
                <a:latin typeface="+mn-lt"/>
              </a:rPr>
              <a:t>direkt</a:t>
            </a:r>
            <a:r>
              <a:rPr lang="en-DE" sz="2700" dirty="0">
                <a:latin typeface="+mn-lt"/>
              </a:rPr>
              <a:t> </a:t>
            </a:r>
            <a:r>
              <a:rPr lang="en-DE" sz="2700" dirty="0" err="1">
                <a:latin typeface="+mn-lt"/>
              </a:rPr>
              <a:t>voraus</a:t>
            </a:r>
            <a:r>
              <a:rPr lang="en-DE" sz="2700" dirty="0">
                <a:latin typeface="+mn-lt"/>
              </a:rPr>
              <a:t> — </a:t>
            </a:r>
            <a:r>
              <a:rPr lang="en-DE" sz="2700" dirty="0" err="1">
                <a:latin typeface="+mn-lt"/>
              </a:rPr>
              <a:t>ohne</a:t>
            </a:r>
            <a:r>
              <a:rPr lang="en-DE" sz="2700" dirty="0">
                <a:latin typeface="+mn-lt"/>
              </a:rPr>
              <a:t> Anker und </a:t>
            </a:r>
            <a:r>
              <a:rPr lang="en-DE" sz="2700" dirty="0" err="1">
                <a:latin typeface="+mn-lt"/>
              </a:rPr>
              <a:t>ohne</a:t>
            </a:r>
            <a:r>
              <a:rPr lang="en-DE" sz="2700" dirty="0">
                <a:latin typeface="+mn-lt"/>
              </a:rPr>
              <a:t> </a:t>
            </a:r>
            <a:r>
              <a:rPr lang="en-DE" sz="2700" dirty="0" err="1">
                <a:latin typeface="+mn-lt"/>
              </a:rPr>
              <a:t>Verteilungsregression</a:t>
            </a:r>
            <a:r>
              <a:rPr lang="en-DE" sz="2700" dirty="0">
                <a:latin typeface="+mn-lt"/>
              </a:rPr>
              <a:t> (</a:t>
            </a:r>
            <a:r>
              <a:rPr lang="en-DE" sz="2700" dirty="0" err="1">
                <a:latin typeface="+mn-lt"/>
              </a:rPr>
              <a:t>kein</a:t>
            </a:r>
            <a:r>
              <a:rPr lang="en-DE" sz="2700" dirty="0">
                <a:latin typeface="+mn-lt"/>
              </a:rPr>
              <a:t> DFL). Da die </a:t>
            </a:r>
            <a:r>
              <a:rPr lang="en-DE" sz="2700" dirty="0" err="1">
                <a:latin typeface="+mn-lt"/>
              </a:rPr>
              <a:t>Duplikatunterdrückung</a:t>
            </a:r>
            <a:r>
              <a:rPr lang="en-DE" sz="2700" dirty="0">
                <a:latin typeface="+mn-lt"/>
              </a:rPr>
              <a:t> </a:t>
            </a:r>
            <a:r>
              <a:rPr lang="en-DE" sz="2700" dirty="0" err="1">
                <a:latin typeface="+mn-lt"/>
              </a:rPr>
              <a:t>bereits</a:t>
            </a:r>
            <a:r>
              <a:rPr lang="en-DE" sz="2700" dirty="0">
                <a:latin typeface="+mn-lt"/>
              </a:rPr>
              <a:t> </a:t>
            </a:r>
            <a:r>
              <a:rPr lang="en-DE" sz="2700" dirty="0" err="1">
                <a:latin typeface="+mn-lt"/>
              </a:rPr>
              <a:t>im</a:t>
            </a:r>
            <a:r>
              <a:rPr lang="en-DE" sz="2700" dirty="0">
                <a:latin typeface="+mn-lt"/>
              </a:rPr>
              <a:t> Training </a:t>
            </a:r>
            <a:r>
              <a:rPr lang="en-DE" sz="2700" dirty="0" err="1">
                <a:latin typeface="+mn-lt"/>
              </a:rPr>
              <a:t>gelernt</a:t>
            </a:r>
            <a:r>
              <a:rPr lang="en-DE" sz="2700" dirty="0">
                <a:latin typeface="+mn-lt"/>
              </a:rPr>
              <a:t> </a:t>
            </a:r>
            <a:r>
              <a:rPr lang="en-DE" sz="2700" dirty="0" err="1">
                <a:latin typeface="+mn-lt"/>
              </a:rPr>
              <a:t>wird</a:t>
            </a:r>
            <a:r>
              <a:rPr lang="en-DE" sz="2700" dirty="0">
                <a:latin typeface="+mn-lt"/>
              </a:rPr>
              <a:t> (→ Training), </a:t>
            </a:r>
            <a:r>
              <a:rPr lang="en-DE" sz="2700" dirty="0" err="1">
                <a:latin typeface="+mn-lt"/>
              </a:rPr>
              <a:t>liefert</a:t>
            </a:r>
            <a:r>
              <a:rPr lang="en-DE" sz="2700" dirty="0">
                <a:latin typeface="+mn-lt"/>
              </a:rPr>
              <a:t> der Head seine </a:t>
            </a:r>
            <a:r>
              <a:rPr lang="en-DE" sz="2700" dirty="0" err="1">
                <a:latin typeface="+mn-lt"/>
              </a:rPr>
              <a:t>Ausgabe</a:t>
            </a:r>
            <a:r>
              <a:rPr lang="en-DE" sz="2700" dirty="0">
                <a:latin typeface="+mn-lt"/>
              </a:rPr>
              <a:t> der </a:t>
            </a:r>
            <a:r>
              <a:rPr lang="en-DE" sz="2700" dirty="0" err="1">
                <a:latin typeface="+mn-lt"/>
              </a:rPr>
              <a:t>festen</a:t>
            </a:r>
            <a:r>
              <a:rPr lang="en-DE" sz="2700" dirty="0">
                <a:latin typeface="+mn-lt"/>
              </a:rPr>
              <a:t> </a:t>
            </a:r>
            <a:r>
              <a:rPr lang="en-DE" sz="2700" dirty="0" err="1">
                <a:latin typeface="+mn-lt"/>
              </a:rPr>
              <a:t>Größe</a:t>
            </a:r>
            <a:r>
              <a:rPr lang="en-DE" sz="2700" dirty="0">
                <a:latin typeface="+mn-lt"/>
              </a:rPr>
              <a:t> 300×57 </a:t>
            </a:r>
            <a:r>
              <a:rPr lang="en-DE" sz="2700" dirty="0" err="1">
                <a:latin typeface="+mn-lt"/>
              </a:rPr>
              <a:t>ohne</a:t>
            </a:r>
            <a:r>
              <a:rPr lang="en-DE" sz="2700" dirty="0">
                <a:latin typeface="+mn-lt"/>
              </a:rPr>
              <a:t> </a:t>
            </a:r>
            <a:r>
              <a:rPr lang="en-DE" sz="2700" dirty="0" err="1">
                <a:latin typeface="+mn-lt"/>
              </a:rPr>
              <a:t>nachgelagerte</a:t>
            </a:r>
            <a:r>
              <a:rPr lang="en-DE" sz="2700" dirty="0">
                <a:latin typeface="+mn-lt"/>
              </a:rPr>
              <a:t> NMS.</a:t>
            </a:r>
          </a:p>
          <a:p>
            <a:pPr algn="just"/>
            <a:endParaRPr lang="de-DE" sz="2700" b="1" dirty="0">
              <a:latin typeface="+mn-lt"/>
            </a:endParaRPr>
          </a:p>
        </p:txBody>
      </p:sp>
      <mc:AlternateContent xmlns:mc="http://schemas.openxmlformats.org/markup-compatibility/2006">
        <mc:Choice xmlns:a14="http://schemas.microsoft.com/office/drawing/2010/main" Requires="a14">
          <p:sp>
            <p:nvSpPr>
              <p:cNvPr id="131" name="TextBox 130">
                <a:extLst>
                  <a:ext uri="{FF2B5EF4-FFF2-40B4-BE49-F238E27FC236}">
                    <a16:creationId xmlns:a16="http://schemas.microsoft.com/office/drawing/2014/main" id="{7F2A7258-AB1B-ED99-0FF7-78D745E4404B}"/>
                  </a:ext>
                </a:extLst>
              </p:cNvPr>
              <p:cNvSpPr txBox="1"/>
              <p:nvPr/>
            </p:nvSpPr>
            <p:spPr>
              <a:xfrm>
                <a:off x="20050327" y="14585263"/>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p:sp>
            <p:nvSpPr>
              <p:cNvPr id="131" name="TextBox 130">
                <a:extLst>
                  <a:ext uri="{FF2B5EF4-FFF2-40B4-BE49-F238E27FC236}">
                    <a16:creationId xmlns:a16="http://schemas.microsoft.com/office/drawing/2014/main" id="{7F2A7258-AB1B-ED99-0FF7-78D745E4404B}"/>
                  </a:ext>
                </a:extLst>
              </p:cNvPr>
              <p:cNvSpPr txBox="1">
                <a:spLocks noRot="1" noChangeAspect="1" noMove="1" noResize="1" noEditPoints="1" noAdjustHandles="1" noChangeArrowheads="1" noChangeShapeType="1" noTextEdit="1"/>
              </p:cNvSpPr>
              <p:nvPr/>
            </p:nvSpPr>
            <p:spPr>
              <a:xfrm>
                <a:off x="20050327" y="14585263"/>
                <a:ext cx="10155602" cy="546303"/>
              </a:xfrm>
              <a:prstGeom prst="rect">
                <a:avLst/>
              </a:prstGeom>
              <a:blipFill>
                <a:blip r:embed="rId4"/>
                <a:stretch>
                  <a:fillRect/>
                </a:stretch>
              </a:blipFill>
            </p:spPr>
            <p:txBody>
              <a:bodyPr/>
              <a:lstStyle/>
              <a:p>
                <a:r>
                  <a:rPr lang="en-DE">
                    <a:noFill/>
                  </a:rPr>
                  <a:t> </a:t>
                </a:r>
              </a:p>
            </p:txBody>
          </p:sp>
        </mc:Fallback>
      </mc:AlternateContent>
      <p:sp>
        <p:nvSpPr>
          <p:cNvPr id="17" name="Textplatzhalter 42">
            <a:extLst>
              <a:ext uri="{FF2B5EF4-FFF2-40B4-BE49-F238E27FC236}">
                <a16:creationId xmlns:a16="http://schemas.microsoft.com/office/drawing/2014/main" id="{F5F33986-5083-7D8D-470F-6FEC83CBD1C7}"/>
              </a:ext>
            </a:extLst>
          </p:cNvPr>
          <p:cNvSpPr txBox="1">
            <a:spLocks/>
          </p:cNvSpPr>
          <p:nvPr/>
        </p:nvSpPr>
        <p:spPr>
          <a:xfrm>
            <a:off x="20213637" y="22415191"/>
            <a:ext cx="8472488" cy="107043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3500" kern="1200">
                <a:solidFill>
                  <a:schemeClr val="tx1"/>
                </a:solidFill>
                <a:latin typeface="+mj-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sz="2700" b="1" dirty="0">
              <a:latin typeface="+mn-lt"/>
            </a:endParaRPr>
          </a:p>
        </p:txBody>
      </p:sp>
      <p:grpSp>
        <p:nvGrpSpPr>
          <p:cNvPr id="58" name="Group 57">
            <a:extLst>
              <a:ext uri="{FF2B5EF4-FFF2-40B4-BE49-F238E27FC236}">
                <a16:creationId xmlns:a16="http://schemas.microsoft.com/office/drawing/2014/main" id="{FD323FC3-E9D3-1994-4359-AA9873DF9E02}"/>
              </a:ext>
            </a:extLst>
          </p:cNvPr>
          <p:cNvGrpSpPr/>
          <p:nvPr/>
        </p:nvGrpSpPr>
        <p:grpSpPr>
          <a:xfrm>
            <a:off x="20241488" y="31644955"/>
            <a:ext cx="8531228" cy="8328863"/>
            <a:chOff x="20241488" y="28818410"/>
            <a:chExt cx="8531228" cy="8328863"/>
          </a:xfrm>
        </p:grpSpPr>
        <p:pic>
          <p:nvPicPr>
            <p:cNvPr id="132" name="Picture 131">
              <a:extLst>
                <a:ext uri="{FF2B5EF4-FFF2-40B4-BE49-F238E27FC236}">
                  <a16:creationId xmlns:a16="http://schemas.microsoft.com/office/drawing/2014/main" id="{640EC140-2DE0-9DED-BBF3-CF68EB86FFA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5D669BDD-303B-C9EE-6BEA-3BED15DF6B47}"/>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26" name="Graphic 25">
              <a:extLst>
                <a:ext uri="{FF2B5EF4-FFF2-40B4-BE49-F238E27FC236}">
                  <a16:creationId xmlns:a16="http://schemas.microsoft.com/office/drawing/2014/main" id="{753AA8B6-416F-2CD0-32EC-21F2920185F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961712F0-A07E-8107-FF28-A960A12C8389}"/>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4" name="Group 3">
            <a:extLst>
              <a:ext uri="{FF2B5EF4-FFF2-40B4-BE49-F238E27FC236}">
                <a16:creationId xmlns:a16="http://schemas.microsoft.com/office/drawing/2014/main" id="{86626E30-5684-E3C4-C10A-F7411939B114}"/>
              </a:ext>
            </a:extLst>
          </p:cNvPr>
          <p:cNvGrpSpPr/>
          <p:nvPr/>
        </p:nvGrpSpPr>
        <p:grpSpPr>
          <a:xfrm>
            <a:off x="1431852" y="30163568"/>
            <a:ext cx="8951835" cy="6466648"/>
            <a:chOff x="10442326" y="30796179"/>
            <a:chExt cx="9377860" cy="6532770"/>
          </a:xfrm>
        </p:grpSpPr>
        <p:grpSp>
          <p:nvGrpSpPr>
            <p:cNvPr id="5" name="Group 4">
              <a:extLst>
                <a:ext uri="{FF2B5EF4-FFF2-40B4-BE49-F238E27FC236}">
                  <a16:creationId xmlns:a16="http://schemas.microsoft.com/office/drawing/2014/main" id="{6382F179-A77F-EBBF-58D5-622397FE2B4A}"/>
                </a:ext>
              </a:extLst>
            </p:cNvPr>
            <p:cNvGrpSpPr/>
            <p:nvPr/>
          </p:nvGrpSpPr>
          <p:grpSpPr>
            <a:xfrm>
              <a:off x="10442326" y="30796179"/>
              <a:ext cx="9377860" cy="6532770"/>
              <a:chOff x="10442326" y="20145375"/>
              <a:chExt cx="9377860" cy="6532770"/>
            </a:xfrm>
          </p:grpSpPr>
          <p:pic>
            <p:nvPicPr>
              <p:cNvPr id="13" name="Picture 12">
                <a:extLst>
                  <a:ext uri="{FF2B5EF4-FFF2-40B4-BE49-F238E27FC236}">
                    <a16:creationId xmlns:a16="http://schemas.microsoft.com/office/drawing/2014/main" id="{263D80CF-B048-994F-88D1-2C97DC6A8BF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14" name="Picture 13">
                <a:extLst>
                  <a:ext uri="{FF2B5EF4-FFF2-40B4-BE49-F238E27FC236}">
                    <a16:creationId xmlns:a16="http://schemas.microsoft.com/office/drawing/2014/main" id="{59CBC0E7-0D05-1FCF-4AA4-CC09BA7F7BD5}"/>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16" name="Picture 15">
                <a:extLst>
                  <a:ext uri="{FF2B5EF4-FFF2-40B4-BE49-F238E27FC236}">
                    <a16:creationId xmlns:a16="http://schemas.microsoft.com/office/drawing/2014/main" id="{A78C52EE-3415-114A-85E3-8BA99E9BCBA4}"/>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19" name="Straight Arrow Connector 18">
                <a:extLst>
                  <a:ext uri="{FF2B5EF4-FFF2-40B4-BE49-F238E27FC236}">
                    <a16:creationId xmlns:a16="http://schemas.microsoft.com/office/drawing/2014/main" id="{1ABAFDF3-06BE-EFAC-CF63-461E457223A3}"/>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A823EC17-E4E8-C5CA-07E7-F5237435462A}"/>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 name="Rectangle 20">
                <a:extLst>
                  <a:ext uri="{FF2B5EF4-FFF2-40B4-BE49-F238E27FC236}">
                    <a16:creationId xmlns:a16="http://schemas.microsoft.com/office/drawing/2014/main" id="{AA02D9A6-F829-2A19-6324-456A35EA7E18}"/>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6" name="Straight Arrow Connector 5">
              <a:extLst>
                <a:ext uri="{FF2B5EF4-FFF2-40B4-BE49-F238E27FC236}">
                  <a16:creationId xmlns:a16="http://schemas.microsoft.com/office/drawing/2014/main" id="{3F5C688F-2CAB-3F96-FF20-13575A69325C}"/>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Arrow Connector 6">
              <a:extLst>
                <a:ext uri="{FF2B5EF4-FFF2-40B4-BE49-F238E27FC236}">
                  <a16:creationId xmlns:a16="http://schemas.microsoft.com/office/drawing/2014/main" id="{F7A644DC-7C5C-5898-F0A9-DDAFC51BFC0C}"/>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8C30EFB7-532C-3AA1-E0CE-F80A781B3041}"/>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9" name="Straight Arrow Connector 8">
              <a:extLst>
                <a:ext uri="{FF2B5EF4-FFF2-40B4-BE49-F238E27FC236}">
                  <a16:creationId xmlns:a16="http://schemas.microsoft.com/office/drawing/2014/main" id="{B3794080-0A8A-87BF-D2CE-24F575B7C6DD}"/>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 name="Straight Arrow Connector 9">
              <a:extLst>
                <a:ext uri="{FF2B5EF4-FFF2-40B4-BE49-F238E27FC236}">
                  <a16:creationId xmlns:a16="http://schemas.microsoft.com/office/drawing/2014/main" id="{35AEC657-BBCA-15B3-1973-B355A1F705D9}"/>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1" name="Straight Arrow Connector 10">
              <a:extLst>
                <a:ext uri="{FF2B5EF4-FFF2-40B4-BE49-F238E27FC236}">
                  <a16:creationId xmlns:a16="http://schemas.microsoft.com/office/drawing/2014/main" id="{3E2AF14B-60AB-79CD-EC40-A4D582D25D5C}"/>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85403630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sp>
        <p:nvSpPr>
          <p:cNvPr id="36" name="Bildplatzhalter 35">
            <a:extLst>
              <a:ext uri="{FF2B5EF4-FFF2-40B4-BE49-F238E27FC236}">
                <a16:creationId xmlns:a16="http://schemas.microsoft.com/office/drawing/2014/main" id="{0AD536CD-F5E6-E900-75FE-63FDF3C2C4EF}"/>
              </a:ext>
            </a:extLst>
          </p:cNvPr>
          <p:cNvSpPr>
            <a:spLocks noGrp="1"/>
          </p:cNvSpPr>
          <p:nvPr>
            <p:ph type="pic" sz="quarter" idx="35"/>
          </p:nvPr>
        </p:nvSpPr>
        <p:spPr/>
        <p:txBody>
          <a:bodyPr/>
          <a:lstStyle/>
          <a:p>
            <a:endParaRPr lang="en-DE"/>
          </a:p>
        </p:txBody>
      </p:sp>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sp>
        <p:nvSpPr>
          <p:cNvPr id="44" name="Bildplatzhalter 43">
            <a:extLst>
              <a:ext uri="{FF2B5EF4-FFF2-40B4-BE49-F238E27FC236}">
                <a16:creationId xmlns:a16="http://schemas.microsoft.com/office/drawing/2014/main" id="{229C97B0-141B-DD99-5B05-B483DDBFCABB}"/>
              </a:ext>
            </a:extLst>
          </p:cNvPr>
          <p:cNvSpPr>
            <a:spLocks noGrp="1"/>
          </p:cNvSpPr>
          <p:nvPr>
            <p:ph type="pic" sz="quarter" idx="53"/>
          </p:nvPr>
        </p:nvSpPr>
        <p:spPr/>
        <p:txBody>
          <a:bodyPr/>
          <a:lstStyle/>
          <a:p>
            <a:endParaRPr lang="en-DE"/>
          </a:p>
        </p:txBody>
      </p:sp>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dirty="0"/>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25" name="Bildplatzhalter 38">
            <a:extLst>
              <a:ext uri="{FF2B5EF4-FFF2-40B4-BE49-F238E27FC236}">
                <a16:creationId xmlns:a16="http://schemas.microsoft.com/office/drawing/2014/main" id="{4E9806CF-4055-E614-D331-FC5E923CF04D}"/>
              </a:ext>
            </a:extLst>
          </p:cNvPr>
          <p:cNvSpPr txBox="1">
            <a:spLocks/>
          </p:cNvSpPr>
          <p:nvPr/>
        </p:nvSpPr>
        <p:spPr>
          <a:xfrm>
            <a:off x="20243006" y="23319770"/>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spcBef>
                <a:spcPts val="1111"/>
              </a:spcBef>
            </a:pPr>
            <a:r>
              <a:rPr lang="en-DE" b="1" dirty="0" err="1"/>
              <a:t>Testziel</a:t>
            </a:r>
            <a:r>
              <a:rPr lang="en-DE" b="1" dirty="0"/>
              <a:t>:</a:t>
            </a:r>
            <a:r>
              <a:rPr lang="en-DE" dirty="0"/>
              <a:t> </a:t>
            </a:r>
            <a:r>
              <a:rPr lang="en-DE" dirty="0" err="1"/>
              <a:t>Verkürzt</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 und </a:t>
            </a:r>
            <a:r>
              <a:rPr lang="en-DE" dirty="0" err="1"/>
              <a:t>hängt</a:t>
            </a:r>
            <a:r>
              <a:rPr lang="en-DE" dirty="0"/>
              <a:t> der </a:t>
            </a:r>
            <a:r>
              <a:rPr lang="en-DE" dirty="0" err="1"/>
              <a:t>Gesamtzeitvorteil</a:t>
            </a:r>
            <a:r>
              <a:rPr lang="en-DE" dirty="0"/>
              <a:t> von der Hardware-</a:t>
            </a:r>
            <a:r>
              <a:rPr lang="en-DE" dirty="0" err="1"/>
              <a:t>Plattform</a:t>
            </a:r>
            <a:r>
              <a:rPr lang="en-DE" dirty="0"/>
              <a:t> (CPU vs. GPU) ab?</a:t>
            </a:r>
            <a:endParaRPr lang="en-US" dirty="0"/>
          </a:p>
          <a:p>
            <a:pPr>
              <a:spcBef>
                <a:spcPts val="1111"/>
              </a:spcBef>
            </a:pPr>
            <a:r>
              <a:rPr lang="en-US" b="1" dirty="0"/>
              <a:t>Test-Setup:</a:t>
            </a:r>
          </a:p>
          <a:p>
            <a:pPr marL="457200" indent="-457200">
              <a:spcBef>
                <a:spcPts val="1111"/>
              </a:spcBef>
              <a:buFont typeface="Arial" panose="020B0604020202020204" pitchFamily="34" charset="0"/>
              <a:buChar char="•"/>
            </a:pPr>
            <a:r>
              <a:rPr lang="en-US" dirty="0"/>
              <a:t>Dataset: 1</a:t>
            </a:r>
            <a:r>
              <a:rPr lang="en-DE" dirty="0"/>
              <a:t>0 </a:t>
            </a:r>
            <a:r>
              <a:rPr lang="en-DE" dirty="0" err="1"/>
              <a:t>frei</a:t>
            </a:r>
            <a:r>
              <a:rPr lang="en-DE" dirty="0"/>
              <a:t> </a:t>
            </a:r>
            <a:r>
              <a:rPr lang="en-DE" dirty="0" err="1"/>
              <a:t>verfügbare</a:t>
            </a:r>
            <a:r>
              <a:rPr lang="en-DE" dirty="0"/>
              <a:t> Bilder — </a:t>
            </a:r>
            <a:r>
              <a:rPr lang="en-DE" dirty="0" err="1"/>
              <a:t>mehrere</a:t>
            </a:r>
            <a:r>
              <a:rPr lang="en-DE" dirty="0"/>
              <a:t> </a:t>
            </a:r>
            <a:r>
              <a:rPr lang="en-DE" dirty="0" err="1"/>
              <a:t>Personen</a:t>
            </a:r>
            <a:r>
              <a:rPr lang="en-DE" dirty="0"/>
              <a:t>, </a:t>
            </a:r>
            <a:r>
              <a:rPr lang="en-DE" dirty="0" err="1"/>
              <a:t>verschiedene</a:t>
            </a:r>
            <a:r>
              <a:rPr lang="en-DE" dirty="0"/>
              <a:t> </a:t>
            </a:r>
            <a:r>
              <a:rPr lang="en-DE" dirty="0" err="1"/>
              <a:t>Auflösungen</a:t>
            </a:r>
            <a:r>
              <a:rPr lang="en-DE" dirty="0"/>
              <a:t>, teils </a:t>
            </a:r>
            <a:r>
              <a:rPr lang="en-DE" dirty="0" err="1"/>
              <a:t>starke</a:t>
            </a:r>
            <a:r>
              <a:rPr lang="en-DE" dirty="0"/>
              <a:t> </a:t>
            </a:r>
            <a:r>
              <a:rPr lang="en-DE" dirty="0" err="1"/>
              <a:t>Verdeckungen</a:t>
            </a:r>
            <a:endParaRPr lang="en-US" dirty="0"/>
          </a:p>
          <a:p>
            <a:pPr marL="457200" indent="-457200">
              <a:spcBef>
                <a:spcPts val="511"/>
              </a:spcBef>
              <a:buFont typeface="Arial" panose="020B0604020202020204" pitchFamily="34" charset="0"/>
              <a:buChar char="•"/>
            </a:pPr>
            <a:r>
              <a:rPr lang="en-US" dirty="0"/>
              <a:t>Hardware: </a:t>
            </a:r>
            <a:r>
              <a:rPr lang="en-DE" dirty="0"/>
              <a:t>2× CPU (Intel i5-1335U, AMD </a:t>
            </a:r>
            <a:r>
              <a:rPr lang="en-DE" dirty="0" err="1"/>
              <a:t>Ryzen</a:t>
            </a:r>
            <a:r>
              <a:rPr lang="en-DE" dirty="0"/>
              <a:t> 7 5800X), 1× GPU (NVIDIA RTX 4070 Ti SUPER)</a:t>
            </a:r>
            <a:r>
              <a:rPr lang="en-US" dirty="0"/>
              <a:t> </a:t>
            </a:r>
          </a:p>
          <a:p>
            <a:pPr marL="457200" indent="-457200">
              <a:spcBef>
                <a:spcPts val="1111"/>
              </a:spcBef>
              <a:buFont typeface="Arial" panose="020B0604020202020204" pitchFamily="34" charset="0"/>
              <a:buChar char="•"/>
            </a:pPr>
            <a:r>
              <a:rPr lang="en-DE" dirty="0" err="1"/>
              <a:t>Ablauf</a:t>
            </a:r>
            <a:r>
              <a:rPr lang="en-DE" b="1" dirty="0"/>
              <a:t>:</a:t>
            </a:r>
            <a:r>
              <a:rPr lang="en-DE" dirty="0"/>
              <a:t> </a:t>
            </a:r>
            <a:r>
              <a:rPr lang="en-US" dirty="0"/>
              <a:t>4</a:t>
            </a:r>
            <a:r>
              <a:rPr lang="en-DE" dirty="0"/>
              <a:t> </a:t>
            </a:r>
            <a:r>
              <a:rPr lang="en-DE" dirty="0" err="1"/>
              <a:t>Aufwärmläufe</a:t>
            </a:r>
            <a:r>
              <a:rPr lang="en-DE" dirty="0"/>
              <a:t>, </a:t>
            </a:r>
            <a:r>
              <a:rPr lang="en-DE" dirty="0" err="1"/>
              <a:t>gemessen</a:t>
            </a:r>
            <a:r>
              <a:rPr lang="en-DE" dirty="0"/>
              <a:t>: Vor-/</a:t>
            </a:r>
            <a:r>
              <a:rPr lang="en-DE" dirty="0" err="1"/>
              <a:t>Inferenz</a:t>
            </a:r>
            <a:r>
              <a:rPr lang="en-DE" dirty="0"/>
              <a:t>-/</a:t>
            </a:r>
            <a:r>
              <a:rPr lang="en-DE" dirty="0" err="1"/>
              <a:t>Nachbearbeitungszeit</a:t>
            </a:r>
            <a:r>
              <a:rPr lang="en-DE" dirty="0"/>
              <a:t> pro Bild</a:t>
            </a:r>
            <a:endParaRPr lang="en-US" dirty="0"/>
          </a:p>
          <a:p>
            <a:pPr marL="457200" indent="-457200">
              <a:spcBef>
                <a:spcPts val="1111"/>
              </a:spcBef>
              <a:buFont typeface="Arial" panose="020B0604020202020204" pitchFamily="34" charset="0"/>
              <a:buChar char="•"/>
            </a:pPr>
            <a:endParaRPr lang="en-US" dirty="0"/>
          </a:p>
          <a:p>
            <a:pPr>
              <a:spcBef>
                <a:spcPts val="1111"/>
              </a:spcBef>
            </a:pPr>
            <a:endParaRPr lang="en-DE" dirty="0"/>
          </a:p>
        </p:txBody>
      </p:sp>
      <p:sp>
        <p:nvSpPr>
          <p:cNvPr id="26" name="Textplatzhalter 36">
            <a:extLst>
              <a:ext uri="{FF2B5EF4-FFF2-40B4-BE49-F238E27FC236}">
                <a16:creationId xmlns:a16="http://schemas.microsoft.com/office/drawing/2014/main" id="{7F073B5C-8D8C-930D-A34B-0557615075F9}"/>
              </a:ext>
            </a:extLst>
          </p:cNvPr>
          <p:cNvSpPr txBox="1">
            <a:spLocks/>
          </p:cNvSpPr>
          <p:nvPr/>
        </p:nvSpPr>
        <p:spPr>
          <a:xfrm>
            <a:off x="1502497" y="26990916"/>
            <a:ext cx="8497166" cy="756597"/>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grpSp>
        <p:nvGrpSpPr>
          <p:cNvPr id="27" name="Group 26">
            <a:extLst>
              <a:ext uri="{FF2B5EF4-FFF2-40B4-BE49-F238E27FC236}">
                <a16:creationId xmlns:a16="http://schemas.microsoft.com/office/drawing/2014/main" id="{5E58F020-7E80-B0A8-87E9-B31942F12444}"/>
              </a:ext>
            </a:extLst>
          </p:cNvPr>
          <p:cNvGrpSpPr/>
          <p:nvPr/>
        </p:nvGrpSpPr>
        <p:grpSpPr>
          <a:xfrm>
            <a:off x="1431852" y="20524268"/>
            <a:ext cx="8951835" cy="6466648"/>
            <a:chOff x="10442326" y="30796179"/>
            <a:chExt cx="9377860" cy="6532770"/>
          </a:xfrm>
        </p:grpSpPr>
        <p:grpSp>
          <p:nvGrpSpPr>
            <p:cNvPr id="28" name="Group 27">
              <a:extLst>
                <a:ext uri="{FF2B5EF4-FFF2-40B4-BE49-F238E27FC236}">
                  <a16:creationId xmlns:a16="http://schemas.microsoft.com/office/drawing/2014/main" id="{EFAB2DD0-C809-8AEB-E67E-2945AE6BD032}"/>
                </a:ext>
              </a:extLst>
            </p:cNvPr>
            <p:cNvGrpSpPr/>
            <p:nvPr/>
          </p:nvGrpSpPr>
          <p:grpSpPr>
            <a:xfrm>
              <a:off x="10442326" y="30796179"/>
              <a:ext cx="9377860" cy="6532770"/>
              <a:chOff x="10442326" y="20145375"/>
              <a:chExt cx="9377860" cy="6532770"/>
            </a:xfrm>
          </p:grpSpPr>
          <p:pic>
            <p:nvPicPr>
              <p:cNvPr id="58" name="Picture 57">
                <a:extLst>
                  <a:ext uri="{FF2B5EF4-FFF2-40B4-BE49-F238E27FC236}">
                    <a16:creationId xmlns:a16="http://schemas.microsoft.com/office/drawing/2014/main" id="{8D68EAAB-8C0C-9029-3504-F26DE861FD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9" name="Picture 58">
                <a:extLst>
                  <a:ext uri="{FF2B5EF4-FFF2-40B4-BE49-F238E27FC236}">
                    <a16:creationId xmlns:a16="http://schemas.microsoft.com/office/drawing/2014/main" id="{E327F6BA-B26E-BED3-DA46-ADC8CD9A912A}"/>
                  </a:ext>
                </a:extLst>
              </p:cNvPr>
              <p:cNvPicPr>
                <a:picLocks noChangeAspect="1"/>
              </p:cNvPicPr>
              <p:nvPr/>
            </p:nvPicPr>
            <p:blipFill>
              <a:blip r:embed="rId3">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60" name="Picture 59">
                <a:extLst>
                  <a:ext uri="{FF2B5EF4-FFF2-40B4-BE49-F238E27FC236}">
                    <a16:creationId xmlns:a16="http://schemas.microsoft.com/office/drawing/2014/main" id="{17A0B918-4AB8-9755-06AF-896FF39D3A7C}"/>
                  </a:ext>
                </a:extLst>
              </p:cNvPr>
              <p:cNvPicPr>
                <a:picLocks noChangeAspect="1"/>
              </p:cNvPicPr>
              <p:nvPr/>
            </p:nvPicPr>
            <p:blipFill>
              <a:blip r:embed="rId4">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61" name="Straight Arrow Connector 60">
                <a:extLst>
                  <a:ext uri="{FF2B5EF4-FFF2-40B4-BE49-F238E27FC236}">
                    <a16:creationId xmlns:a16="http://schemas.microsoft.com/office/drawing/2014/main" id="{90BBD625-BEBB-5CF3-A3FB-F3000822B7F5}"/>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2" name="Rectangle: Rounded Corners 61">
                <a:extLst>
                  <a:ext uri="{FF2B5EF4-FFF2-40B4-BE49-F238E27FC236}">
                    <a16:creationId xmlns:a16="http://schemas.microsoft.com/office/drawing/2014/main" id="{EB440626-179D-BB35-045E-93617091096E}"/>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63" name="Rectangle 62">
                <a:extLst>
                  <a:ext uri="{FF2B5EF4-FFF2-40B4-BE49-F238E27FC236}">
                    <a16:creationId xmlns:a16="http://schemas.microsoft.com/office/drawing/2014/main" id="{EAA01860-4DD7-5047-3E67-5B79A8592CBA}"/>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29" name="Straight Arrow Connector 28">
              <a:extLst>
                <a:ext uri="{FF2B5EF4-FFF2-40B4-BE49-F238E27FC236}">
                  <a16:creationId xmlns:a16="http://schemas.microsoft.com/office/drawing/2014/main" id="{B9F4C0EE-1942-FA9C-FE2F-931666BF0DFE}"/>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4" name="Straight Arrow Connector 33">
              <a:extLst>
                <a:ext uri="{FF2B5EF4-FFF2-40B4-BE49-F238E27FC236}">
                  <a16:creationId xmlns:a16="http://schemas.microsoft.com/office/drawing/2014/main" id="{2D37A489-CC80-0A8C-E4E7-82BFB911C797}"/>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4" name="Straight Arrow Connector 53">
              <a:extLst>
                <a:ext uri="{FF2B5EF4-FFF2-40B4-BE49-F238E27FC236}">
                  <a16:creationId xmlns:a16="http://schemas.microsoft.com/office/drawing/2014/main" id="{E3862379-2FDE-815F-40F1-7F99842EDFDF}"/>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Straight Arrow Connector 54">
              <a:extLst>
                <a:ext uri="{FF2B5EF4-FFF2-40B4-BE49-F238E27FC236}">
                  <a16:creationId xmlns:a16="http://schemas.microsoft.com/office/drawing/2014/main" id="{47D0A025-0FCD-28E7-6329-8CF9DE5636BE}"/>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6" name="Straight Arrow Connector 55">
              <a:extLst>
                <a:ext uri="{FF2B5EF4-FFF2-40B4-BE49-F238E27FC236}">
                  <a16:creationId xmlns:a16="http://schemas.microsoft.com/office/drawing/2014/main" id="{47F9334A-28F6-B696-B0EF-DBF201C33167}"/>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7" name="Straight Arrow Connector 56">
              <a:extLst>
                <a:ext uri="{FF2B5EF4-FFF2-40B4-BE49-F238E27FC236}">
                  <a16:creationId xmlns:a16="http://schemas.microsoft.com/office/drawing/2014/main" id="{D37A3ABA-CCA6-4C9A-B4A9-DB1E96AB5D2A}"/>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2486</Words>
  <Application>Microsoft Office PowerPoint</Application>
  <PresentationFormat>Custom</PresentationFormat>
  <Paragraphs>160</Paragraphs>
  <Slides>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59</cp:revision>
  <dcterms:created xsi:type="dcterms:W3CDTF">2025-09-04T12:04:34Z</dcterms:created>
  <dcterms:modified xsi:type="dcterms:W3CDTF">2026-07-12T18:53:56Z</dcterms:modified>
</cp:coreProperties>
</file>