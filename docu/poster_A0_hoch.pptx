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2_E5F74A0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840" y="-3456"/>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9" Type="http://schemas.microsoft.com/office/2018/10/relationships/authors" Target="authors.xml"/></Relationships>
</file>

<file path=ppt/comments/modernComment_102_E5F74A01.xml><?xml version="1.0" encoding="utf-8"?>
<p188:cmLst xmlns:a="http://schemas.openxmlformats.org/drawingml/2006/main" xmlns:r="http://schemas.openxmlformats.org/officeDocument/2006/relationships" xmlns:p188="http://schemas.microsoft.com/office/powerpoint/2018/8/main">
  <p188:cm id="{F8A82B58-2AE5-47E2-9978-869139ED8619}"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3858188801" sldId="258"/>
      <ac:spMk id="35" creationId="{01090178-3DA9-47EA-719C-9A6F7C87649B}"/>
    </ac:deMkLst>
    <p188:txBody>
      <a:bodyPr/>
      <a:lstStyle/>
      <a:p>
        <a:r>
          <a:rPr lang="en-DE"/>
          <a:t>@Richard
Lösch einfach die Texte, die du nicht brauchst</a:t>
        </a:r>
      </a:p>
    </p188:txBody>
  </p188:cm>
  <p188:cm id="{022FF7F9-DB5D-4453-A86D-A6EF0CCD9F4C}" authorId="{883C701C-0B02-F39B-CF72-564DBC6FBC27}" created="2026-07-11T22:48:27.643">
    <ac:deMkLst xmlns:ac="http://schemas.microsoft.com/office/drawing/2013/main/command">
      <pc:docMk xmlns:pc="http://schemas.microsoft.com/office/powerpoint/2013/main/command"/>
      <pc:sldMk xmlns:pc="http://schemas.microsoft.com/office/powerpoint/2013/main/command" cId="3858188801" sldId="258"/>
      <ac:picMk id="56" creationId="{FD807A32-6650-07C9-E21D-6F8E826132EC}"/>
    </ac:deMkLst>
    <p188:replyLst>
      <p188:reply id="{50C9171E-3811-4BBC-9490-C272F078E456}" authorId="{883C701C-0B02-F39B-CF72-564DBC6FBC27}" created="2026-07-11T22:48:41.555">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4C70E3B9-C37B-42D0-93C2-F21181C5ECB6}"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3858188801" sldId="258"/>
      <ac:graphicFrameMk id="73" creationId="{1AEEAADC-8346-07FE-093A-0C0B63C01F88}"/>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6E76A830-BEF6-41E6-9E7E-9F374E75ED83}"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10" len="42">
        <ac:context len="872" hash="497033074"/>
      </ac:txMk>
    </ac:txMkLst>
    <p188:pos x="7754258" y="1082901"/>
    <p188:txBody>
      <a:bodyPr/>
      <a:lstStyle/>
      <a:p>
        <a:r>
          <a:rPr lang="en-DE"/>
          <a:t>— nur Klasse „Person", pro Instanz: Bounding Box + 17 Keypoints</a:t>
        </a:r>
      </a:p>
    </p188:txBody>
  </p188:cm>
  <p188:cm id="{DB2B3D6B-7019-46C5-9DEA-84E59B810E9C}"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deMkLst>
    <p188:txBody>
      <a:bodyPr/>
      <a:lstStyle/>
      <a:p>
        <a:r>
          <a:rPr lang="en-DE"/>
          <a:t>help me extend this Abbildungsname "Abbildung 2: Oben: Merkmalskarten des trainierten YOLO26n-Pose am Ende jeder Backbone-Stufe (P1/2–P5/32), dargestellt in wahrer relativer Größe; gezeigt ist jeweils die über alle Kanäle gemittelte Absolutaktivierung. Mitte: dieselben Ebenen auf gleiche Anzeigegröße skaliert (Nearest-Neighbor) — die gröberen Pixelblöcke zeigen den Auflösungsverlust durch die stride-2-Faltungen.
"
it should has the unten part which is our fig B imagesHier die vollständige Bildunterschrift mit dem Unten-Teil:
Abbildung 2: Oben: Merkmalskarten des trainierten YOLO26n-Pose am Ende jeder Backbone-Stufe (P1/2–P5/32), dargestellt in wahrer relativer Größe; gezeigt ist jeweils die über alle Kanäle gemittelte Absolutaktivierung. Mitte: dieselben Ebenen auf gleiche Anzeigegröße skaliert (Nearest-Neighbor)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
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Ein Hinweis noch zur Konsistenz: Da die Reihen jetzt Oben/Mitte/Unten heißen, passe im Skript den Titel des linken figB-Panels an — dort steht noch "Kanalmittel (wie Abb. C)". Für die kombinierte Abbildung sollte es "Kanalmittel (wie Mitte)" heißen, oder ihr lasst den Klammerzusatz im Panel weg, weil die Caption den Bezug ja bereits herstellt. Alternativ könnt ihr die drei Reihen als Teilabbildungen (a), (b), (c) beschriften — das ist die sauberste Zitierweise, wenn ihr euch im Fließtext der Seminararbeit auf einzelne Reihen beziehen wollt ("siehe Abb. 2c").BausteinVerarbeitung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12/07/2026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microsoft.com/office/2018/10/relationships/comments" Target="../comments/modernComment_102_E5F74A01.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hyperlink" Target="https://arxiv.org/pdf/2606.03748?utm_source=chatgpt.com" TargetMode="External"/><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62A1-907B-A551-BB3B-D9A9E1FFDFDD}"/>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3A692FA5-9025-A5AF-4221-D6E55732FB90}"/>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EA610CE-6696-3EB0-18F9-B182E7A80E85}"/>
              </a:ext>
            </a:extLst>
          </p:cNvPr>
          <p:cNvSpPr>
            <a:spLocks noGrp="1"/>
          </p:cNvSpPr>
          <p:nvPr>
            <p:ph type="subTitle" idx="1"/>
          </p:nvPr>
        </p:nvSpPr>
        <p:spPr/>
        <p:txBody>
          <a:bodyPr/>
          <a:lstStyle/>
          <a:p>
            <a:r>
              <a:rPr lang="en-DE" sz="6600"/>
              <a:t>YOLO26: Bestimmung von Objekt-Posen in Bildern</a:t>
            </a:r>
            <a:endParaRPr lang="en-US" sz="6600"/>
          </a:p>
          <a:p>
            <a:r>
              <a:rPr lang="de-DE"/>
              <a:t>Nguyen, Duc Hai; Loewe, Richard</a:t>
            </a:r>
            <a:endParaRPr lang="de-DE" dirty="0"/>
          </a:p>
        </p:txBody>
      </p:sp>
      <p:sp>
        <p:nvSpPr>
          <p:cNvPr id="32" name="Textplatzhalter 31">
            <a:extLst>
              <a:ext uri="{FF2B5EF4-FFF2-40B4-BE49-F238E27FC236}">
                <a16:creationId xmlns:a16="http://schemas.microsoft.com/office/drawing/2014/main" id="{5AF7E329-DF0C-8541-4094-B551681A2506}"/>
              </a:ext>
            </a:extLst>
          </p:cNvPr>
          <p:cNvSpPr>
            <a:spLocks noGrp="1"/>
          </p:cNvSpPr>
          <p:nvPr>
            <p:ph type="body" sz="quarter" idx="26"/>
          </p:nvPr>
        </p:nvSpPr>
        <p:spPr>
          <a:xfrm>
            <a:off x="1527176" y="22019770"/>
            <a:ext cx="8472488" cy="6726680"/>
          </a:xfrm>
        </p:spPr>
        <p:txBody>
          <a:bodyPr/>
          <a:lstStyle/>
          <a:p>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ctr"/>
            <a:r>
              <a:rPr lang="en-DE" b="1" dirty="0">
                <a:highlight>
                  <a:srgbClr val="00FFFF"/>
                </a:highlight>
              </a:rPr>
              <a:t>float32 [640, 640, 3]</a:t>
            </a:r>
            <a:r>
              <a:rPr lang="en-DE" dirty="0">
                <a:highlight>
                  <a:srgbClr val="00FFFF"/>
                </a:highlight>
              </a:rPr>
              <a:t> </a:t>
            </a:r>
            <a:endParaRPr lang="en-US" dirty="0">
              <a:highlight>
                <a:srgbClr val="00FFFF"/>
              </a:highlight>
            </a:endParaRPr>
          </a:p>
          <a:p>
            <a:pPr algn="ctr"/>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r>
              <a:rPr lang="en-DE" b="1" dirty="0" err="1">
                <a:highlight>
                  <a:srgbClr val="00FFFF"/>
                </a:highlight>
              </a:rPr>
              <a:t>Vorverarbeitung</a:t>
            </a:r>
            <a:r>
              <a:rPr lang="en-DE" b="1" dirty="0">
                <a:highlight>
                  <a:srgbClr val="00FFFF"/>
                </a:highlight>
              </a:rPr>
              <a:t>:</a:t>
            </a:r>
            <a:endParaRPr lang="en-DE" dirty="0">
              <a:highlight>
                <a:srgbClr val="00FFFF"/>
              </a:highlight>
            </a:endParaRPr>
          </a:p>
          <a:p>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01090178-3DA9-47EA-719C-9A6F7C87649B}"/>
              </a:ext>
            </a:extLst>
          </p:cNvPr>
          <p:cNvSpPr>
            <a:spLocks noGrp="1"/>
          </p:cNvSpPr>
          <p:nvPr>
            <p:ph type="pic" sz="quarter" idx="33"/>
          </p:nvPr>
        </p:nvSpPr>
        <p:spPr>
          <a:xfrm>
            <a:off x="1527176" y="12241212"/>
            <a:ext cx="8472488" cy="9160669"/>
          </a:xfrm>
        </p:spPr>
        <p:txBody>
          <a:bodyPr/>
          <a:lstStyle/>
          <a:p>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endParaRPr lang="en-DE" b="1" dirty="0">
              <a:highlight>
                <a:srgbClr val="00FFFF"/>
              </a:highlight>
            </a:endParaRPr>
          </a:p>
        </p:txBody>
      </p:sp>
      <p:sp>
        <p:nvSpPr>
          <p:cNvPr id="38" name="Bildplatzhalter 37">
            <a:extLst>
              <a:ext uri="{FF2B5EF4-FFF2-40B4-BE49-F238E27FC236}">
                <a16:creationId xmlns:a16="http://schemas.microsoft.com/office/drawing/2014/main" id="{97CF74B9-95BC-2A4F-D416-9CC46052AB26}"/>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mc:Choice xmlns:a14="http://schemas.microsoft.com/office/drawing/2010/main" Requires="a14">
          <p:sp>
            <p:nvSpPr>
              <p:cNvPr id="39" name="Bildplatzhalter 38">
                <a:extLst>
                  <a:ext uri="{FF2B5EF4-FFF2-40B4-BE49-F238E27FC236}">
                    <a16:creationId xmlns:a16="http://schemas.microsoft.com/office/drawing/2014/main" id="{4CCA6A15-1D6E-C338-1C6B-39E8F8709B10}"/>
                  </a:ext>
                </a:extLst>
              </p:cNvPr>
              <p:cNvSpPr>
                <a:spLocks noGrp="1"/>
              </p:cNvSpPr>
              <p:nvPr>
                <p:ph type="pic" sz="quarter" idx="48"/>
              </p:nvPr>
            </p:nvSpPr>
            <p:spPr>
              <a:xfrm>
                <a:off x="20243799" y="12241213"/>
                <a:ext cx="8472488" cy="11158192"/>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(OKS-</a:t>
                </a:r>
                <a:r>
                  <a:rPr lang="en-DE" dirty="0" err="1"/>
                  <a:t>basiert</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 Residual Log-Likelihood — 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DE" dirty="0"/>
                  <a:t>; </a:t>
                </a:r>
                <a:r>
                  <a:rPr lang="en-DE" dirty="0" err="1"/>
                  <a:t>verdeckte</a:t>
                </a:r>
                <a:r>
                  <a:rPr lang="en-DE" dirty="0"/>
                  <a:t>/</a:t>
                </a:r>
                <a:r>
                  <a:rPr lang="en-DE" dirty="0" err="1"/>
                  <a:t>mehrdeutige</a:t>
                </a:r>
                <a:r>
                  <a:rPr lang="en-DE" dirty="0"/>
                  <a:t> </a:t>
                </a:r>
                <a:r>
                  <a:rPr lang="en-DE" dirty="0" err="1"/>
                  <a:t>Punkte</a:t>
                </a:r>
                <a:r>
                  <a:rPr lang="en-DE" dirty="0"/>
                  <a:t> </a:t>
                </a:r>
                <a:r>
                  <a:rPr lang="en-DE" dirty="0" err="1"/>
                  <a:t>werden</a:t>
                </a:r>
                <a:r>
                  <a:rPr lang="en-DE" dirty="0"/>
                  <a:t> </a:t>
                </a:r>
                <a:r>
                  <a:rPr lang="en-DE" dirty="0" err="1"/>
                  <a:t>automatisch</a:t>
                </a:r>
                <a:r>
                  <a:rPr lang="en-DE" dirty="0"/>
                  <a:t> </a:t>
                </a:r>
                <a:r>
                  <a:rPr lang="en-DE" dirty="0" err="1"/>
                  <a:t>heruntergewichtet</a:t>
                </a:r>
                <a:endParaRPr lang="en-US" dirty="0"/>
              </a:p>
              <a:p>
                <a:pPr marL="457200" indent="-457200">
                  <a:spcBef>
                    <a:spcPts val="0"/>
                  </a:spcBef>
                  <a:buFont typeface="Arial" panose="020B0604020202020204" pitchFamily="34" charset="0"/>
                  <a:buChar char="•"/>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One-to-Many-Zweig (</a:t>
                </a:r>
                <a:r>
                  <a:rPr lang="en-DE" dirty="0" err="1"/>
                  <a:t>dichte</a:t>
                </a:r>
                <a:r>
                  <a:rPr lang="en-DE" dirty="0"/>
                  <a:t> Supervision) + One-to-One-Zweig (</a:t>
                </a:r>
                <a:r>
                  <a:rPr lang="en-DE" dirty="0" err="1"/>
                  <a:t>Inferenzpfad</a:t>
                </a:r>
                <a:r>
                  <a:rPr lang="en-DE" dirty="0"/>
                  <a:t>, 1 </a:t>
                </a:r>
                <a:r>
                  <a:rPr lang="en-DE" dirty="0" err="1"/>
                  <a:t>Zuordnung</a:t>
                </a:r>
                <a:r>
                  <a:rPr lang="en-DE" dirty="0"/>
                  <a:t> pro </a:t>
                </a:r>
                <a:r>
                  <a:rPr lang="en-DE" dirty="0" err="1"/>
                  <a:t>Objekt</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(Boxen &lt; 8 </a:t>
                </a:r>
                <a:r>
                  <a:rPr lang="en-DE" dirty="0" err="1"/>
                  <a:t>px</a:t>
                </a:r>
                <a:r>
                  <a:rPr lang="en-DE" dirty="0"/>
                  <a:t> </a:t>
                </a:r>
                <a:r>
                  <a:rPr lang="en-DE" dirty="0" err="1"/>
                  <a:t>werden</a:t>
                </a:r>
                <a:r>
                  <a:rPr lang="en-DE" dirty="0"/>
                  <a:t> </a:t>
                </a:r>
                <a:r>
                  <a:rPr lang="en-DE" dirty="0" err="1"/>
                  <a:t>bei</a:t>
                </a:r>
                <a:r>
                  <a:rPr lang="en-DE" dirty="0"/>
                  <a:t> der </a:t>
                </a:r>
                <a:r>
                  <a:rPr lang="en-DE" dirty="0" err="1"/>
                  <a:t>Kandidatenwahl</a:t>
                </a:r>
                <a:r>
                  <a:rPr lang="en-DE" dirty="0"/>
                  <a:t> auf 16 </a:t>
                </a:r>
                <a:r>
                  <a:rPr lang="en-DE" dirty="0" err="1"/>
                  <a:t>px</a:t>
                </a:r>
                <a:r>
                  <a:rPr lang="en-DE" dirty="0"/>
                  <a:t> </a:t>
                </a:r>
                <a:r>
                  <a:rPr lang="en-DE" dirty="0" err="1"/>
                  <a:t>aufgeweitet</a:t>
                </a:r>
                <a:r>
                  <a:rPr lang="en-DE" dirty="0"/>
                  <a:t>)</a:t>
                </a:r>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(500 </a:t>
                </a:r>
                <a:r>
                  <a:rPr lang="en-DE" dirty="0" err="1"/>
                  <a:t>statt</a:t>
                </a:r>
                <a:r>
                  <a:rPr lang="en-DE" dirty="0"/>
                  <a:t> 600 </a:t>
                </a:r>
                <a:r>
                  <a:rPr lang="en-DE" dirty="0" err="1"/>
                  <a:t>Epochen</a:t>
                </a:r>
                <a:r>
                  <a:rPr lang="en-DE" dirty="0"/>
                  <a:t>)</a:t>
                </a:r>
              </a:p>
              <a:p>
                <a:pPr marL="457200" indent="-457200">
                  <a:lnSpc>
                    <a:spcPct val="100000"/>
                  </a:lnSpc>
                  <a:spcBef>
                    <a:spcPts val="0"/>
                  </a:spcBef>
                  <a:buFont typeface="Arial" panose="020B0604020202020204" pitchFamily="34" charset="0"/>
                  <a:buChar char="•"/>
                </a:pPr>
                <a:r>
                  <a:rPr lang="en-DE" dirty="0"/>
                  <a:t>Kein DFL → </a:t>
                </a:r>
                <a:r>
                  <a:rPr lang="en-DE" dirty="0" err="1"/>
                  <a:t>direkte</a:t>
                </a:r>
                <a:r>
                  <a:rPr lang="en-DE" dirty="0"/>
                  <a:t>, </a:t>
                </a:r>
                <a:r>
                  <a:rPr lang="en-DE" dirty="0" err="1"/>
                  <a:t>leichtere</a:t>
                </a:r>
                <a:r>
                  <a:rPr lang="en-DE" dirty="0"/>
                  <a:t> Box-Regression</a:t>
                </a:r>
              </a:p>
            </p:txBody>
          </p:sp>
        </mc:Choice>
        <mc:Fallback>
          <p:sp>
            <p:nvSpPr>
              <p:cNvPr id="39" name="Bildplatzhalter 38">
                <a:extLst>
                  <a:ext uri="{FF2B5EF4-FFF2-40B4-BE49-F238E27FC236}">
                    <a16:creationId xmlns:a16="http://schemas.microsoft.com/office/drawing/2014/main" id="{4CCA6A15-1D6E-C338-1C6B-39E8F8709B10}"/>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11158192"/>
              </a:xfrm>
              <a:blipFill>
                <a:blip r:embed="rId3"/>
                <a:stretch>
                  <a:fillRect l="-2446" t="-1311" r="-1871"/>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E82295C3-D8CB-90A4-ECAA-6DEA2B16E1FD}"/>
              </a:ext>
            </a:extLst>
          </p:cNvPr>
          <p:cNvSpPr>
            <a:spLocks noGrp="1"/>
          </p:cNvSpPr>
          <p:nvPr>
            <p:ph type="body" sz="quarter" idx="51"/>
          </p:nvPr>
        </p:nvSpPr>
        <p:spPr>
          <a:xfrm>
            <a:off x="20272375" y="41158318"/>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C382F5D-6299-B6B3-A93A-1A40E113041F}"/>
              </a:ext>
            </a:extLst>
          </p:cNvPr>
          <p:cNvSpPr>
            <a:spLocks noGrp="1"/>
          </p:cNvSpPr>
          <p:nvPr>
            <p:ph type="body" sz="quarter" idx="52"/>
          </p:nvPr>
        </p:nvSpPr>
        <p:spPr>
          <a:xfrm>
            <a:off x="20213637" y="40082168"/>
            <a:ext cx="8472488" cy="1070435"/>
          </a:xfrm>
        </p:spPr>
        <p:txBody>
          <a:bodyPr/>
          <a:lstStyle/>
          <a:p>
            <a:r>
              <a:rPr lang="de-DE" b="1" dirty="0"/>
              <a:t>Quellen:</a:t>
            </a:r>
          </a:p>
        </p:txBody>
      </p:sp>
      <p:sp>
        <p:nvSpPr>
          <p:cNvPr id="2" name="Textfeld 1">
            <a:extLst>
              <a:ext uri="{FF2B5EF4-FFF2-40B4-BE49-F238E27FC236}">
                <a16:creationId xmlns:a16="http://schemas.microsoft.com/office/drawing/2014/main" id="{3349C028-D861-0EF0-AC93-83AD90CC5ED1}"/>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D6FB69DD-136D-8195-B308-56E284C7D656}"/>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FF2AEF08-B612-5B96-C212-CD7C57A0E2EB}"/>
              </a:ext>
            </a:extLst>
          </p:cNvPr>
          <p:cNvSpPr txBox="1">
            <a:spLocks/>
          </p:cNvSpPr>
          <p:nvPr/>
        </p:nvSpPr>
        <p:spPr>
          <a:xfrm>
            <a:off x="1527175" y="29030170"/>
            <a:ext cx="8472488" cy="1059201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err="1">
                <a:highlight>
                  <a:srgbClr val="00FFFF"/>
                </a:highlight>
              </a:rPr>
              <a:t>Ausgangsdaten</a:t>
            </a:r>
            <a:r>
              <a:rPr lang="en-DE" b="1" dirty="0">
                <a:highlight>
                  <a:srgbClr val="00FFFF"/>
                </a:highlight>
              </a:rPr>
              <a:t> des </a:t>
            </a:r>
            <a:r>
              <a:rPr lang="en-DE" b="1" dirty="0" err="1">
                <a:highlight>
                  <a:srgbClr val="00FFFF"/>
                </a:highlight>
              </a:rPr>
              <a:t>Netzes</a:t>
            </a:r>
            <a:r>
              <a:rPr lang="en-DE" b="1" dirty="0">
                <a:highlight>
                  <a:srgbClr val="00FFFF"/>
                </a:highlight>
              </a:rPr>
              <a:t> [F3]</a:t>
            </a:r>
            <a:endParaRPr lang="en-US" b="1" dirty="0">
              <a:highlight>
                <a:srgbClr val="00FFFF"/>
              </a:highlight>
            </a:endParaRPr>
          </a:p>
          <a:p>
            <a:pPr algn="ctr"/>
            <a:r>
              <a:rPr lang="en-DE" b="1" dirty="0">
                <a:highlight>
                  <a:srgbClr val="00FFFF"/>
                </a:highlight>
              </a:rPr>
              <a:t>float32 [300, 57]</a:t>
            </a:r>
            <a:endParaRPr lang="en-US" b="1" dirty="0">
              <a:highlight>
                <a:srgbClr val="00FFFF"/>
              </a:highlight>
            </a:endParaRPr>
          </a:p>
          <a:p>
            <a:r>
              <a:rPr lang="en-US" b="1" dirty="0" err="1">
                <a:highlight>
                  <a:srgbClr val="00FFFF"/>
                </a:highlight>
              </a:rPr>
              <a:t>Nachbearbeitung</a:t>
            </a:r>
            <a:r>
              <a:rPr lang="en-US" b="1" dirty="0">
                <a:highlight>
                  <a:srgbClr val="00FFFF"/>
                </a:highlight>
              </a:rPr>
              <a:t> </a:t>
            </a:r>
            <a:r>
              <a:rPr lang="en-DE" b="1" dirty="0">
                <a:highlight>
                  <a:srgbClr val="00FFFF"/>
                </a:highlight>
              </a:rPr>
              <a:t>[F</a:t>
            </a:r>
            <a:r>
              <a:rPr lang="en-US" b="1" dirty="0">
                <a:highlight>
                  <a:srgbClr val="00FFFF"/>
                </a:highlight>
              </a:rPr>
              <a:t>4</a:t>
            </a:r>
            <a:r>
              <a:rPr lang="en-DE" b="1" dirty="0">
                <a:highlight>
                  <a:srgbClr val="00FFFF"/>
                </a:highlight>
              </a:rPr>
              <a:t>]</a:t>
            </a:r>
            <a:endParaRPr lang="en-US" b="1" dirty="0">
              <a:highlight>
                <a:srgbClr val="00FFFF"/>
              </a:highlight>
            </a:endParaRPr>
          </a:p>
          <a:p>
            <a:r>
              <a:rPr lang="en-DE" b="1" dirty="0" err="1">
                <a:highlight>
                  <a:srgbClr val="00FFFF"/>
                </a:highlight>
              </a:rPr>
              <a:t>Ausgangsdaten</a:t>
            </a:r>
            <a:r>
              <a:rPr lang="en-DE" b="1" dirty="0">
                <a:highlight>
                  <a:srgbClr val="00FFFF"/>
                </a:highlight>
              </a:rPr>
              <a:t> der </a:t>
            </a:r>
            <a:r>
              <a:rPr lang="en-DE" b="1" dirty="0" err="1">
                <a:highlight>
                  <a:srgbClr val="00FFFF"/>
                </a:highlight>
              </a:rPr>
              <a:t>Nachbearbeitung</a:t>
            </a:r>
            <a:r>
              <a:rPr lang="en-DE" b="1" dirty="0">
                <a:highlight>
                  <a:srgbClr val="00FFFF"/>
                </a:highlight>
              </a:rPr>
              <a:t>:</a:t>
            </a:r>
            <a:endParaRPr lang="en-DE" dirty="0">
              <a:highlight>
                <a:srgbClr val="00FFFF"/>
              </a:highlight>
            </a:endParaRPr>
          </a:p>
          <a:p>
            <a:r>
              <a:rPr lang="en-DE" b="1" dirty="0" err="1">
                <a:highlight>
                  <a:srgbClr val="00FFFF"/>
                </a:highlight>
              </a:rPr>
              <a:t>Konfidenz-Filterung</a:t>
            </a:r>
            <a:r>
              <a:rPr lang="en-DE" b="1" dirty="0">
                <a:highlight>
                  <a:srgbClr val="00FFFF"/>
                </a:highlight>
              </a:rPr>
              <a:t>:</a:t>
            </a:r>
            <a:r>
              <a:rPr lang="en-DE" dirty="0">
                <a:highlight>
                  <a:srgbClr val="00FFFF"/>
                </a:highlight>
              </a:rPr>
              <a:t> </a:t>
            </a:r>
            <a:endParaRPr lang="en-US" dirty="0">
              <a:highlight>
                <a:srgbClr val="00FFFF"/>
              </a:highlight>
            </a:endParaRPr>
          </a:p>
          <a:p>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Schwellwert</a:t>
            </a:r>
            <a:r>
              <a:rPr lang="en-DE" dirty="0">
                <a:highlight>
                  <a:srgbClr val="00FFFF"/>
                </a:highlight>
              </a:rPr>
              <a:t> </a:t>
            </a:r>
            <a:r>
              <a:rPr lang="en-DE" dirty="0" err="1">
                <a:highlight>
                  <a:srgbClr val="00FFFF"/>
                </a:highlight>
              </a:rPr>
              <a:t>werden</a:t>
            </a:r>
            <a:r>
              <a:rPr lang="en-DE" dirty="0">
                <a:highlight>
                  <a:srgbClr val="00FFFF"/>
                </a:highlight>
              </a:rPr>
              <a:t> </a:t>
            </a:r>
            <a:r>
              <a:rPr lang="en-DE" dirty="0" err="1">
                <a:highlight>
                  <a:srgbClr val="00FFFF"/>
                </a:highlight>
              </a:rPr>
              <a:t>verworfen</a:t>
            </a:r>
            <a:r>
              <a:rPr lang="en-DE" dirty="0">
                <a:highlight>
                  <a:srgbClr val="00FFFF"/>
                </a:highlight>
              </a:rPr>
              <a:t> </a:t>
            </a:r>
            <a:endParaRPr lang="en-US" dirty="0">
              <a:highlight>
                <a:srgbClr val="00FFFF"/>
              </a:highlight>
            </a:endParaRPr>
          </a:p>
          <a:p>
            <a:r>
              <a:rPr lang="en-DE" dirty="0">
                <a:highlight>
                  <a:srgbClr val="00FFFF"/>
                </a:highlight>
              </a:rPr>
              <a:t>→ [300, 57] → </a:t>
            </a:r>
            <a:r>
              <a:rPr lang="en-DE" b="1" dirty="0">
                <a:highlight>
                  <a:srgbClr val="00FFFF"/>
                </a:highlight>
              </a:rPr>
              <a:t>[P, 57]</a:t>
            </a:r>
            <a:r>
              <a:rPr lang="en-US" b="1" dirty="0">
                <a:highlight>
                  <a:srgbClr val="00FFFF"/>
                </a:highlight>
              </a:rPr>
              <a:t> (</a:t>
            </a:r>
            <a:r>
              <a:rPr lang="en-DE" dirty="0">
                <a:highlight>
                  <a:srgbClr val="00FFFF"/>
                </a:highlight>
              </a:rPr>
              <a:t>P = </a:t>
            </a:r>
            <a:r>
              <a:rPr lang="en-DE" dirty="0" err="1">
                <a:highlight>
                  <a:srgbClr val="00FFFF"/>
                </a:highlight>
              </a:rPr>
              <a:t>tatsächlich</a:t>
            </a:r>
            <a:r>
              <a:rPr lang="en-DE" dirty="0">
                <a:highlight>
                  <a:srgbClr val="00FFFF"/>
                </a:highlight>
              </a:rPr>
              <a:t> </a:t>
            </a:r>
            <a:r>
              <a:rPr lang="en-DE" dirty="0" err="1">
                <a:highlight>
                  <a:srgbClr val="00FFFF"/>
                </a:highlight>
              </a:rPr>
              <a:t>erkannte</a:t>
            </a:r>
            <a:r>
              <a:rPr lang="en-DE" dirty="0">
                <a:highlight>
                  <a:srgbClr val="00FFFF"/>
                </a:highlight>
              </a:rPr>
              <a:t> </a:t>
            </a:r>
            <a:r>
              <a:rPr lang="en-DE" dirty="0" err="1">
                <a:highlight>
                  <a:srgbClr val="00FFFF"/>
                </a:highlight>
              </a:rPr>
              <a:t>Personen</a:t>
            </a:r>
            <a:r>
              <a:rPr lang="en-US" dirty="0">
                <a:highlight>
                  <a:srgbClr val="00FFFF"/>
                </a:highlight>
              </a:rPr>
              <a:t>)</a:t>
            </a:r>
            <a:endParaRPr lang="en-DE" dirty="0">
              <a:highlight>
                <a:srgbClr val="00FFFF"/>
              </a:highlight>
            </a:endParaRPr>
          </a:p>
          <a:p>
            <a:r>
              <a:rPr lang="en-DE" b="1" dirty="0" err="1">
                <a:highlight>
                  <a:srgbClr val="00FFFF"/>
                </a:highlight>
              </a:rPr>
              <a:t>Rückskalierung</a:t>
            </a:r>
            <a:r>
              <a:rPr lang="en-DE" b="1" dirty="0">
                <a:highlight>
                  <a:srgbClr val="00FFFF"/>
                </a:highlight>
              </a:rPr>
              <a:t>:</a:t>
            </a:r>
            <a:r>
              <a:rPr lang="en-DE" dirty="0">
                <a:highlight>
                  <a:srgbClr val="00FFFF"/>
                </a:highlight>
              </a:rPr>
              <a:t> Box- &amp; </a:t>
            </a:r>
            <a:r>
              <a:rPr lang="en-DE" dirty="0" err="1">
                <a:highlight>
                  <a:srgbClr val="00FFFF"/>
                </a:highlight>
              </a:rPr>
              <a:t>Keypoint-Koordinaten</a:t>
            </a:r>
            <a:r>
              <a:rPr lang="en-DE" dirty="0">
                <a:highlight>
                  <a:srgbClr val="00FFFF"/>
                </a:highlight>
              </a:rPr>
              <a:t> von 640×640 </a:t>
            </a:r>
            <a:r>
              <a:rPr lang="en-DE" dirty="0" err="1">
                <a:highlight>
                  <a:srgbClr val="00FFFF"/>
                </a:highlight>
              </a:rPr>
              <a:t>zurück</a:t>
            </a:r>
            <a:r>
              <a:rPr lang="en-DE" dirty="0">
                <a:highlight>
                  <a:srgbClr val="00FFFF"/>
                </a:highlight>
              </a:rPr>
              <a:t> auf die </a:t>
            </a:r>
            <a:r>
              <a:rPr lang="en-DE" dirty="0" err="1">
                <a:highlight>
                  <a:srgbClr val="00FFFF"/>
                </a:highlight>
              </a:rPr>
              <a:t>Originalauflösung</a:t>
            </a:r>
            <a:endParaRPr lang="en-DE" dirty="0">
              <a:highlight>
                <a:srgbClr val="00FFFF"/>
              </a:highlight>
            </a:endParaRPr>
          </a:p>
          <a:p>
            <a:r>
              <a:rPr lang="en-DE" b="1" dirty="0" err="1">
                <a:highlight>
                  <a:srgbClr val="00FFFF"/>
                </a:highlight>
              </a:rPr>
              <a:t>Besonderheit</a:t>
            </a:r>
            <a:r>
              <a:rPr lang="en-DE" b="1" dirty="0">
                <a:highlight>
                  <a:srgbClr val="00FFFF"/>
                </a:highlight>
              </a:rPr>
              <a:t> YOLO26: </a:t>
            </a:r>
            <a:r>
              <a:rPr lang="en-DE" b="1" dirty="0" err="1">
                <a:highlight>
                  <a:srgbClr val="00FFFF"/>
                </a:highlight>
              </a:rPr>
              <a:t>keine</a:t>
            </a:r>
            <a:r>
              <a:rPr lang="en-DE" b="1" dirty="0">
                <a:highlight>
                  <a:srgbClr val="00FFFF"/>
                </a:highlight>
              </a:rPr>
              <a:t> NMS!</a:t>
            </a:r>
            <a:endParaRPr lang="en-DE" dirty="0">
              <a:highlight>
                <a:srgbClr val="00FFFF"/>
              </a:highlight>
            </a:endParaRPr>
          </a:p>
          <a:p>
            <a:r>
              <a:rPr lang="en-DE" dirty="0" err="1">
                <a:highlight>
                  <a:srgbClr val="00FFFF"/>
                </a:highlight>
              </a:rPr>
              <a:t>Unterdrückung</a:t>
            </a:r>
            <a:r>
              <a:rPr lang="en-DE" dirty="0">
                <a:highlight>
                  <a:srgbClr val="00FFFF"/>
                </a:highlight>
              </a:rPr>
              <a:t> </a:t>
            </a:r>
            <a:r>
              <a:rPr lang="en-DE" dirty="0" err="1">
                <a:highlight>
                  <a:srgbClr val="00FFFF"/>
                </a:highlight>
              </a:rPr>
              <a:t>redundanter</a:t>
            </a:r>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wird</a:t>
            </a:r>
            <a:r>
              <a:rPr lang="en-DE" dirty="0">
                <a:highlight>
                  <a:srgbClr val="00FFFF"/>
                </a:highlight>
              </a:rPr>
              <a:t> </a:t>
            </a:r>
            <a:r>
              <a:rPr lang="en-DE" dirty="0" err="1">
                <a:highlight>
                  <a:srgbClr val="00FFFF"/>
                </a:highlight>
              </a:rPr>
              <a:t>bereits</a:t>
            </a:r>
            <a:r>
              <a:rPr lang="en-DE" dirty="0">
                <a:highlight>
                  <a:srgbClr val="00FFFF"/>
                </a:highlight>
              </a:rPr>
              <a:t> </a:t>
            </a:r>
            <a:r>
              <a:rPr lang="en-DE" b="1" dirty="0" err="1">
                <a:highlight>
                  <a:srgbClr val="00FFFF"/>
                </a:highlight>
              </a:rPr>
              <a:t>im</a:t>
            </a:r>
            <a:r>
              <a:rPr lang="en-DE" b="1" dirty="0">
                <a:highlight>
                  <a:srgbClr val="00FFFF"/>
                </a:highlight>
              </a:rPr>
              <a:t> Training</a:t>
            </a:r>
            <a:r>
              <a:rPr lang="en-DE" dirty="0">
                <a:highlight>
                  <a:srgbClr val="00FFFF"/>
                </a:highlight>
              </a:rPr>
              <a:t> </a:t>
            </a:r>
            <a:r>
              <a:rPr lang="en-DE" dirty="0" err="1">
                <a:highlight>
                  <a:srgbClr val="00FFFF"/>
                </a:highlight>
              </a:rPr>
              <a:t>gelernt</a:t>
            </a:r>
            <a:r>
              <a:rPr lang="en-DE" dirty="0">
                <a:highlight>
                  <a:srgbClr val="00FFFF"/>
                </a:highlight>
              </a:rPr>
              <a:t> → native End-to-End-</a:t>
            </a:r>
            <a:r>
              <a:rPr lang="en-DE" dirty="0" err="1">
                <a:highlight>
                  <a:srgbClr val="00FFFF"/>
                </a:highlight>
              </a:rPr>
              <a:t>Inferenz</a:t>
            </a:r>
            <a:endParaRPr lang="en-DE" dirty="0">
              <a:highlight>
                <a:srgbClr val="00FFFF"/>
              </a:highlight>
            </a:endParaRPr>
          </a:p>
          <a:p>
            <a:r>
              <a:rPr lang="en-DE" dirty="0">
                <a:highlight>
                  <a:srgbClr val="00FFFF"/>
                </a:highlight>
              </a:rPr>
              <a:t>Optional: Dual-Head-</a:t>
            </a:r>
            <a:r>
              <a:rPr lang="en-DE" dirty="0" err="1">
                <a:highlight>
                  <a:srgbClr val="00FFFF"/>
                </a:highlight>
              </a:rPr>
              <a:t>Architektur</a:t>
            </a:r>
            <a:r>
              <a:rPr lang="en-DE" dirty="0">
                <a:highlight>
                  <a:srgbClr val="00FFFF"/>
                </a:highlight>
              </a:rPr>
              <a:t> </a:t>
            </a:r>
            <a:r>
              <a:rPr lang="en-DE" dirty="0" err="1">
                <a:highlight>
                  <a:srgbClr val="00FFFF"/>
                </a:highlight>
              </a:rPr>
              <a:t>erlaubt</a:t>
            </a:r>
            <a:r>
              <a:rPr lang="en-DE" dirty="0">
                <a:highlight>
                  <a:srgbClr val="00FFFF"/>
                </a:highlight>
              </a:rPr>
              <a:t> </a:t>
            </a:r>
            <a:r>
              <a:rPr lang="en-DE" dirty="0" err="1">
                <a:highlight>
                  <a:srgbClr val="00FFFF"/>
                </a:highlight>
              </a:rPr>
              <a:t>Umschalten</a:t>
            </a:r>
            <a:r>
              <a:rPr lang="en-DE" dirty="0">
                <a:highlight>
                  <a:srgbClr val="00FFFF"/>
                </a:highlight>
              </a:rPr>
              <a:t> auf One-to-Many-Head </a:t>
            </a:r>
            <a:r>
              <a:rPr lang="en-DE" dirty="0" err="1">
                <a:highlight>
                  <a:srgbClr val="00FFFF"/>
                </a:highlight>
              </a:rPr>
              <a:t>mit</a:t>
            </a:r>
            <a:r>
              <a:rPr lang="en-DE" dirty="0">
                <a:highlight>
                  <a:srgbClr val="00FFFF"/>
                </a:highlight>
              </a:rPr>
              <a:t> NMS (</a:t>
            </a:r>
            <a:r>
              <a:rPr lang="en-DE" dirty="0" err="1">
                <a:highlight>
                  <a:srgbClr val="00FFFF"/>
                </a:highlight>
              </a:rPr>
              <a:t>etwas</a:t>
            </a:r>
            <a:r>
              <a:rPr lang="en-DE" dirty="0">
                <a:highlight>
                  <a:srgbClr val="00FFFF"/>
                </a:highlight>
              </a:rPr>
              <a:t> </a:t>
            </a:r>
            <a:r>
              <a:rPr lang="en-DE" dirty="0" err="1">
                <a:highlight>
                  <a:srgbClr val="00FFFF"/>
                </a:highlight>
              </a:rPr>
              <a:t>genauer</a:t>
            </a:r>
            <a:r>
              <a:rPr lang="en-DE" dirty="0">
                <a:highlight>
                  <a:srgbClr val="00FFFF"/>
                </a:highlight>
              </a:rPr>
              <a:t>, </a:t>
            </a:r>
            <a:r>
              <a:rPr lang="en-DE" dirty="0" err="1">
                <a:highlight>
                  <a:srgbClr val="00FFFF"/>
                </a:highlight>
              </a:rPr>
              <a:t>aber</a:t>
            </a:r>
            <a:r>
              <a:rPr lang="en-DE" dirty="0">
                <a:highlight>
                  <a:srgbClr val="00FFFF"/>
                </a:highlight>
              </a:rPr>
              <a:t> </a:t>
            </a:r>
            <a:r>
              <a:rPr lang="en-DE" dirty="0" err="1">
                <a:highlight>
                  <a:srgbClr val="00FFFF"/>
                </a:highlight>
              </a:rPr>
              <a:t>langsamer</a:t>
            </a:r>
            <a:r>
              <a:rPr lang="en-DE" dirty="0">
                <a:highlight>
                  <a:srgbClr val="00FFFF"/>
                </a:highlight>
              </a:rPr>
              <a:t>)</a:t>
            </a:r>
          </a:p>
          <a:p>
            <a:pPr algn="ctr"/>
            <a:endParaRPr lang="en-DE" dirty="0">
              <a:highlight>
                <a:srgbClr val="00FFFF"/>
              </a:highlight>
            </a:endParaRPr>
          </a:p>
        </p:txBody>
      </p:sp>
      <p:sp>
        <p:nvSpPr>
          <p:cNvPr id="18" name="Bildplatzhalter 37">
            <a:extLst>
              <a:ext uri="{FF2B5EF4-FFF2-40B4-BE49-F238E27FC236}">
                <a16:creationId xmlns:a16="http://schemas.microsoft.com/office/drawing/2014/main" id="{AE495290-6533-0D15-347F-D42405009191}"/>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1EC3BD97-77D8-7EFA-D9F2-7390D499DFCA}"/>
              </a:ext>
            </a:extLst>
          </p:cNvPr>
          <p:cNvSpPr txBox="1">
            <a:spLocks/>
          </p:cNvSpPr>
          <p:nvPr/>
        </p:nvSpPr>
        <p:spPr>
          <a:xfrm>
            <a:off x="20243006" y="23657096"/>
            <a:ext cx="8472488" cy="168618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US" b="1" dirty="0"/>
              <a:t>TEST SETUP + ERGEBNIS</a:t>
            </a:r>
            <a:endParaRPr lang="en-DE" b="1" dirty="0"/>
          </a:p>
        </p:txBody>
      </p:sp>
      <p:pic>
        <p:nvPicPr>
          <p:cNvPr id="56" name="Picture 55">
            <a:extLst>
              <a:ext uri="{FF2B5EF4-FFF2-40B4-BE49-F238E27FC236}">
                <a16:creationId xmlns:a16="http://schemas.microsoft.com/office/drawing/2014/main" id="{FD807A32-6650-07C9-E21D-6F8E826132EC}"/>
              </a:ext>
            </a:extLst>
          </p:cNvPr>
          <p:cNvPicPr>
            <a:picLocks noChangeAspect="1"/>
          </p:cNvPicPr>
          <p:nvPr/>
        </p:nvPicPr>
        <p:blipFill>
          <a:blip r:embed="rId5"/>
          <a:stretch>
            <a:fillRect/>
          </a:stretch>
        </p:blipFill>
        <p:spPr>
          <a:xfrm>
            <a:off x="10455025" y="12913585"/>
            <a:ext cx="9365161" cy="6941430"/>
          </a:xfrm>
          <a:prstGeom prst="rect">
            <a:avLst/>
          </a:prstGeom>
        </p:spPr>
      </p:pic>
      <p:sp>
        <p:nvSpPr>
          <p:cNvPr id="57" name="Textplatzhalter 36">
            <a:extLst>
              <a:ext uri="{FF2B5EF4-FFF2-40B4-BE49-F238E27FC236}">
                <a16:creationId xmlns:a16="http://schemas.microsoft.com/office/drawing/2014/main" id="{A63A8BFE-F2D8-BD3C-515B-40E101720DCB}"/>
              </a:ext>
            </a:extLst>
          </p:cNvPr>
          <p:cNvSpPr txBox="1">
            <a:spLocks/>
          </p:cNvSpPr>
          <p:nvPr/>
        </p:nvSpPr>
        <p:spPr>
          <a:xfrm>
            <a:off x="12363223" y="19959522"/>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EE4CE850-A457-0571-A96D-C566173A6C4E}"/>
              </a:ext>
            </a:extLst>
          </p:cNvPr>
          <p:cNvSpPr txBox="1">
            <a:spLocks/>
          </p:cNvSpPr>
          <p:nvPr/>
        </p:nvSpPr>
        <p:spPr>
          <a:xfrm>
            <a:off x="10455025" y="38634894"/>
            <a:ext cx="5856691" cy="45681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10FE75B7-D20C-7A99-FC1B-2534FF11683B}"/>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1AEEAADC-8346-07FE-093A-0C0B63C01F88}"/>
              </a:ext>
            </a:extLst>
          </p:cNvPr>
          <p:cNvGraphicFramePr>
            <a:graphicFrameLocks noGrp="1"/>
          </p:cNvGraphicFramePr>
          <p:nvPr>
            <p:extLst>
              <p:ext uri="{D42A27DB-BD31-4B8C-83A1-F6EECF244321}">
                <p14:modId xmlns:p14="http://schemas.microsoft.com/office/powerpoint/2010/main" val="2425588497"/>
              </p:ext>
            </p:extLst>
          </p:nvPr>
        </p:nvGraphicFramePr>
        <p:xfrm>
          <a:off x="10393114" y="21581202"/>
          <a:ext cx="9223829" cy="9740781"/>
        </p:xfrm>
        <a:graphic>
          <a:graphicData uri="http://schemas.openxmlformats.org/drawingml/2006/table">
            <a:tbl>
              <a:tblPr>
                <a:tableStyleId>{2D5ABB26-0587-4C30-8999-92F81FD0307C}</a:tableStyleId>
              </a:tblPr>
              <a:tblGrid>
                <a:gridCol w="1686363">
                  <a:extLst>
                    <a:ext uri="{9D8B030D-6E8A-4147-A177-3AD203B41FA5}">
                      <a16:colId xmlns:a16="http://schemas.microsoft.com/office/drawing/2014/main" val="1145915623"/>
                    </a:ext>
                  </a:extLst>
                </a:gridCol>
                <a:gridCol w="3499533">
                  <a:extLst>
                    <a:ext uri="{9D8B030D-6E8A-4147-A177-3AD203B41FA5}">
                      <a16:colId xmlns:a16="http://schemas.microsoft.com/office/drawing/2014/main" val="921209941"/>
                    </a:ext>
                  </a:extLst>
                </a:gridCol>
                <a:gridCol w="4037933">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a:t>SPPF-Block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3× 5×5-Max-Pooling in Serie (</a:t>
                      </a:r>
                      <a:r>
                        <a:rPr lang="en-DE" sz="2800" dirty="0" err="1"/>
                        <a:t>wirkt</a:t>
                      </a:r>
                      <a:r>
                        <a:rPr lang="en-DE" sz="2800" dirty="0"/>
                        <a:t> </a:t>
                      </a:r>
                      <a:r>
                        <a:rPr lang="en-DE" sz="2800" dirty="0" err="1"/>
                        <a:t>wie</a:t>
                      </a:r>
                      <a:r>
                        <a:rPr lang="en-DE" sz="2800" dirty="0"/>
                        <a:t> 5/9/13) → </a:t>
                      </a:r>
                      <a:r>
                        <a:rPr lang="en-DE" sz="280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Erfasst</a:t>
                      </a:r>
                      <a:r>
                        <a:rPr lang="en-DE" sz="2700" b="0" dirty="0"/>
                        <a:t> </a:t>
                      </a:r>
                      <a:r>
                        <a:rPr lang="en-DE" sz="2700" b="0" dirty="0" err="1"/>
                        <a:t>lokalen</a:t>
                      </a:r>
                      <a:r>
                        <a:rPr lang="en-DE" sz="2700" b="0" dirty="0"/>
                        <a:t> und </a:t>
                      </a:r>
                      <a:r>
                        <a:rPr lang="en-DE" sz="2700" b="0" dirty="0" err="1"/>
                        <a:t>großräumigen</a:t>
                      </a:r>
                      <a:r>
                        <a:rPr lang="en-DE" sz="2700" b="0" dirty="0"/>
                        <a:t> </a:t>
                      </a:r>
                      <a:r>
                        <a:rPr lang="en-DE" sz="2700" b="0" dirty="0" err="1"/>
                        <a:t>Bildkontext</a:t>
                      </a:r>
                      <a:r>
                        <a:rPr lang="en-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a:t>C2PSA-Block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7C26619E-62FB-1D81-410F-BDB6DDF6399A}"/>
              </a:ext>
            </a:extLst>
          </p:cNvPr>
          <p:cNvSpPr>
            <a:spLocks noGrp="1"/>
          </p:cNvSpPr>
          <p:nvPr>
            <p:ph type="body" sz="quarter" idx="27"/>
          </p:nvPr>
        </p:nvSpPr>
        <p:spPr>
          <a:xfrm>
            <a:off x="10918800" y="20684977"/>
            <a:ext cx="8472488" cy="1070435"/>
          </a:xfrm>
        </p:spPr>
        <p:txBody>
          <a:bodyPr/>
          <a:lstStyle/>
          <a:p>
            <a:r>
              <a:rPr lang="en-DE" sz="2700" b="1" dirty="0">
                <a:latin typeface="+mn-lt"/>
              </a:rPr>
              <a:t>ZENTRALE BAUSTEINE DER YOLO26-POSE-ARCHITEKTUR</a:t>
            </a:r>
            <a:endParaRPr lang="de-DE" sz="2700" b="1" dirty="0">
              <a:latin typeface="+mn-lt"/>
            </a:endParaRPr>
          </a:p>
        </p:txBody>
      </p:sp>
      <p:grpSp>
        <p:nvGrpSpPr>
          <p:cNvPr id="129" name="Group 128">
            <a:extLst>
              <a:ext uri="{FF2B5EF4-FFF2-40B4-BE49-F238E27FC236}">
                <a16:creationId xmlns:a16="http://schemas.microsoft.com/office/drawing/2014/main" id="{45113847-2A69-4D93-3A95-237FA66BEE69}"/>
              </a:ext>
            </a:extLst>
          </p:cNvPr>
          <p:cNvGrpSpPr/>
          <p:nvPr/>
        </p:nvGrpSpPr>
        <p:grpSpPr>
          <a:xfrm>
            <a:off x="10442326" y="31888379"/>
            <a:ext cx="9377860" cy="6532770"/>
            <a:chOff x="10442326" y="30796179"/>
            <a:chExt cx="9377860" cy="6532770"/>
          </a:xfrm>
        </p:grpSpPr>
        <p:grpSp>
          <p:nvGrpSpPr>
            <p:cNvPr id="71" name="Group 70">
              <a:extLst>
                <a:ext uri="{FF2B5EF4-FFF2-40B4-BE49-F238E27FC236}">
                  <a16:creationId xmlns:a16="http://schemas.microsoft.com/office/drawing/2014/main" id="{FE25C2A1-9C08-3400-493D-D7D02536ED00}"/>
                </a:ext>
              </a:extLst>
            </p:cNvPr>
            <p:cNvGrpSpPr/>
            <p:nvPr/>
          </p:nvGrpSpPr>
          <p:grpSpPr>
            <a:xfrm>
              <a:off x="10442326" y="30796179"/>
              <a:ext cx="9377860" cy="6532770"/>
              <a:chOff x="10442326" y="20145375"/>
              <a:chExt cx="9377860" cy="6532770"/>
            </a:xfrm>
          </p:grpSpPr>
          <p:pic>
            <p:nvPicPr>
              <p:cNvPr id="11" name="Picture 10">
                <a:extLst>
                  <a:ext uri="{FF2B5EF4-FFF2-40B4-BE49-F238E27FC236}">
                    <a16:creationId xmlns:a16="http://schemas.microsoft.com/office/drawing/2014/main" id="{5E78CED2-8CA9-C7E7-F09B-48C824C1614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8" name="Picture 7">
                <a:extLst>
                  <a:ext uri="{FF2B5EF4-FFF2-40B4-BE49-F238E27FC236}">
                    <a16:creationId xmlns:a16="http://schemas.microsoft.com/office/drawing/2014/main" id="{F89C3BD6-C4A9-450E-E4FC-43549B3366D5}"/>
                  </a:ext>
                </a:extLst>
              </p:cNvPr>
              <p:cNvPicPr>
                <a:picLocks noChangeAspect="1"/>
              </p:cNvPicPr>
              <p:nvPr/>
            </p:nvPicPr>
            <p:blipFill>
              <a:blip r:embed="rId7">
                <a:extLst>
                  <a:ext uri="{28A0092B-C50C-407E-A947-70E740481C1C}">
                    <a14:useLocalDpi xmlns:a14="http://schemas.microsoft.com/office/drawing/2010/main" val="0"/>
                  </a:ext>
                </a:extLst>
              </a:blip>
              <a:srcRect t="22993" b="8560"/>
              <a:stretch>
                <a:fillRect/>
              </a:stretch>
            </p:blipFill>
            <p:spPr>
              <a:xfrm>
                <a:off x="10455025" y="25268846"/>
                <a:ext cx="9223829" cy="1271614"/>
              </a:xfrm>
              <a:prstGeom prst="rect">
                <a:avLst/>
              </a:prstGeom>
            </p:spPr>
          </p:pic>
          <p:pic>
            <p:nvPicPr>
              <p:cNvPr id="5" name="Picture 4">
                <a:extLst>
                  <a:ext uri="{FF2B5EF4-FFF2-40B4-BE49-F238E27FC236}">
                    <a16:creationId xmlns:a16="http://schemas.microsoft.com/office/drawing/2014/main" id="{C5725621-CD0B-F851-8520-6A43DEADA397}"/>
                  </a:ext>
                </a:extLst>
              </p:cNvPr>
              <p:cNvPicPr>
                <a:picLocks noChangeAspect="1"/>
              </p:cNvPicPr>
              <p:nvPr/>
            </p:nvPicPr>
            <p:blipFill>
              <a:blip r:embed="rId8">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5" name="Straight Arrow Connector 54">
                <a:extLst>
                  <a:ext uri="{FF2B5EF4-FFF2-40B4-BE49-F238E27FC236}">
                    <a16:creationId xmlns:a16="http://schemas.microsoft.com/office/drawing/2014/main" id="{6DD00872-0A86-D8A2-C67E-15FB0B974E0C}"/>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2" name="Rectangle: Rounded Corners 61">
                <a:extLst>
                  <a:ext uri="{FF2B5EF4-FFF2-40B4-BE49-F238E27FC236}">
                    <a16:creationId xmlns:a16="http://schemas.microsoft.com/office/drawing/2014/main" id="{6A6C670E-23A3-54DC-ACC3-CAEBBE78E8ED}"/>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8" name="Rectangle 67">
                <a:extLst>
                  <a:ext uri="{FF2B5EF4-FFF2-40B4-BE49-F238E27FC236}">
                    <a16:creationId xmlns:a16="http://schemas.microsoft.com/office/drawing/2014/main" id="{8C2991D2-4236-9022-4C00-5B4AD701618B}"/>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91" name="Straight Arrow Connector 90">
              <a:extLst>
                <a:ext uri="{FF2B5EF4-FFF2-40B4-BE49-F238E27FC236}">
                  <a16:creationId xmlns:a16="http://schemas.microsoft.com/office/drawing/2014/main" id="{F10B6560-E4E8-8BCE-A1CA-37DD5F82DC06}"/>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7" name="Straight Arrow Connector 96">
              <a:extLst>
                <a:ext uri="{FF2B5EF4-FFF2-40B4-BE49-F238E27FC236}">
                  <a16:creationId xmlns:a16="http://schemas.microsoft.com/office/drawing/2014/main" id="{C521B2F6-F3A5-131D-427C-CE1E99DF5504}"/>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10" name="Straight Arrow Connector 109">
              <a:extLst>
                <a:ext uri="{FF2B5EF4-FFF2-40B4-BE49-F238E27FC236}">
                  <a16:creationId xmlns:a16="http://schemas.microsoft.com/office/drawing/2014/main" id="{64264E0D-3319-A12D-4F0D-585D8B587F23}"/>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12" name="Straight Arrow Connector 111">
              <a:extLst>
                <a:ext uri="{FF2B5EF4-FFF2-40B4-BE49-F238E27FC236}">
                  <a16:creationId xmlns:a16="http://schemas.microsoft.com/office/drawing/2014/main" id="{B0158189-2738-AE8E-E14A-23A18031700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0" name="Straight Arrow Connector 119">
              <a:extLst>
                <a:ext uri="{FF2B5EF4-FFF2-40B4-BE49-F238E27FC236}">
                  <a16:creationId xmlns:a16="http://schemas.microsoft.com/office/drawing/2014/main" id="{1FF472F1-5857-D0C4-676E-30E700ED3CD6}"/>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2" name="Straight Arrow Connector 121">
              <a:extLst>
                <a:ext uri="{FF2B5EF4-FFF2-40B4-BE49-F238E27FC236}">
                  <a16:creationId xmlns:a16="http://schemas.microsoft.com/office/drawing/2014/main" id="{BAE885CA-51F1-ACBF-07DE-70445D896C80}"/>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mc:AlternateContent xmlns:mc="http://schemas.openxmlformats.org/markup-compatibility/2006">
        <mc:Choice xmlns:a14="http://schemas.microsoft.com/office/drawing/2010/main" Requires="a14">
          <p:sp>
            <p:nvSpPr>
              <p:cNvPr id="131" name="TextBox 130">
                <a:extLst>
                  <a:ext uri="{FF2B5EF4-FFF2-40B4-BE49-F238E27FC236}">
                    <a16:creationId xmlns:a16="http://schemas.microsoft.com/office/drawing/2014/main" id="{6363AD94-D1D1-ED36-C9C5-9A2D62079A11}"/>
                  </a:ext>
                </a:extLst>
              </p:cNvPr>
              <p:cNvSpPr txBox="1"/>
              <p:nvPr/>
            </p:nvSpPr>
            <p:spPr>
              <a:xfrm>
                <a:off x="20074909"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20074909" y="13845384"/>
                <a:ext cx="10155602" cy="546303"/>
              </a:xfrm>
              <a:prstGeom prst="rect">
                <a:avLst/>
              </a:prstGeom>
              <a:blipFill>
                <a:blip r:embed="rId9"/>
                <a:stretch>
                  <a:fillRect/>
                </a:stretch>
              </a:blipFill>
            </p:spPr>
            <p:txBody>
              <a:bodyPr/>
              <a:lstStyle/>
              <a:p>
                <a:r>
                  <a:rPr lang="en-DE">
                    <a:noFill/>
                  </a:rPr>
                  <a:t> </a:t>
                </a:r>
              </a:p>
            </p:txBody>
          </p:sp>
        </mc:Fallback>
      </mc:AlternateContent>
      <p:pic>
        <p:nvPicPr>
          <p:cNvPr id="132" name="Picture 131">
            <a:extLst>
              <a:ext uri="{FF2B5EF4-FFF2-40B4-BE49-F238E27FC236}">
                <a16:creationId xmlns:a16="http://schemas.microsoft.com/office/drawing/2014/main" id="{3D1DE328-10E3-BE45-26E4-4503F9EC2A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t="17009"/>
          <a:stretch>
            <a:fillRect/>
          </a:stretch>
        </p:blipFill>
        <p:spPr bwMode="auto">
          <a:xfrm>
            <a:off x="20213637" y="24332308"/>
            <a:ext cx="8472488" cy="3062241"/>
          </a:xfrm>
          <a:prstGeom prst="rect">
            <a:avLst/>
          </a:prstGeom>
          <a:noFill/>
          <a:ln>
            <a:noFill/>
          </a:ln>
          <a:extLst>
            <a:ext uri="{53640926-AAD7-44D8-BBD7-CCE9431645EC}">
              <a14:shadowObscured xmlns:a14="http://schemas.microsoft.com/office/drawing/2010/main"/>
            </a:ext>
          </a:extLst>
        </p:spPr>
      </p:pic>
      <p:pic>
        <p:nvPicPr>
          <p:cNvPr id="133" name="Picture 132">
            <a:extLst>
              <a:ext uri="{FF2B5EF4-FFF2-40B4-BE49-F238E27FC236}">
                <a16:creationId xmlns:a16="http://schemas.microsoft.com/office/drawing/2014/main" id="{CA2A7DD5-7B74-D641-E749-4748C5384864}"/>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t="4180" b="23235"/>
          <a:stretch>
            <a:fillRect/>
          </a:stretch>
        </p:blipFill>
        <p:spPr bwMode="auto">
          <a:xfrm>
            <a:off x="20142778" y="27652240"/>
            <a:ext cx="8543347" cy="3851374"/>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85818880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6" name="Bildplatzhalter 35">
            <a:extLst>
              <a:ext uri="{FF2B5EF4-FFF2-40B4-BE49-F238E27FC236}">
                <a16:creationId xmlns:a16="http://schemas.microsoft.com/office/drawing/2014/main" id="{0AD536CD-F5E6-E900-75FE-63FDF3C2C4EF}"/>
              </a:ext>
            </a:extLst>
          </p:cNvPr>
          <p:cNvSpPr>
            <a:spLocks noGrp="1"/>
          </p:cNvSpPr>
          <p:nvPr>
            <p:ph type="pic" sz="quarter" idx="35"/>
          </p:nvPr>
        </p:nvSpPr>
        <p:spPr/>
        <p:txBody>
          <a:bodyPr/>
          <a:lstStyle/>
          <a:p>
            <a:endParaRPr lang="en-DE"/>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r>
              <a:rPr lang="de-DE" dirty="0" err="1"/>
              <a:t>fsaf</a:t>
            </a:r>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4" name="Bildplatzhalter 43">
            <a:extLst>
              <a:ext uri="{FF2B5EF4-FFF2-40B4-BE49-F238E27FC236}">
                <a16:creationId xmlns:a16="http://schemas.microsoft.com/office/drawing/2014/main" id="{229C97B0-141B-DD99-5B05-B483DDBFCABB}"/>
              </a:ext>
            </a:extLst>
          </p:cNvPr>
          <p:cNvSpPr>
            <a:spLocks noGrp="1"/>
          </p:cNvSpPr>
          <p:nvPr>
            <p:ph type="pic" sz="quarter" idx="53"/>
          </p:nvPr>
        </p:nvSpPr>
        <p:spPr/>
        <p:txBody>
          <a:bodyPr/>
          <a:lstStyle/>
          <a:p>
            <a:endParaRPr lang="en-DE"/>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1051</Words>
  <Application>Microsoft Office PowerPoint</Application>
  <PresentationFormat>Custom</PresentationFormat>
  <Paragraphs>97</Paragraphs>
  <Slides>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vt:i4>
      </vt:variant>
    </vt:vector>
  </HeadingPairs>
  <TitlesOfParts>
    <vt:vector size="10"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51</cp:revision>
  <dcterms:created xsi:type="dcterms:W3CDTF">2025-09-04T12:04:34Z</dcterms:created>
  <dcterms:modified xsi:type="dcterms:W3CDTF">2026-07-11T23:30:15Z</dcterms:modified>
</cp:coreProperties>
</file>