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2_E5F74A0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840" y="-2610"/>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9" Type="http://schemas.microsoft.com/office/2018/10/relationships/authors" Target="authors.xml"/></Relationships>
</file>

<file path=ppt/comments/modernComment_102_E5F74A01.xml><?xml version="1.0" encoding="utf-8"?>
<p188:cmLst xmlns:a="http://schemas.openxmlformats.org/drawingml/2006/main" xmlns:r="http://schemas.openxmlformats.org/officeDocument/2006/relationships" xmlns:p188="http://schemas.microsoft.com/office/powerpoint/2018/8/main">
  <p188:cm id="{F8A82B58-2AE5-47E2-9978-869139ED8619}"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3858188801" sldId="258"/>
      <ac:spMk id="35" creationId="{01090178-3DA9-47EA-719C-9A6F7C87649B}"/>
    </ac:deMkLst>
    <p188:txBody>
      <a:bodyPr/>
      <a:lstStyle/>
      <a:p>
        <a:r>
          <a:rPr lang="en-DE"/>
          <a:t>@Richard
Lösch einfach die Texte, die du nicht brauchst</a:t>
        </a:r>
      </a:p>
    </p188:txBody>
  </p188:cm>
  <p188:cm id="{4C70E3B9-C37B-42D0-93C2-F21181C5ECB6}"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3858188801" sldId="258"/>
      <ac:graphicFrameMk id="73" creationId="{1AEEAADC-8346-07FE-093A-0C0B63C01F88}"/>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6E76A830-BEF6-41E6-9E7E-9F374E75ED83}"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10" len="42">
        <ac:context len="698" hash="853012638"/>
      </ac:txMk>
    </ac:txMkLst>
    <p188:pos x="7754258" y="1082901"/>
    <p188:txBody>
      <a:bodyPr/>
      <a:lstStyle/>
      <a:p>
        <a:r>
          <a:rPr lang="en-DE"/>
          <a:t>— nur Klasse „Person", pro Instanz: Bounding Box + 17 Keypoints</a:t>
        </a:r>
      </a:p>
    </p188:txBody>
  </p188:cm>
  <p188:cm id="{DB2B3D6B-7019-46C5-9DEA-84E59B810E9C}"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0126DC15-485B-4E30-9208-331B2E7FAC42}"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858188801" sldId="258"/>
      <ac:picMk id="26" creationId="{1D0C6E7D-31DD-D862-25D9-1EFE5731747F}"/>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E766D3D-2217-4F3C-A97D-E0DFC93DE136}"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3858188801" sldId="258"/>
      <ac:picMk id="34" creationId="{8D341E01-AB4D-A084-6E80-184C38D700E7}"/>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BF8A2AB3-FF12-40C0-AD12-DF4443FA8EB9}"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249" len="25">
        <ac:context len="698" hash="853012638"/>
      </ac:txMk>
    </ac:txMkLst>
    <p188:pos x="6926944" y="4276044"/>
    <p188:txBody>
      <a:bodyPr/>
      <a:lstStyle/>
      <a:p>
        <a:r>
          <a:rPr lang="en-DE"/>
          <a:t>verdeckte/mehrdeutige Punkte werden automatisch heruntergewichtet</a:t>
        </a:r>
      </a:p>
    </p188:txBody>
  </p188:cm>
  <p188:cm id="{B5CB0243-2B37-4AA5-9913-6EBD0C3AA82C}"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525" len="57">
        <ac:context len="698" hash="853012638"/>
      </ac:txMk>
    </ac:txMkLst>
    <p188:pos x="8509001" y="7933644"/>
    <p188:txBody>
      <a:bodyPr/>
      <a:lstStyle/>
      <a:p>
        <a:r>
          <a:rPr lang="en-DE"/>
          <a:t>(Boxen &lt; 8 px werden bei der Kandidatenwahl auf 16 px aufgeweitet)</a:t>
        </a:r>
      </a:p>
    </p188:txBody>
  </p188:cm>
  <p188:cm id="{70924A07-E84F-4AE3-ADF2-2CDD529B079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583" len="53">
        <ac:context len="698" hash="853012638"/>
      </ac:txMk>
    </ac:txMkLst>
    <p188:pos x="8064501" y="8885237"/>
    <p188:txBody>
      <a:bodyPr/>
      <a:lstStyle/>
      <a:p>
        <a:r>
          <a:rPr lang="en-DE"/>
          <a:t>(500 statt 600 Epochen)</a:t>
        </a:r>
      </a:p>
    </p188:txBody>
  </p188:cm>
  <p188:cm id="{C6A57355-4D47-4976-8564-5A61C8E254CC}"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340" len="61">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7DD7C774-2FBD-4919-BD92-5C4035B39BB2}"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637" len="60">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12/07/2026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svg"/><Relationship Id="rId2" Type="http://schemas.microsoft.com/office/2018/10/relationships/comments" Target="../comments/modernComment_102_E5F74A01.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hyperlink" Target="https://arxiv.org/pdf/2606.03748?utm_source=chatgpt.com" TargetMode="External"/><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62A1-907B-A551-BB3B-D9A9E1FFDFDD}"/>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3A692FA5-9025-A5AF-4221-D6E55732FB90}"/>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EA610CE-6696-3EB0-18F9-B182E7A80E85}"/>
              </a:ext>
            </a:extLst>
          </p:cNvPr>
          <p:cNvSpPr>
            <a:spLocks noGrp="1"/>
          </p:cNvSpPr>
          <p:nvPr>
            <p:ph type="subTitle" idx="1"/>
          </p:nvPr>
        </p:nvSpPr>
        <p:spPr/>
        <p:txBody>
          <a:bodyPr/>
          <a:lstStyle/>
          <a:p>
            <a:r>
              <a:rPr lang="en-DE" sz="6600"/>
              <a:t>YOLO26: Bestimmung von Objekt-Posen in Bildern</a:t>
            </a:r>
            <a:endParaRPr lang="en-US" sz="6600"/>
          </a:p>
          <a:p>
            <a:r>
              <a:rPr lang="de-DE"/>
              <a:t>Nguyen, Duc Hai; Loewe, Richard</a:t>
            </a:r>
            <a:endParaRPr lang="de-DE" dirty="0"/>
          </a:p>
        </p:txBody>
      </p:sp>
      <p:sp>
        <p:nvSpPr>
          <p:cNvPr id="32" name="Textplatzhalter 31">
            <a:extLst>
              <a:ext uri="{FF2B5EF4-FFF2-40B4-BE49-F238E27FC236}">
                <a16:creationId xmlns:a16="http://schemas.microsoft.com/office/drawing/2014/main" id="{5AF7E329-DF0C-8541-4094-B551681A2506}"/>
              </a:ext>
            </a:extLst>
          </p:cNvPr>
          <p:cNvSpPr>
            <a:spLocks noGrp="1"/>
          </p:cNvSpPr>
          <p:nvPr>
            <p:ph type="body" sz="quarter" idx="26"/>
          </p:nvPr>
        </p:nvSpPr>
        <p:spPr>
          <a:xfrm>
            <a:off x="1527176" y="22019770"/>
            <a:ext cx="8472488" cy="6726680"/>
          </a:xfrm>
        </p:spPr>
        <p:txBody>
          <a:bodyPr/>
          <a:lstStyle/>
          <a:p>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ctr"/>
            <a:r>
              <a:rPr lang="en-DE" b="1" dirty="0">
                <a:highlight>
                  <a:srgbClr val="00FFFF"/>
                </a:highlight>
              </a:rPr>
              <a:t>float32 [640, 640, 3]</a:t>
            </a:r>
            <a:r>
              <a:rPr lang="en-DE" dirty="0">
                <a:highlight>
                  <a:srgbClr val="00FFFF"/>
                </a:highlight>
              </a:rPr>
              <a:t> </a:t>
            </a:r>
            <a:endParaRPr lang="en-US" dirty="0">
              <a:highlight>
                <a:srgbClr val="00FFFF"/>
              </a:highlight>
            </a:endParaRPr>
          </a:p>
          <a:p>
            <a:pPr algn="ctr"/>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r>
              <a:rPr lang="en-DE" b="1" dirty="0" err="1">
                <a:highlight>
                  <a:srgbClr val="00FFFF"/>
                </a:highlight>
              </a:rPr>
              <a:t>Vorverarbeitung</a:t>
            </a:r>
            <a:r>
              <a:rPr lang="en-DE" b="1" dirty="0">
                <a:highlight>
                  <a:srgbClr val="00FFFF"/>
                </a:highlight>
              </a:rPr>
              <a:t>:</a:t>
            </a:r>
            <a:endParaRPr lang="en-DE" dirty="0">
              <a:highlight>
                <a:srgbClr val="00FFFF"/>
              </a:highlight>
            </a:endParaRPr>
          </a:p>
          <a:p>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01090178-3DA9-47EA-719C-9A6F7C87649B}"/>
              </a:ext>
            </a:extLst>
          </p:cNvPr>
          <p:cNvSpPr>
            <a:spLocks noGrp="1"/>
          </p:cNvSpPr>
          <p:nvPr>
            <p:ph type="pic" sz="quarter" idx="33"/>
          </p:nvPr>
        </p:nvSpPr>
        <p:spPr>
          <a:xfrm>
            <a:off x="1527176" y="12241212"/>
            <a:ext cx="8472488" cy="9160669"/>
          </a:xfrm>
        </p:spPr>
        <p:txBody>
          <a:bodyPr/>
          <a:lstStyle/>
          <a:p>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endParaRPr lang="en-DE" b="1" dirty="0">
              <a:highlight>
                <a:srgbClr val="00FFFF"/>
              </a:highlight>
            </a:endParaRPr>
          </a:p>
        </p:txBody>
      </p:sp>
      <p:sp>
        <p:nvSpPr>
          <p:cNvPr id="38" name="Bildplatzhalter 37">
            <a:extLst>
              <a:ext uri="{FF2B5EF4-FFF2-40B4-BE49-F238E27FC236}">
                <a16:creationId xmlns:a16="http://schemas.microsoft.com/office/drawing/2014/main" id="{97CF74B9-95BC-2A4F-D416-9CC46052AB26}"/>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mc:Choice xmlns:a14="http://schemas.microsoft.com/office/drawing/2010/main" Requires="a14">
          <p:sp>
            <p:nvSpPr>
              <p:cNvPr id="39" name="Bildplatzhalter 38">
                <a:extLst>
                  <a:ext uri="{FF2B5EF4-FFF2-40B4-BE49-F238E27FC236}">
                    <a16:creationId xmlns:a16="http://schemas.microsoft.com/office/drawing/2014/main" id="{4CCA6A15-1D6E-C338-1C6B-39E8F8709B10}"/>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p:sp>
            <p:nvSpPr>
              <p:cNvPr id="39" name="Bildplatzhalter 38">
                <a:extLst>
                  <a:ext uri="{FF2B5EF4-FFF2-40B4-BE49-F238E27FC236}">
                    <a16:creationId xmlns:a16="http://schemas.microsoft.com/office/drawing/2014/main" id="{4CCA6A15-1D6E-C338-1C6B-39E8F8709B10}"/>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E82295C3-D8CB-90A4-ECAA-6DEA2B16E1FD}"/>
              </a:ext>
            </a:extLst>
          </p:cNvPr>
          <p:cNvSpPr>
            <a:spLocks noGrp="1"/>
          </p:cNvSpPr>
          <p:nvPr>
            <p:ph type="body" sz="quarter" idx="51"/>
          </p:nvPr>
        </p:nvSpPr>
        <p:spPr>
          <a:xfrm>
            <a:off x="20272375" y="4002679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C382F5D-6299-B6B3-A93A-1A40E113041F}"/>
              </a:ext>
            </a:extLst>
          </p:cNvPr>
          <p:cNvSpPr>
            <a:spLocks noGrp="1"/>
          </p:cNvSpPr>
          <p:nvPr>
            <p:ph type="body" sz="quarter" idx="52"/>
          </p:nvPr>
        </p:nvSpPr>
        <p:spPr>
          <a:xfrm>
            <a:off x="20213637" y="3940058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3349C028-D861-0EF0-AC93-83AD90CC5ED1}"/>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D6FB69DD-136D-8195-B308-56E284C7D656}"/>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FF2AEF08-B612-5B96-C212-CD7C57A0E2EB}"/>
              </a:ext>
            </a:extLst>
          </p:cNvPr>
          <p:cNvSpPr txBox="1">
            <a:spLocks/>
          </p:cNvSpPr>
          <p:nvPr/>
        </p:nvSpPr>
        <p:spPr>
          <a:xfrm>
            <a:off x="1527175" y="29030170"/>
            <a:ext cx="8472488" cy="1059201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err="1">
                <a:highlight>
                  <a:srgbClr val="00FFFF"/>
                </a:highlight>
              </a:rPr>
              <a:t>Ausgangsdaten</a:t>
            </a:r>
            <a:r>
              <a:rPr lang="en-DE" b="1" dirty="0">
                <a:highlight>
                  <a:srgbClr val="00FFFF"/>
                </a:highlight>
              </a:rPr>
              <a:t> des </a:t>
            </a:r>
            <a:r>
              <a:rPr lang="en-DE" b="1" dirty="0" err="1">
                <a:highlight>
                  <a:srgbClr val="00FFFF"/>
                </a:highlight>
              </a:rPr>
              <a:t>Netzes</a:t>
            </a:r>
            <a:r>
              <a:rPr lang="en-DE" b="1" dirty="0">
                <a:highlight>
                  <a:srgbClr val="00FFFF"/>
                </a:highlight>
              </a:rPr>
              <a:t> [F3]</a:t>
            </a:r>
            <a:endParaRPr lang="en-US" b="1" dirty="0">
              <a:highlight>
                <a:srgbClr val="00FFFF"/>
              </a:highlight>
            </a:endParaRPr>
          </a:p>
          <a:p>
            <a:pPr algn="ctr"/>
            <a:r>
              <a:rPr lang="en-DE" b="1" dirty="0">
                <a:highlight>
                  <a:srgbClr val="00FFFF"/>
                </a:highlight>
              </a:rPr>
              <a:t>float32 [300, 57]</a:t>
            </a:r>
            <a:endParaRPr lang="en-US" b="1" dirty="0">
              <a:highlight>
                <a:srgbClr val="00FFFF"/>
              </a:highlight>
            </a:endParaRPr>
          </a:p>
          <a:p>
            <a:r>
              <a:rPr lang="en-US" b="1" dirty="0" err="1">
                <a:highlight>
                  <a:srgbClr val="00FFFF"/>
                </a:highlight>
              </a:rPr>
              <a:t>Nachbearbeitung</a:t>
            </a:r>
            <a:r>
              <a:rPr lang="en-US" b="1" dirty="0">
                <a:highlight>
                  <a:srgbClr val="00FFFF"/>
                </a:highlight>
              </a:rPr>
              <a:t> </a:t>
            </a:r>
            <a:r>
              <a:rPr lang="en-DE" b="1" dirty="0">
                <a:highlight>
                  <a:srgbClr val="00FFFF"/>
                </a:highlight>
              </a:rPr>
              <a:t>[F</a:t>
            </a:r>
            <a:r>
              <a:rPr lang="en-US" b="1" dirty="0">
                <a:highlight>
                  <a:srgbClr val="00FFFF"/>
                </a:highlight>
              </a:rPr>
              <a:t>4</a:t>
            </a:r>
            <a:r>
              <a:rPr lang="en-DE" b="1" dirty="0">
                <a:highlight>
                  <a:srgbClr val="00FFFF"/>
                </a:highlight>
              </a:rPr>
              <a:t>]</a:t>
            </a:r>
            <a:endParaRPr lang="en-US" b="1" dirty="0">
              <a:highlight>
                <a:srgbClr val="00FFFF"/>
              </a:highlight>
            </a:endParaRPr>
          </a:p>
          <a:p>
            <a:r>
              <a:rPr lang="en-DE" b="1" dirty="0" err="1">
                <a:highlight>
                  <a:srgbClr val="00FFFF"/>
                </a:highlight>
              </a:rPr>
              <a:t>Ausgangsdaten</a:t>
            </a:r>
            <a:r>
              <a:rPr lang="en-DE" b="1" dirty="0">
                <a:highlight>
                  <a:srgbClr val="00FFFF"/>
                </a:highlight>
              </a:rPr>
              <a:t> der </a:t>
            </a:r>
            <a:r>
              <a:rPr lang="en-DE" b="1" dirty="0" err="1">
                <a:highlight>
                  <a:srgbClr val="00FFFF"/>
                </a:highlight>
              </a:rPr>
              <a:t>Nachbearbeitung</a:t>
            </a:r>
            <a:r>
              <a:rPr lang="en-DE" b="1" dirty="0">
                <a:highlight>
                  <a:srgbClr val="00FFFF"/>
                </a:highlight>
              </a:rPr>
              <a:t>:</a:t>
            </a:r>
            <a:endParaRPr lang="en-DE" dirty="0">
              <a:highlight>
                <a:srgbClr val="00FFFF"/>
              </a:highlight>
            </a:endParaRPr>
          </a:p>
          <a:p>
            <a:r>
              <a:rPr lang="en-DE" b="1" dirty="0" err="1">
                <a:highlight>
                  <a:srgbClr val="00FFFF"/>
                </a:highlight>
              </a:rPr>
              <a:t>Konfidenz-Filterung</a:t>
            </a:r>
            <a:r>
              <a:rPr lang="en-DE" b="1" dirty="0">
                <a:highlight>
                  <a:srgbClr val="00FFFF"/>
                </a:highlight>
              </a:rPr>
              <a:t>:</a:t>
            </a:r>
            <a:r>
              <a:rPr lang="en-DE" dirty="0">
                <a:highlight>
                  <a:srgbClr val="00FFFF"/>
                </a:highlight>
              </a:rPr>
              <a:t> </a:t>
            </a:r>
            <a:endParaRPr lang="en-US" dirty="0">
              <a:highlight>
                <a:srgbClr val="00FFFF"/>
              </a:highlight>
            </a:endParaRPr>
          </a:p>
          <a:p>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Schwellwert</a:t>
            </a:r>
            <a:r>
              <a:rPr lang="en-DE" dirty="0">
                <a:highlight>
                  <a:srgbClr val="00FFFF"/>
                </a:highlight>
              </a:rPr>
              <a:t> </a:t>
            </a:r>
            <a:r>
              <a:rPr lang="en-DE" dirty="0" err="1">
                <a:highlight>
                  <a:srgbClr val="00FFFF"/>
                </a:highlight>
              </a:rPr>
              <a:t>werden</a:t>
            </a:r>
            <a:r>
              <a:rPr lang="en-DE" dirty="0">
                <a:highlight>
                  <a:srgbClr val="00FFFF"/>
                </a:highlight>
              </a:rPr>
              <a:t> </a:t>
            </a:r>
            <a:r>
              <a:rPr lang="en-DE" dirty="0" err="1">
                <a:highlight>
                  <a:srgbClr val="00FFFF"/>
                </a:highlight>
              </a:rPr>
              <a:t>verworfen</a:t>
            </a:r>
            <a:r>
              <a:rPr lang="en-DE" dirty="0">
                <a:highlight>
                  <a:srgbClr val="00FFFF"/>
                </a:highlight>
              </a:rPr>
              <a:t> </a:t>
            </a:r>
            <a:endParaRPr lang="en-US" dirty="0">
              <a:highlight>
                <a:srgbClr val="00FFFF"/>
              </a:highlight>
            </a:endParaRPr>
          </a:p>
          <a:p>
            <a:r>
              <a:rPr lang="en-DE" dirty="0">
                <a:highlight>
                  <a:srgbClr val="00FFFF"/>
                </a:highlight>
              </a:rPr>
              <a:t>→ [300, 57] → </a:t>
            </a:r>
            <a:r>
              <a:rPr lang="en-DE" b="1" dirty="0">
                <a:highlight>
                  <a:srgbClr val="00FFFF"/>
                </a:highlight>
              </a:rPr>
              <a:t>[P, 57]</a:t>
            </a:r>
            <a:r>
              <a:rPr lang="en-US" b="1" dirty="0">
                <a:highlight>
                  <a:srgbClr val="00FFFF"/>
                </a:highlight>
              </a:rPr>
              <a:t> (</a:t>
            </a:r>
            <a:r>
              <a:rPr lang="en-DE" dirty="0">
                <a:highlight>
                  <a:srgbClr val="00FFFF"/>
                </a:highlight>
              </a:rPr>
              <a:t>P = </a:t>
            </a:r>
            <a:r>
              <a:rPr lang="en-DE" dirty="0" err="1">
                <a:highlight>
                  <a:srgbClr val="00FFFF"/>
                </a:highlight>
              </a:rPr>
              <a:t>tatsächlich</a:t>
            </a:r>
            <a:r>
              <a:rPr lang="en-DE" dirty="0">
                <a:highlight>
                  <a:srgbClr val="00FFFF"/>
                </a:highlight>
              </a:rPr>
              <a:t> </a:t>
            </a:r>
            <a:r>
              <a:rPr lang="en-DE" dirty="0" err="1">
                <a:highlight>
                  <a:srgbClr val="00FFFF"/>
                </a:highlight>
              </a:rPr>
              <a:t>erkannte</a:t>
            </a:r>
            <a:r>
              <a:rPr lang="en-DE" dirty="0">
                <a:highlight>
                  <a:srgbClr val="00FFFF"/>
                </a:highlight>
              </a:rPr>
              <a:t> </a:t>
            </a:r>
            <a:r>
              <a:rPr lang="en-DE" dirty="0" err="1">
                <a:highlight>
                  <a:srgbClr val="00FFFF"/>
                </a:highlight>
              </a:rPr>
              <a:t>Personen</a:t>
            </a:r>
            <a:r>
              <a:rPr lang="en-US" dirty="0">
                <a:highlight>
                  <a:srgbClr val="00FFFF"/>
                </a:highlight>
              </a:rPr>
              <a:t>)</a:t>
            </a:r>
            <a:endParaRPr lang="en-DE" dirty="0">
              <a:highlight>
                <a:srgbClr val="00FFFF"/>
              </a:highlight>
            </a:endParaRPr>
          </a:p>
          <a:p>
            <a:r>
              <a:rPr lang="en-DE" b="1" dirty="0" err="1">
                <a:highlight>
                  <a:srgbClr val="00FFFF"/>
                </a:highlight>
              </a:rPr>
              <a:t>Rückskalierung</a:t>
            </a:r>
            <a:r>
              <a:rPr lang="en-DE" b="1" dirty="0">
                <a:highlight>
                  <a:srgbClr val="00FFFF"/>
                </a:highlight>
              </a:rPr>
              <a:t>:</a:t>
            </a:r>
            <a:r>
              <a:rPr lang="en-DE" dirty="0">
                <a:highlight>
                  <a:srgbClr val="00FFFF"/>
                </a:highlight>
              </a:rPr>
              <a:t> Box- &amp; </a:t>
            </a:r>
            <a:r>
              <a:rPr lang="en-DE" dirty="0" err="1">
                <a:highlight>
                  <a:srgbClr val="00FFFF"/>
                </a:highlight>
              </a:rPr>
              <a:t>Keypoint-Koordinaten</a:t>
            </a:r>
            <a:r>
              <a:rPr lang="en-DE" dirty="0">
                <a:highlight>
                  <a:srgbClr val="00FFFF"/>
                </a:highlight>
              </a:rPr>
              <a:t> von 640×640 </a:t>
            </a:r>
            <a:r>
              <a:rPr lang="en-DE" dirty="0" err="1">
                <a:highlight>
                  <a:srgbClr val="00FFFF"/>
                </a:highlight>
              </a:rPr>
              <a:t>zurück</a:t>
            </a:r>
            <a:r>
              <a:rPr lang="en-DE" dirty="0">
                <a:highlight>
                  <a:srgbClr val="00FFFF"/>
                </a:highlight>
              </a:rPr>
              <a:t> auf die </a:t>
            </a:r>
            <a:r>
              <a:rPr lang="en-DE" dirty="0" err="1">
                <a:highlight>
                  <a:srgbClr val="00FFFF"/>
                </a:highlight>
              </a:rPr>
              <a:t>Originalauflösung</a:t>
            </a:r>
            <a:endParaRPr lang="en-DE" dirty="0">
              <a:highlight>
                <a:srgbClr val="00FFFF"/>
              </a:highlight>
            </a:endParaRPr>
          </a:p>
          <a:p>
            <a:r>
              <a:rPr lang="en-DE" b="1" dirty="0" err="1">
                <a:highlight>
                  <a:srgbClr val="00FFFF"/>
                </a:highlight>
              </a:rPr>
              <a:t>Besonderheit</a:t>
            </a:r>
            <a:r>
              <a:rPr lang="en-DE" b="1" dirty="0">
                <a:highlight>
                  <a:srgbClr val="00FFFF"/>
                </a:highlight>
              </a:rPr>
              <a:t> YOLO26: </a:t>
            </a:r>
            <a:r>
              <a:rPr lang="en-DE" b="1" dirty="0" err="1">
                <a:highlight>
                  <a:srgbClr val="00FFFF"/>
                </a:highlight>
              </a:rPr>
              <a:t>keine</a:t>
            </a:r>
            <a:r>
              <a:rPr lang="en-DE" b="1" dirty="0">
                <a:highlight>
                  <a:srgbClr val="00FFFF"/>
                </a:highlight>
              </a:rPr>
              <a:t> NMS!</a:t>
            </a:r>
            <a:endParaRPr lang="en-DE" dirty="0">
              <a:highlight>
                <a:srgbClr val="00FFFF"/>
              </a:highlight>
            </a:endParaRPr>
          </a:p>
          <a:p>
            <a:r>
              <a:rPr lang="en-DE" dirty="0" err="1">
                <a:highlight>
                  <a:srgbClr val="00FFFF"/>
                </a:highlight>
              </a:rPr>
              <a:t>Unterdrückung</a:t>
            </a:r>
            <a:r>
              <a:rPr lang="en-DE" dirty="0">
                <a:highlight>
                  <a:srgbClr val="00FFFF"/>
                </a:highlight>
              </a:rPr>
              <a:t> </a:t>
            </a:r>
            <a:r>
              <a:rPr lang="en-DE" dirty="0" err="1">
                <a:highlight>
                  <a:srgbClr val="00FFFF"/>
                </a:highlight>
              </a:rPr>
              <a:t>redundanter</a:t>
            </a:r>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wird</a:t>
            </a:r>
            <a:r>
              <a:rPr lang="en-DE" dirty="0">
                <a:highlight>
                  <a:srgbClr val="00FFFF"/>
                </a:highlight>
              </a:rPr>
              <a:t> </a:t>
            </a:r>
            <a:r>
              <a:rPr lang="en-DE" dirty="0" err="1">
                <a:highlight>
                  <a:srgbClr val="00FFFF"/>
                </a:highlight>
              </a:rPr>
              <a:t>bereits</a:t>
            </a:r>
            <a:r>
              <a:rPr lang="en-DE" dirty="0">
                <a:highlight>
                  <a:srgbClr val="00FFFF"/>
                </a:highlight>
              </a:rPr>
              <a:t> </a:t>
            </a:r>
            <a:r>
              <a:rPr lang="en-DE" b="1" dirty="0" err="1">
                <a:highlight>
                  <a:srgbClr val="00FFFF"/>
                </a:highlight>
              </a:rPr>
              <a:t>im</a:t>
            </a:r>
            <a:r>
              <a:rPr lang="en-DE" b="1" dirty="0">
                <a:highlight>
                  <a:srgbClr val="00FFFF"/>
                </a:highlight>
              </a:rPr>
              <a:t> Training</a:t>
            </a:r>
            <a:r>
              <a:rPr lang="en-DE" dirty="0">
                <a:highlight>
                  <a:srgbClr val="00FFFF"/>
                </a:highlight>
              </a:rPr>
              <a:t> </a:t>
            </a:r>
            <a:r>
              <a:rPr lang="en-DE" dirty="0" err="1">
                <a:highlight>
                  <a:srgbClr val="00FFFF"/>
                </a:highlight>
              </a:rPr>
              <a:t>gelernt</a:t>
            </a:r>
            <a:r>
              <a:rPr lang="en-DE" dirty="0">
                <a:highlight>
                  <a:srgbClr val="00FFFF"/>
                </a:highlight>
              </a:rPr>
              <a:t> → native End-to-End-</a:t>
            </a:r>
            <a:r>
              <a:rPr lang="en-DE" dirty="0" err="1">
                <a:highlight>
                  <a:srgbClr val="00FFFF"/>
                </a:highlight>
              </a:rPr>
              <a:t>Inferenz</a:t>
            </a:r>
            <a:endParaRPr lang="en-DE" dirty="0">
              <a:highlight>
                <a:srgbClr val="00FFFF"/>
              </a:highlight>
            </a:endParaRPr>
          </a:p>
          <a:p>
            <a:r>
              <a:rPr lang="en-DE" dirty="0">
                <a:highlight>
                  <a:srgbClr val="00FFFF"/>
                </a:highlight>
              </a:rPr>
              <a:t>Optional: Dual-Head-</a:t>
            </a:r>
            <a:r>
              <a:rPr lang="en-DE" dirty="0" err="1">
                <a:highlight>
                  <a:srgbClr val="00FFFF"/>
                </a:highlight>
              </a:rPr>
              <a:t>Architektur</a:t>
            </a:r>
            <a:r>
              <a:rPr lang="en-DE" dirty="0">
                <a:highlight>
                  <a:srgbClr val="00FFFF"/>
                </a:highlight>
              </a:rPr>
              <a:t> </a:t>
            </a:r>
            <a:r>
              <a:rPr lang="en-DE" dirty="0" err="1">
                <a:highlight>
                  <a:srgbClr val="00FFFF"/>
                </a:highlight>
              </a:rPr>
              <a:t>erlaubt</a:t>
            </a:r>
            <a:r>
              <a:rPr lang="en-DE" dirty="0">
                <a:highlight>
                  <a:srgbClr val="00FFFF"/>
                </a:highlight>
              </a:rPr>
              <a:t> </a:t>
            </a:r>
            <a:r>
              <a:rPr lang="en-DE" dirty="0" err="1">
                <a:highlight>
                  <a:srgbClr val="00FFFF"/>
                </a:highlight>
              </a:rPr>
              <a:t>Umschalten</a:t>
            </a:r>
            <a:r>
              <a:rPr lang="en-DE" dirty="0">
                <a:highlight>
                  <a:srgbClr val="00FFFF"/>
                </a:highlight>
              </a:rPr>
              <a:t> auf One-to-Many-Head </a:t>
            </a:r>
            <a:r>
              <a:rPr lang="en-DE" dirty="0" err="1">
                <a:highlight>
                  <a:srgbClr val="00FFFF"/>
                </a:highlight>
              </a:rPr>
              <a:t>mit</a:t>
            </a:r>
            <a:r>
              <a:rPr lang="en-DE" dirty="0">
                <a:highlight>
                  <a:srgbClr val="00FFFF"/>
                </a:highlight>
              </a:rPr>
              <a:t> NMS (</a:t>
            </a:r>
            <a:r>
              <a:rPr lang="en-DE" dirty="0" err="1">
                <a:highlight>
                  <a:srgbClr val="00FFFF"/>
                </a:highlight>
              </a:rPr>
              <a:t>etwas</a:t>
            </a:r>
            <a:r>
              <a:rPr lang="en-DE" dirty="0">
                <a:highlight>
                  <a:srgbClr val="00FFFF"/>
                </a:highlight>
              </a:rPr>
              <a:t> </a:t>
            </a:r>
            <a:r>
              <a:rPr lang="en-DE" dirty="0" err="1">
                <a:highlight>
                  <a:srgbClr val="00FFFF"/>
                </a:highlight>
              </a:rPr>
              <a:t>genauer</a:t>
            </a:r>
            <a:r>
              <a:rPr lang="en-DE" dirty="0">
                <a:highlight>
                  <a:srgbClr val="00FFFF"/>
                </a:highlight>
              </a:rPr>
              <a:t>, </a:t>
            </a:r>
            <a:r>
              <a:rPr lang="en-DE" dirty="0" err="1">
                <a:highlight>
                  <a:srgbClr val="00FFFF"/>
                </a:highlight>
              </a:rPr>
              <a:t>aber</a:t>
            </a:r>
            <a:r>
              <a:rPr lang="en-DE" dirty="0">
                <a:highlight>
                  <a:srgbClr val="00FFFF"/>
                </a:highlight>
              </a:rPr>
              <a:t> </a:t>
            </a:r>
            <a:r>
              <a:rPr lang="en-DE" dirty="0" err="1">
                <a:highlight>
                  <a:srgbClr val="00FFFF"/>
                </a:highlight>
              </a:rPr>
              <a:t>langsamer</a:t>
            </a:r>
            <a:r>
              <a:rPr lang="en-DE" dirty="0">
                <a:highlight>
                  <a:srgbClr val="00FFFF"/>
                </a:highlight>
              </a:rPr>
              <a:t>)</a:t>
            </a:r>
          </a:p>
          <a:p>
            <a:pPr algn="ctr"/>
            <a:endParaRPr lang="en-DE" dirty="0">
              <a:highlight>
                <a:srgbClr val="00FFFF"/>
              </a:highlight>
            </a:endParaRPr>
          </a:p>
        </p:txBody>
      </p:sp>
      <p:sp>
        <p:nvSpPr>
          <p:cNvPr id="18" name="Bildplatzhalter 37">
            <a:extLst>
              <a:ext uri="{FF2B5EF4-FFF2-40B4-BE49-F238E27FC236}">
                <a16:creationId xmlns:a16="http://schemas.microsoft.com/office/drawing/2014/main" id="{AE495290-6533-0D15-347F-D42405009191}"/>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1EC3BD97-77D8-7EFA-D9F2-7390D499DFCA}"/>
              </a:ext>
            </a:extLst>
          </p:cNvPr>
          <p:cNvSpPr txBox="1">
            <a:spLocks/>
          </p:cNvSpPr>
          <p:nvPr/>
        </p:nvSpPr>
        <p:spPr>
          <a:xfrm>
            <a:off x="20243006" y="24012244"/>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spcBef>
                <a:spcPts val="1111"/>
              </a:spcBef>
            </a:pPr>
            <a:r>
              <a:rPr lang="en-DE" b="1" dirty="0" err="1"/>
              <a:t>Testziel</a:t>
            </a:r>
            <a:r>
              <a:rPr lang="en-DE" b="1" dirty="0"/>
              <a:t>:</a:t>
            </a:r>
            <a:r>
              <a:rPr lang="en-DE" dirty="0"/>
              <a:t> </a:t>
            </a:r>
            <a:endParaRPr lang="en-US" dirty="0"/>
          </a:p>
          <a:p>
            <a:pPr>
              <a:spcBef>
                <a:spcPts val="1111"/>
              </a:spcBef>
            </a:pP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spcBef>
                <a:spcPts val="1111"/>
              </a:spcBef>
            </a:pPr>
            <a:r>
              <a:rPr lang="en-US" b="1" dirty="0"/>
              <a:t>Test-Setup:</a:t>
            </a:r>
          </a:p>
          <a:p>
            <a:pPr marL="457200" indent="-457200">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spcBef>
                <a:spcPts val="1111"/>
              </a:spcBef>
              <a:buFont typeface="Arial" panose="020B0604020202020204" pitchFamily="34" charset="0"/>
              <a:buChar char="•"/>
            </a:pPr>
            <a:endParaRPr lang="en-US" dirty="0"/>
          </a:p>
          <a:p>
            <a:pPr>
              <a:spcBef>
                <a:spcPts val="1111"/>
              </a:spcBef>
            </a:pPr>
            <a:endParaRPr lang="en-DE" dirty="0"/>
          </a:p>
        </p:txBody>
      </p:sp>
      <p:sp>
        <p:nvSpPr>
          <p:cNvPr id="57" name="Textplatzhalter 36">
            <a:extLst>
              <a:ext uri="{FF2B5EF4-FFF2-40B4-BE49-F238E27FC236}">
                <a16:creationId xmlns:a16="http://schemas.microsoft.com/office/drawing/2014/main" id="{A63A8BFE-F2D8-BD3C-515B-40E101720DCB}"/>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EE4CE850-A457-0571-A96D-C566173A6C4E}"/>
              </a:ext>
            </a:extLst>
          </p:cNvPr>
          <p:cNvSpPr txBox="1">
            <a:spLocks/>
          </p:cNvSpPr>
          <p:nvPr/>
        </p:nvSpPr>
        <p:spPr>
          <a:xfrm>
            <a:off x="10899776" y="38099385"/>
            <a:ext cx="5264456"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10FE75B7-D20C-7A99-FC1B-2534FF11683B}"/>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1AEEAADC-8346-07FE-093A-0C0B63C01F88}"/>
              </a:ext>
            </a:extLst>
          </p:cNvPr>
          <p:cNvGraphicFramePr>
            <a:graphicFrameLocks noGrp="1"/>
          </p:cNvGraphicFramePr>
          <p:nvPr>
            <p:extLst>
              <p:ext uri="{D42A27DB-BD31-4B8C-83A1-F6EECF244321}">
                <p14:modId xmlns:p14="http://schemas.microsoft.com/office/powerpoint/2010/main" val="1706919810"/>
              </p:ext>
            </p:extLst>
          </p:nvPr>
        </p:nvGraphicFramePr>
        <p:xfrm>
          <a:off x="10953044" y="21446675"/>
          <a:ext cx="8944883" cy="957839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a:t>SPPF-Block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3× 5×5-Max-Pooling in Serie (</a:t>
                      </a:r>
                      <a:r>
                        <a:rPr lang="en-DE" sz="2800" dirty="0" err="1"/>
                        <a:t>wirkt</a:t>
                      </a:r>
                      <a:r>
                        <a:rPr lang="en-DE" sz="2800" dirty="0"/>
                        <a:t> </a:t>
                      </a:r>
                      <a:r>
                        <a:rPr lang="en-DE" sz="2800" dirty="0" err="1"/>
                        <a:t>wie</a:t>
                      </a:r>
                      <a:r>
                        <a:rPr lang="en-DE" sz="2800" dirty="0"/>
                        <a:t> 5/9/13) → </a:t>
                      </a:r>
                      <a:r>
                        <a:rPr lang="en-DE" sz="280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Erfasst</a:t>
                      </a:r>
                      <a:r>
                        <a:rPr lang="en-DE" sz="2700" b="0" dirty="0"/>
                        <a:t> </a:t>
                      </a:r>
                      <a:r>
                        <a:rPr lang="en-DE" sz="2700" b="0" dirty="0" err="1"/>
                        <a:t>lokalen</a:t>
                      </a:r>
                      <a:r>
                        <a:rPr lang="en-DE" sz="2700" b="0" dirty="0"/>
                        <a:t> und </a:t>
                      </a:r>
                      <a:r>
                        <a:rPr lang="en-DE" sz="2700" b="0" dirty="0" err="1"/>
                        <a:t>großräumigen</a:t>
                      </a:r>
                      <a:r>
                        <a:rPr lang="en-DE" sz="2700" b="0" dirty="0"/>
                        <a:t> </a:t>
                      </a:r>
                      <a:r>
                        <a:rPr lang="en-DE" sz="2700" b="0" dirty="0" err="1"/>
                        <a:t>Bildkontext</a:t>
                      </a:r>
                      <a:r>
                        <a:rPr lang="en-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a:t>C2PSA-Block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7C26619E-62FB-1D81-410F-BDB6DDF6399A}"/>
              </a:ext>
            </a:extLst>
          </p:cNvPr>
          <p:cNvSpPr>
            <a:spLocks noGrp="1"/>
          </p:cNvSpPr>
          <p:nvPr>
            <p:ph type="body" sz="quarter" idx="27"/>
          </p:nvPr>
        </p:nvSpPr>
        <p:spPr>
          <a:xfrm>
            <a:off x="10918800" y="2050418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mc:Choice xmlns:a14="http://schemas.microsoft.com/office/drawing/2010/main" Requires="a14">
          <p:sp>
            <p:nvSpPr>
              <p:cNvPr id="131" name="TextBox 130">
                <a:extLst>
                  <a:ext uri="{FF2B5EF4-FFF2-40B4-BE49-F238E27FC236}">
                    <a16:creationId xmlns:a16="http://schemas.microsoft.com/office/drawing/2014/main" id="{6363AD94-D1D1-ED36-C9C5-9A2D62079A11}"/>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sp>
        <p:nvSpPr>
          <p:cNvPr id="17" name="Textplatzhalter 42">
            <a:extLst>
              <a:ext uri="{FF2B5EF4-FFF2-40B4-BE49-F238E27FC236}">
                <a16:creationId xmlns:a16="http://schemas.microsoft.com/office/drawing/2014/main" id="{9DFA956A-9B49-60E5-E9D0-93959070ECD2}"/>
              </a:ext>
            </a:extLst>
          </p:cNvPr>
          <p:cNvSpPr txBox="1">
            <a:spLocks/>
          </p:cNvSpPr>
          <p:nvPr/>
        </p:nvSpPr>
        <p:spPr>
          <a:xfrm>
            <a:off x="20213637" y="23270604"/>
            <a:ext cx="8472488" cy="107043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3500" kern="1200">
                <a:solidFill>
                  <a:schemeClr val="tx1"/>
                </a:solidFill>
                <a:latin typeface="+mj-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2700" b="1" dirty="0">
                <a:latin typeface="+mn-lt"/>
              </a:rPr>
              <a:t>TEST + ERGEBNIS</a:t>
            </a:r>
          </a:p>
        </p:txBody>
      </p:sp>
      <p:grpSp>
        <p:nvGrpSpPr>
          <p:cNvPr id="58" name="Group 57">
            <a:extLst>
              <a:ext uri="{FF2B5EF4-FFF2-40B4-BE49-F238E27FC236}">
                <a16:creationId xmlns:a16="http://schemas.microsoft.com/office/drawing/2014/main" id="{5B8CC390-5EB6-395A-148A-D2E569E5DA91}"/>
              </a:ext>
            </a:extLst>
          </p:cNvPr>
          <p:cNvGrpSpPr/>
          <p:nvPr/>
        </p:nvGrpSpPr>
        <p:grpSpPr>
          <a:xfrm>
            <a:off x="20241488" y="29786655"/>
            <a:ext cx="8531228" cy="8328863"/>
            <a:chOff x="20241488" y="28818410"/>
            <a:chExt cx="8531228" cy="8328863"/>
          </a:xfrm>
        </p:grpSpPr>
        <p:pic>
          <p:nvPicPr>
            <p:cNvPr id="132" name="Picture 131">
              <a:extLst>
                <a:ext uri="{FF2B5EF4-FFF2-40B4-BE49-F238E27FC236}">
                  <a16:creationId xmlns:a16="http://schemas.microsoft.com/office/drawing/2014/main" id="{3D1DE328-10E3-BE45-26E4-4503F9EC2A2F}"/>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D0B33EE5-FFF6-7407-81F7-304B1DE7D192}"/>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3: YOLO11n- vs. YOLO26n-Pose. Oben: Qualitativer Vergleich: Boxen, Konfidenzen und 17-Keypoint-Skelette — YOLO26 erkennt zusätzlich entfernte Personen. Unten: Laufzeitkomponenten pro Bild (n = 20) auf zwei CPUs und einer GPU; Fehlerbalken: ±1 Standardabweichung.</a:t>
              </a:r>
            </a:p>
          </p:txBody>
        </p:sp>
        <p:pic>
          <p:nvPicPr>
            <p:cNvPr id="26" name="Graphic 25">
              <a:extLst>
                <a:ext uri="{FF2B5EF4-FFF2-40B4-BE49-F238E27FC236}">
                  <a16:creationId xmlns:a16="http://schemas.microsoft.com/office/drawing/2014/main" id="{1D0C6E7D-31DD-D862-25D9-1EFE573174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8D341E01-AB4D-A084-6E80-184C38D700E7}"/>
              </a:ext>
            </a:extLst>
          </p:cNvPr>
          <p:cNvPicPr>
            <a:picLocks noChangeAspect="1"/>
          </p:cNvPicPr>
          <p:nvPr/>
        </p:nvPicPr>
        <p:blipFill>
          <a:blip r:embed="rId8"/>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06772857-0DA6-1524-CD6A-8B863017617A}"/>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6A9BAC99-2A0A-1CFB-0AF7-36320EF20AFF}"/>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BF8E5871-E5CC-3E89-A138-B354ABEF738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05EF19DD-31D5-61A0-3641-274B45F5DC54}"/>
                  </a:ext>
                </a:extLst>
              </p:cNvPr>
              <p:cNvPicPr>
                <a:picLocks noChangeAspect="1"/>
              </p:cNvPicPr>
              <p:nvPr/>
            </p:nvPicPr>
            <p:blipFill>
              <a:blip r:embed="rId10">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60998B3E-FF0E-1E52-C979-7FE8E8487456}"/>
                  </a:ext>
                </a:extLst>
              </p:cNvPr>
              <p:cNvPicPr>
                <a:picLocks noChangeAspect="1"/>
              </p:cNvPicPr>
              <p:nvPr/>
            </p:nvPicPr>
            <p:blipFill>
              <a:blip r:embed="rId11">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F1C1982B-B845-3383-20B7-D4AD74A4F955}"/>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028C22CD-0F9E-F161-D695-4CA79B2F5D6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9219298E-442B-E6B2-2731-AD03C1C886AC}"/>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533D04BF-CFFA-AD7F-6769-917DB1D36FA6}"/>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C4BFA2D4-BEE6-4B75-400F-F3BFEF5B2360}"/>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CEFD6B54-4F68-9388-8683-EADE2313851C}"/>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1335F005-76C2-71A6-4CB4-75D1C6BB5436}"/>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B6700ADE-CF8A-9521-BB8D-93584CF7CE46}"/>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9A48B4FA-8763-51D6-CC52-B75634BB3450}"/>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385818880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6" name="Bildplatzhalter 35">
            <a:extLst>
              <a:ext uri="{FF2B5EF4-FFF2-40B4-BE49-F238E27FC236}">
                <a16:creationId xmlns:a16="http://schemas.microsoft.com/office/drawing/2014/main" id="{0AD536CD-F5E6-E900-75FE-63FDF3C2C4EF}"/>
              </a:ext>
            </a:extLst>
          </p:cNvPr>
          <p:cNvSpPr>
            <a:spLocks noGrp="1"/>
          </p:cNvSpPr>
          <p:nvPr>
            <p:ph type="pic" sz="quarter" idx="35"/>
          </p:nvPr>
        </p:nvSpPr>
        <p:spPr/>
        <p:txBody>
          <a:bodyPr/>
          <a:lstStyle/>
          <a:p>
            <a:endParaRPr lang="en-DE"/>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4" name="Bildplatzhalter 43">
            <a:extLst>
              <a:ext uri="{FF2B5EF4-FFF2-40B4-BE49-F238E27FC236}">
                <a16:creationId xmlns:a16="http://schemas.microsoft.com/office/drawing/2014/main" id="{229C97B0-141B-DD99-5B05-B483DDBFCABB}"/>
              </a:ext>
            </a:extLst>
          </p:cNvPr>
          <p:cNvSpPr>
            <a:spLocks noGrp="1"/>
          </p:cNvSpPr>
          <p:nvPr>
            <p:ph type="pic" sz="quarter" idx="53"/>
          </p:nvPr>
        </p:nvSpPr>
        <p:spPr/>
        <p:txBody>
          <a:bodyPr/>
          <a:lstStyle/>
          <a:p>
            <a:endParaRPr lang="en-DE"/>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25" name="Bildplatzhalter 38">
            <a:extLst>
              <a:ext uri="{FF2B5EF4-FFF2-40B4-BE49-F238E27FC236}">
                <a16:creationId xmlns:a16="http://schemas.microsoft.com/office/drawing/2014/main" id="{4E9806CF-4055-E614-D331-FC5E923CF04D}"/>
              </a:ext>
            </a:extLst>
          </p:cNvPr>
          <p:cNvSpPr txBox="1">
            <a:spLocks/>
          </p:cNvSpPr>
          <p:nvPr/>
        </p:nvSpPr>
        <p:spPr>
          <a:xfrm>
            <a:off x="20243006" y="23319770"/>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spcBef>
                <a:spcPts val="1111"/>
              </a:spcBef>
            </a:pPr>
            <a:r>
              <a:rPr lang="en-DE" b="1" dirty="0" err="1"/>
              <a:t>Testziel</a:t>
            </a:r>
            <a:r>
              <a:rPr lang="en-DE" b="1" dirty="0"/>
              <a:t>:</a:t>
            </a:r>
            <a:r>
              <a:rPr lang="en-DE" dirty="0"/>
              <a:t> </a:t>
            </a: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spcBef>
                <a:spcPts val="1111"/>
              </a:spcBef>
            </a:pPr>
            <a:r>
              <a:rPr lang="en-US" b="1" dirty="0"/>
              <a:t>Test-Setup:</a:t>
            </a:r>
          </a:p>
          <a:p>
            <a:pPr marL="457200" indent="-457200">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spcBef>
                <a:spcPts val="1111"/>
              </a:spcBef>
              <a:buFont typeface="Arial" panose="020B0604020202020204" pitchFamily="34" charset="0"/>
              <a:buChar char="•"/>
            </a:pPr>
            <a:endParaRPr lang="en-US" dirty="0"/>
          </a:p>
          <a:p>
            <a:pPr>
              <a:spcBef>
                <a:spcPts val="1111"/>
              </a:spcBef>
            </a:pPr>
            <a:endParaRPr lang="en-DE" dirty="0"/>
          </a:p>
        </p:txBody>
      </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1241</Words>
  <Application>Microsoft Office PowerPoint</Application>
  <PresentationFormat>Custom</PresentationFormat>
  <Paragraphs>108</Paragraphs>
  <Slides>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vt:i4>
      </vt:variant>
    </vt:vector>
  </HeadingPairs>
  <TitlesOfParts>
    <vt:vector size="10"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53</cp:revision>
  <dcterms:created xsi:type="dcterms:W3CDTF">2025-09-04T12:04:34Z</dcterms:created>
  <dcterms:modified xsi:type="dcterms:W3CDTF">2026-07-12T15:21:47Z</dcterms:modified>
</cp:coreProperties>
</file>