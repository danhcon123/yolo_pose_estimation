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omments/modernComment_104_BAD5113C.xml" ContentType="application/vnd.ms-powerpoint.comments+xml"/>
  <Override PartName="/ppt/comments/modernComment_103_6E82594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60" r:id="rId2"/>
    <p:sldId id="259" r:id="rId3"/>
    <p:sldId id="257" r:id="rId4"/>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7" userDrawn="1">
          <p15:clr>
            <a:srgbClr val="A4A3A4"/>
          </p15:clr>
        </p15:guide>
        <p15:guide id="2" pos="959" userDrawn="1">
          <p15:clr>
            <a:srgbClr val="A4A3A4"/>
          </p15:clr>
        </p15:guide>
        <p15:guide id="3" pos="3342" userDrawn="1">
          <p15:clr>
            <a:srgbClr val="A4A3A4"/>
          </p15:clr>
        </p15:guide>
        <p15:guide id="4" pos="3908" userDrawn="1">
          <p15:clr>
            <a:srgbClr val="A4A3A4"/>
          </p15:clr>
        </p15:guide>
        <p15:guide id="5" pos="6291" userDrawn="1">
          <p15:clr>
            <a:srgbClr val="A4A3A4"/>
          </p15:clr>
        </p15:guide>
        <p15:guide id="6" pos="6857" userDrawn="1">
          <p15:clr>
            <a:srgbClr val="A4A3A4"/>
          </p15:clr>
        </p15:guide>
        <p15:guide id="7" pos="9239" userDrawn="1">
          <p15:clr>
            <a:srgbClr val="A4A3A4"/>
          </p15:clr>
        </p15:guide>
        <p15:guide id="8" pos="9804" userDrawn="1">
          <p15:clr>
            <a:srgbClr val="A4A3A4"/>
          </p15:clr>
        </p15:guide>
        <p15:guide id="9" pos="12186" userDrawn="1">
          <p15:clr>
            <a:srgbClr val="A4A3A4"/>
          </p15:clr>
        </p15:guide>
        <p15:guide id="10" pos="12753" userDrawn="1">
          <p15:clr>
            <a:srgbClr val="A4A3A4"/>
          </p15:clr>
        </p15:guide>
        <p15:guide id="11" pos="15137" userDrawn="1">
          <p15:clr>
            <a:srgbClr val="A4A3A4"/>
          </p15:clr>
        </p15:guide>
        <p15:guide id="12" pos="18086" userDrawn="1">
          <p15:clr>
            <a:srgbClr val="A4A3A4"/>
          </p15:clr>
        </p15:guide>
        <p15:guide id="13" pos="1570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3C701C-0B02-F39B-CF72-564DBC6FBC27}" name="Duc Hai Nguyen" initials="DN" userId="b80d323cb1f4b6b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showGuides="1">
      <p:cViewPr>
        <p:scale>
          <a:sx n="66" d="100"/>
          <a:sy n="66" d="100"/>
        </p:scale>
        <p:origin x="-4728" y="-9198"/>
      </p:cViewPr>
      <p:guideLst>
        <p:guide orient="horz" pos="957"/>
        <p:guide pos="959"/>
        <p:guide pos="3342"/>
        <p:guide pos="3908"/>
        <p:guide pos="6291"/>
        <p:guide pos="6857"/>
        <p:guide pos="9239"/>
        <p:guide pos="9804"/>
        <p:guide pos="12186"/>
        <p:guide pos="12753"/>
        <p:guide pos="15137"/>
        <p:guide pos="18086"/>
        <p:guide pos="1570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comments/modernComment_103_6E82594D.xml><?xml version="1.0" encoding="utf-8"?>
<p188:cmLst xmlns:a="http://schemas.openxmlformats.org/drawingml/2006/main" xmlns:r="http://schemas.openxmlformats.org/officeDocument/2006/relationships" xmlns:p188="http://schemas.microsoft.com/office/powerpoint/2018/8/main">
  <p188:cm id="{8DD57D58-5111-40B5-94D8-B48D8FF626AE}" authorId="{883C701C-0B02-F39B-CF72-564DBC6FBC27}" created="2026-07-11T19:56:42.203">
    <ac:deMkLst xmlns:ac="http://schemas.microsoft.com/office/drawing/2013/main/command">
      <pc:docMk xmlns:pc="http://schemas.microsoft.com/office/powerpoint/2013/main/command"/>
      <pc:sldMk xmlns:pc="http://schemas.microsoft.com/office/powerpoint/2013/main/command" cId="1854036301" sldId="259"/>
      <ac:spMk id="35" creationId="{B2229693-2B0E-1FBF-1E54-40F2C47A6E03}"/>
    </ac:deMkLst>
    <p188:txBody>
      <a:bodyPr/>
      <a:lstStyle/>
      <a:p>
        <a:r>
          <a:rPr lang="en-DE"/>
          <a:t>@Richard
Lösch einfach die Texte, die du nicht brauchst</a:t>
        </a:r>
      </a:p>
    </p188:txBody>
  </p188:cm>
  <p188:cm id="{C476D5C5-C5E9-4BEA-B0DA-124C1AE32920}" authorId="{883C701C-0B02-F39B-CF72-564DBC6FBC27}" created="2026-07-11T22:59:46.021">
    <ac:deMkLst xmlns:ac="http://schemas.microsoft.com/office/drawing/2013/main/command">
      <pc:docMk xmlns:pc="http://schemas.microsoft.com/office/powerpoint/2013/main/command"/>
      <pc:sldMk xmlns:pc="http://schemas.microsoft.com/office/powerpoint/2013/main/command" cId="1854036301" sldId="259"/>
      <ac:graphicFrameMk id="73" creationId="{F7F5567A-F4FF-58A9-A714-F08B5772409F}"/>
    </ac:deMkLst>
    <p188:txBody>
      <a:bodyPr/>
      <a:lstStyle/>
      <a:p>
        <a:r>
          <a:rPr lang="en-DE"/>
          <a:t>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a:t>
        </a:r>
      </a:p>
    </p188:txBody>
  </p188:cm>
  <p188:cm id="{FDA7EEB8-5030-4476-94BA-88684BFCB3CF}" authorId="{883C701C-0B02-F39B-CF72-564DBC6FBC27}" created="2026-07-11T23:09:56.639">
    <ac:txMkLst xmlns:ac="http://schemas.microsoft.com/office/drawing/2013/main/command">
      <pc:docMk xmlns:pc="http://schemas.microsoft.com/office/powerpoint/2013/main/command"/>
      <pc:sldMk xmlns:pc="http://schemas.microsoft.com/office/powerpoint/2013/main/command" cId="1854036301" sldId="259"/>
      <ac:spMk id="39" creationId="{EACADA21-8010-3D9C-EF8D-930B5FB2D57E}"/>
      <ac:txMk cp="10">
        <ac:context len="969" hash="2602705858"/>
      </ac:txMk>
    </ac:txMkLst>
    <p188:pos x="7754258" y="1082901"/>
    <p188:txBody>
      <a:bodyPr/>
      <a:lstStyle/>
      <a:p>
        <a:r>
          <a:rPr lang="en-DE"/>
          <a:t>— nur Klasse „Person", pro Instanz: Bounding Box + 17 Keypoints</a:t>
        </a:r>
      </a:p>
    </p188:txBody>
  </p188:cm>
  <p188:cm id="{B53CDAE7-9D43-426A-9095-AAB78199D872}" authorId="{883C701C-0B02-F39B-CF72-564DBC6FBC27}" created="2026-07-11T23:28:52.763">
    <ac:deMkLst xmlns:ac="http://schemas.microsoft.com/office/drawing/2013/main/command">
      <pc:docMk xmlns:pc="http://schemas.microsoft.com/office/powerpoint/2013/main/command"/>
      <pc:sldMk xmlns:pc="http://schemas.microsoft.com/office/powerpoint/2013/main/command" cId="1854036301" sldId="259"/>
      <ac:spMk id="39" creationId="{EACADA21-8010-3D9C-EF8D-930B5FB2D57E}"/>
    </ac:deMkLst>
    <p188:txBody>
      <a:bodyPr/>
      <a:lstStyle/>
      <a:p>
        <a:r>
          <a:rPr lang="en-DE"/>
          <a:t>Der Unten-Satz leistet dabei drei Dinge, die in der Diskussion abgefragt werden können: Er benennt exakt, welcher Tensor gezeigt wird (P2/4, erster C3k2, mit Shape), er dokumentiert die beiden Darstellungsentscheidungen (Varianz-Auswahl und Einzelnormierung — sonst könnte jemand fragen, warum genau diese sechs und warum alle gleich hell wirken), und er zieht die fachliche Schlussfolgerung, die die Abbildung belegen soll.
Falls das fürs Poster zu lang ist (auf A0 sollten Captions knapp bleiben), hier eine gekürzte Variante des Unten-Teils:
Unten: P2/4-Ebene im Detail — Kanalmittel (links) und sechs einzelne Kanäle der C3k2-Ausgabe (160×160×64, Auswahl nach Aktivierungsvarianz).
BausteinVerarbeitung
Funktion im Netz
Conv-Block
Conv2d → BatchNorm → SiLU
Extrahiert Merkmale und reduziert bei Stride = 2 die Auflösung.
C3k2-Block
Aufteilung in mehrere Teilpfade → Verarbeitung durch Bottleneck-Blöcke → Zusammenführung
Verfeinert Merkmale effizient und erhält wichtige Informationen bei gleichbleibender Auflösung.
SPPF-Block
Mehrfaches Max-Pooling mit 5×5/9×9/13×13→ Zusammenführung der Ergebnisse
Erfasst lokalen und großräumigen Bildkontext.
C2PSA-Block
Aufteilung der Merkmale → Self-Attention in einem Teilpfad → Zusammenführung
Hebt relevante Bildbereiche kontextabhängig hervor.would change any information in this table to make it more concise for the poster? and give me some Stichpunkte so i can speak in my presentationShow moreVerfeinerte technische Genauigkeit und entwickelte PräsentationspunkteVerfeinerte technische Genauigkeit und entwickelte PräsentationspunkteDie Tabelle ist schon gut — zwei fachliche Präzisierungen würde ich aber vornehmen, weil sie in der Diskussion angreifbar sind:
1. SPPF-Zeile (wichtigste Korrektur): "Max-Pooling mit 5×5/9×9/13×13" beschreibt den alten SPP-Block, der drei verschieden große Pools parallel ausführt. SPPF (das F steht für Fast) macht stattdessen dreimal hintereinander dasselbe 5×5-Pooling — das wirkt nur effektiv wie 5/9/13, ist aber deutlich schneller. Genau diese Unterscheidung könnte ein Prüfer testen. Besser: "Dreifaches 5×5-Max-Pooling in Serie (wirkt wie 5/9/13) → Zusammenführung".
2. C3k2-Zeile: "Aufteilung in mehrere Teilpfade" ist schwammig — es sind genau zwei Pfade (Bypass + Arbeitspfad), und die Besonderheit ist, dass alle Zwischenergebnisse der Bottlenecks mit zusammengeführt werden. Außerdem fehlt in der Funktion der eigentliche Zweck des Bypasses: Recheneffizienz und besserer Gradientenfluss.
Hier die gestraffte Poster-Version:
BausteinVerarbeitungFunktion im NetzConvConv2d → BatchNorm → SiLUExtrahiert Merkmale; halbiert bei Stride 2 die AuflösungC3k2Aufteilung in 2 Pfade → Bottlenecks im Arbeitspfad → Zusammenführung aller ZwischenergebnisseVerfeinert Merkmale bei gleicher Auflösung; Bypass spart Rechenaufwand und verbessert den GradientenflussSPPF3× 5×5-Max-Pooling in Serie (wirkt wie 5/9/13) → ZusammenführungErfasst lokalen und großräumigen BildkontextC2PSAAufteilung → Self-Attention im Teilpfad → ZusammenführungGewichtet Bildbereiche kontextabhängig
Und die Stichpunkte zum Sprechen — pro Block ein Satz zum Vorlesen plus ein Detail in Reserve für Nachfragen:
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Diskussion.can you tell me again, what should i exactly write in the Training block for the poster again?Synthesized paper findings to refine training section detailsSynthesized paper findings to refine training section detailsGerne — hier der Training-Kasten, jetzt noch etwas geschärft mit den konkreten Werten aus dem YOLO26-Paper (die wir inzwischen verifiziert haben). Copy-paste-fertig:
Training
Datensatz: COCO-Pose (COCO Keypoints 2017) — nur Klasse „Person", pro Instanz: Bounding Box + 17 Keypoints
Label-Format (normiert):
class, x_c, y_c, w, h, x₁, y₁, v₁, …, x₁₇, y₁₇, v₁₇
Gesamtverlust:
L_total = λ_box·L_box + λ_cls·L_cls + λ_pose·L_pose + λ_kobj·L_kobj + λ_RLE·L_RLE
L_pose (OKS-basiert): Keypoint-Distanz, skaliert nach Personengröße
L_kobj: Sichtbarkeit der Keypoints
L_RLE (neu): Residual Log-Likelihood — Netz lernt zusätzlich eine Unsicherheit σ pro Keypoint; verdeckte/mehrdeutige Punkte werden automatisch heruntergewichtet
YOLO26-Trainingstechniken:
NMS-frei durchs Training: Dual-Head — One-to-Many-Zweig (dichte Supervision) + One-to-One-Zweig (Inferenzpfad, 1 Zuordnung pro Objekt)
Progressive Loss: Gewichtung verschiebt sich linear von (0,8 / 0,2) zu (0,1 / 0,9) → Optimierung wandert zum Inferenz-Head
STAL: garantiert positive Zuordnungen für kleine Objekte (Boxen &lt; 8 px werden bei der Kandidatenwahl auf 16 px aufgeweitet)
MuSGD: Hybrid aus Muon + SGD → schnellere Konvergenz (500 statt 600 Epochen)
Kein DFL → direkte, leichtere Box-Regression
Falls das für die Kastenfläche zu viel ist, sind die Streichkandidaten in dieser Reihenfolge: zuerst die Zahlenwerte in den Klammern (die kannst du mündlich nachliefern), dann die Label-Format-Zeile (steht in der Seminararbeit), dann L_kobj aus der Aufzählung. Nicht streichen solltest du drei Dinge: die L_total-Formel (die Aufgabenstellung verlangt mathematische Exaktheit), RLE (das ist die Pose-spezifische Neuerung von YOLO26 — laut Paper +2,1 bis +7,2 AP gegenüber YOLO11) und den Dual-Head/Progressive-Loss-Punkt — denn der beantwortet die explizite Frage aus Teilaufgabe 2, ob die Nachbearbeitung im Training berücksichtigt wird: Ja, genau andersherum — das NMS wird durchs Training ersetzt, und Progressive Loss sorgt dafür, dass der NMS-freie Inferenzpfad am Ende die meiste Optimierung bekommt.
Ein Wort zur λ-Formel für die Verteidigung: Die konkreten Gewichte im Ultralytics-Code für Pose sind wOKS = 24 und wRLE = 1 (beste Kombination laut Ablation im Paper, Tabelle 9). Wenn jemand nach den λ-Werten fragt, ist das deine Antwort — auf dem Poster selbst würde ich sie weglassen, die symbolische Formel reicht dort.what should i say in this part?Architected speaking notes mirroring previous framework with follow-up depthArchitected speaking notes mirroring previous framework with follow-up depthHier ein Sprech-Leitfaden für den Training-Teil — aufgebaut als roter Faden mit vorformulierten Kernsätzen, plus Reserve-Details für Nachfragen:
Einstieg (Datensatz &amp; Labels):
"Trainiert wird auf COCO-Pose — rund 200.000 annotierte Personen. Pro Person enthält ein Label die Bounding Box plus 17 Körperpunkte, jeder mit x, y und einem Sichtbarkeits-Flag."
Reserve: Das Sichtbarkeits-Flag v unterscheidet: nicht annotiert / annotiert aber verdeckt / sichtbar — daraus lernt das Netz später die Keypoint-Konfidenz.
Verlustfunktion (das Herzstück, hier zeigst du auf die Formel):
"Das Netz lernt mehrere Dinge gleichzeitig — deshalb ist der Gesamtverlust eine gewichtete Summe: Box-Position, Klassifikation, Keypoint-Position, Keypoint-Sichtbarkeit."
"Der Pose-Loss ist OKS-basiert: Der Fehler wird an der Personengröße normiert — 5 Pixel Abweichung bei einer entfernten kleinen Person wiegen schwerer als bei einer nahen großen."
"Neu in YOLO26 ist der RLE-Term: Das Netz sagt zu jedem Keypoint zusätzlich eine eigene Unsicherheit σ voraus. Verdeckte oder mehrdeutige Punkte — etwa ein Ellbogen hinter dem Rücken — bekommen automatisch weniger Gewicht im Training, statt das Netz mit unlösbaren Zielen zu bestrafen." → Das ist laut Paper der Hauptgrund für +2 bis +7 AP gegenüber YOLO11.
Reserve: RLE nutzt einen Normalizing Flow (RealNVP), der die Verteilung der Restfehler lernt — falls jemand tief bohrt.
Dual-Head &amp; Progressive Loss (hier schließt sich der Kreis zur NMS-Freiheit):
"Und jetzt der Punkt, der die schnelle Nachbearbeitung aus unserer Messung erklärt: Klassische Detektoren erzeugen viele überlappende Detektionen pro Person und filtern sie nachträglich mit NMS. YOLO26 verlagert dieses Problem ins Training."
"Dafür gibt es zwei Heads: Der One-to-Many-Head bekommt viele positive Zuordnungen pro Objekt — das gibt reiche Lernsignale. Der One-to-One-Head bekommt genau eine Zuordnung pro Objekt — und genau dieser Head wird bei der Inferenz benutzt. Er lernt also, von sich aus nur eine Detektion pro Person auszugeben."
"Progressive Loss steuert die Balance: Am Anfang dominiert der dichte Head mit 80 Prozent Gewicht, zum Ende der eigentliche Inferenz-Head mit 90 Prozent — die Optimierung wandert dorthin, wo sie im Einsatz gebraucht wird."
Das beantwortet direkt die Frage aus Teilaufgabe 2: Wird die Nachbearbeitung im Training berücksichtigt? — "Ja, invers: Das NMS wird nicht trainiert, sondern durchs Training überflüssig gemacht."
Kurz abbinden (STAL &amp; MuSGD, je ein Satz):
"STAL löst ein Randproblem: Personen unter 8 Pixeln bekämen sonst gar kein Lernsignal, weil kein Anker in ihre Box fällt — bei der Kandidatenwahl werden solche Boxen auf 16 Pixel aufgeweitet. Das passt zu unserer Beobachtung, dass YOLO26 entfernte Personen besser findet."
"MuSGD ist ein Hybrid-Optimierer aus Muon und SGD, ursprünglich aus dem LLM-Training — erreicht bessere Genauigkeit in 500 statt 600 Epochen."
Überleitung zu den Ergebnissen:
"Wie sich das in der Praxis auswirkt — weniger Nachbearbeitungszeit, bessere Erkennung kleiner Personen — sehen wir jetzt in unseren Messungen." (Zeig auf die Ergebnis-Zone.)
Zeitlich sind das etwa 2,5–3 Minuten, wenn du die Kernsätze sprichst und die Reserven weglässt. Die stärkste Stelle ist die Dual-Head-Passage — dort verbindest du Papier-Theorie mit eurer eigenen Messung (2,59 → 1,07 ms), und genau solche Verbindungen zwischen "warum" und "gemessen" sind das, was in der Verteidigung Eindruck macht.</a:t>
        </a:r>
      </a:p>
    </p188:txBody>
  </p188:cm>
  <p188:cm id="{57B76B4D-D583-432B-8C51-8256945B03D9}" authorId="{883C701C-0B02-F39B-CF72-564DBC6FBC27}" created="2026-07-12T14:51:25.078">
    <ac:deMkLst xmlns:ac="http://schemas.microsoft.com/office/drawing/2013/main/command">
      <pc:docMk xmlns:pc="http://schemas.microsoft.com/office/powerpoint/2013/main/command"/>
      <pc:sldMk xmlns:pc="http://schemas.microsoft.com/office/powerpoint/2013/main/command" cId="1854036301" sldId="259"/>
      <ac:picMk id="26" creationId="{753AA8B6-416F-2CD0-32EC-21F2920185FA}"/>
    </ac:deMkLst>
    <p188:replyLst>
      <p188:reply id="{D981CFAF-424C-49F6-9535-7992CA1D7F91}" authorId="{883C701C-0B02-F39B-CF72-564DBC6FBC27}" created="2026-07-12T15:04:53.578">
        <p188:txBody>
          <a:bodyPr/>
          <a:lstStyle/>
          <a:p>
            <a:r>
              <a:rPr lang="en-DE"/>
              <a:t>Hier deine Sprech-Stichpunkte zu beiden Teilbildern — in der Reihenfolge, in der du sie am Poster durchgehen würdest:
**Teil (a) — Qualitativer Vergleich (links → rechts zeigen):**
- **Szene benennen:** "Absichtlich ein schwieriger Fall: viele Personen, starke Verdeckungen, unterschiedliche Entfernungen — Spieler vorne, Zuschauer weit hinten."
- **Was eingezeichnet ist:** Blaue Boxen mit Konfidenzwert, darin die Skelette aus den 17 Keypoints — also genau die Netzausgabe [P, 57] nach der Nachbearbeitung, visualisiert.
- **Der Kernunterschied (mit dem Finger zeigen):** "YOLO26 findet zusätzlich die Zuschauer im Hintergrund — kleine, teils verdeckte Personen, die YOLO11 komplett übersieht." → Verbindung zur Theorie: genau das ist der erwartete STAL-Effekt (garantierte Zuordnungen für kleine Objekte im Training).
- **Konfidenzen vergleichen:** Bei denselben Personen vergibt YOLO26 teils höhere Werte (z.B. 0,92 vs. 0,83) — Hinweis auf sichereres Modell, aber vorsichtig formulieren: Einzelszene, kein Beweis.
- **Skelett-Qualität:** Gliedmaßen-Verbindungen bei den verdeckten Spielern in der Gruppe plausibler/vollständiger — passt zum RLE-Loss, der mit verdeckten Keypoints umgehen kann.
- **Ehrliche Einschränkung (bevor sie einer fragt):** "Das ist eine von 20 Szenen, qualitativ — für eine quantitative Aussage bräuchten wir annotierte Referenzdaten und OKS/mAP, das ist unser Ausblick."
**Teil (b) — Laufzeitkomponenten:**
- **Was gezeigt wird:** Pro Balken die mittlere Zeit pro Bild über 20 Bilder, gestapelt in Vorverarbeitung (blau), Inferenz (orange), Nachbearbeitung (grün); Fehlerbalken = eine Standardabweichung.
- **Erste Beobachtung — Hardware dominiert:** "Der größte Effekt im Bild ist gar nicht das Modell, sondern die Plattform: 160 ms auf der Laptop-CPU, 45 auf der Desktop-CPU, 22 auf der GPU — fast Faktor 8."
- **Zweite Beobachtung — das Kernergebnis:** Auf beiden CPUs ist YOLO26 insgesamt leicht *langsamer* (182 vs. 160; 48,6 vs. 45,2), auf der GPU *schneller* (21,8 vs. 24,7). → "Der Nutzen des NMS-freien Designs ist hardwareabhängig."
- **Die Erklärung dazu:** Nachbearbeitung ist bei YOLO26 überall kürzer (grünes Segment) — aber auf der CPU frisst die etwas höhere Inferenzzeit diese Ersparnis auf. Auf der GPU wird die Inferenz massiv parallelisiert, dadurch fällt der (CPU-gebundene) Nachbearbeitungsanteil relativ stärker ins Gewicht — dort kippt das Verhältnis zugunsten von YOLO26.
- **Fehlerbalken kommentieren:** Große Streuung v.a. beim GPU-Balken von YOLO11 — Laufzeiten schwanken je nach Bildinhalt (Anzahl Detektionen beeinflusst NMS-Aufwand!), während YOLO26 mit konstanter Ausgabegröße [300, 57] gleichmäßiger läuft.
- **Praxis-Schlussfolgerung für die Robotik:** "Für mobile Roboter mit Edge-GPU ist YOLO26 die bessere Wahl — ~22 ms pro Bild entspricht über 40 Bildern pro Sekunde, echtzeitfähig für die Navigation."
**Brücke zwischen (a) und (b) — der Satz, der beides verbindet:**
- "Zusammengefasst: bessere Erkennung kleiner und verdeckter Personen *ohne* Laufzeitnachteil auf der Zielhardware — genau das Profil, das die Navigation mobiler Roboter braucht."
Zeitbudget: etwa 2–3 Minuten, wenn du pro Punkt einen Satz sprichst. Die zwei stärksten Momente sind das Zeigen auf die Hintergrund-Zuschauer in (a) und der Plattform-Kipppunkt in (b) — dort lohnt sich jeweils eine kleine Pause, das sind eure Erkenntnisse, nicht die aus dem Paper.</a:t>
            </a:r>
          </a:p>
        </p188:txBody>
      </p188:reply>
    </p188:replyLst>
    <p188:txBody>
      <a:bodyPr/>
      <a:lstStyle/>
      <a:p>
        <a:r>
          <a:rPr lang="en-DE"/>
          <a:t>“✓ Nachbearbeitung ~55 % schneller (NMS-frei bestätigt)
✗ Gesamtzeit auf CPU nicht geringer
✓ Entfernte &amp; verdeckte Personen zuverlässiger erkannt
✓ Stabilere Laufzeiten (YOLO26l: σ 157 statt 509 ms)”
“Auf CPU frisst die höhere Inferenzzeit die NMS-Ersparnis auf; auf der GPU, wo die Inferenz parallelisiert wird, dominiert der Nachbearbeitungsanteil stärker — deshalb kippt dort das Verhältnis.”</a:t>
        </a:r>
      </a:p>
    </p188:txBody>
  </p188:cm>
  <p188:cm id="{A888471F-7E43-4599-BA50-81A8D890EF4B}" authorId="{883C701C-0B02-F39B-CF72-564DBC6FBC27}" created="2026-07-12T15:02:09.433">
    <ac:deMkLst xmlns:ac="http://schemas.microsoft.com/office/drawing/2013/main/command">
      <pc:docMk xmlns:pc="http://schemas.microsoft.com/office/powerpoint/2013/main/command"/>
      <pc:sldMk xmlns:pc="http://schemas.microsoft.com/office/powerpoint/2013/main/command" cId="1854036301" sldId="259"/>
      <ac:picMk id="34" creationId="{961712F0-A07E-8107-FF28-A960A12C8389}"/>
    </ac:deMkLst>
    <p188:replyLst>
      <p188:reply id="{2BBC4C52-DF5B-4E4A-A24E-E6F65BF77974}" authorId="{883C701C-0B02-F39B-CF72-564DBC6FBC27}" created="2026-07-12T15:02:24.408">
        <p188:txBody>
          <a:bodyPr/>
          <a:lstStyle/>
          <a:p>
            <a:r>
              <a:rPr lang="en-DE"/>
              <a:t>Warum funktioniert die Pose-Schätzung?
Der Backbone erzeugt hierarchische Bildmerkmale von einfachen Kanten bis zu komplexeren Körperstrukturen.
Der Neck kombiniert hochaufgelöste räumliche Details mit semantisch stärkeren Merkmalen tieferer Schichten.
Der Pose-Head verarbeitet die Ebenen P3/8, P4/16 und P5/32 und sagt daraus Bounding Boxes, Keypoint-Koordinaten und Keypoint-Sichtbarkeiten voraus.
Annotierte Bounding Boxes und Keypoints liefern während des Trainings die erforderlichen Zielwerte.
Die One-to-One-Zuordnung trainiert eine eindeutige Vorhersage pro Ground-Truth-Objekt, sodass im Standardpfad keine separate NMS erforderlich ist.</a:t>
            </a:r>
          </a:p>
        </p188:txBody>
      </p188:reply>
    </p188:replyLst>
    <p188:txBody>
      <a:bodyPr/>
      <a:lstStyle/>
      <a:p>
        <a:r>
          <a:rPr lang="en-DE"/>
          <a:t>Warum funktioniert es? [TA2 Kernfrage]
	• Hierarchische Merkmalsextraktion: frühe Schichten lernen Kanten &amp; Konturen, tiefe Schichten abstrakte Körperteil-Repräsentationen
	• Multi-Skalen-Fusion im Neck: kombiniert feine räumliche Details (P3) mit semantisch starken Merkmalen (P5) → Personen aller Größen erkennbar
	• Attention (C2PSA): gewichtet Bildbereiche kontextabhängig → relevante Körperregionen werden verstärkt
	• Gemeinsames Training von Detektion + Keypoints: Box liefert räumlichen Anker, Keypoints werden relativ dazu regressiert
NMS-Ersatz durch Training: One-to-One-Zuordnung wird gelernt statt nachträglich gefiltert → durchgängig differenzierbare End-to-End-Kette</a:t>
        </a:r>
      </a:p>
    </p188:txBody>
  </p188:cm>
  <p188:cm id="{532DBE4F-110A-458C-BAFB-410CEA743A8C}" authorId="{883C701C-0B02-F39B-CF72-564DBC6FBC27}" created="2026-07-12T15:09:48.168">
    <ac:txMkLst xmlns:ac="http://schemas.microsoft.com/office/drawing/2013/main/command">
      <pc:docMk xmlns:pc="http://schemas.microsoft.com/office/powerpoint/2013/main/command"/>
      <pc:sldMk xmlns:pc="http://schemas.microsoft.com/office/powerpoint/2013/main/command" cId="1854036301" sldId="259"/>
      <ac:spMk id="39" creationId="{EACADA21-8010-3D9C-EF8D-930B5FB2D57E}"/>
      <ac:txMk cp="218">
        <ac:context len="969" hash="2602705858"/>
      </ac:txMk>
    </ac:txMkLst>
    <p188:pos x="6926944" y="4276044"/>
    <p188:txBody>
      <a:bodyPr/>
      <a:lstStyle/>
      <a:p>
        <a:r>
          <a:rPr lang="en-DE"/>
          <a:t>verdeckte/mehrdeutige Punkte werden automatisch heruntergewichtet</a:t>
        </a:r>
      </a:p>
    </p188:txBody>
  </p188:cm>
  <p188:cm id="{2F61DC9C-98A2-4CA2-B4EB-D55B1BBE35C0}" authorId="{883C701C-0B02-F39B-CF72-564DBC6FBC27}" created="2026-07-12T15:12:19.059">
    <ac:txMkLst xmlns:ac="http://schemas.microsoft.com/office/drawing/2013/main/command">
      <pc:docMk xmlns:pc="http://schemas.microsoft.com/office/powerpoint/2013/main/command"/>
      <pc:sldMk xmlns:pc="http://schemas.microsoft.com/office/powerpoint/2013/main/command" cId="1854036301" sldId="259"/>
      <ac:spMk id="39" creationId="{EACADA21-8010-3D9C-EF8D-930B5FB2D57E}"/>
      <ac:txMk cp="218">
        <ac:context len="969" hash="2602705858"/>
      </ac:txMk>
    </ac:txMkLst>
    <p188:pos x="8509001" y="7933644"/>
    <p188:txBody>
      <a:bodyPr/>
      <a:lstStyle/>
      <a:p>
        <a:r>
          <a:rPr lang="en-DE"/>
          <a:t>(Boxen &lt; 8 px werden bei der Kandidatenwahl auf 16 px aufgeweitet)</a:t>
        </a:r>
      </a:p>
    </p188:txBody>
  </p188:cm>
  <p188:cm id="{24AFD992-8B29-4B6C-9693-5B5290B42B83}" authorId="{883C701C-0B02-F39B-CF72-564DBC6FBC27}" created="2026-07-12T15:14:31.454">
    <ac:txMkLst xmlns:ac="http://schemas.microsoft.com/office/drawing/2013/main/command">
      <pc:docMk xmlns:pc="http://schemas.microsoft.com/office/powerpoint/2013/main/command"/>
      <pc:sldMk xmlns:pc="http://schemas.microsoft.com/office/powerpoint/2013/main/command" cId="1854036301" sldId="259"/>
      <ac:spMk id="39" creationId="{EACADA21-8010-3D9C-EF8D-930B5FB2D57E}"/>
      <ac:txMk cp="218">
        <ac:context len="969" hash="2602705858"/>
      </ac:txMk>
    </ac:txMkLst>
    <p188:pos x="8064501" y="8885237"/>
    <p188:txBody>
      <a:bodyPr/>
      <a:lstStyle/>
      <a:p>
        <a:r>
          <a:rPr lang="en-DE"/>
          <a:t>(500 statt 600 Epochen)</a:t>
        </a:r>
      </a:p>
    </p188:txBody>
  </p188:cm>
  <p188:cm id="{925E77AD-E0F9-4A0E-A09E-541EA28E214C}" authorId="{883C701C-0B02-F39B-CF72-564DBC6FBC27}" created="2026-07-12T15:15:49.256">
    <ac:txMkLst xmlns:ac="http://schemas.microsoft.com/office/drawing/2013/main/command">
      <pc:docMk xmlns:pc="http://schemas.microsoft.com/office/powerpoint/2013/main/command"/>
      <pc:sldMk xmlns:pc="http://schemas.microsoft.com/office/powerpoint/2013/main/command" cId="1854036301" sldId="259"/>
      <ac:spMk id="39" creationId="{EACADA21-8010-3D9C-EF8D-930B5FB2D57E}"/>
      <ac:txMk cp="218">
        <ac:context len="969" hash="2602705858"/>
      </ac:txMk>
    </ac:txMkLst>
    <p188:pos x="8502651" y="5589587"/>
    <p188:txBody>
      <a:bodyPr/>
      <a:lstStyle/>
      <a:p>
        <a:r>
          <a:rPr lang="en-DE"/>
          <a:t>Dichte Supervision (One-to-Many): Beim Training darf ein echtes Objekt vielen Vorhersage-Kandidaten gleichzeitig als Lernziel zugewiesen werden — z.B. lernen 10 Kandidaten gleichzeitig "hier ist die Person". Viele Zuordnungen = viele Lernsignale pro Bild ("dicht") = schnelleres, stabileres Lernen. Nachteil: erzeugt viele Duplikate, die klassisch per NMS gefiltert werden müssten.
Inferenzpfad (One-to-One): Der Zweig, der später im echten Einsatz benutzt wird. Er bekommt im Training pro Objekt nur genau eine Zuordnung — er lernt also von vornherein, nur eine Detektion pro Person auszugeben. Deshalb braucht er bei der Inferenz kein NMS. Der One-to-Many-Zweig ist nur Trainingshilfe und wird danach weggeworfen.</a:t>
        </a:r>
      </a:p>
    </p188:txBody>
  </p188:cm>
  <p188:cm id="{B5E47BCB-3046-4B98-AC21-E85F8762D46C}" authorId="{883C701C-0B02-F39B-CF72-564DBC6FBC27}" created="2026-07-12T15:18:42.540">
    <ac:txMkLst xmlns:ac="http://schemas.microsoft.com/office/drawing/2013/main/command">
      <pc:docMk xmlns:pc="http://schemas.microsoft.com/office/powerpoint/2013/main/command"/>
      <pc:sldMk xmlns:pc="http://schemas.microsoft.com/office/powerpoint/2013/main/command" cId="1854036301" sldId="259"/>
      <ac:spMk id="39" creationId="{EACADA21-8010-3D9C-EF8D-930B5FB2D57E}"/>
      <ac:txMk cp="218">
        <ac:context len="969" hash="2602705858"/>
      </ac:txMk>
    </ac:txMkLst>
    <p188:pos x="8483601" y="9704387"/>
    <p188:txBody>
      <a:bodyPr/>
      <a:lstStyle/>
      <a:p>
        <a:r>
          <a:rPr lang="en-DE"/>
          <a:t>Direkte Box-Regression (kein DFL): DFL (Distribution Focal Loss, in YOLOv8/11) lässt das Netz für jede Boxkante nicht eine Zahl vorhersagen, sondern eine Wahrscheinlichkeitsverteilung über viele mögliche Positionen (z.B. 16 Bins pro Kante), aus der die Koordinate dann per Erwartungswert berechnet wird. YOLO26 wirft das raus: Das Netz sagt die vier Boxwerte wieder direkt als Zahlen voraus. Ergebnis: kleinerer Head, weniger Rechenschritte, einfacher auf Edge-Hardware exportierbar — bei praktisch gleicher Genauigkeit, weil die anderen Verbesserungen (STAL, ProgLoss) den Verlust ausgleichen.</a:t>
        </a:r>
      </a:p>
    </p188:txBody>
  </p188:cm>
</p188:cmLst>
</file>

<file path=ppt/comments/modernComment_104_BAD5113C.xml><?xml version="1.0" encoding="utf-8"?>
<p188:cmLst xmlns:a="http://schemas.openxmlformats.org/drawingml/2006/main" xmlns:r="http://schemas.openxmlformats.org/officeDocument/2006/relationships" xmlns:p188="http://schemas.microsoft.com/office/powerpoint/2018/8/main">
  <p188:cm id="{590E9B7D-7A2B-485C-B2DB-A8BC2C359D0D}" authorId="{883C701C-0B02-F39B-CF72-564DBC6FBC27}" created="2026-07-11T19:56:42.203">
    <ac:deMkLst xmlns:ac="http://schemas.microsoft.com/office/drawing/2013/main/command">
      <pc:docMk xmlns:pc="http://schemas.microsoft.com/office/powerpoint/2013/main/command"/>
      <pc:sldMk xmlns:pc="http://schemas.microsoft.com/office/powerpoint/2013/main/command" cId="3134525756" sldId="260"/>
      <ac:spMk id="35" creationId="{75857444-4912-0D64-D9A3-9F6B50536CBA}"/>
    </ac:deMkLst>
    <p188:txBody>
      <a:bodyPr/>
      <a:lstStyle/>
      <a:p>
        <a:r>
          <a:rPr lang="en-DE"/>
          <a:t>@Richard
Lösch einfach die Texte, die du nicht brauchst</a:t>
        </a:r>
      </a:p>
    </p188:txBody>
  </p188:cm>
  <p188:cm id="{B2FB8AAF-3D5E-414A-B86E-39D791B26D79}" authorId="{883C701C-0B02-F39B-CF72-564DBC6FBC27}" created="2026-07-11T22:59:46.021">
    <ac:deMkLst xmlns:ac="http://schemas.microsoft.com/office/drawing/2013/main/command">
      <pc:docMk xmlns:pc="http://schemas.microsoft.com/office/powerpoint/2013/main/command"/>
      <pc:sldMk xmlns:pc="http://schemas.microsoft.com/office/powerpoint/2013/main/command" cId="3134525756" sldId="260"/>
      <ac:graphicFrameMk id="73" creationId="{066AE830-800F-6160-D25F-FC3B01F2247A}"/>
    </ac:deMkLst>
    <p188:txBody>
      <a:bodyPr/>
      <a:lstStyle/>
      <a:p>
        <a:r>
          <a:rPr lang="en-DE"/>
          <a:t>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a:t>
        </a:r>
      </a:p>
    </p188:txBody>
  </p188:cm>
  <p188:cm id="{F30E5DFA-3CC2-4C7B-B909-FD3D0B04B9BD}" authorId="{883C701C-0B02-F39B-CF72-564DBC6FBC27}" created="2026-07-11T23:09:56.639">
    <ac:txMkLst xmlns:ac="http://schemas.microsoft.com/office/drawing/2013/main/command">
      <pc:docMk xmlns:pc="http://schemas.microsoft.com/office/powerpoint/2013/main/command"/>
      <pc:sldMk xmlns:pc="http://schemas.microsoft.com/office/powerpoint/2013/main/command" cId="3134525756" sldId="260"/>
      <ac:spMk id="39" creationId="{F1DD7E1F-42A6-F91B-C72E-D76F811C8E7D}"/>
      <ac:txMk cp="10" len="42">
        <ac:context len="277" hash="3742176159"/>
      </ac:txMk>
    </ac:txMkLst>
    <p188:pos x="7754258" y="1082901"/>
    <p188:txBody>
      <a:bodyPr/>
      <a:lstStyle/>
      <a:p>
        <a:r>
          <a:rPr lang="en-DE"/>
          <a:t>— nur Klasse „Person", pro Instanz: Bounding Box + 17 Keypoints</a:t>
        </a:r>
      </a:p>
    </p188:txBody>
  </p188:cm>
  <p188:cm id="{9809F4D1-3D8C-4A5D-957B-0D262597E229}" authorId="{883C701C-0B02-F39B-CF72-564DBC6FBC27}" created="2026-07-11T23:28:52.763">
    <ac:deMkLst xmlns:ac="http://schemas.microsoft.com/office/drawing/2013/main/command">
      <pc:docMk xmlns:pc="http://schemas.microsoft.com/office/powerpoint/2013/main/command"/>
      <pc:sldMk xmlns:pc="http://schemas.microsoft.com/office/powerpoint/2013/main/command" cId="3134525756" sldId="260"/>
      <ac:spMk id="39" creationId="{F1DD7E1F-42A6-F91B-C72E-D76F811C8E7D}"/>
    </ac:deMkLst>
    <p188:txBody>
      <a:bodyPr/>
      <a:lstStyle/>
      <a:p>
        <a:r>
          <a:rPr lang="en-DE"/>
          <a:t>Der Unten-Satz leistet dabei drei Dinge, die in der Diskussion abgefragt werden können: Er benennt exakt, welcher Tensor gezeigt wird (P2/4, erster C3k2, mit Shape), er dokumentiert die beiden Darstellungsentscheidungen (Varianz-Auswahl und Einzelnormierung — sonst könnte jemand fragen, warum genau diese sechs und warum alle gleich hell wirken), und er zieht die fachliche Schlussfolgerung, die die Abbildung belegen soll.
Falls das fürs Poster zu lang ist (auf A0 sollten Captions knapp bleiben), hier eine gekürzte Variante des Unten-Teils:
Unten: P2/4-Ebene im Detail — Kanalmittel (links) und sechs einzelne Kanäle der C3k2-Ausgabe (160×160×64, Auswahl nach Aktivierungsvarianz).
BausteinVerarbeitung
Funktion im Netz
Conv-Block
Conv2d → BatchNorm → SiLU
Extrahiert Merkmale und reduziert bei Stride = 2 die Auflösung.
C3k2-Block
Aufteilung in mehrere Teilpfade → Verarbeitung durch Bottleneck-Blöcke → Zusammenführung
Verfeinert Merkmale effizient und erhält wichtige Informationen bei gleichbleibender Auflösung.
SPPF-Block
Mehrfaches Max-Pooling mit 5×5/9×9/13×13→ Zusammenführung der Ergebnisse
Erfasst lokalen und großräumigen Bildkontext.
C2PSA-Block
Aufteilung der Merkmale → Self-Attention in einem Teilpfad → Zusammenführung
Hebt relevante Bildbereiche kontextabhängig hervor.would change any information in this table to make it more concise for the poster? and give me some Stichpunkte so i can speak in my presentationShow moreVerfeinerte technische Genauigkeit und entwickelte PräsentationspunkteVerfeinerte technische Genauigkeit und entwickelte PräsentationspunkteDie Tabelle ist schon gut — zwei fachliche Präzisierungen würde ich aber vornehmen, weil sie in der Diskussion angreifbar sind:
1. SPPF-Zeile (wichtigste Korrektur): "Max-Pooling mit 5×5/9×9/13×13" beschreibt den alten SPP-Block, der drei verschieden große Pools parallel ausführt. SPPF (das F steht für Fast) macht stattdessen dreimal hintereinander dasselbe 5×5-Pooling — das wirkt nur effektiv wie 5/9/13, ist aber deutlich schneller. Genau diese Unterscheidung könnte ein Prüfer testen. Besser: "Dreifaches 5×5-Max-Pooling in Serie (wirkt wie 5/9/13) → Zusammenführung".
2. C3k2-Zeile: "Aufteilung in mehrere Teilpfade" ist schwammig — es sind genau zwei Pfade (Bypass + Arbeitspfad), und die Besonderheit ist, dass alle Zwischenergebnisse der Bottlenecks mit zusammengeführt werden. Außerdem fehlt in der Funktion der eigentliche Zweck des Bypasses: Recheneffizienz und besserer Gradientenfluss.
Hier die gestraffte Poster-Version:
BausteinVerarbeitungFunktion im NetzConvConv2d → BatchNorm → SiLUExtrahiert Merkmale; halbiert bei Stride 2 die AuflösungC3k2Aufteilung in 2 Pfade → Bottlenecks im Arbeitspfad → Zusammenführung aller ZwischenergebnisseVerfeinert Merkmale bei gleicher Auflösung; Bypass spart Rechenaufwand und verbessert den GradientenflussSPPF3× 5×5-Max-Pooling in Serie (wirkt wie 5/9/13) → ZusammenführungErfasst lokalen und großräumigen BildkontextC2PSAAufteilung → Self-Attention im Teilpfad → ZusammenführungGewichtet Bildbereiche kontextabhängig
Und die Stichpunkte zum Sprechen — pro Block ein Satz zum Vorlesen plus ein Detail in Reserve für Nachfragen:
Conv-Block
"Das Arbeitspferd des Netzes: lernbare Filter gleiten übers Bild und erzeugen pro Filter eine Merkmalskarte."
BatchNorm stabilisiert das Training, SiLU ist die Aktivierungsfunktion (glatter als ReLU, kein hartes Abschneiden negativer Werte).
Reserve: Stride 2 heißt, der Filter springt in Zweierschritten — deshalb halbiert sich die Auflösung; Upsampling passiert erst später im Neck durch einen eigenen Block.
C3k2-Block
"CSP-Idee: Nur die Hälfte der Kanäle geht durch die teuren Bottlenecks, die andere Hälfte läuft als Abkürzung vorbei."
Alle Zwischenergebnisse werden am Ende zusammengeführt — dichte Verbindungen, gute Gradienten beim Training.
Auflösung bleibt gleich; die Kanalzahl bestimmt die 1×1-Faltung am Ausgang, nicht der Split.
Reserve: c3k=True tauscht die Bottlenecks gegen kleine C3-Blöcke; im Neck gibt es eine Variante mit Attention.
SPPF-Block
"Sitzt am Ende des Backbones und beantwortet: Was sieht das Netz im Kleinen UND im Großen gleichzeitig?"
Trick: dreimal dasselbe kleine 5×5-Pooling hintereinander statt drei großer Pools parallel — gleiches Ergebnis, weniger Rechenzeit (daher das F für Fast).
Alle vier Stufen (Original + 3 Pool-Ausgaben) werden konkateniert → Merkmale mit mehreren Kontextgrößen.
C2PSA-Block
"Bis hierhin behandelt das Netz alle Bildstellen gleich — die Attention ändert das."
Self-Attention berechnet, welche Bildbereiche füreinander relevant sind, und gewichtet sie entsprechend — z.B. wird die Region um eine Person verstärkt, monotoner Hintergrund abgeschwächt.
Gleiche CSP-Bauweise wie C3k2: nur ein Teilpfad bekommt die teure Attention.
Reserve: In der YOLO26-Ablation wurde eine zusätzliche Attention-Schicht im Neck eingefügt — bringt Genauigkeit bei praktisch gleicher Latenz.
Als roter Faden für den Vortrag bietet sich der Dreiklang an: Conv holt Merkmale (und verkleinert), C3k2 verfeinert sie, SPPF und C2PSA reichern sie mit Kontext an — erst räumlich (mehrere Pool-Größen), dann inhaltlich (Attention). Damit hat jeder Baustein eine klare Rolle in einem Satz, und die Details oben sind euer Puffer für die Diskussion.can you tell me again, what should i exactly write in the Training block for the poster again?Synthesized paper findings to refine training section detailsSynthesized paper findings to refine training section detailsGerne — hier der Training-Kasten, jetzt noch etwas geschärft mit den konkreten Werten aus dem YOLO26-Paper (die wir inzwischen verifiziert haben). Copy-paste-fertig:
Training
Datensatz: COCO-Pose (COCO Keypoints 2017) — nur Klasse „Person", pro Instanz: Bounding Box + 17 Keypoints
Label-Format (normiert):
class, x_c, y_c, w, h, x₁, y₁, v₁, …, x₁₇, y₁₇, v₁₇
Gesamtverlust:
L_total = λ_box·L_box + λ_cls·L_cls + λ_pose·L_pose + λ_kobj·L_kobj + λ_RLE·L_RLE
L_pose (OKS-basiert): Keypoint-Distanz, skaliert nach Personengröße
L_kobj: Sichtbarkeit der Keypoints
L_RLE (neu): Residual Log-Likelihood — Netz lernt zusätzlich eine Unsicherheit σ pro Keypoint; verdeckte/mehrdeutige Punkte werden automatisch heruntergewichtet
YOLO26-Trainingstechniken:
NMS-frei durchs Training: Dual-Head — One-to-Many-Zweig (dichte Supervision) + One-to-One-Zweig (Inferenzpfad, 1 Zuordnung pro Objekt)
Progressive Loss: Gewichtung verschiebt sich linear von (0,8 / 0,2) zu (0,1 / 0,9) → Optimierung wandert zum Inferenz-Head
STAL: garantiert positive Zuordnungen für kleine Objekte (Boxen &lt; 8 px werden bei der Kandidatenwahl auf 16 px aufgeweitet)
MuSGD: Hybrid aus Muon + SGD → schnellere Konvergenz (500 statt 600 Epochen)
Kein DFL → direkte, leichtere Box-Regression
Falls das für die Kastenfläche zu viel ist, sind die Streichkandidaten in dieser Reihenfolge: zuerst die Zahlenwerte in den Klammern (die kannst du mündlich nachliefern), dann die Label-Format-Zeile (steht in der Seminararbeit), dann L_kobj aus der Aufzählung. Nicht streichen solltest du drei Dinge: die L_total-Formel (die Aufgabenstellung verlangt mathematische Exaktheit), RLE (das ist die Pose-spezifische Neuerung von YOLO26 — laut Paper +2,1 bis +7,2 AP gegenüber YOLO11) und den Dual-Head/Progressive-Loss-Punkt — denn der beantwortet die explizite Frage aus Teilaufgabe 2, ob die Nachbearbeitung im Training berücksichtigt wird: Ja, genau andersherum — das NMS wird durchs Training ersetzt, und Progressive Loss sorgt dafür, dass der NMS-freie Inferenzpfad am Ende die meiste Optimierung bekommt.
Ein Wort zur λ-Formel für die Verteidigung: Die konkreten Gewichte im Ultralytics-Code für Pose sind wOKS = 24 und wRLE = 1 (beste Kombination laut Ablation im Paper, Tabelle 9). Wenn jemand nach den λ-Werten fragt, ist das deine Antwort — auf dem Poster selbst würde ich sie weglassen, die symbolische Formel reicht dort.what should i say in this part?Architected speaking notes mirroring previous framework with follow-up depthArchitected speaking notes mirroring previous framework with follow-up depthHier ein Sprech-Leitfaden für den Training-Teil — aufgebaut als roter Faden mit vorformulierten Kernsätzen, plus Reserve-Details für Nachfragen:
Einstieg (Datensatz &amp; Labels):
"Trainiert wird auf COCO-Pose — rund 200.000 annotierte Personen. Pro Person enthält ein Label die Bounding Box plus 17 Körperpunkte, jeder mit x, y und einem Sichtbarkeits-Flag."
Reserve: Das Sichtbarkeits-Flag v unterscheidet: nicht annotiert / annotiert aber verdeckt / sichtbar — daraus lernt das Netz später die Keypoint-Konfidenz.
Verlustfunktion (das Herzstück, hier zeigst du auf die Formel):
"Das Netz lernt mehrere Dinge gleichzeitig — deshalb ist der Gesamtverlust eine gewichtete Summe: Box-Position, Klassifikation, Keypoint-Position, Keypoint-Sichtbarkeit."
"Der Pose-Loss ist OKS-basiert: Der Fehler wird an der Personengröße normiert — 5 Pixel Abweichung bei einer entfernten kleinen Person wiegen schwerer als bei einer nahen großen."
"Neu in YOLO26 ist der RLE-Term: Das Netz sagt zu jedem Keypoint zusätzlich eine eigene Unsicherheit σ voraus. Verdeckte oder mehrdeutige Punkte — etwa ein Ellbogen hinter dem Rücken — bekommen automatisch weniger Gewicht im Training, statt das Netz mit unlösbaren Zielen zu bestrafen." → Das ist laut Paper der Hauptgrund für +2 bis +7 AP gegenüber YOLO11.
Reserve: RLE nutzt einen Normalizing Flow (RealNVP), der die Verteilung der Restfehler lernt — falls jemand tief bohrt.
Dual-Head &amp; Progressive Loss (hier schließt sich der Kreis zur NMS-Freiheit):
"Und jetzt der Punkt, der die schnelle Nachbearbeitung aus unserer Messung erklärt: Klassische Detektoren erzeugen viele überlappende Detektionen pro Person und filtern sie nachträglich mit NMS. YOLO26 verlagert dieses Problem ins Training."
"Dafür gibt es zwei Heads: Der One-to-Many-Head bekommt viele positive Zuordnungen pro Objekt — das gibt reiche Lernsignale. Der One-to-One-Head bekommt genau eine Zuordnung pro Objekt — und genau dieser Head wird bei der Inferenz benutzt. Er lernt also, von sich aus nur eine Detektion pro Person auszugeben."
"Progressive Loss steuert die Balance: Am Anfang dominiert der dichte Head mit 80 Prozent Gewicht, zum Ende der eigentliche Inferenz-Head mit 90 Prozent — die Optimierung wandert dorthin, wo sie im Einsatz gebraucht wird."
Das beantwortet direkt die Frage aus Teilaufgabe 2: Wird die Nachbearbeitung im Training berücksichtigt? — "Ja, invers: Das NMS wird nicht trainiert, sondern durchs Training überflüssig gemacht."
Kurz abbinden (STAL &amp; MuSGD, je ein Satz):
"STAL löst ein Randproblem: Personen unter 8 Pixeln bekämen sonst gar kein Lernsignal, weil kein Anker in ihre Box fällt — bei der Kandidatenwahl werden solche Boxen auf 16 Pixel aufgeweitet. Das passt zu unserer Beobachtung, dass YOLO26 entfernte Personen besser findet."
"MuSGD ist ein Hybrid-Optimierer aus Muon und SGD, ursprünglich aus dem LLM-Training — erreicht bessere Genauigkeit in 500 statt 600 Epochen."
Überleitung zu den Ergebnissen:
"Wie sich das in der Praxis auswirkt — weniger Nachbearbeitungszeit, bessere Erkennung kleiner Personen — sehen wir jetzt in unseren Messungen." (Zeig auf die Ergebnis-Zone.)
Zeitlich sind das etwa 2,5–3 Minuten, wenn du die Kernsätze sprichst und die Reserven weglässt. Die stärkste Stelle ist die Dual-Head-Passage — dort verbindest du Papier-Theorie mit eurer eigenen Messung (2,59 → 1,07 ms), und genau solche Verbindungen zwischen "warum" und "gemessen" sind das, was in der Verteidigung Eindruck macht.</a:t>
        </a:r>
      </a:p>
    </p188:txBody>
  </p188:cm>
  <p188:cm id="{6E0956AC-B907-47B7-BC7C-5B89886E534B}" authorId="{883C701C-0B02-F39B-CF72-564DBC6FBC27}" created="2026-07-12T14:51:25.078">
    <ac:deMkLst xmlns:ac="http://schemas.microsoft.com/office/drawing/2013/main/command">
      <pc:docMk xmlns:pc="http://schemas.microsoft.com/office/powerpoint/2013/main/command"/>
      <pc:sldMk xmlns:pc="http://schemas.microsoft.com/office/powerpoint/2013/main/command" cId="3134525756" sldId="260"/>
      <ac:picMk id="26" creationId="{895F0B32-63E2-09A1-3BBF-F97031699597}"/>
    </ac:deMkLst>
    <p188:replyLst>
      <p188:reply id="{D981CFAF-424C-49F6-9535-7992CA1D7F91}" authorId="{883C701C-0B02-F39B-CF72-564DBC6FBC27}" created="2026-07-12T15:04:53.578">
        <p188:txBody>
          <a:bodyPr/>
          <a:lstStyle/>
          <a:p>
            <a:r>
              <a:rPr lang="en-DE"/>
              <a:t>Hier deine Sprech-Stichpunkte zu beiden Teilbildern — in der Reihenfolge, in der du sie am Poster durchgehen würdest:
**Teil (a) — Qualitativer Vergleich (links → rechts zeigen):**
- **Szene benennen:** "Absichtlich ein schwieriger Fall: viele Personen, starke Verdeckungen, unterschiedliche Entfernungen — Spieler vorne, Zuschauer weit hinten."
- **Was eingezeichnet ist:** Blaue Boxen mit Konfidenzwert, darin die Skelette aus den 17 Keypoints — also genau die Netzausgabe [P, 57] nach der Nachbearbeitung, visualisiert.
- **Der Kernunterschied (mit dem Finger zeigen):** "YOLO26 findet zusätzlich die Zuschauer im Hintergrund — kleine, teils verdeckte Personen, die YOLO11 komplett übersieht." → Verbindung zur Theorie: genau das ist der erwartete STAL-Effekt (garantierte Zuordnungen für kleine Objekte im Training).
- **Konfidenzen vergleichen:** Bei denselben Personen vergibt YOLO26 teils höhere Werte (z.B. 0,92 vs. 0,83) — Hinweis auf sichereres Modell, aber vorsichtig formulieren: Einzelszene, kein Beweis.
- **Skelett-Qualität:** Gliedmaßen-Verbindungen bei den verdeckten Spielern in der Gruppe plausibler/vollständiger — passt zum RLE-Loss, der mit verdeckten Keypoints umgehen kann.
- **Ehrliche Einschränkung (bevor sie einer fragt):** "Das ist eine von 20 Szenen, qualitativ — für eine quantitative Aussage bräuchten wir annotierte Referenzdaten und OKS/mAP, das ist unser Ausblick."
**Teil (b) — Laufzeitkomponenten:**
- **Was gezeigt wird:** Pro Balken die mittlere Zeit pro Bild über 20 Bilder, gestapelt in Vorverarbeitung (blau), Inferenz (orange), Nachbearbeitung (grün); Fehlerbalken = eine Standardabweichung.
- **Erste Beobachtung — Hardware dominiert:** "Der größte Effekt im Bild ist gar nicht das Modell, sondern die Plattform: 160 ms auf der Laptop-CPU, 45 auf der Desktop-CPU, 22 auf der GPU — fast Faktor 8."
- **Zweite Beobachtung — das Kernergebnis:** Auf beiden CPUs ist YOLO26 insgesamt leicht *langsamer* (182 vs. 160; 48,6 vs. 45,2), auf der GPU *schneller* (21,8 vs. 24,7). → "Der Nutzen des NMS-freien Designs ist hardwareabhängig."
- **Die Erklärung dazu:** Nachbearbeitung ist bei YOLO26 überall kürzer (grünes Segment) — aber auf der CPU frisst die etwas höhere Inferenzzeit diese Ersparnis auf. Auf der GPU wird die Inferenz massiv parallelisiert, dadurch fällt der (CPU-gebundene) Nachbearbeitungsanteil relativ stärker ins Gewicht — dort kippt das Verhältnis zugunsten von YOLO26.
- **Fehlerbalken kommentieren:** Große Streuung v.a. beim GPU-Balken von YOLO11 — Laufzeiten schwanken je nach Bildinhalt (Anzahl Detektionen beeinflusst NMS-Aufwand!), während YOLO26 mit konstanter Ausgabegröße [300, 57] gleichmäßiger läuft.
- **Praxis-Schlussfolgerung für die Robotik:** "Für mobile Roboter mit Edge-GPU ist YOLO26 die bessere Wahl — ~22 ms pro Bild entspricht über 40 Bildern pro Sekunde, echtzeitfähig für die Navigation."
**Brücke zwischen (a) und (b) — der Satz, der beides verbindet:**
- "Zusammengefasst: bessere Erkennung kleiner und verdeckter Personen *ohne* Laufzeitnachteil auf der Zielhardware — genau das Profil, das die Navigation mobiler Roboter braucht."
Zeitbudget: etwa 2–3 Minuten, wenn du pro Punkt einen Satz sprichst. Die zwei stärksten Momente sind das Zeigen auf die Hintergrund-Zuschauer in (a) und der Plattform-Kipppunkt in (b) — dort lohnt sich jeweils eine kleine Pause, das sind eure Erkenntnisse, nicht die aus dem Paper.</a:t>
            </a:r>
          </a:p>
        </p188:txBody>
      </p188:reply>
    </p188:replyLst>
    <p188:txBody>
      <a:bodyPr/>
      <a:lstStyle/>
      <a:p>
        <a:r>
          <a:rPr lang="en-DE"/>
          <a:t>“✓ Nachbearbeitung ~55 % schneller (NMS-frei bestätigt)
✗ Gesamtzeit auf CPU nicht geringer
✓ Entfernte &amp; verdeckte Personen zuverlässiger erkannt
✓ Stabilere Laufzeiten (YOLO26l: σ 157 statt 509 ms)”
“Auf CPU frisst die höhere Inferenzzeit die NMS-Ersparnis auf; auf der GPU, wo die Inferenz parallelisiert wird, dominiert der Nachbearbeitungsanteil stärker — deshalb kippt dort das Verhältnis.”</a:t>
        </a:r>
      </a:p>
    </p188:txBody>
  </p188:cm>
  <p188:cm id="{5348127A-EDF6-4E05-95D2-EF1F108194F2}" authorId="{883C701C-0B02-F39B-CF72-564DBC6FBC27}" created="2026-07-12T15:02:09.433">
    <ac:deMkLst xmlns:ac="http://schemas.microsoft.com/office/drawing/2013/main/command">
      <pc:docMk xmlns:pc="http://schemas.microsoft.com/office/powerpoint/2013/main/command"/>
      <pc:sldMk xmlns:pc="http://schemas.microsoft.com/office/powerpoint/2013/main/command" cId="3134525756" sldId="260"/>
      <ac:picMk id="34" creationId="{04F273D0-20B0-B4C2-E0A0-69ACAA5111EB}"/>
    </ac:deMkLst>
    <p188:replyLst>
      <p188:reply id="{2BBC4C52-DF5B-4E4A-A24E-E6F65BF77974}" authorId="{883C701C-0B02-F39B-CF72-564DBC6FBC27}" created="2026-07-12T15:02:24.408">
        <p188:txBody>
          <a:bodyPr/>
          <a:lstStyle/>
          <a:p>
            <a:r>
              <a:rPr lang="en-DE"/>
              <a:t>Warum funktioniert die Pose-Schätzung?
Der Backbone erzeugt hierarchische Bildmerkmale von einfachen Kanten bis zu komplexeren Körperstrukturen.
Der Neck kombiniert hochaufgelöste räumliche Details mit semantisch stärkeren Merkmalen tieferer Schichten.
Der Pose-Head verarbeitet die Ebenen P3/8, P4/16 und P5/32 und sagt daraus Bounding Boxes, Keypoint-Koordinaten und Keypoint-Sichtbarkeiten voraus.
Annotierte Bounding Boxes und Keypoints liefern während des Trainings die erforderlichen Zielwerte.
Die One-to-One-Zuordnung trainiert eine eindeutige Vorhersage pro Ground-Truth-Objekt, sodass im Standardpfad keine separate NMS erforderlich ist.</a:t>
            </a:r>
          </a:p>
        </p188:txBody>
      </p188:reply>
    </p188:replyLst>
    <p188:txBody>
      <a:bodyPr/>
      <a:lstStyle/>
      <a:p>
        <a:r>
          <a:rPr lang="en-DE"/>
          <a:t>Warum funktioniert es? [TA2 Kernfrage]
	• Hierarchische Merkmalsextraktion: frühe Schichten lernen Kanten &amp; Konturen, tiefe Schichten abstrakte Körperteil-Repräsentationen
	• Multi-Skalen-Fusion im Neck: kombiniert feine räumliche Details (P3) mit semantisch starken Merkmalen (P5) → Personen aller Größen erkennbar
	• Attention (C2PSA): gewichtet Bildbereiche kontextabhängig → relevante Körperregionen werden verstärkt
	• Gemeinsames Training von Detektion + Keypoints: Box liefert räumlichen Anker, Keypoints werden relativ dazu regressiert
NMS-Ersatz durch Training: One-to-One-Zuordnung wird gelernt statt nachträglich gefiltert → durchgängig differenzierbare End-to-End-Kette</a:t>
        </a:r>
      </a:p>
    </p188:txBody>
  </p188:cm>
  <p188:cm id="{A626461E-ABD7-4926-B847-C2D8BCE5388D}" authorId="{883C701C-0B02-F39B-CF72-564DBC6FBC27}" created="2026-07-12T15:09:48.168">
    <ac:txMkLst xmlns:ac="http://schemas.microsoft.com/office/drawing/2013/main/command">
      <pc:docMk xmlns:pc="http://schemas.microsoft.com/office/powerpoint/2013/main/command"/>
      <pc:sldMk xmlns:pc="http://schemas.microsoft.com/office/powerpoint/2013/main/command" cId="3134525756" sldId="260"/>
      <ac:spMk id="39" creationId="{F1DD7E1F-42A6-F91B-C72E-D76F811C8E7D}"/>
      <ac:txMk cp="276">
        <ac:context len="277" hash="3742176159"/>
      </ac:txMk>
    </ac:txMkLst>
    <p188:pos x="6926944" y="4276044"/>
    <p188:txBody>
      <a:bodyPr/>
      <a:lstStyle/>
      <a:p>
        <a:r>
          <a:rPr lang="en-DE"/>
          <a:t>verdeckte/mehrdeutige Punkte werden automatisch heruntergewichtet</a:t>
        </a:r>
      </a:p>
    </p188:txBody>
  </p188:cm>
  <p188:cm id="{72C3AACE-46D1-41B6-88B7-3B9F44CC89B3}" authorId="{883C701C-0B02-F39B-CF72-564DBC6FBC27}" created="2026-07-12T15:12:19.059">
    <ac:txMkLst xmlns:ac="http://schemas.microsoft.com/office/drawing/2013/main/command">
      <pc:docMk xmlns:pc="http://schemas.microsoft.com/office/powerpoint/2013/main/command"/>
      <pc:sldMk xmlns:pc="http://schemas.microsoft.com/office/powerpoint/2013/main/command" cId="3134525756" sldId="260"/>
      <ac:spMk id="39" creationId="{F1DD7E1F-42A6-F91B-C72E-D76F811C8E7D}"/>
      <ac:txMk cp="525">
        <ac:context len="698" hash="853012638"/>
      </ac:txMk>
    </ac:txMkLst>
    <p188:pos x="8509001" y="7933644"/>
    <p188:txBody>
      <a:bodyPr/>
      <a:lstStyle/>
      <a:p>
        <a:r>
          <a:rPr lang="en-DE"/>
          <a:t>(Boxen &lt; 8 px werden bei der Kandidatenwahl auf 16 px aufgeweitet)</a:t>
        </a:r>
      </a:p>
    </p188:txBody>
  </p188:cm>
  <p188:cm id="{AD92B7A1-5D86-4978-AEA1-E9F1B60214C5}" authorId="{883C701C-0B02-F39B-CF72-564DBC6FBC27}" created="2026-07-12T15:14:31.454">
    <ac:txMkLst xmlns:ac="http://schemas.microsoft.com/office/drawing/2013/main/command">
      <pc:docMk xmlns:pc="http://schemas.microsoft.com/office/powerpoint/2013/main/command"/>
      <pc:sldMk xmlns:pc="http://schemas.microsoft.com/office/powerpoint/2013/main/command" cId="3134525756" sldId="260"/>
      <ac:spMk id="39" creationId="{F1DD7E1F-42A6-F91B-C72E-D76F811C8E7D}"/>
      <ac:txMk cp="583">
        <ac:context len="698" hash="853012638"/>
      </ac:txMk>
    </ac:txMkLst>
    <p188:pos x="8064501" y="8885237"/>
    <p188:txBody>
      <a:bodyPr/>
      <a:lstStyle/>
      <a:p>
        <a:r>
          <a:rPr lang="en-DE"/>
          <a:t>(500 statt 600 Epochen)</a:t>
        </a:r>
      </a:p>
    </p188:txBody>
  </p188:cm>
  <p188:cm id="{5656D0BA-DB89-4338-94D7-5472D6607A8B}" authorId="{883C701C-0B02-F39B-CF72-564DBC6FBC27}" created="2026-07-12T15:15:49.256">
    <ac:txMkLst xmlns:ac="http://schemas.microsoft.com/office/drawing/2013/main/command">
      <pc:docMk xmlns:pc="http://schemas.microsoft.com/office/powerpoint/2013/main/command"/>
      <pc:sldMk xmlns:pc="http://schemas.microsoft.com/office/powerpoint/2013/main/command" cId="3134525756" sldId="260"/>
      <ac:spMk id="39" creationId="{F1DD7E1F-42A6-F91B-C72E-D76F811C8E7D}"/>
      <ac:txMk cp="303">
        <ac:context len="698" hash="853012638"/>
      </ac:txMk>
    </ac:txMkLst>
    <p188:pos x="8502651" y="5589587"/>
    <p188:txBody>
      <a:bodyPr/>
      <a:lstStyle/>
      <a:p>
        <a:r>
          <a:rPr lang="en-DE"/>
          <a:t>Dichte Supervision (One-to-Many): Beim Training darf ein echtes Objekt vielen Vorhersage-Kandidaten gleichzeitig als Lernziel zugewiesen werden — z.B. lernen 10 Kandidaten gleichzeitig "hier ist die Person". Viele Zuordnungen = viele Lernsignale pro Bild ("dicht") = schnelleres, stabileres Lernen. Nachteil: erzeugt viele Duplikate, die klassisch per NMS gefiltert werden müssten.
Inferenzpfad (One-to-One): Der Zweig, der später im echten Einsatz benutzt wird. Er bekommt im Training pro Objekt nur genau eine Zuordnung — er lernt also von vornherein, nur eine Detektion pro Person auszugeben. Deshalb braucht er bei der Inferenz kein NMS. Der One-to-Many-Zweig ist nur Trainingshilfe und wird danach weggeworfen.</a:t>
        </a:r>
      </a:p>
    </p188:txBody>
  </p188:cm>
  <p188:cm id="{A5B4B334-CD37-46D3-8717-3521BE4A02BE}" authorId="{883C701C-0B02-F39B-CF72-564DBC6FBC27}" created="2026-07-12T15:18:42.540">
    <ac:txMkLst xmlns:ac="http://schemas.microsoft.com/office/drawing/2013/main/command">
      <pc:docMk xmlns:pc="http://schemas.microsoft.com/office/powerpoint/2013/main/command"/>
      <pc:sldMk xmlns:pc="http://schemas.microsoft.com/office/powerpoint/2013/main/command" cId="3134525756" sldId="260"/>
      <ac:spMk id="39" creationId="{F1DD7E1F-42A6-F91B-C72E-D76F811C8E7D}"/>
      <ac:txMk cp="637">
        <ac:context len="698" hash="853012638"/>
      </ac:txMk>
    </ac:txMkLst>
    <p188:pos x="8483601" y="9704387"/>
    <p188:txBody>
      <a:bodyPr/>
      <a:lstStyle/>
      <a:p>
        <a:r>
          <a:rPr lang="en-DE"/>
          <a:t>Direkte Box-Regression (kein DFL): DFL (Distribution Focal Loss, in YOLOv8/11) lässt das Netz für jede Boxkante nicht eine Zahl vorhersagen, sondern eine Wahrscheinlichkeitsverteilung über viele mögliche Positionen (z.B. 16 Bins pro Kante), aus der die Koordinate dann per Erwartungswert berechnet wird. YOLO26 wirft das raus: Das Netz sagt die vier Boxwerte wieder direkt als Zahlen voraus. Ergebnis: kleinerer Head, weniger Rechenschritte, einfacher auf Edge-Hardware exportierbar — bei praktisch gleicher Genauigkeit, weil die anderen Verbesserungen (STAL, ProgLoss) den Verlust ausgleichen.</a:t>
        </a:r>
      </a:p>
    </p188:txBody>
  </p188:cm>
  <p188:cm id="{AAE133F4-C6DE-412D-A467-7CE58F0032DC}" authorId="{883C701C-0B02-F39B-CF72-564DBC6FBC27}" created="2026-07-13T09:18:13.208">
    <ac:deMkLst xmlns:ac="http://schemas.microsoft.com/office/drawing/2013/main/command">
      <pc:docMk xmlns:pc="http://schemas.microsoft.com/office/powerpoint/2013/main/command"/>
      <pc:sldMk xmlns:pc="http://schemas.microsoft.com/office/powerpoint/2013/main/command" cId="3134525756" sldId="260"/>
      <ac:spMk id="12" creationId="{DAE0684C-8DCD-41C3-0BBD-D9F15E2236F9}"/>
    </ac:deMkLst>
    <p188:txBody>
      <a:bodyPr/>
      <a:lstStyle/>
      <a:p>
        <a:r>
          <a:rPr lang="en-DE"/>
          <a:t>Kürzen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22954-707F-45A3-A81E-7C5EAFCF9BA8}" type="datetimeFigureOut">
              <a:rPr lang="en-DE" smtClean="0"/>
              <a:t>13/07/2026</a:t>
            </a:fld>
            <a:endParaRPr lang="en-DE"/>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0DDE1C-308F-41E3-A091-2C1B943761A4}" type="slidenum">
              <a:rPr lang="en-DE" smtClean="0"/>
              <a:t>‹#›</a:t>
            </a:fld>
            <a:endParaRPr lang="en-DE"/>
          </a:p>
        </p:txBody>
      </p:sp>
    </p:spTree>
    <p:extLst>
      <p:ext uri="{BB962C8B-B14F-4D97-AF65-F5344CB8AC3E}">
        <p14:creationId xmlns:p14="http://schemas.microsoft.com/office/powerpoint/2010/main" val="2766181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5861650"/>
            <a:ext cx="3787774"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6" y="12241213"/>
            <a:ext cx="3787774" cy="2998787"/>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27" name="Textplatzhalter 8">
            <a:extLst>
              <a:ext uri="{FF2B5EF4-FFF2-40B4-BE49-F238E27FC236}">
                <a16:creationId xmlns:a16="http://schemas.microsoft.com/office/drawing/2014/main" id="{FE86947B-B380-4168-B2C6-6D588F4FF498}"/>
              </a:ext>
            </a:extLst>
          </p:cNvPr>
          <p:cNvSpPr>
            <a:spLocks noGrp="1"/>
          </p:cNvSpPr>
          <p:nvPr>
            <p:ph type="body" sz="quarter" idx="63"/>
          </p:nvPr>
        </p:nvSpPr>
        <p:spPr>
          <a:xfrm>
            <a:off x="6215064"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8" name="Textplatzhalter 10">
            <a:extLst>
              <a:ext uri="{FF2B5EF4-FFF2-40B4-BE49-F238E27FC236}">
                <a16:creationId xmlns:a16="http://schemas.microsoft.com/office/drawing/2014/main" id="{E3048539-9747-4AE4-844D-82605FF843C1}"/>
              </a:ext>
            </a:extLst>
          </p:cNvPr>
          <p:cNvSpPr>
            <a:spLocks noGrp="1"/>
          </p:cNvSpPr>
          <p:nvPr>
            <p:ph type="body" sz="quarter" idx="64"/>
          </p:nvPr>
        </p:nvSpPr>
        <p:spPr>
          <a:xfrm>
            <a:off x="6215064" y="15861650"/>
            <a:ext cx="3787774" cy="1070435"/>
          </a:xfrm>
        </p:spPr>
        <p:txBody>
          <a:bodyPr/>
          <a:lstStyle>
            <a:lvl1pPr>
              <a:defRPr sz="3500">
                <a:latin typeface="+mj-lt"/>
              </a:defRPr>
            </a:lvl1pPr>
          </a:lstStyle>
          <a:p>
            <a:pPr lvl="0"/>
            <a:r>
              <a:rPr lang="de-DE" dirty="0"/>
              <a:t>Mastertextformat bearbeiten</a:t>
            </a:r>
          </a:p>
        </p:txBody>
      </p:sp>
      <p:sp>
        <p:nvSpPr>
          <p:cNvPr id="29" name="Bildplatzhalter 20">
            <a:extLst>
              <a:ext uri="{FF2B5EF4-FFF2-40B4-BE49-F238E27FC236}">
                <a16:creationId xmlns:a16="http://schemas.microsoft.com/office/drawing/2014/main" id="{CC6569E0-D1A6-4C8C-A2AF-AA22B43C25F3}"/>
              </a:ext>
            </a:extLst>
          </p:cNvPr>
          <p:cNvSpPr>
            <a:spLocks noGrp="1"/>
          </p:cNvSpPr>
          <p:nvPr>
            <p:ph type="pic" sz="quarter" idx="65"/>
          </p:nvPr>
        </p:nvSpPr>
        <p:spPr>
          <a:xfrm>
            <a:off x="6215064" y="12241213"/>
            <a:ext cx="3787774" cy="2998787"/>
          </a:xfrm>
        </p:spPr>
        <p:txBody>
          <a:bodyPr/>
          <a:lstStyle/>
          <a:p>
            <a:endParaRPr lang="de-DE"/>
          </a:p>
        </p:txBody>
      </p:sp>
      <p:sp>
        <p:nvSpPr>
          <p:cNvPr id="30" name="Textplatzhalter 8">
            <a:extLst>
              <a:ext uri="{FF2B5EF4-FFF2-40B4-BE49-F238E27FC236}">
                <a16:creationId xmlns:a16="http://schemas.microsoft.com/office/drawing/2014/main" id="{CA7635B7-8B6E-4DAD-9503-EBD4B17E2EE3}"/>
              </a:ext>
            </a:extLst>
          </p:cNvPr>
          <p:cNvSpPr>
            <a:spLocks noGrp="1"/>
          </p:cNvSpPr>
          <p:nvPr>
            <p:ph type="body" sz="quarter" idx="66"/>
          </p:nvPr>
        </p:nvSpPr>
        <p:spPr>
          <a:xfrm>
            <a:off x="10929938"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1" name="Textplatzhalter 10">
            <a:extLst>
              <a:ext uri="{FF2B5EF4-FFF2-40B4-BE49-F238E27FC236}">
                <a16:creationId xmlns:a16="http://schemas.microsoft.com/office/drawing/2014/main" id="{CC0819F6-6651-4936-8BAE-ADF90CA46DB1}"/>
              </a:ext>
            </a:extLst>
          </p:cNvPr>
          <p:cNvSpPr>
            <a:spLocks noGrp="1"/>
          </p:cNvSpPr>
          <p:nvPr>
            <p:ph type="body" sz="quarter" idx="67"/>
          </p:nvPr>
        </p:nvSpPr>
        <p:spPr>
          <a:xfrm>
            <a:off x="10929938" y="15861650"/>
            <a:ext cx="3787774" cy="1070435"/>
          </a:xfrm>
        </p:spPr>
        <p:txBody>
          <a:bodyPr/>
          <a:lstStyle>
            <a:lvl1pPr>
              <a:defRPr sz="3500">
                <a:latin typeface="+mj-lt"/>
              </a:defRPr>
            </a:lvl1pPr>
          </a:lstStyle>
          <a:p>
            <a:pPr lvl="0"/>
            <a:r>
              <a:rPr lang="de-DE" dirty="0"/>
              <a:t>Mastertextformat bearbeiten</a:t>
            </a:r>
          </a:p>
        </p:txBody>
      </p:sp>
      <p:sp>
        <p:nvSpPr>
          <p:cNvPr id="32" name="Bildplatzhalter 20">
            <a:extLst>
              <a:ext uri="{FF2B5EF4-FFF2-40B4-BE49-F238E27FC236}">
                <a16:creationId xmlns:a16="http://schemas.microsoft.com/office/drawing/2014/main" id="{8BFD94FD-6F3C-4178-802B-DFE880DD0DD3}"/>
              </a:ext>
            </a:extLst>
          </p:cNvPr>
          <p:cNvSpPr>
            <a:spLocks noGrp="1"/>
          </p:cNvSpPr>
          <p:nvPr>
            <p:ph type="pic" sz="quarter" idx="68"/>
          </p:nvPr>
        </p:nvSpPr>
        <p:spPr>
          <a:xfrm>
            <a:off x="10929938" y="12241213"/>
            <a:ext cx="3787774" cy="2998787"/>
          </a:xfrm>
        </p:spPr>
        <p:txBody>
          <a:bodyPr/>
          <a:lstStyle/>
          <a:p>
            <a:endParaRPr lang="de-DE"/>
          </a:p>
        </p:txBody>
      </p:sp>
      <p:sp>
        <p:nvSpPr>
          <p:cNvPr id="33" name="Textplatzhalter 8">
            <a:extLst>
              <a:ext uri="{FF2B5EF4-FFF2-40B4-BE49-F238E27FC236}">
                <a16:creationId xmlns:a16="http://schemas.microsoft.com/office/drawing/2014/main" id="{E28C2E31-045C-4878-8E5D-E34733BC7251}"/>
              </a:ext>
            </a:extLst>
          </p:cNvPr>
          <p:cNvSpPr>
            <a:spLocks noGrp="1"/>
          </p:cNvSpPr>
          <p:nvPr>
            <p:ph type="body" sz="quarter" idx="69"/>
          </p:nvPr>
        </p:nvSpPr>
        <p:spPr>
          <a:xfrm>
            <a:off x="15617826"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Textplatzhalter 10">
            <a:extLst>
              <a:ext uri="{FF2B5EF4-FFF2-40B4-BE49-F238E27FC236}">
                <a16:creationId xmlns:a16="http://schemas.microsoft.com/office/drawing/2014/main" id="{513AB96F-7C08-4025-AC97-FEBCA22ECA0D}"/>
              </a:ext>
            </a:extLst>
          </p:cNvPr>
          <p:cNvSpPr>
            <a:spLocks noGrp="1"/>
          </p:cNvSpPr>
          <p:nvPr>
            <p:ph type="body" sz="quarter" idx="70"/>
          </p:nvPr>
        </p:nvSpPr>
        <p:spPr>
          <a:xfrm>
            <a:off x="15617826" y="15861650"/>
            <a:ext cx="3787774" cy="1070435"/>
          </a:xfrm>
        </p:spPr>
        <p:txBody>
          <a:bodyPr/>
          <a:lstStyle>
            <a:lvl1pPr>
              <a:defRPr sz="3500">
                <a:latin typeface="+mj-lt"/>
              </a:defRPr>
            </a:lvl1pPr>
          </a:lstStyle>
          <a:p>
            <a:pPr lvl="0"/>
            <a:r>
              <a:rPr lang="de-DE" dirty="0"/>
              <a:t>Mastertextformat bearbeiten</a:t>
            </a:r>
          </a:p>
        </p:txBody>
      </p:sp>
      <p:sp>
        <p:nvSpPr>
          <p:cNvPr id="35" name="Bildplatzhalter 20">
            <a:extLst>
              <a:ext uri="{FF2B5EF4-FFF2-40B4-BE49-F238E27FC236}">
                <a16:creationId xmlns:a16="http://schemas.microsoft.com/office/drawing/2014/main" id="{2FD43F75-1260-4060-9989-2830BB07F2B0}"/>
              </a:ext>
            </a:extLst>
          </p:cNvPr>
          <p:cNvSpPr>
            <a:spLocks noGrp="1"/>
          </p:cNvSpPr>
          <p:nvPr>
            <p:ph type="pic" sz="quarter" idx="71"/>
          </p:nvPr>
        </p:nvSpPr>
        <p:spPr>
          <a:xfrm>
            <a:off x="15617826" y="12241213"/>
            <a:ext cx="3787774" cy="2998787"/>
          </a:xfrm>
        </p:spPr>
        <p:txBody>
          <a:bodyPr/>
          <a:lstStyle/>
          <a:p>
            <a:endParaRPr lang="de-DE"/>
          </a:p>
        </p:txBody>
      </p:sp>
      <p:sp>
        <p:nvSpPr>
          <p:cNvPr id="36" name="Textplatzhalter 8">
            <a:extLst>
              <a:ext uri="{FF2B5EF4-FFF2-40B4-BE49-F238E27FC236}">
                <a16:creationId xmlns:a16="http://schemas.microsoft.com/office/drawing/2014/main" id="{1C8D302D-BB80-4A5F-B627-BCEAC28D9BE5}"/>
              </a:ext>
            </a:extLst>
          </p:cNvPr>
          <p:cNvSpPr>
            <a:spLocks noGrp="1"/>
          </p:cNvSpPr>
          <p:nvPr>
            <p:ph type="body" sz="quarter" idx="72"/>
          </p:nvPr>
        </p:nvSpPr>
        <p:spPr>
          <a:xfrm>
            <a:off x="20305714"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Textplatzhalter 10">
            <a:extLst>
              <a:ext uri="{FF2B5EF4-FFF2-40B4-BE49-F238E27FC236}">
                <a16:creationId xmlns:a16="http://schemas.microsoft.com/office/drawing/2014/main" id="{92AC6313-7295-4439-AFC2-C7526CCBD181}"/>
              </a:ext>
            </a:extLst>
          </p:cNvPr>
          <p:cNvSpPr>
            <a:spLocks noGrp="1"/>
          </p:cNvSpPr>
          <p:nvPr>
            <p:ph type="body" sz="quarter" idx="73"/>
          </p:nvPr>
        </p:nvSpPr>
        <p:spPr>
          <a:xfrm>
            <a:off x="20305714" y="15861650"/>
            <a:ext cx="3787774" cy="1070435"/>
          </a:xfrm>
        </p:spPr>
        <p:txBody>
          <a:bodyPr/>
          <a:lstStyle>
            <a:lvl1pPr>
              <a:defRPr sz="3500">
                <a:latin typeface="+mj-lt"/>
              </a:defRPr>
            </a:lvl1pPr>
          </a:lstStyle>
          <a:p>
            <a:pPr lvl="0"/>
            <a:r>
              <a:rPr lang="de-DE" dirty="0"/>
              <a:t>Mastertextformat bearbeiten</a:t>
            </a:r>
          </a:p>
        </p:txBody>
      </p:sp>
      <p:sp>
        <p:nvSpPr>
          <p:cNvPr id="54" name="Bildplatzhalter 20">
            <a:extLst>
              <a:ext uri="{FF2B5EF4-FFF2-40B4-BE49-F238E27FC236}">
                <a16:creationId xmlns:a16="http://schemas.microsoft.com/office/drawing/2014/main" id="{43AFB24E-B6B6-4FFA-97A7-4E65CA9A9246}"/>
              </a:ext>
            </a:extLst>
          </p:cNvPr>
          <p:cNvSpPr>
            <a:spLocks noGrp="1"/>
          </p:cNvSpPr>
          <p:nvPr>
            <p:ph type="pic" sz="quarter" idx="74"/>
          </p:nvPr>
        </p:nvSpPr>
        <p:spPr>
          <a:xfrm>
            <a:off x="20305714" y="12241213"/>
            <a:ext cx="3787774" cy="2998787"/>
          </a:xfrm>
        </p:spPr>
        <p:txBody>
          <a:bodyPr/>
          <a:lstStyle/>
          <a:p>
            <a:endParaRPr lang="de-DE"/>
          </a:p>
        </p:txBody>
      </p:sp>
      <p:sp>
        <p:nvSpPr>
          <p:cNvPr id="55" name="Textplatzhalter 8">
            <a:extLst>
              <a:ext uri="{FF2B5EF4-FFF2-40B4-BE49-F238E27FC236}">
                <a16:creationId xmlns:a16="http://schemas.microsoft.com/office/drawing/2014/main" id="{D485A252-9206-4868-9E36-E34097CA7F2B}"/>
              </a:ext>
            </a:extLst>
          </p:cNvPr>
          <p:cNvSpPr>
            <a:spLocks noGrp="1"/>
          </p:cNvSpPr>
          <p:nvPr>
            <p:ph type="body" sz="quarter" idx="75"/>
          </p:nvPr>
        </p:nvSpPr>
        <p:spPr>
          <a:xfrm>
            <a:off x="24993602" y="16932085"/>
            <a:ext cx="3787774"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6" name="Textplatzhalter 10">
            <a:extLst>
              <a:ext uri="{FF2B5EF4-FFF2-40B4-BE49-F238E27FC236}">
                <a16:creationId xmlns:a16="http://schemas.microsoft.com/office/drawing/2014/main" id="{FA3202FB-CDDB-4EAF-9E23-39253F9427C8}"/>
              </a:ext>
            </a:extLst>
          </p:cNvPr>
          <p:cNvSpPr>
            <a:spLocks noGrp="1"/>
          </p:cNvSpPr>
          <p:nvPr>
            <p:ph type="body" sz="quarter" idx="76"/>
          </p:nvPr>
        </p:nvSpPr>
        <p:spPr>
          <a:xfrm>
            <a:off x="24993602" y="15861650"/>
            <a:ext cx="3787774" cy="1070435"/>
          </a:xfrm>
        </p:spPr>
        <p:txBody>
          <a:bodyPr/>
          <a:lstStyle>
            <a:lvl1pPr>
              <a:defRPr sz="3500">
                <a:latin typeface="+mj-lt"/>
              </a:defRPr>
            </a:lvl1pPr>
          </a:lstStyle>
          <a:p>
            <a:pPr lvl="0"/>
            <a:r>
              <a:rPr lang="de-DE" dirty="0"/>
              <a:t>Mastertextformat bearbeiten</a:t>
            </a:r>
          </a:p>
        </p:txBody>
      </p:sp>
      <p:sp>
        <p:nvSpPr>
          <p:cNvPr id="57" name="Bildplatzhalter 20">
            <a:extLst>
              <a:ext uri="{FF2B5EF4-FFF2-40B4-BE49-F238E27FC236}">
                <a16:creationId xmlns:a16="http://schemas.microsoft.com/office/drawing/2014/main" id="{E162986F-6BC1-42F6-A855-E4F4D551CDBD}"/>
              </a:ext>
            </a:extLst>
          </p:cNvPr>
          <p:cNvSpPr>
            <a:spLocks noGrp="1"/>
          </p:cNvSpPr>
          <p:nvPr>
            <p:ph type="pic" sz="quarter" idx="77"/>
          </p:nvPr>
        </p:nvSpPr>
        <p:spPr>
          <a:xfrm>
            <a:off x="24993602" y="12241213"/>
            <a:ext cx="3787774" cy="2998787"/>
          </a:xfrm>
        </p:spPr>
        <p:txBody>
          <a:bodyPr/>
          <a:lstStyle/>
          <a:p>
            <a:endParaRPr lang="de-DE"/>
          </a:p>
        </p:txBody>
      </p:sp>
    </p:spTree>
    <p:extLst>
      <p:ext uri="{BB962C8B-B14F-4D97-AF65-F5344CB8AC3E}">
        <p14:creationId xmlns:p14="http://schemas.microsoft.com/office/powerpoint/2010/main" val="2882854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8472488"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6" y="12241213"/>
            <a:ext cx="8472488"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38" name="Bildplatzhalter 20">
            <a:extLst>
              <a:ext uri="{FF2B5EF4-FFF2-40B4-BE49-F238E27FC236}">
                <a16:creationId xmlns:a16="http://schemas.microsoft.com/office/drawing/2014/main" id="{5CE716E0-3005-433E-A2AF-FBFEFF08499D}"/>
              </a:ext>
            </a:extLst>
          </p:cNvPr>
          <p:cNvSpPr>
            <a:spLocks noGrp="1"/>
          </p:cNvSpPr>
          <p:nvPr>
            <p:ph type="pic" sz="quarter" idx="47"/>
          </p:nvPr>
        </p:nvSpPr>
        <p:spPr>
          <a:xfrm>
            <a:off x="10920412" y="12241213"/>
            <a:ext cx="8472488" cy="5840412"/>
          </a:xfrm>
        </p:spPr>
        <p:txBody>
          <a:bodyPr/>
          <a:lstStyle/>
          <a:p>
            <a:endParaRPr lang="de-DE"/>
          </a:p>
        </p:txBody>
      </p:sp>
      <p:sp>
        <p:nvSpPr>
          <p:cNvPr id="39" name="Bildplatzhalter 20">
            <a:extLst>
              <a:ext uri="{FF2B5EF4-FFF2-40B4-BE49-F238E27FC236}">
                <a16:creationId xmlns:a16="http://schemas.microsoft.com/office/drawing/2014/main" id="{DFA93CF6-E69D-4693-B488-5A8B554EAB0D}"/>
              </a:ext>
            </a:extLst>
          </p:cNvPr>
          <p:cNvSpPr>
            <a:spLocks noGrp="1"/>
          </p:cNvSpPr>
          <p:nvPr>
            <p:ph type="pic" sz="quarter" idx="48"/>
          </p:nvPr>
        </p:nvSpPr>
        <p:spPr>
          <a:xfrm>
            <a:off x="20243799" y="12241213"/>
            <a:ext cx="8472488" cy="5840412"/>
          </a:xfrm>
        </p:spPr>
        <p:txBody>
          <a:bodyPr/>
          <a:lstStyle/>
          <a:p>
            <a:endParaRPr lang="de-DE"/>
          </a:p>
        </p:txBody>
      </p:sp>
      <p:sp>
        <p:nvSpPr>
          <p:cNvPr id="40" name="Textplatzhalter 8">
            <a:extLst>
              <a:ext uri="{FF2B5EF4-FFF2-40B4-BE49-F238E27FC236}">
                <a16:creationId xmlns:a16="http://schemas.microsoft.com/office/drawing/2014/main" id="{04EACFA9-FA3A-4307-BE09-96F4EC629C45}"/>
              </a:ext>
            </a:extLst>
          </p:cNvPr>
          <p:cNvSpPr>
            <a:spLocks noGrp="1"/>
          </p:cNvSpPr>
          <p:nvPr>
            <p:ph type="body" sz="quarter" idx="49"/>
          </p:nvPr>
        </p:nvSpPr>
        <p:spPr>
          <a:xfrm>
            <a:off x="10929937"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1" name="Textplatzhalter 10">
            <a:extLst>
              <a:ext uri="{FF2B5EF4-FFF2-40B4-BE49-F238E27FC236}">
                <a16:creationId xmlns:a16="http://schemas.microsoft.com/office/drawing/2014/main" id="{A014DD47-6961-4934-BFA1-3AC053778D5B}"/>
              </a:ext>
            </a:extLst>
          </p:cNvPr>
          <p:cNvSpPr>
            <a:spLocks noGrp="1"/>
          </p:cNvSpPr>
          <p:nvPr>
            <p:ph type="body" sz="quarter" idx="50"/>
          </p:nvPr>
        </p:nvSpPr>
        <p:spPr>
          <a:xfrm>
            <a:off x="10929937" y="19002544"/>
            <a:ext cx="8472488" cy="1070435"/>
          </a:xfrm>
        </p:spPr>
        <p:txBody>
          <a:bodyPr/>
          <a:lstStyle>
            <a:lvl1pPr>
              <a:defRPr sz="3500">
                <a:latin typeface="+mj-lt"/>
              </a:defRPr>
            </a:lvl1pPr>
          </a:lstStyle>
          <a:p>
            <a:pPr lvl="0"/>
            <a:r>
              <a:rPr lang="de-DE" dirty="0"/>
              <a:t>Mastertextformat bearbeiten</a:t>
            </a:r>
          </a:p>
        </p:txBody>
      </p:sp>
      <p:sp>
        <p:nvSpPr>
          <p:cNvPr id="42" name="Textplatzhalter 8">
            <a:extLst>
              <a:ext uri="{FF2B5EF4-FFF2-40B4-BE49-F238E27FC236}">
                <a16:creationId xmlns:a16="http://schemas.microsoft.com/office/drawing/2014/main" id="{A4E386FA-7EF6-4D1D-99A9-C9AAB2318048}"/>
              </a:ext>
            </a:extLst>
          </p:cNvPr>
          <p:cNvSpPr>
            <a:spLocks noGrp="1"/>
          </p:cNvSpPr>
          <p:nvPr>
            <p:ph type="body" sz="quarter" idx="51"/>
          </p:nvPr>
        </p:nvSpPr>
        <p:spPr>
          <a:xfrm>
            <a:off x="20272375" y="20072979"/>
            <a:ext cx="847248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3" name="Textplatzhalter 10">
            <a:extLst>
              <a:ext uri="{FF2B5EF4-FFF2-40B4-BE49-F238E27FC236}">
                <a16:creationId xmlns:a16="http://schemas.microsoft.com/office/drawing/2014/main" id="{C6A53706-557A-4841-A654-261F215CF782}"/>
              </a:ext>
            </a:extLst>
          </p:cNvPr>
          <p:cNvSpPr>
            <a:spLocks noGrp="1"/>
          </p:cNvSpPr>
          <p:nvPr>
            <p:ph type="body" sz="quarter" idx="52"/>
          </p:nvPr>
        </p:nvSpPr>
        <p:spPr>
          <a:xfrm>
            <a:off x="20272375" y="19002544"/>
            <a:ext cx="8472488" cy="1070435"/>
          </a:xfrm>
        </p:spPr>
        <p:txBody>
          <a:bodyPr/>
          <a:lstStyle>
            <a:lvl1pPr>
              <a:defRPr sz="3500">
                <a:latin typeface="+mj-lt"/>
              </a:defRPr>
            </a:lvl1pPr>
          </a:lstStyle>
          <a:p>
            <a:pPr lvl="0"/>
            <a:r>
              <a:rPr lang="de-DE" dirty="0"/>
              <a:t>Mastertextformat bearbeiten</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Tree>
    <p:extLst>
      <p:ext uri="{BB962C8B-B14F-4D97-AF65-F5344CB8AC3E}">
        <p14:creationId xmlns:p14="http://schemas.microsoft.com/office/powerpoint/2010/main" val="516121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1316354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13163548"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5" y="12241213"/>
            <a:ext cx="13163549"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27" name="Textplatzhalter 8">
            <a:extLst>
              <a:ext uri="{FF2B5EF4-FFF2-40B4-BE49-F238E27FC236}">
                <a16:creationId xmlns:a16="http://schemas.microsoft.com/office/drawing/2014/main" id="{8D3EFA92-8397-49B8-A184-88E22031199B}"/>
              </a:ext>
            </a:extLst>
          </p:cNvPr>
          <p:cNvSpPr>
            <a:spLocks noGrp="1"/>
          </p:cNvSpPr>
          <p:nvPr>
            <p:ph type="body" sz="quarter" idx="63"/>
          </p:nvPr>
        </p:nvSpPr>
        <p:spPr>
          <a:xfrm>
            <a:off x="15617825" y="20072979"/>
            <a:ext cx="13163548"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28" name="Textplatzhalter 10">
            <a:extLst>
              <a:ext uri="{FF2B5EF4-FFF2-40B4-BE49-F238E27FC236}">
                <a16:creationId xmlns:a16="http://schemas.microsoft.com/office/drawing/2014/main" id="{1396AE20-1E1B-4A46-8ADA-7374BF1436CD}"/>
              </a:ext>
            </a:extLst>
          </p:cNvPr>
          <p:cNvSpPr>
            <a:spLocks noGrp="1"/>
          </p:cNvSpPr>
          <p:nvPr>
            <p:ph type="body" sz="quarter" idx="64"/>
          </p:nvPr>
        </p:nvSpPr>
        <p:spPr>
          <a:xfrm>
            <a:off x="15617825" y="19002544"/>
            <a:ext cx="13163548" cy="1070435"/>
          </a:xfrm>
        </p:spPr>
        <p:txBody>
          <a:bodyPr/>
          <a:lstStyle>
            <a:lvl1pPr>
              <a:defRPr sz="3500">
                <a:latin typeface="+mj-lt"/>
              </a:defRPr>
            </a:lvl1pPr>
          </a:lstStyle>
          <a:p>
            <a:pPr lvl="0"/>
            <a:r>
              <a:rPr lang="de-DE" dirty="0"/>
              <a:t>Mastertextformat bearbeiten</a:t>
            </a:r>
          </a:p>
        </p:txBody>
      </p:sp>
      <p:sp>
        <p:nvSpPr>
          <p:cNvPr id="29" name="Bildplatzhalter 20">
            <a:extLst>
              <a:ext uri="{FF2B5EF4-FFF2-40B4-BE49-F238E27FC236}">
                <a16:creationId xmlns:a16="http://schemas.microsoft.com/office/drawing/2014/main" id="{468A17C8-511B-4D3F-BC2F-BECCB4B8D5CE}"/>
              </a:ext>
            </a:extLst>
          </p:cNvPr>
          <p:cNvSpPr>
            <a:spLocks noGrp="1"/>
          </p:cNvSpPr>
          <p:nvPr>
            <p:ph type="pic" sz="quarter" idx="65"/>
          </p:nvPr>
        </p:nvSpPr>
        <p:spPr>
          <a:xfrm>
            <a:off x="15617825" y="12241213"/>
            <a:ext cx="13163549" cy="5840412"/>
          </a:xfrm>
        </p:spPr>
        <p:txBody>
          <a:bodyPr/>
          <a:lstStyle/>
          <a:p>
            <a:endParaRPr lang="de-DE"/>
          </a:p>
        </p:txBody>
      </p:sp>
    </p:spTree>
    <p:extLst>
      <p:ext uri="{BB962C8B-B14F-4D97-AF65-F5344CB8AC3E}">
        <p14:creationId xmlns:p14="http://schemas.microsoft.com/office/powerpoint/2010/main" val="193614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p:cNvSpPr>
            <a:spLocks noGrp="1"/>
          </p:cNvSpPr>
          <p:nvPr>
            <p:ph type="ctrTitle"/>
          </p:nvPr>
        </p:nvSpPr>
        <p:spPr>
          <a:xfrm>
            <a:off x="1527175" y="6127333"/>
            <a:ext cx="27217688" cy="2278904"/>
          </a:xfrm>
        </p:spPr>
        <p:txBody>
          <a:bodyPr anchor="t" anchorCtr="0"/>
          <a:lstStyle>
            <a:lvl1pPr algn="l">
              <a:defRPr sz="9900">
                <a:solidFill>
                  <a:schemeClr val="accent1"/>
                </a:solidFill>
              </a:defRPr>
            </a:lvl1pPr>
          </a:lstStyle>
          <a:p>
            <a:r>
              <a:rPr lang="de-DE" dirty="0"/>
              <a:t>Mastertitelformat bearbeiten</a:t>
            </a:r>
            <a:endParaRPr lang="en-US" dirty="0"/>
          </a:p>
        </p:txBody>
      </p:sp>
      <p:sp>
        <p:nvSpPr>
          <p:cNvPr id="3" name="Subtitle 2"/>
          <p:cNvSpPr>
            <a:spLocks noGrp="1"/>
          </p:cNvSpPr>
          <p:nvPr>
            <p:ph type="subTitle" idx="1"/>
          </p:nvPr>
        </p:nvSpPr>
        <p:spPr>
          <a:xfrm>
            <a:off x="1527175" y="7908120"/>
            <a:ext cx="27217688" cy="3654615"/>
          </a:xfrm>
        </p:spPr>
        <p:txBody>
          <a:bodyPr/>
          <a:lstStyle>
            <a:lvl1pPr marL="0" indent="0" algn="l">
              <a:lnSpc>
                <a:spcPct val="110000"/>
              </a:lnSpc>
              <a:spcBef>
                <a:spcPts val="0"/>
              </a:spcBef>
              <a:buNone/>
              <a:defRPr sz="4900">
                <a:solidFill>
                  <a:schemeClr val="accent1"/>
                </a:solidFill>
                <a:latin typeface="Noto Sans Medium" panose="020B0502040504020204" pitchFamily="34" charset="0"/>
                <a:ea typeface="Noto Sans Medium" panose="020B0502040504020204" pitchFamily="34" charset="0"/>
                <a:cs typeface="Noto Sans Medium" panose="020B0502040504020204" pitchFamily="34" charset="0"/>
              </a:defRPr>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de-DE" dirty="0"/>
              <a:t>Master-Untertitelformat bearbeiten</a:t>
            </a:r>
          </a:p>
        </p:txBody>
      </p:sp>
      <p:sp>
        <p:nvSpPr>
          <p:cNvPr id="9" name="Textplatzhalter 8">
            <a:extLst>
              <a:ext uri="{FF2B5EF4-FFF2-40B4-BE49-F238E27FC236}">
                <a16:creationId xmlns:a16="http://schemas.microsoft.com/office/drawing/2014/main" id="{F2D2C15A-C5CC-479E-95DE-6C257D4DB579}"/>
              </a:ext>
            </a:extLst>
          </p:cNvPr>
          <p:cNvSpPr>
            <a:spLocks noGrp="1"/>
          </p:cNvSpPr>
          <p:nvPr>
            <p:ph type="body" sz="quarter" idx="26"/>
          </p:nvPr>
        </p:nvSpPr>
        <p:spPr>
          <a:xfrm>
            <a:off x="1527176" y="20072979"/>
            <a:ext cx="27189110" cy="483777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10">
            <a:extLst>
              <a:ext uri="{FF2B5EF4-FFF2-40B4-BE49-F238E27FC236}">
                <a16:creationId xmlns:a16="http://schemas.microsoft.com/office/drawing/2014/main" id="{374EEC0A-3A97-451C-9C5F-25EEF114359D}"/>
              </a:ext>
            </a:extLst>
          </p:cNvPr>
          <p:cNvSpPr>
            <a:spLocks noGrp="1"/>
          </p:cNvSpPr>
          <p:nvPr>
            <p:ph type="body" sz="quarter" idx="27"/>
          </p:nvPr>
        </p:nvSpPr>
        <p:spPr>
          <a:xfrm>
            <a:off x="1527176" y="19002544"/>
            <a:ext cx="27189110" cy="1070435"/>
          </a:xfrm>
        </p:spPr>
        <p:txBody>
          <a:bodyPr/>
          <a:lstStyle>
            <a:lvl1pPr>
              <a:defRPr sz="3500">
                <a:latin typeface="+mj-lt"/>
              </a:defRPr>
            </a:lvl1pPr>
          </a:lstStyle>
          <a:p>
            <a:pPr lvl="0"/>
            <a:r>
              <a:rPr lang="de-DE" dirty="0"/>
              <a:t>Mastertextformat bearbeiten</a:t>
            </a:r>
          </a:p>
        </p:txBody>
      </p:sp>
      <p:pic>
        <p:nvPicPr>
          <p:cNvPr id="16" name="Grafik 15">
            <a:extLst>
              <a:ext uri="{FF2B5EF4-FFF2-40B4-BE49-F238E27FC236}">
                <a16:creationId xmlns:a16="http://schemas.microsoft.com/office/drawing/2014/main" id="{D12392B7-B1C8-4E48-9106-E4FB9A3F678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6815744" y="39854927"/>
            <a:ext cx="2577156" cy="1512148"/>
          </a:xfrm>
          <a:prstGeom prst="rect">
            <a:avLst/>
          </a:prstGeom>
        </p:spPr>
      </p:pic>
      <p:sp>
        <p:nvSpPr>
          <p:cNvPr id="19" name="Bildplatzhalter 18">
            <a:extLst>
              <a:ext uri="{FF2B5EF4-FFF2-40B4-BE49-F238E27FC236}">
                <a16:creationId xmlns:a16="http://schemas.microsoft.com/office/drawing/2014/main" id="{D8442930-DC10-448F-B2AB-26FFEC815EAF}"/>
              </a:ext>
            </a:extLst>
          </p:cNvPr>
          <p:cNvSpPr>
            <a:spLocks noGrp="1"/>
          </p:cNvSpPr>
          <p:nvPr>
            <p:ph type="pic" sz="quarter" idx="32" hasCustomPrompt="1"/>
          </p:nvPr>
        </p:nvSpPr>
        <p:spPr>
          <a:xfrm>
            <a:off x="27424063" y="40157400"/>
            <a:ext cx="1320800" cy="1209675"/>
          </a:xfrm>
        </p:spPr>
        <p:txBody>
          <a:bodyPr/>
          <a:lstStyle>
            <a:lvl1pPr>
              <a:defRPr/>
            </a:lvl1pPr>
          </a:lstStyle>
          <a:p>
            <a:r>
              <a:rPr lang="de-DE" dirty="0"/>
              <a:t>QR</a:t>
            </a:r>
          </a:p>
        </p:txBody>
      </p:sp>
      <p:sp>
        <p:nvSpPr>
          <p:cNvPr id="21" name="Bildplatzhalter 20">
            <a:extLst>
              <a:ext uri="{FF2B5EF4-FFF2-40B4-BE49-F238E27FC236}">
                <a16:creationId xmlns:a16="http://schemas.microsoft.com/office/drawing/2014/main" id="{59F9714F-DF20-4C39-B73B-CE4D5E16E468}"/>
              </a:ext>
            </a:extLst>
          </p:cNvPr>
          <p:cNvSpPr>
            <a:spLocks noGrp="1"/>
          </p:cNvSpPr>
          <p:nvPr>
            <p:ph type="pic" sz="quarter" idx="33"/>
          </p:nvPr>
        </p:nvSpPr>
        <p:spPr>
          <a:xfrm>
            <a:off x="1527175" y="12241213"/>
            <a:ext cx="27189111" cy="5840412"/>
          </a:xfrm>
        </p:spPr>
        <p:txBody>
          <a:bodyPr/>
          <a:lstStyle/>
          <a:p>
            <a:endParaRPr lang="de-DE"/>
          </a:p>
        </p:txBody>
      </p:sp>
      <p:sp>
        <p:nvSpPr>
          <p:cNvPr id="23" name="Bildplatzhalter 20">
            <a:extLst>
              <a:ext uri="{FF2B5EF4-FFF2-40B4-BE49-F238E27FC236}">
                <a16:creationId xmlns:a16="http://schemas.microsoft.com/office/drawing/2014/main" id="{082380FB-8629-4890-82B5-730266062116}"/>
              </a:ext>
            </a:extLst>
          </p:cNvPr>
          <p:cNvSpPr>
            <a:spLocks noGrp="1"/>
          </p:cNvSpPr>
          <p:nvPr>
            <p:ph type="pic" sz="quarter" idx="35"/>
          </p:nvPr>
        </p:nvSpPr>
        <p:spPr>
          <a:xfrm>
            <a:off x="1527175" y="25750735"/>
            <a:ext cx="3787776" cy="3864026"/>
          </a:xfrm>
        </p:spPr>
        <p:txBody>
          <a:bodyPr/>
          <a:lstStyle/>
          <a:p>
            <a:endParaRPr lang="de-DE"/>
          </a:p>
        </p:txBody>
      </p:sp>
      <p:sp>
        <p:nvSpPr>
          <p:cNvPr id="25" name="Textplatzhalter 24">
            <a:extLst>
              <a:ext uri="{FF2B5EF4-FFF2-40B4-BE49-F238E27FC236}">
                <a16:creationId xmlns:a16="http://schemas.microsoft.com/office/drawing/2014/main" id="{43DBC68F-8D02-4E37-9548-44456215765C}"/>
              </a:ext>
            </a:extLst>
          </p:cNvPr>
          <p:cNvSpPr>
            <a:spLocks noGrp="1"/>
          </p:cNvSpPr>
          <p:nvPr>
            <p:ph type="body" sz="quarter" idx="36"/>
          </p:nvPr>
        </p:nvSpPr>
        <p:spPr>
          <a:xfrm>
            <a:off x="152717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4" name="Bildplatzhalter 20">
            <a:extLst>
              <a:ext uri="{FF2B5EF4-FFF2-40B4-BE49-F238E27FC236}">
                <a16:creationId xmlns:a16="http://schemas.microsoft.com/office/drawing/2014/main" id="{820229CB-00B4-4881-9B43-614DCB303814}"/>
              </a:ext>
            </a:extLst>
          </p:cNvPr>
          <p:cNvSpPr>
            <a:spLocks noGrp="1"/>
          </p:cNvSpPr>
          <p:nvPr>
            <p:ph type="pic" sz="quarter" idx="53"/>
          </p:nvPr>
        </p:nvSpPr>
        <p:spPr>
          <a:xfrm>
            <a:off x="6215063" y="25750735"/>
            <a:ext cx="3787776" cy="3864026"/>
          </a:xfrm>
        </p:spPr>
        <p:txBody>
          <a:bodyPr/>
          <a:lstStyle/>
          <a:p>
            <a:endParaRPr lang="de-DE"/>
          </a:p>
        </p:txBody>
      </p:sp>
      <p:sp>
        <p:nvSpPr>
          <p:cNvPr id="45" name="Textplatzhalter 24">
            <a:extLst>
              <a:ext uri="{FF2B5EF4-FFF2-40B4-BE49-F238E27FC236}">
                <a16:creationId xmlns:a16="http://schemas.microsoft.com/office/drawing/2014/main" id="{F928C13A-0874-4025-BCD7-79B62C650F9C}"/>
              </a:ext>
            </a:extLst>
          </p:cNvPr>
          <p:cNvSpPr>
            <a:spLocks noGrp="1"/>
          </p:cNvSpPr>
          <p:nvPr>
            <p:ph type="body" sz="quarter" idx="54"/>
          </p:nvPr>
        </p:nvSpPr>
        <p:spPr>
          <a:xfrm>
            <a:off x="621506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6" name="Bildplatzhalter 20">
            <a:extLst>
              <a:ext uri="{FF2B5EF4-FFF2-40B4-BE49-F238E27FC236}">
                <a16:creationId xmlns:a16="http://schemas.microsoft.com/office/drawing/2014/main" id="{7F9044BE-69AD-427C-83BE-D9EA68BAF7C1}"/>
              </a:ext>
            </a:extLst>
          </p:cNvPr>
          <p:cNvSpPr>
            <a:spLocks noGrp="1"/>
          </p:cNvSpPr>
          <p:nvPr>
            <p:ph type="pic" sz="quarter" idx="55"/>
          </p:nvPr>
        </p:nvSpPr>
        <p:spPr>
          <a:xfrm>
            <a:off x="10929937" y="25750735"/>
            <a:ext cx="3787776" cy="3864026"/>
          </a:xfrm>
        </p:spPr>
        <p:txBody>
          <a:bodyPr/>
          <a:lstStyle/>
          <a:p>
            <a:endParaRPr lang="de-DE"/>
          </a:p>
        </p:txBody>
      </p:sp>
      <p:sp>
        <p:nvSpPr>
          <p:cNvPr id="47" name="Textplatzhalter 24">
            <a:extLst>
              <a:ext uri="{FF2B5EF4-FFF2-40B4-BE49-F238E27FC236}">
                <a16:creationId xmlns:a16="http://schemas.microsoft.com/office/drawing/2014/main" id="{194F3A0E-8BE7-4041-BF3F-96B4380AF593}"/>
              </a:ext>
            </a:extLst>
          </p:cNvPr>
          <p:cNvSpPr>
            <a:spLocks noGrp="1"/>
          </p:cNvSpPr>
          <p:nvPr>
            <p:ph type="body" sz="quarter" idx="56"/>
          </p:nvPr>
        </p:nvSpPr>
        <p:spPr>
          <a:xfrm>
            <a:off x="10929937"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48" name="Bildplatzhalter 20">
            <a:extLst>
              <a:ext uri="{FF2B5EF4-FFF2-40B4-BE49-F238E27FC236}">
                <a16:creationId xmlns:a16="http://schemas.microsoft.com/office/drawing/2014/main" id="{589BAC79-E1EC-4CB2-9776-6B10FB679035}"/>
              </a:ext>
            </a:extLst>
          </p:cNvPr>
          <p:cNvSpPr>
            <a:spLocks noGrp="1"/>
          </p:cNvSpPr>
          <p:nvPr>
            <p:ph type="pic" sz="quarter" idx="57"/>
          </p:nvPr>
        </p:nvSpPr>
        <p:spPr>
          <a:xfrm>
            <a:off x="15617825" y="25750735"/>
            <a:ext cx="3787776" cy="3864026"/>
          </a:xfrm>
        </p:spPr>
        <p:txBody>
          <a:bodyPr/>
          <a:lstStyle/>
          <a:p>
            <a:endParaRPr lang="de-DE"/>
          </a:p>
        </p:txBody>
      </p:sp>
      <p:sp>
        <p:nvSpPr>
          <p:cNvPr id="49" name="Textplatzhalter 24">
            <a:extLst>
              <a:ext uri="{FF2B5EF4-FFF2-40B4-BE49-F238E27FC236}">
                <a16:creationId xmlns:a16="http://schemas.microsoft.com/office/drawing/2014/main" id="{F13201F5-3439-4098-929A-786FAB649B86}"/>
              </a:ext>
            </a:extLst>
          </p:cNvPr>
          <p:cNvSpPr>
            <a:spLocks noGrp="1"/>
          </p:cNvSpPr>
          <p:nvPr>
            <p:ph type="body" sz="quarter" idx="58"/>
          </p:nvPr>
        </p:nvSpPr>
        <p:spPr>
          <a:xfrm>
            <a:off x="15617825"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0" name="Bildplatzhalter 20">
            <a:extLst>
              <a:ext uri="{FF2B5EF4-FFF2-40B4-BE49-F238E27FC236}">
                <a16:creationId xmlns:a16="http://schemas.microsoft.com/office/drawing/2014/main" id="{894F3E62-4262-4BCD-A309-8AEE4AC3844F}"/>
              </a:ext>
            </a:extLst>
          </p:cNvPr>
          <p:cNvSpPr>
            <a:spLocks noGrp="1"/>
          </p:cNvSpPr>
          <p:nvPr>
            <p:ph type="pic" sz="quarter" idx="59"/>
          </p:nvPr>
        </p:nvSpPr>
        <p:spPr>
          <a:xfrm>
            <a:off x="20240623" y="25750735"/>
            <a:ext cx="3787776" cy="3864026"/>
          </a:xfrm>
        </p:spPr>
        <p:txBody>
          <a:bodyPr/>
          <a:lstStyle/>
          <a:p>
            <a:endParaRPr lang="de-DE"/>
          </a:p>
        </p:txBody>
      </p:sp>
      <p:sp>
        <p:nvSpPr>
          <p:cNvPr id="51" name="Textplatzhalter 24">
            <a:extLst>
              <a:ext uri="{FF2B5EF4-FFF2-40B4-BE49-F238E27FC236}">
                <a16:creationId xmlns:a16="http://schemas.microsoft.com/office/drawing/2014/main" id="{E703CCBE-E5CB-4992-8C70-B0E1EF25CD2F}"/>
              </a:ext>
            </a:extLst>
          </p:cNvPr>
          <p:cNvSpPr>
            <a:spLocks noGrp="1"/>
          </p:cNvSpPr>
          <p:nvPr>
            <p:ph type="body" sz="quarter" idx="60"/>
          </p:nvPr>
        </p:nvSpPr>
        <p:spPr>
          <a:xfrm>
            <a:off x="20240623"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
        <p:nvSpPr>
          <p:cNvPr id="52" name="Bildplatzhalter 20">
            <a:extLst>
              <a:ext uri="{FF2B5EF4-FFF2-40B4-BE49-F238E27FC236}">
                <a16:creationId xmlns:a16="http://schemas.microsoft.com/office/drawing/2014/main" id="{560EE534-AB7E-4174-AAFA-904CBD52816D}"/>
              </a:ext>
            </a:extLst>
          </p:cNvPr>
          <p:cNvSpPr>
            <a:spLocks noGrp="1"/>
          </p:cNvSpPr>
          <p:nvPr>
            <p:ph type="pic" sz="quarter" idx="61"/>
          </p:nvPr>
        </p:nvSpPr>
        <p:spPr>
          <a:xfrm>
            <a:off x="24928511" y="25750735"/>
            <a:ext cx="3787776" cy="3864026"/>
          </a:xfrm>
        </p:spPr>
        <p:txBody>
          <a:bodyPr/>
          <a:lstStyle/>
          <a:p>
            <a:endParaRPr lang="de-DE"/>
          </a:p>
        </p:txBody>
      </p:sp>
      <p:sp>
        <p:nvSpPr>
          <p:cNvPr id="53" name="Textplatzhalter 24">
            <a:extLst>
              <a:ext uri="{FF2B5EF4-FFF2-40B4-BE49-F238E27FC236}">
                <a16:creationId xmlns:a16="http://schemas.microsoft.com/office/drawing/2014/main" id="{A873CC91-4F0E-4C14-9479-DBB5B7D1395B}"/>
              </a:ext>
            </a:extLst>
          </p:cNvPr>
          <p:cNvSpPr>
            <a:spLocks noGrp="1"/>
          </p:cNvSpPr>
          <p:nvPr>
            <p:ph type="body" sz="quarter" idx="62"/>
          </p:nvPr>
        </p:nvSpPr>
        <p:spPr>
          <a:xfrm>
            <a:off x="24928511" y="30027563"/>
            <a:ext cx="3787775" cy="3186112"/>
          </a:xfrm>
        </p:spPr>
        <p:txBody>
          <a:bodyPr/>
          <a:lstStyle>
            <a:lvl1pPr>
              <a:defRPr sz="16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Mastertextformat</a:t>
            </a:r>
          </a:p>
        </p:txBody>
      </p:sp>
    </p:spTree>
    <p:extLst>
      <p:ext uri="{BB962C8B-B14F-4D97-AF65-F5344CB8AC3E}">
        <p14:creationId xmlns:p14="http://schemas.microsoft.com/office/powerpoint/2010/main" val="912857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31913" y="2278913"/>
            <a:ext cx="27211388" cy="8273416"/>
          </a:xfrm>
          <a:prstGeom prst="rect">
            <a:avLst/>
          </a:prstGeom>
        </p:spPr>
        <p:txBody>
          <a:bodyPr vert="horz" lIns="0" tIns="0" rIns="0" bIns="0" rtlCol="0" anchor="ctr">
            <a:noAutofit/>
          </a:bodyPr>
          <a:lstStyle/>
          <a:p>
            <a:r>
              <a:rPr lang="de-DE" dirty="0"/>
              <a:t>Mastertitelformat bearbeiten</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11" name="Grafik 10">
            <a:extLst>
              <a:ext uri="{FF2B5EF4-FFF2-40B4-BE49-F238E27FC236}">
                <a16:creationId xmlns:a16="http://schemas.microsoft.com/office/drawing/2014/main" id="{F98ABACA-2EC6-4F9F-A361-2152D6054A6D}"/>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531912" y="1523974"/>
            <a:ext cx="9326593" cy="3113099"/>
          </a:xfrm>
          <a:prstGeom prst="rect">
            <a:avLst/>
          </a:prstGeom>
        </p:spPr>
      </p:pic>
    </p:spTree>
    <p:extLst>
      <p:ext uri="{BB962C8B-B14F-4D97-AF65-F5344CB8AC3E}">
        <p14:creationId xmlns:p14="http://schemas.microsoft.com/office/powerpoint/2010/main" val="4232207869"/>
      </p:ext>
    </p:extLst>
  </p:cSld>
  <p:clrMap bg1="lt1" tx1="dk1" bg2="lt2" tx2="dk2" accent1="accent1" accent2="accent2" accent3="accent3" accent4="accent4" accent5="accent5" accent6="accent6" hlink="hlink" folHlink="folHlink"/>
  <p:sldLayoutIdLst>
    <p:sldLayoutId id="2147483664" r:id="rId1"/>
    <p:sldLayoutId id="2147483661" r:id="rId2"/>
    <p:sldLayoutId id="2147483662" r:id="rId3"/>
    <p:sldLayoutId id="2147483663" r:id="rId4"/>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60" userDrawn="1">
          <p15:clr>
            <a:srgbClr val="F26B43"/>
          </p15:clr>
        </p15:guide>
        <p15:guide id="2" pos="9819" userDrawn="1">
          <p15:clr>
            <a:srgbClr val="F26B43"/>
          </p15:clr>
        </p15:guide>
        <p15:guide id="3" pos="962" userDrawn="1">
          <p15:clr>
            <a:srgbClr val="F26B43"/>
          </p15:clr>
        </p15:guide>
        <p15:guide id="4" pos="3348" userDrawn="1">
          <p15:clr>
            <a:srgbClr val="F26B43"/>
          </p15:clr>
        </p15:guide>
        <p15:guide id="5" pos="3915" userDrawn="1">
          <p15:clr>
            <a:srgbClr val="F26B43"/>
          </p15:clr>
        </p15:guide>
        <p15:guide id="6" pos="6299" userDrawn="1">
          <p15:clr>
            <a:srgbClr val="F26B43"/>
          </p15:clr>
        </p15:guide>
        <p15:guide id="7" pos="6866" userDrawn="1">
          <p15:clr>
            <a:srgbClr val="F26B43"/>
          </p15:clr>
        </p15:guide>
        <p15:guide id="8" pos="9254" userDrawn="1">
          <p15:clr>
            <a:srgbClr val="F26B43"/>
          </p15:clr>
        </p15:guide>
        <p15:guide id="9" pos="12216" userDrawn="1">
          <p15:clr>
            <a:srgbClr val="F26B43"/>
          </p15:clr>
        </p15:guide>
        <p15:guide id="10" pos="12770" userDrawn="1">
          <p15:clr>
            <a:srgbClr val="F26B43"/>
          </p15:clr>
        </p15:guide>
        <p15:guide id="11" pos="15167" userDrawn="1">
          <p15:clr>
            <a:srgbClr val="F26B43"/>
          </p15:clr>
        </p15:guide>
        <p15:guide id="12" pos="15725" userDrawn="1">
          <p15:clr>
            <a:srgbClr val="F26B43"/>
          </p15:clr>
        </p15:guide>
        <p15:guide id="13" pos="18107" userDrawn="1">
          <p15:clr>
            <a:srgbClr val="F26B43"/>
          </p15:clr>
        </p15:guide>
        <p15:guide id="14" orient="horz" pos="2605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6.svg"/><Relationship Id="rId12" Type="http://schemas.openxmlformats.org/officeDocument/2006/relationships/image" Target="../media/image11.jpg"/><Relationship Id="rId2" Type="http://schemas.microsoft.com/office/2018/10/relationships/comments" Target="../comments/modernComment_104_BAD5113C.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hyperlink" Target="https://arxiv.org/pdf/2606.03748" TargetMode="External"/><Relationship Id="rId9" Type="http://schemas.openxmlformats.org/officeDocument/2006/relationships/image" Target="../media/image8.png"/><Relationship Id="rId14" Type="http://schemas.openxmlformats.org/officeDocument/2006/relationships/image" Target="../media/image13.jp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arxiv.org/pdf/2606.03748?utm_source=chatgpt.com" TargetMode="External"/><Relationship Id="rId7" Type="http://schemas.openxmlformats.org/officeDocument/2006/relationships/image" Target="../media/image7.png"/><Relationship Id="rId2" Type="http://schemas.microsoft.com/office/2018/10/relationships/comments" Target="../comments/modernComment_103_6E82594D.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91F9-FCFD-3C64-A0B9-9DC46A3ACDD9}"/>
            </a:ext>
          </a:extLst>
        </p:cNvPr>
        <p:cNvGrpSpPr/>
        <p:nvPr/>
      </p:nvGrpSpPr>
      <p:grpSpPr>
        <a:xfrm>
          <a:off x="0" y="0"/>
          <a:ext cx="0" cy="0"/>
          <a:chOff x="0" y="0"/>
          <a:chExt cx="0" cy="0"/>
        </a:xfrm>
      </p:grpSpPr>
      <p:sp>
        <p:nvSpPr>
          <p:cNvPr id="30" name="Titel 29">
            <a:extLst>
              <a:ext uri="{FF2B5EF4-FFF2-40B4-BE49-F238E27FC236}">
                <a16:creationId xmlns:a16="http://schemas.microsoft.com/office/drawing/2014/main" id="{FFB7B594-289D-E063-DE6B-88F5809D6136}"/>
              </a:ext>
            </a:extLst>
          </p:cNvPr>
          <p:cNvSpPr>
            <a:spLocks noGrp="1"/>
          </p:cNvSpPr>
          <p:nvPr>
            <p:ph type="ctrTitle"/>
          </p:nvPr>
        </p:nvSpPr>
        <p:spPr/>
        <p:txBody>
          <a:bodyPr/>
          <a:lstStyle/>
          <a:p>
            <a:r>
              <a:rPr lang="de-DE" dirty="0"/>
              <a:t>Oberseminar Automatisierungstechnik SS2026</a:t>
            </a:r>
          </a:p>
        </p:txBody>
      </p:sp>
      <p:sp>
        <p:nvSpPr>
          <p:cNvPr id="31" name="Untertitel 30">
            <a:extLst>
              <a:ext uri="{FF2B5EF4-FFF2-40B4-BE49-F238E27FC236}">
                <a16:creationId xmlns:a16="http://schemas.microsoft.com/office/drawing/2014/main" id="{B5915197-2498-9FF3-A3A6-E72E4A29768E}"/>
              </a:ext>
            </a:extLst>
          </p:cNvPr>
          <p:cNvSpPr>
            <a:spLocks noGrp="1"/>
          </p:cNvSpPr>
          <p:nvPr>
            <p:ph type="subTitle" idx="1"/>
          </p:nvPr>
        </p:nvSpPr>
        <p:spPr/>
        <p:txBody>
          <a:bodyPr/>
          <a:lstStyle/>
          <a:p>
            <a:r>
              <a:rPr lang="en-DE" sz="6600" dirty="0"/>
              <a:t>YOLO26: Bestimmung von Objekt-Posen in Bildern</a:t>
            </a:r>
            <a:endParaRPr lang="en-US" sz="6600" dirty="0"/>
          </a:p>
          <a:p>
            <a:r>
              <a:rPr lang="de-DE" dirty="0"/>
              <a:t>Nguyen, Duc Hai; Loewe, Richard</a:t>
            </a:r>
          </a:p>
        </p:txBody>
      </p:sp>
      <p:sp>
        <p:nvSpPr>
          <p:cNvPr id="32" name="Textplatzhalter 31">
            <a:extLst>
              <a:ext uri="{FF2B5EF4-FFF2-40B4-BE49-F238E27FC236}">
                <a16:creationId xmlns:a16="http://schemas.microsoft.com/office/drawing/2014/main" id="{87D31E3C-4770-06CB-3DB1-B4DC27480A9A}"/>
              </a:ext>
            </a:extLst>
          </p:cNvPr>
          <p:cNvSpPr>
            <a:spLocks noGrp="1"/>
          </p:cNvSpPr>
          <p:nvPr>
            <p:ph type="body" sz="quarter" idx="26"/>
          </p:nvPr>
        </p:nvSpPr>
        <p:spPr>
          <a:xfrm>
            <a:off x="1558926" y="21997693"/>
            <a:ext cx="8472488" cy="7382309"/>
          </a:xfrm>
        </p:spPr>
        <p:txBody>
          <a:bodyPr/>
          <a:lstStyle/>
          <a:p>
            <a:r>
              <a:rPr lang="en-DE" b="1" dirty="0"/>
              <a:t>EINGANGSDATEN DES NETZES</a:t>
            </a:r>
            <a:endParaRPr lang="de-DE" b="1" dirty="0"/>
          </a:p>
          <a:p>
            <a:pPr>
              <a:spcBef>
                <a:spcPts val="1511"/>
              </a:spcBef>
            </a:pPr>
            <a:r>
              <a:rPr lang="de-DE" dirty="0"/>
              <a:t>Das neuronale Netz verarbeitet Bilder als Tensor der Form</a:t>
            </a:r>
          </a:p>
          <a:p>
            <a:pPr algn="ctr">
              <a:spcBef>
                <a:spcPts val="1511"/>
              </a:spcBef>
            </a:pPr>
            <a:r>
              <a:rPr lang="de-DE" dirty="0"/>
              <a:t>Höhe × Breite × Farbkanäle</a:t>
            </a:r>
          </a:p>
          <a:p>
            <a:pPr>
              <a:spcBef>
                <a:spcPts val="1511"/>
              </a:spcBef>
            </a:pPr>
            <a:r>
              <a:rPr lang="de-DE" dirty="0"/>
              <a:t>YOLO26 verwendet eine feste Eingangsgröße von 640 × 640 Pixeln mit drei RGB-Farbkanälen. Die Pixelwerte werden als 32-Bit-Gleitkommazahlen (float32) gespeichert:</a:t>
            </a:r>
          </a:p>
          <a:p>
            <a:pPr algn="ctr">
              <a:spcBef>
                <a:spcPts val="1511"/>
              </a:spcBef>
            </a:pPr>
            <a:r>
              <a:rPr lang="de-DE" dirty="0"/>
              <a:t>float32[640, 640, 3]</a:t>
            </a:r>
          </a:p>
          <a:p>
            <a:pPr>
              <a:spcBef>
                <a:spcPts val="1511"/>
              </a:spcBef>
            </a:pPr>
            <a:r>
              <a:rPr lang="de-DE" dirty="0"/>
              <a:t>Da Eingangsbilder in der Regel nicht quadratisch sind, werden sie mittels Padding auf die erforderliche Eingabegröße standardisiert. Hierzu wird das Bild zunächst unter Beibehaltung des Seitenverhältnisses auf eine maximale Kantenlänge von 640 Pixeln skaliert und anschließend mit schwarzen Randbereichen (Padding = 0) zu einem quadratischen Bild ergänzt.</a:t>
            </a:r>
          </a:p>
          <a:p>
            <a:endParaRPr lang="en-DE" b="1" dirty="0"/>
          </a:p>
        </p:txBody>
      </p:sp>
      <p:sp>
        <p:nvSpPr>
          <p:cNvPr id="35" name="Bildplatzhalter 34">
            <a:extLst>
              <a:ext uri="{FF2B5EF4-FFF2-40B4-BE49-F238E27FC236}">
                <a16:creationId xmlns:a16="http://schemas.microsoft.com/office/drawing/2014/main" id="{75857444-4912-0D64-D9A3-9F6B50536CBA}"/>
              </a:ext>
            </a:extLst>
          </p:cNvPr>
          <p:cNvSpPr>
            <a:spLocks noGrp="1"/>
          </p:cNvSpPr>
          <p:nvPr>
            <p:ph type="pic" sz="quarter" idx="33"/>
          </p:nvPr>
        </p:nvSpPr>
        <p:spPr>
          <a:xfrm>
            <a:off x="1527176" y="12241213"/>
            <a:ext cx="8472488" cy="5717307"/>
          </a:xfrm>
        </p:spPr>
        <p:txBody>
          <a:bodyPr/>
          <a:lstStyle/>
          <a:p>
            <a:r>
              <a:rPr lang="en-US" b="1" dirty="0"/>
              <a:t>MOTIVATION</a:t>
            </a:r>
          </a:p>
          <a:p>
            <a:pPr algn="just"/>
            <a:r>
              <a:rPr lang="de-DE" dirty="0"/>
              <a:t>Die Wahrnehmung und Interpretation der Umgebung ist eine zentrale Voraussetzung für die Navigation mobiler Roboter. Dynamische Objekte wie Personen erfordern dabei neben der Positionsbestimmung auch die Erfassung von Körperhaltung und Bewegungsabsicht. Die </a:t>
            </a:r>
            <a:r>
              <a:rPr lang="de-DE" dirty="0" err="1"/>
              <a:t>Keypoint</a:t>
            </a:r>
            <a:r>
              <a:rPr lang="de-DE" dirty="0"/>
              <a:t>-basierte </a:t>
            </a:r>
            <a:r>
              <a:rPr lang="de-DE" dirty="0" err="1"/>
              <a:t>Posenbestimmung</a:t>
            </a:r>
            <a:r>
              <a:rPr lang="de-DE" dirty="0"/>
              <a:t> mit YOLO26-Pose detektiert Personen und schätzt 17 Körper-</a:t>
            </a:r>
            <a:r>
              <a:rPr lang="de-DE" dirty="0" err="1"/>
              <a:t>Keypoints</a:t>
            </a:r>
            <a:r>
              <a:rPr lang="de-DE" dirty="0"/>
              <a:t> in Bildern. Dadurch werden eine vorausschauende Kollisionsvermeidung, eine sichere Bahnplanung sowie Anwendungen der Mensch-Roboter-Interaktion, etwa die Analyse von Annäherungssituationen, ermöglicht.</a:t>
            </a:r>
            <a:endParaRPr lang="en-DE" b="1" dirty="0"/>
          </a:p>
        </p:txBody>
      </p:sp>
      <p:sp>
        <p:nvSpPr>
          <p:cNvPr id="38" name="Bildplatzhalter 37">
            <a:extLst>
              <a:ext uri="{FF2B5EF4-FFF2-40B4-BE49-F238E27FC236}">
                <a16:creationId xmlns:a16="http://schemas.microsoft.com/office/drawing/2014/main" id="{06DEC0B1-CC10-AE26-193D-A17A3279D81A}"/>
              </a:ext>
            </a:extLst>
          </p:cNvPr>
          <p:cNvSpPr>
            <a:spLocks noGrp="1"/>
          </p:cNvSpPr>
          <p:nvPr>
            <p:ph type="pic" sz="quarter" idx="47"/>
          </p:nvPr>
        </p:nvSpPr>
        <p:spPr/>
        <p:txBody>
          <a:bodyPr/>
          <a:lstStyle/>
          <a:p>
            <a:r>
              <a:rPr lang="en-US" b="1" dirty="0"/>
              <a:t>GESAMTARCHITEKTUR</a:t>
            </a:r>
            <a:endParaRPr lang="en-DE" b="1" dirty="0"/>
          </a:p>
        </p:txBody>
      </p:sp>
      <mc:AlternateContent xmlns:mc="http://schemas.openxmlformats.org/markup-compatibility/2006">
        <mc:Choice xmlns:a14="http://schemas.microsoft.com/office/drawing/2010/main" Requires="a14">
          <p:sp>
            <p:nvSpPr>
              <p:cNvPr id="39" name="Bildplatzhalter 38">
                <a:extLst>
                  <a:ext uri="{FF2B5EF4-FFF2-40B4-BE49-F238E27FC236}">
                    <a16:creationId xmlns:a16="http://schemas.microsoft.com/office/drawing/2014/main" id="{F1DD7E1F-42A6-F91B-C72E-D76F811C8E7D}"/>
                  </a:ext>
                </a:extLst>
              </p:cNvPr>
              <p:cNvSpPr>
                <a:spLocks noGrp="1"/>
              </p:cNvSpPr>
              <p:nvPr>
                <p:ph type="pic" sz="quarter" idx="48"/>
              </p:nvPr>
            </p:nvSpPr>
            <p:spPr>
              <a:xfrm>
                <a:off x="20243799" y="12241213"/>
                <a:ext cx="8472488" cy="9914525"/>
              </a:xfrm>
            </p:spPr>
            <p:txBody>
              <a:bodyPr/>
              <a:lstStyle/>
              <a:p>
                <a:r>
                  <a:rPr lang="en-DE" b="1" dirty="0"/>
                  <a:t>TRAINING</a:t>
                </a:r>
                <a:endParaRPr lang="en-US" b="1" dirty="0"/>
              </a:p>
              <a:p>
                <a:pPr>
                  <a:spcBef>
                    <a:spcPts val="0"/>
                  </a:spcBef>
                </a:pPr>
                <a:endParaRPr lang="en-US" b="1" dirty="0"/>
              </a:p>
              <a:p>
                <a:pPr>
                  <a:spcBef>
                    <a:spcPts val="0"/>
                  </a:spcBef>
                </a:pPr>
                <a:r>
                  <a:rPr lang="en-DE" b="1" dirty="0" err="1"/>
                  <a:t>Datensatz</a:t>
                </a:r>
                <a:r>
                  <a:rPr lang="en-DE" b="1" dirty="0"/>
                  <a:t>:</a:t>
                </a:r>
                <a:r>
                  <a:rPr lang="en-DE" dirty="0"/>
                  <a:t> COCO-Pose (COCO </a:t>
                </a:r>
                <a:r>
                  <a:rPr lang="en-DE" dirty="0" err="1"/>
                  <a:t>Keypoints</a:t>
                </a:r>
                <a:r>
                  <a:rPr lang="en-DE" dirty="0"/>
                  <a:t> 2017)</a:t>
                </a:r>
              </a:p>
              <a:p>
                <a:pPr>
                  <a:spcBef>
                    <a:spcPts val="0"/>
                  </a:spcBef>
                </a:pPr>
                <a:r>
                  <a:rPr lang="en-DE" b="1" dirty="0" err="1"/>
                  <a:t>Gesamtverlust</a:t>
                </a:r>
                <a:r>
                  <a:rPr lang="en-DE" b="1" dirty="0"/>
                  <a:t>:</a:t>
                </a:r>
                <a:endParaRPr lang="en-DE" dirty="0"/>
              </a:p>
              <a:p>
                <a:pPr marL="457200" indent="-457200">
                  <a:spcBef>
                    <a:spcPts val="0"/>
                  </a:spcBef>
                  <a:buFont typeface="Arial" panose="020B0604020202020204" pitchFamily="34" charset="0"/>
                  <a:buChar char="•"/>
                </a:pPr>
                <a:endParaRPr lang="en-US" i="1" dirty="0">
                  <a:latin typeface="Cambria Math" panose="02040503050406030204" pitchFamily="18" charset="0"/>
                </a:endParaRPr>
              </a:p>
              <a:p>
                <a:pPr marL="457200" indent="-457200">
                  <a:spcBef>
                    <a:spcPts val="0"/>
                  </a:spcBef>
                  <a:buFont typeface="Arial" panose="020B0604020202020204" pitchFamily="34" charset="0"/>
                  <a:buChar char="•"/>
                </a:pPr>
                <a:endParaRPr lang="en-US" i="1" dirty="0">
                  <a:latin typeface="Cambria Math" panose="02040503050406030204" pitchFamily="18" charset="0"/>
                </a:endParaRPr>
              </a:p>
              <a:p>
                <a:pPr marL="457200" indent="-457200">
                  <a:lnSpc>
                    <a:spcPct val="100000"/>
                  </a:lnSpc>
                  <a:spcBef>
                    <a:spcPts val="0"/>
                  </a:spcBef>
                  <a:buFont typeface="Arial" panose="020B0604020202020204" pitchFamily="34" charset="0"/>
                  <a:buChar char="•"/>
                </a:pPr>
                <a14:m>
                  <m:oMath xmlns:m="http://schemas.openxmlformats.org/officeDocument/2006/math">
                    <m:sSub>
                      <m:sSubPr>
                        <m:ctrlPr>
                          <a:rPr lang="en-DE" i="1" smtClean="0">
                            <a:latin typeface="Cambria Math" panose="02040503050406030204" pitchFamily="18" charset="0"/>
                          </a:rPr>
                        </m:ctrlPr>
                      </m:sSubPr>
                      <m:e>
                        <m:r>
                          <a:rPr lang="en-DE">
                            <a:latin typeface="Cambria Math" panose="02040503050406030204" pitchFamily="18" charset="0"/>
                          </a:rPr>
                          <m:t>ℒ</m:t>
                        </m:r>
                      </m:e>
                      <m:sub>
                        <m:r>
                          <m:rPr>
                            <m:sty m:val="p"/>
                          </m:rPr>
                          <a:rPr lang="en-DE">
                            <a:latin typeface="Cambria Math" panose="02040503050406030204" pitchFamily="18" charset="0"/>
                          </a:rPr>
                          <m:t>pose</m:t>
                        </m:r>
                      </m:sub>
                    </m:sSub>
                  </m:oMath>
                </a14:m>
                <a:r>
                  <a:rPr lang="en-DE" b="1" dirty="0"/>
                  <a:t> </a:t>
                </a:r>
                <a:r>
                  <a:rPr lang="en-DE" dirty="0"/>
                  <a:t>: </a:t>
                </a:r>
                <a:r>
                  <a:rPr lang="en-DE" dirty="0" err="1"/>
                  <a:t>Keypoint-Distanz</a:t>
                </a:r>
                <a:r>
                  <a:rPr lang="en-DE" dirty="0"/>
                  <a:t>, </a:t>
                </a:r>
                <a:r>
                  <a:rPr lang="en-DE" dirty="0" err="1"/>
                  <a:t>skaliert</a:t>
                </a:r>
                <a:r>
                  <a:rPr lang="en-DE" dirty="0"/>
                  <a:t> </a:t>
                </a:r>
                <a:r>
                  <a:rPr lang="en-DE" dirty="0" err="1"/>
                  <a:t>nach</a:t>
                </a:r>
                <a:r>
                  <a:rPr lang="en-DE" dirty="0"/>
                  <a:t> </a:t>
                </a:r>
                <a:r>
                  <a:rPr lang="en-DE" dirty="0" err="1"/>
                  <a:t>Personengröße</a:t>
                </a:r>
                <a:r>
                  <a:rPr lang="en-US" dirty="0"/>
                  <a:t> </a:t>
                </a:r>
                <a:r>
                  <a:rPr lang="en-DE" dirty="0"/>
                  <a:t>(OKS-</a:t>
                </a:r>
                <a:r>
                  <a:rPr lang="en-DE" dirty="0" err="1"/>
                  <a:t>basiert</a:t>
                </a:r>
                <a:r>
                  <a:rPr lang="en-DE" dirty="0"/>
                  <a:t>)</a:t>
                </a:r>
              </a:p>
              <a:p>
                <a:pPr marL="457200" indent="-457200">
                  <a:lnSpc>
                    <a:spcPct val="100000"/>
                  </a:lnSpc>
                  <a:spcBef>
                    <a:spcPts val="0"/>
                  </a:spcBef>
                  <a:buFont typeface="Arial" panose="020B0604020202020204" pitchFamily="34" charset="0"/>
                  <a:buChar char="•"/>
                </a:pPr>
                <a14:m>
                  <m:oMath xmlns:m="http://schemas.openxmlformats.org/officeDocument/2006/math">
                    <m:sSub>
                      <m:sSubPr>
                        <m:ctrlPr>
                          <a:rPr lang="en-DE" i="1">
                            <a:latin typeface="Cambria Math" panose="02040503050406030204" pitchFamily="18" charset="0"/>
                          </a:rPr>
                        </m:ctrlPr>
                      </m:sSubPr>
                      <m:e>
                        <m:r>
                          <a:rPr lang="en-DE" b="0" i="1">
                            <a:latin typeface="Cambria Math" panose="02040503050406030204" pitchFamily="18" charset="0"/>
                          </a:rPr>
                          <m:t>ℒ</m:t>
                        </m:r>
                      </m:e>
                      <m:sub>
                        <m:r>
                          <a:rPr lang="en-DE" b="0" i="1">
                            <a:latin typeface="Cambria Math" panose="02040503050406030204" pitchFamily="18" charset="0"/>
                          </a:rPr>
                          <m:t>𝑘𝑜𝑏𝑗</m:t>
                        </m:r>
                      </m:sub>
                    </m:sSub>
                    <m:r>
                      <a:rPr lang="en-DE" b="0" i="1">
                        <a:latin typeface="Cambria Math" panose="02040503050406030204" pitchFamily="18" charset="0"/>
                      </a:rPr>
                      <m:t> </m:t>
                    </m:r>
                  </m:oMath>
                </a14:m>
                <a:r>
                  <a:rPr lang="en-DE" dirty="0"/>
                  <a:t>: </a:t>
                </a:r>
                <a:r>
                  <a:rPr lang="en-DE" dirty="0" err="1"/>
                  <a:t>Sichtbarkeit</a:t>
                </a:r>
                <a:r>
                  <a:rPr lang="en-DE" dirty="0"/>
                  <a:t> der </a:t>
                </a:r>
                <a:r>
                  <a:rPr lang="en-DE" dirty="0" err="1"/>
                  <a:t>Keypoints</a:t>
                </a:r>
                <a:endParaRPr lang="en-DE" dirty="0"/>
              </a:p>
              <a:p>
                <a:pPr marL="457200" indent="-457200">
                  <a:lnSpc>
                    <a:spcPct val="100000"/>
                  </a:lnSpc>
                  <a:spcBef>
                    <a:spcPts val="0"/>
                  </a:spcBef>
                  <a:buFont typeface="Arial" panose="020B0604020202020204" pitchFamily="34" charset="0"/>
                  <a:buChar char="•"/>
                </a:pPr>
                <a14:m>
                  <m:oMath xmlns:m="http://schemas.openxmlformats.org/officeDocument/2006/math">
                    <m:sSub>
                      <m:sSubPr>
                        <m:ctrlPr>
                          <a:rPr lang="en-DE" i="1">
                            <a:latin typeface="Cambria Math" panose="02040503050406030204" pitchFamily="18" charset="0"/>
                          </a:rPr>
                        </m:ctrlPr>
                      </m:sSubPr>
                      <m:e>
                        <m:r>
                          <a:rPr lang="en-DE">
                            <a:latin typeface="Cambria Math" panose="02040503050406030204" pitchFamily="18" charset="0"/>
                          </a:rPr>
                          <m:t>ℒ</m:t>
                        </m:r>
                      </m:e>
                      <m:sub>
                        <m:r>
                          <m:rPr>
                            <m:sty m:val="p"/>
                          </m:rPr>
                          <a:rPr lang="en-DE">
                            <a:latin typeface="Cambria Math" panose="02040503050406030204" pitchFamily="18" charset="0"/>
                          </a:rPr>
                          <m:t>RLE</m:t>
                        </m:r>
                      </m:sub>
                    </m:sSub>
                    <m:r>
                      <a:rPr lang="en-DE" i="1">
                        <a:latin typeface="Cambria Math" panose="02040503050406030204" pitchFamily="18" charset="0"/>
                      </a:rPr>
                      <m:t> </m:t>
                    </m:r>
                  </m:oMath>
                </a14:m>
                <a:r>
                  <a:rPr lang="en-DE" dirty="0"/>
                  <a:t>:</a:t>
                </a:r>
                <a:r>
                  <a:rPr lang="en-US" dirty="0"/>
                  <a:t> </a:t>
                </a:r>
                <a:r>
                  <a:rPr lang="en-DE" dirty="0"/>
                  <a:t>Netz </a:t>
                </a:r>
                <a:r>
                  <a:rPr lang="en-DE" dirty="0" err="1"/>
                  <a:t>lernt</a:t>
                </a:r>
                <a:r>
                  <a:rPr lang="en-DE" dirty="0"/>
                  <a:t> </a:t>
                </a:r>
                <a:r>
                  <a:rPr lang="en-DE" dirty="0" err="1"/>
                  <a:t>zusätzlich</a:t>
                </a:r>
                <a:r>
                  <a:rPr lang="en-DE" dirty="0"/>
                  <a:t> </a:t>
                </a:r>
                <a:r>
                  <a:rPr lang="en-DE" dirty="0" err="1"/>
                  <a:t>eine</a:t>
                </a:r>
                <a:r>
                  <a:rPr lang="en-DE" dirty="0"/>
                  <a:t> </a:t>
                </a:r>
                <a:r>
                  <a:rPr lang="en-DE" dirty="0" err="1"/>
                  <a:t>Unsicherheit</a:t>
                </a:r>
                <a:r>
                  <a:rPr lang="en-DE" dirty="0"/>
                  <a:t> σ pro </a:t>
                </a:r>
                <a:r>
                  <a:rPr lang="en-DE" dirty="0" err="1"/>
                  <a:t>Keypoint</a:t>
                </a:r>
                <a:r>
                  <a:rPr lang="en-US" dirty="0"/>
                  <a:t> (</a:t>
                </a:r>
                <a:r>
                  <a:rPr lang="en-DE" dirty="0"/>
                  <a:t>Residual Log-Likelihood </a:t>
                </a:r>
                <a:r>
                  <a:rPr lang="en-US" dirty="0"/>
                  <a:t>)</a:t>
                </a:r>
              </a:p>
              <a:p>
                <a:pPr>
                  <a:lnSpc>
                    <a:spcPct val="100000"/>
                  </a:lnSpc>
                  <a:spcBef>
                    <a:spcPts val="0"/>
                  </a:spcBef>
                </a:pPr>
                <a:endParaRPr lang="en-DE" dirty="0"/>
              </a:p>
              <a:p>
                <a:pPr>
                  <a:spcBef>
                    <a:spcPts val="0"/>
                  </a:spcBef>
                </a:pPr>
                <a:r>
                  <a:rPr lang="en-DE" b="1" dirty="0"/>
                  <a:t>YOLO26-Trainingstechniken:</a:t>
                </a:r>
                <a:endParaRPr lang="en-DE" dirty="0"/>
              </a:p>
              <a:p>
                <a:pPr marL="457200" indent="-457200">
                  <a:lnSpc>
                    <a:spcPct val="100000"/>
                  </a:lnSpc>
                  <a:spcBef>
                    <a:spcPts val="0"/>
                  </a:spcBef>
                  <a:buFont typeface="Arial" panose="020B0604020202020204" pitchFamily="34" charset="0"/>
                  <a:buChar char="•"/>
                </a:pPr>
                <a:r>
                  <a:rPr lang="en-DE" b="1" dirty="0"/>
                  <a:t>NMS-</a:t>
                </a:r>
                <a:r>
                  <a:rPr lang="en-DE" b="1" dirty="0" err="1"/>
                  <a:t>frei</a:t>
                </a:r>
                <a:r>
                  <a:rPr lang="en-DE" b="1" dirty="0"/>
                  <a:t> </a:t>
                </a:r>
                <a:r>
                  <a:rPr lang="en-DE" b="1" dirty="0" err="1"/>
                  <a:t>durchs</a:t>
                </a:r>
                <a:r>
                  <a:rPr lang="en-DE" b="1" dirty="0"/>
                  <a:t> Training:</a:t>
                </a:r>
                <a:r>
                  <a:rPr lang="en-DE" dirty="0"/>
                  <a:t> Dual-Head — One-to-Many (</a:t>
                </a:r>
                <a:r>
                  <a:rPr lang="en-DE" dirty="0" err="1"/>
                  <a:t>dichte</a:t>
                </a:r>
                <a:r>
                  <a:rPr lang="en-DE" dirty="0"/>
                  <a:t> Supervision) + One-to-One (</a:t>
                </a:r>
                <a:r>
                  <a:rPr lang="en-DE" dirty="0" err="1"/>
                  <a:t>Inferenzpfad</a:t>
                </a:r>
                <a:r>
                  <a:rPr lang="en-DE" dirty="0"/>
                  <a:t>)</a:t>
                </a:r>
              </a:p>
              <a:p>
                <a:pPr marL="457200" indent="-457200">
                  <a:lnSpc>
                    <a:spcPct val="100000"/>
                  </a:lnSpc>
                  <a:spcBef>
                    <a:spcPts val="0"/>
                  </a:spcBef>
                  <a:buFont typeface="Arial" panose="020B0604020202020204" pitchFamily="34" charset="0"/>
                  <a:buChar char="•"/>
                </a:pPr>
                <a:r>
                  <a:rPr lang="en-DE" b="1" dirty="0"/>
                  <a:t>Progressive Loss:</a:t>
                </a:r>
                <a:r>
                  <a:rPr lang="en-DE" dirty="0"/>
                  <a:t> </a:t>
                </a:r>
                <a:r>
                  <a:rPr lang="en-DE" dirty="0" err="1"/>
                  <a:t>Gewichtung</a:t>
                </a:r>
                <a:r>
                  <a:rPr lang="en-DE" dirty="0"/>
                  <a:t> </a:t>
                </a:r>
                <a:r>
                  <a:rPr lang="en-DE" dirty="0" err="1"/>
                  <a:t>verschiebt</a:t>
                </a:r>
                <a:r>
                  <a:rPr lang="en-DE" dirty="0"/>
                  <a:t> </a:t>
                </a:r>
                <a:r>
                  <a:rPr lang="en-DE" dirty="0" err="1"/>
                  <a:t>sich</a:t>
                </a:r>
                <a:r>
                  <a:rPr lang="en-DE" dirty="0"/>
                  <a:t> linear von (0,8 / 0,2) </a:t>
                </a:r>
                <a:r>
                  <a:rPr lang="en-DE" dirty="0" err="1"/>
                  <a:t>zu</a:t>
                </a:r>
                <a:r>
                  <a:rPr lang="en-DE" dirty="0"/>
                  <a:t> (0,1 / 0,9) → </a:t>
                </a:r>
                <a:r>
                  <a:rPr lang="en-DE" dirty="0" err="1"/>
                  <a:t>Optimierung</a:t>
                </a:r>
                <a:r>
                  <a:rPr lang="en-DE" dirty="0"/>
                  <a:t> </a:t>
                </a:r>
                <a:r>
                  <a:rPr lang="en-DE" dirty="0" err="1"/>
                  <a:t>wandert</a:t>
                </a:r>
                <a:r>
                  <a:rPr lang="en-DE" dirty="0"/>
                  <a:t> </a:t>
                </a:r>
                <a:r>
                  <a:rPr lang="en-DE" dirty="0" err="1"/>
                  <a:t>zum</a:t>
                </a:r>
                <a:r>
                  <a:rPr lang="en-DE" dirty="0"/>
                  <a:t> </a:t>
                </a:r>
                <a:r>
                  <a:rPr lang="en-DE" dirty="0" err="1"/>
                  <a:t>Inferenz</a:t>
                </a:r>
                <a:r>
                  <a:rPr lang="en-DE" dirty="0"/>
                  <a:t>-Head</a:t>
                </a:r>
              </a:p>
              <a:p>
                <a:pPr marL="457200" indent="-457200">
                  <a:lnSpc>
                    <a:spcPct val="100000"/>
                  </a:lnSpc>
                  <a:spcBef>
                    <a:spcPts val="0"/>
                  </a:spcBef>
                  <a:buFont typeface="Arial" panose="020B0604020202020204" pitchFamily="34" charset="0"/>
                  <a:buChar char="•"/>
                </a:pPr>
                <a:r>
                  <a:rPr lang="en-DE" b="1" dirty="0"/>
                  <a:t>STAL:</a:t>
                </a:r>
                <a:r>
                  <a:rPr lang="en-DE" dirty="0"/>
                  <a:t> </a:t>
                </a:r>
                <a:r>
                  <a:rPr lang="en-DE" dirty="0" err="1"/>
                  <a:t>garantiert</a:t>
                </a:r>
                <a:r>
                  <a:rPr lang="en-DE" dirty="0"/>
                  <a:t> positive </a:t>
                </a:r>
                <a:r>
                  <a:rPr lang="en-DE" dirty="0" err="1"/>
                  <a:t>Zuordnungen</a:t>
                </a:r>
                <a:r>
                  <a:rPr lang="en-DE" dirty="0"/>
                  <a:t> für </a:t>
                </a:r>
                <a:r>
                  <a:rPr lang="en-DE" dirty="0" err="1"/>
                  <a:t>kleine</a:t>
                </a:r>
                <a:r>
                  <a:rPr lang="en-DE" dirty="0"/>
                  <a:t> </a:t>
                </a:r>
                <a:r>
                  <a:rPr lang="en-DE" dirty="0" err="1"/>
                  <a:t>Objekte</a:t>
                </a:r>
                <a:r>
                  <a:rPr lang="en-DE" dirty="0"/>
                  <a:t> </a:t>
                </a:r>
                <a:endParaRPr lang="en-US" dirty="0"/>
              </a:p>
              <a:p>
                <a:pPr marL="457200" indent="-457200">
                  <a:lnSpc>
                    <a:spcPct val="100000"/>
                  </a:lnSpc>
                  <a:spcBef>
                    <a:spcPts val="0"/>
                  </a:spcBef>
                  <a:buFont typeface="Arial" panose="020B0604020202020204" pitchFamily="34" charset="0"/>
                  <a:buChar char="•"/>
                </a:pPr>
                <a:r>
                  <a:rPr lang="en-DE" b="1" dirty="0" err="1"/>
                  <a:t>MuSGD</a:t>
                </a:r>
                <a:r>
                  <a:rPr lang="en-DE" b="1" dirty="0"/>
                  <a:t>:</a:t>
                </a:r>
                <a:r>
                  <a:rPr lang="en-DE" dirty="0"/>
                  <a:t> Hybrid </a:t>
                </a:r>
                <a:r>
                  <a:rPr lang="en-DE" dirty="0" err="1"/>
                  <a:t>aus</a:t>
                </a:r>
                <a:r>
                  <a:rPr lang="en-DE" dirty="0"/>
                  <a:t> Muon + SGD → </a:t>
                </a:r>
                <a:r>
                  <a:rPr lang="en-DE" dirty="0" err="1"/>
                  <a:t>schnellere</a:t>
                </a:r>
                <a:r>
                  <a:rPr lang="en-DE" dirty="0"/>
                  <a:t> </a:t>
                </a:r>
                <a:r>
                  <a:rPr lang="en-DE" dirty="0" err="1"/>
                  <a:t>Konvergenz</a:t>
                </a:r>
                <a:r>
                  <a:rPr lang="en-DE" dirty="0"/>
                  <a:t> </a:t>
                </a:r>
                <a:endParaRPr lang="en-US" dirty="0"/>
              </a:p>
              <a:p>
                <a:pPr marL="457200" indent="-457200">
                  <a:lnSpc>
                    <a:spcPct val="100000"/>
                  </a:lnSpc>
                  <a:spcBef>
                    <a:spcPts val="0"/>
                  </a:spcBef>
                  <a:buFont typeface="Arial" panose="020B0604020202020204" pitchFamily="34" charset="0"/>
                  <a:buChar char="•"/>
                </a:pPr>
                <a:r>
                  <a:rPr lang="en-DE" b="1" dirty="0"/>
                  <a:t>Kein DFL </a:t>
                </a:r>
                <a:r>
                  <a:rPr lang="en-DE" dirty="0"/>
                  <a:t>→ </a:t>
                </a:r>
                <a:r>
                  <a:rPr lang="en-DE" dirty="0" err="1"/>
                  <a:t>direkte</a:t>
                </a:r>
                <a:r>
                  <a:rPr lang="en-DE" dirty="0"/>
                  <a:t> Box-Regression</a:t>
                </a:r>
                <a:r>
                  <a:rPr lang="en-US" dirty="0"/>
                  <a:t> (</a:t>
                </a:r>
                <a:r>
                  <a:rPr lang="en-DE" dirty="0"/>
                  <a:t>Distribution Focal Loss,</a:t>
                </a:r>
                <a:r>
                  <a:rPr lang="en-US" dirty="0"/>
                  <a:t>)</a:t>
                </a:r>
                <a:endParaRPr lang="en-DE" dirty="0"/>
              </a:p>
            </p:txBody>
          </p:sp>
        </mc:Choice>
        <mc:Fallback>
          <p:sp>
            <p:nvSpPr>
              <p:cNvPr id="39" name="Bildplatzhalter 38">
                <a:extLst>
                  <a:ext uri="{FF2B5EF4-FFF2-40B4-BE49-F238E27FC236}">
                    <a16:creationId xmlns:a16="http://schemas.microsoft.com/office/drawing/2014/main" id="{F1DD7E1F-42A6-F91B-C72E-D76F811C8E7D}"/>
                  </a:ext>
                </a:extLst>
              </p:cNvPr>
              <p:cNvSpPr>
                <a:spLocks noGrp="1" noRot="1" noChangeAspect="1" noMove="1" noResize="1" noEditPoints="1" noAdjustHandles="1" noChangeArrowheads="1" noChangeShapeType="1" noTextEdit="1"/>
              </p:cNvSpPr>
              <p:nvPr>
                <p:ph type="pic" sz="quarter" idx="48"/>
              </p:nvPr>
            </p:nvSpPr>
            <p:spPr>
              <a:xfrm>
                <a:off x="20243799" y="12241213"/>
                <a:ext cx="8472488" cy="9914525"/>
              </a:xfrm>
              <a:blipFill>
                <a:blip r:embed="rId3"/>
                <a:stretch>
                  <a:fillRect l="-2446" t="-1476" r="-1871" b="-3629"/>
                </a:stretch>
              </a:blipFill>
            </p:spPr>
            <p:txBody>
              <a:bodyPr/>
              <a:lstStyle/>
              <a:p>
                <a:r>
                  <a:rPr lang="en-DE">
                    <a:noFill/>
                  </a:rPr>
                  <a:t> </a:t>
                </a:r>
              </a:p>
            </p:txBody>
          </p:sp>
        </mc:Fallback>
      </mc:AlternateContent>
      <p:sp>
        <p:nvSpPr>
          <p:cNvPr id="42" name="Textplatzhalter 41">
            <a:extLst>
              <a:ext uri="{FF2B5EF4-FFF2-40B4-BE49-F238E27FC236}">
                <a16:creationId xmlns:a16="http://schemas.microsoft.com/office/drawing/2014/main" id="{AA9A3966-3A2D-6E7D-AE78-90D8EEFA76B1}"/>
              </a:ext>
            </a:extLst>
          </p:cNvPr>
          <p:cNvSpPr>
            <a:spLocks noGrp="1"/>
          </p:cNvSpPr>
          <p:nvPr>
            <p:ph type="body" sz="quarter" idx="51"/>
          </p:nvPr>
        </p:nvSpPr>
        <p:spPr>
          <a:xfrm>
            <a:off x="20272375" y="40026795"/>
            <a:ext cx="8472488" cy="4837778"/>
          </a:xfrm>
        </p:spPr>
        <p:txBody>
          <a:bodyPr/>
          <a:lstStyle/>
          <a:p>
            <a:pPr marL="449263" indent="-449263">
              <a:tabLst>
                <a:tab pos="449263" algn="l"/>
              </a:tabLst>
            </a:pPr>
            <a:r>
              <a:rPr lang="en-DE" sz="1800" dirty="0"/>
              <a:t>[</a:t>
            </a:r>
            <a:r>
              <a:rPr lang="en-US" sz="1800" dirty="0"/>
              <a:t>1</a:t>
            </a:r>
            <a:r>
              <a:rPr lang="en-DE" sz="1800" dirty="0"/>
              <a:t>] Glenn </a:t>
            </a:r>
            <a:r>
              <a:rPr lang="en-DE" sz="1800" dirty="0" err="1"/>
              <a:t>Jocher</a:t>
            </a:r>
            <a:r>
              <a:rPr lang="en-DE" sz="1800" dirty="0"/>
              <a:t>, Jing Qiu, </a:t>
            </a:r>
            <a:r>
              <a:rPr lang="en-DE" sz="1800" dirty="0" err="1"/>
              <a:t>Mengyu</a:t>
            </a:r>
            <a:r>
              <a:rPr lang="en-DE" sz="1800" dirty="0"/>
              <a:t> Liu, Shuai Lyu, Fatih Cagatay </a:t>
            </a:r>
            <a:r>
              <a:rPr lang="en-DE" sz="1800" dirty="0" err="1"/>
              <a:t>Akyon</a:t>
            </a:r>
            <a:r>
              <a:rPr lang="en-DE" sz="1800" dirty="0"/>
              <a:t>, Muhammet Esat </a:t>
            </a:r>
            <a:r>
              <a:rPr lang="en-DE" sz="1800" dirty="0" err="1"/>
              <a:t>Kalfaoglu</a:t>
            </a:r>
            <a:r>
              <a:rPr lang="en-DE" sz="1800" dirty="0"/>
              <a:t>: “</a:t>
            </a:r>
            <a:r>
              <a:rPr lang="en-DE" sz="1800" dirty="0" err="1"/>
              <a:t>Ultralytics</a:t>
            </a:r>
            <a:r>
              <a:rPr lang="en-DE" sz="1800" dirty="0"/>
              <a:t> YOLO26: Unified Real-Time End-to-End Vision Models”. </a:t>
            </a:r>
            <a:r>
              <a:rPr lang="en-DE" sz="1800" dirty="0" err="1"/>
              <a:t>arXiv</a:t>
            </a:r>
            <a:r>
              <a:rPr lang="en-DE" sz="1800" dirty="0"/>
              <a:t> preprint arXiv:2606.03748, June 2026 (Internet source </a:t>
            </a:r>
            <a:r>
              <a:rPr lang="en-DE" sz="1800" dirty="0">
                <a:hlinkClick r:id="rId4"/>
              </a:rPr>
              <a:t>https://arxiv.org/pdf/2606.03748</a:t>
            </a:r>
            <a:r>
              <a:rPr lang="en-DE" sz="1800" dirty="0"/>
              <a:t>, accessed on 11.07.2026)</a:t>
            </a:r>
            <a:endParaRPr lang="de-DE" sz="1800" dirty="0"/>
          </a:p>
          <a:p>
            <a:endParaRPr lang="de-DE" sz="1800" dirty="0"/>
          </a:p>
        </p:txBody>
      </p:sp>
      <p:sp>
        <p:nvSpPr>
          <p:cNvPr id="43" name="Textplatzhalter 42">
            <a:extLst>
              <a:ext uri="{FF2B5EF4-FFF2-40B4-BE49-F238E27FC236}">
                <a16:creationId xmlns:a16="http://schemas.microsoft.com/office/drawing/2014/main" id="{61B076D2-E7C1-B3E3-9E75-9C986A0F732D}"/>
              </a:ext>
            </a:extLst>
          </p:cNvPr>
          <p:cNvSpPr>
            <a:spLocks noGrp="1"/>
          </p:cNvSpPr>
          <p:nvPr>
            <p:ph type="body" sz="quarter" idx="52"/>
          </p:nvPr>
        </p:nvSpPr>
        <p:spPr>
          <a:xfrm>
            <a:off x="20213637" y="39400584"/>
            <a:ext cx="8472488" cy="1070435"/>
          </a:xfrm>
        </p:spPr>
        <p:txBody>
          <a:bodyPr/>
          <a:lstStyle/>
          <a:p>
            <a:r>
              <a:rPr lang="de-DE" sz="2700" b="1" dirty="0">
                <a:latin typeface="+mn-lt"/>
              </a:rPr>
              <a:t>QUELLE</a:t>
            </a:r>
          </a:p>
        </p:txBody>
      </p:sp>
      <p:sp>
        <p:nvSpPr>
          <p:cNvPr id="2" name="Textfeld 1">
            <a:extLst>
              <a:ext uri="{FF2B5EF4-FFF2-40B4-BE49-F238E27FC236}">
                <a16:creationId xmlns:a16="http://schemas.microsoft.com/office/drawing/2014/main" id="{70339D74-9B2C-AAD8-E16A-876894B54763}"/>
              </a:ext>
            </a:extLst>
          </p:cNvPr>
          <p:cNvSpPr txBox="1"/>
          <p:nvPr/>
        </p:nvSpPr>
        <p:spPr>
          <a:xfrm>
            <a:off x="11201400" y="325898"/>
            <a:ext cx="18812489" cy="5693866"/>
          </a:xfrm>
          <a:prstGeom prst="rect">
            <a:avLst/>
          </a:prstGeom>
          <a:solidFill>
            <a:srgbClr val="FFFF00"/>
          </a:solidFill>
        </p:spPr>
        <p:txBody>
          <a:bodyPr wrap="square" rtlCol="0">
            <a:spAutoFit/>
          </a:bodyPr>
          <a:lstStyle/>
          <a:p>
            <a:r>
              <a:rPr lang="de-DE" sz="4000" dirty="0"/>
              <a:t>Hinweise (am Ende zu entfernen!):</a:t>
            </a:r>
          </a:p>
          <a:p>
            <a:pPr marL="571500" indent="-571500">
              <a:buFont typeface="Arial" panose="020B0604020202020204" pitchFamily="34" charset="0"/>
              <a:buChar char="•"/>
            </a:pPr>
            <a:r>
              <a:rPr lang="de-DE" sz="3600" dirty="0"/>
              <a:t>Positionen vom Logo und der zwei Titeltextblöcke </a:t>
            </a:r>
            <a:r>
              <a:rPr lang="de-DE" sz="3600" b="1" dirty="0"/>
              <a:t>nicht verändern</a:t>
            </a:r>
            <a:r>
              <a:rPr lang="de-DE" sz="3600" dirty="0"/>
              <a:t>!</a:t>
            </a:r>
          </a:p>
          <a:p>
            <a:pPr marL="571500" indent="-571500">
              <a:buFont typeface="Arial" panose="020B0604020202020204" pitchFamily="34" charset="0"/>
              <a:buChar char="•"/>
            </a:pPr>
            <a:r>
              <a:rPr lang="de-DE" sz="3600" dirty="0"/>
              <a:t>Untere Grenze der drei Spalten ist anzupassen um unteren Platz zu nutzen. Die obere Grenze und die horizontale Lage der Spalten </a:t>
            </a:r>
            <a:r>
              <a:rPr lang="de-DE" sz="3600" b="1" dirty="0"/>
              <a:t>nicht verändern</a:t>
            </a:r>
            <a:r>
              <a:rPr lang="de-DE" sz="3600" dirty="0"/>
              <a:t>.</a:t>
            </a:r>
          </a:p>
          <a:p>
            <a:pPr marL="571500" indent="-571500">
              <a:buFont typeface="Arial" panose="020B0604020202020204" pitchFamily="34" charset="0"/>
              <a:buChar char="•"/>
            </a:pPr>
            <a:r>
              <a:rPr lang="de-DE" sz="3600" dirty="0"/>
              <a:t>Jedes Bild muss unterschrieben werden, siehe Beispiel unten.</a:t>
            </a:r>
          </a:p>
          <a:p>
            <a:pPr marL="571500" indent="-571500">
              <a:buFont typeface="Arial" panose="020B0604020202020204" pitchFamily="34" charset="0"/>
              <a:buChar char="•"/>
            </a:pPr>
            <a:r>
              <a:rPr lang="de-DE" sz="3600" dirty="0"/>
              <a:t>Schriftart, -größe, -farbe der Blöcke </a:t>
            </a:r>
            <a:r>
              <a:rPr lang="de-DE" sz="3600" b="1" dirty="0"/>
              <a:t>nicht verändern</a:t>
            </a:r>
            <a:r>
              <a:rPr lang="de-DE" sz="3600" dirty="0"/>
              <a:t>!</a:t>
            </a:r>
          </a:p>
          <a:p>
            <a:pPr marL="571500" indent="-571500">
              <a:buFont typeface="Arial" panose="020B0604020202020204" pitchFamily="34" charset="0"/>
              <a:buChar char="•"/>
            </a:pPr>
            <a:r>
              <a:rPr lang="de-DE" sz="3600" dirty="0"/>
              <a:t>Breite der Blöcke </a:t>
            </a:r>
            <a:r>
              <a:rPr lang="de-DE" sz="3600" b="1" dirty="0"/>
              <a:t>nicht verändern</a:t>
            </a:r>
            <a:r>
              <a:rPr lang="de-DE" sz="3600" dirty="0"/>
              <a:t>!</a:t>
            </a:r>
          </a:p>
          <a:p>
            <a:pPr marL="571500" indent="-571500">
              <a:buFont typeface="Arial" panose="020B0604020202020204" pitchFamily="34" charset="0"/>
              <a:buChar char="•"/>
            </a:pPr>
            <a:r>
              <a:rPr lang="de-DE" sz="3600" dirty="0"/>
              <a:t>Sonst können Sie die Blöcke sinnvoll verschieben, kopieren, umsortieren, vertikal ausdehnen, löschen und selbstverständlich ausfüllen.</a:t>
            </a:r>
          </a:p>
          <a:p>
            <a:pPr marL="571500" indent="-571500">
              <a:buFont typeface="Arial" panose="020B0604020202020204" pitchFamily="34" charset="0"/>
              <a:buChar char="•"/>
            </a:pPr>
            <a:r>
              <a:rPr lang="de-DE" sz="3600" dirty="0"/>
              <a:t>Verwendete Quellen bitte zum Schluss angeben! </a:t>
            </a:r>
          </a:p>
        </p:txBody>
      </p:sp>
      <p:sp>
        <p:nvSpPr>
          <p:cNvPr id="3" name="Textplatzhalter 31">
            <a:extLst>
              <a:ext uri="{FF2B5EF4-FFF2-40B4-BE49-F238E27FC236}">
                <a16:creationId xmlns:a16="http://schemas.microsoft.com/office/drawing/2014/main" id="{1B4DDC9E-A9AD-8E16-B3CA-1EB4DA3144C1}"/>
              </a:ext>
            </a:extLst>
          </p:cNvPr>
          <p:cNvSpPr txBox="1">
            <a:spLocks/>
          </p:cNvSpPr>
          <p:nvPr/>
        </p:nvSpPr>
        <p:spPr>
          <a:xfrm>
            <a:off x="1527176" y="39999552"/>
            <a:ext cx="8472488" cy="2395924"/>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sz="4900" dirty="0">
                <a:solidFill>
                  <a:srgbClr val="00008C"/>
                </a:solidFill>
                <a:latin typeface="Noto Sans Medium" panose="020B0502040504020204"/>
              </a:rPr>
              <a:t>Professur für Automatisierungstechnik</a:t>
            </a:r>
            <a:br>
              <a:rPr lang="de-DE" sz="4900" dirty="0">
                <a:solidFill>
                  <a:srgbClr val="00008C"/>
                </a:solidFill>
                <a:latin typeface="Noto Sans Medium" panose="020B0502040504020204"/>
              </a:rPr>
            </a:br>
            <a:r>
              <a:rPr lang="de-DE" sz="4900" dirty="0">
                <a:solidFill>
                  <a:srgbClr val="00008C"/>
                </a:solidFill>
                <a:latin typeface="Noto Sans Medium" panose="020B0502040504020204"/>
              </a:rPr>
              <a:t>Prof. Dr. techn. Klaus </a:t>
            </a:r>
            <a:r>
              <a:rPr lang="de-DE" sz="4900" dirty="0" err="1">
                <a:solidFill>
                  <a:srgbClr val="00008C"/>
                </a:solidFill>
                <a:latin typeface="Noto Sans Medium" panose="020B0502040504020204"/>
              </a:rPr>
              <a:t>Janschek</a:t>
            </a:r>
            <a:endParaRPr lang="de-DE" sz="4900" dirty="0">
              <a:solidFill>
                <a:srgbClr val="00008C"/>
              </a:solidFill>
              <a:latin typeface="Noto Sans Medium" panose="020B0502040504020204"/>
            </a:endParaRPr>
          </a:p>
        </p:txBody>
      </p:sp>
      <p:sp>
        <p:nvSpPr>
          <p:cNvPr id="15" name="Textplatzhalter 31">
            <a:extLst>
              <a:ext uri="{FF2B5EF4-FFF2-40B4-BE49-F238E27FC236}">
                <a16:creationId xmlns:a16="http://schemas.microsoft.com/office/drawing/2014/main" id="{8E4C2B8B-504F-0193-B8D1-7FF35077C42C}"/>
              </a:ext>
            </a:extLst>
          </p:cNvPr>
          <p:cNvSpPr txBox="1">
            <a:spLocks/>
          </p:cNvSpPr>
          <p:nvPr/>
        </p:nvSpPr>
        <p:spPr>
          <a:xfrm>
            <a:off x="1557156" y="35007297"/>
            <a:ext cx="8356733" cy="524674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en-DE" b="1" dirty="0"/>
              <a:t>AUSGANGSDATEN DES NETZES</a:t>
            </a:r>
            <a:endParaRPr lang="en-US" b="1" dirty="0"/>
          </a:p>
          <a:p>
            <a:pPr algn="just">
              <a:spcBef>
                <a:spcPts val="1511"/>
              </a:spcBef>
            </a:pPr>
            <a:r>
              <a:rPr lang="de-DE" dirty="0"/>
              <a:t>Die Ausgabe des YOLO26-Pose-Netzes erfolgt als Tensor </a:t>
            </a:r>
          </a:p>
          <a:p>
            <a:pPr algn="ctr">
              <a:spcBef>
                <a:spcPts val="1511"/>
              </a:spcBef>
            </a:pPr>
            <a:r>
              <a:rPr lang="de-DE" dirty="0"/>
              <a:t>float32[300, 57] </a:t>
            </a:r>
          </a:p>
          <a:p>
            <a:pPr algn="just">
              <a:spcBef>
                <a:spcPts val="1511"/>
              </a:spcBef>
            </a:pPr>
            <a:r>
              <a:rPr lang="de-DE" dirty="0"/>
              <a:t>und enthält bis zu 300 potenzielle Detektionen mit </a:t>
            </a:r>
            <a:r>
              <a:rPr lang="de-DE" dirty="0" err="1"/>
              <a:t>Bounding</a:t>
            </a:r>
            <a:r>
              <a:rPr lang="de-DE" dirty="0"/>
              <a:t>-Box-, Konfidenz- und </a:t>
            </a:r>
            <a:r>
              <a:rPr lang="de-DE" dirty="0" err="1"/>
              <a:t>Keypoint</a:t>
            </a:r>
            <a:r>
              <a:rPr lang="de-DE" dirty="0"/>
              <a:t>-Informationen. Nach der Konfidenzfilterung verbleiben die tatsächlich erkannten Personen P, sodass ein Tensor der Form [P, 57] entsteht. Anschließend werden </a:t>
            </a:r>
            <a:r>
              <a:rPr lang="de-DE" dirty="0" err="1"/>
              <a:t>Bounding</a:t>
            </a:r>
            <a:r>
              <a:rPr lang="de-DE" dirty="0"/>
              <a:t>-Boxen und die 17 Körper-</a:t>
            </a:r>
            <a:r>
              <a:rPr lang="de-DE" dirty="0" err="1"/>
              <a:t>Keypoints</a:t>
            </a:r>
            <a:r>
              <a:rPr lang="de-DE" dirty="0"/>
              <a:t> auf die Originalauflösung des Bildes zurückskaliert. </a:t>
            </a:r>
            <a:endParaRPr lang="en-US" b="1" dirty="0">
              <a:highlight>
                <a:srgbClr val="00FFFF"/>
              </a:highlight>
            </a:endParaRPr>
          </a:p>
        </p:txBody>
      </p:sp>
      <p:sp>
        <p:nvSpPr>
          <p:cNvPr id="18" name="Bildplatzhalter 37">
            <a:extLst>
              <a:ext uri="{FF2B5EF4-FFF2-40B4-BE49-F238E27FC236}">
                <a16:creationId xmlns:a16="http://schemas.microsoft.com/office/drawing/2014/main" id="{DE1729E5-1148-99F4-ADEA-CAE0367B96AB}"/>
              </a:ext>
            </a:extLst>
          </p:cNvPr>
          <p:cNvSpPr txBox="1">
            <a:spLocks/>
          </p:cNvSpPr>
          <p:nvPr/>
        </p:nvSpPr>
        <p:spPr>
          <a:xfrm>
            <a:off x="10899775" y="31295920"/>
            <a:ext cx="8472488" cy="5840412"/>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en-DE" dirty="0"/>
          </a:p>
        </p:txBody>
      </p:sp>
      <p:sp>
        <p:nvSpPr>
          <p:cNvPr id="29" name="Bildplatzhalter 38">
            <a:extLst>
              <a:ext uri="{FF2B5EF4-FFF2-40B4-BE49-F238E27FC236}">
                <a16:creationId xmlns:a16="http://schemas.microsoft.com/office/drawing/2014/main" id="{4ABDCC8C-DECA-C7C3-FAAA-C3E84892BE9D}"/>
              </a:ext>
            </a:extLst>
          </p:cNvPr>
          <p:cNvSpPr txBox="1">
            <a:spLocks/>
          </p:cNvSpPr>
          <p:nvPr/>
        </p:nvSpPr>
        <p:spPr>
          <a:xfrm>
            <a:off x="20243006" y="22722832"/>
            <a:ext cx="8472488" cy="161546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spcBef>
                <a:spcPts val="1111"/>
              </a:spcBef>
            </a:pPr>
            <a:r>
              <a:rPr lang="de-DE" b="1" dirty="0"/>
              <a:t>TEST + ERGEBNIS</a:t>
            </a:r>
            <a:endParaRPr lang="en-US" b="1" dirty="0"/>
          </a:p>
          <a:p>
            <a:pPr>
              <a:lnSpc>
                <a:spcPct val="200000"/>
              </a:lnSpc>
              <a:spcBef>
                <a:spcPts val="1111"/>
              </a:spcBef>
            </a:pPr>
            <a:r>
              <a:rPr lang="en-DE" b="1" dirty="0" err="1"/>
              <a:t>Testziel</a:t>
            </a:r>
            <a:r>
              <a:rPr lang="en-DE" b="1" dirty="0"/>
              <a:t>:</a:t>
            </a:r>
            <a:r>
              <a:rPr lang="en-DE" dirty="0"/>
              <a:t> </a:t>
            </a:r>
            <a:endParaRPr lang="en-US" dirty="0"/>
          </a:p>
          <a:p>
            <a:pPr>
              <a:spcBef>
                <a:spcPts val="1111"/>
              </a:spcBef>
            </a:pPr>
            <a:r>
              <a:rPr lang="en-DE" dirty="0" err="1"/>
              <a:t>Verkürzt</a:t>
            </a:r>
            <a:r>
              <a:rPr lang="en-DE" dirty="0"/>
              <a:t> der NMS-</a:t>
            </a:r>
            <a:r>
              <a:rPr lang="en-DE" dirty="0" err="1"/>
              <a:t>freie</a:t>
            </a:r>
            <a:r>
              <a:rPr lang="en-DE" dirty="0"/>
              <a:t> Ansatz von YOLO26-Pose die </a:t>
            </a:r>
            <a:r>
              <a:rPr lang="en-DE" dirty="0" err="1"/>
              <a:t>Nachbearbeitung</a:t>
            </a:r>
            <a:r>
              <a:rPr lang="en-DE" dirty="0"/>
              <a:t> </a:t>
            </a:r>
            <a:r>
              <a:rPr lang="en-DE" dirty="0" err="1"/>
              <a:t>gegenüber</a:t>
            </a:r>
            <a:r>
              <a:rPr lang="en-DE" dirty="0"/>
              <a:t> YOLO11-Pose — und </a:t>
            </a:r>
            <a:r>
              <a:rPr lang="en-DE" dirty="0" err="1"/>
              <a:t>hängt</a:t>
            </a:r>
            <a:r>
              <a:rPr lang="en-DE" dirty="0"/>
              <a:t> der </a:t>
            </a:r>
            <a:r>
              <a:rPr lang="en-DE" dirty="0" err="1"/>
              <a:t>Gesamtzeitvorteil</a:t>
            </a:r>
            <a:r>
              <a:rPr lang="en-DE" dirty="0"/>
              <a:t> von der Hardware-</a:t>
            </a:r>
            <a:r>
              <a:rPr lang="en-DE" dirty="0" err="1"/>
              <a:t>Plattform</a:t>
            </a:r>
            <a:r>
              <a:rPr lang="en-DE" dirty="0"/>
              <a:t> (CPU vs. GPU) ab?</a:t>
            </a:r>
            <a:endParaRPr lang="en-US" dirty="0"/>
          </a:p>
          <a:p>
            <a:pPr>
              <a:spcBef>
                <a:spcPts val="1111"/>
              </a:spcBef>
            </a:pPr>
            <a:r>
              <a:rPr lang="en-US" b="1" dirty="0"/>
              <a:t>Test-Setup:</a:t>
            </a:r>
          </a:p>
          <a:p>
            <a:pPr marL="457200" indent="-457200">
              <a:spcBef>
                <a:spcPts val="1111"/>
              </a:spcBef>
              <a:buFont typeface="Arial" panose="020B0604020202020204" pitchFamily="34" charset="0"/>
              <a:buChar char="•"/>
            </a:pPr>
            <a:r>
              <a:rPr lang="en-US" dirty="0"/>
              <a:t>Dataset: 1</a:t>
            </a:r>
            <a:r>
              <a:rPr lang="en-DE" dirty="0"/>
              <a:t>0 </a:t>
            </a:r>
            <a:r>
              <a:rPr lang="en-DE" dirty="0" err="1"/>
              <a:t>frei</a:t>
            </a:r>
            <a:r>
              <a:rPr lang="en-DE" dirty="0"/>
              <a:t> </a:t>
            </a:r>
            <a:r>
              <a:rPr lang="en-DE" dirty="0" err="1"/>
              <a:t>verfügbare</a:t>
            </a:r>
            <a:r>
              <a:rPr lang="en-DE" dirty="0"/>
              <a:t> Bilder — </a:t>
            </a:r>
            <a:r>
              <a:rPr lang="en-DE" dirty="0" err="1"/>
              <a:t>mehrere</a:t>
            </a:r>
            <a:r>
              <a:rPr lang="en-DE" dirty="0"/>
              <a:t> </a:t>
            </a:r>
            <a:r>
              <a:rPr lang="en-DE" dirty="0" err="1"/>
              <a:t>Personen</a:t>
            </a:r>
            <a:r>
              <a:rPr lang="en-DE" dirty="0"/>
              <a:t>, </a:t>
            </a:r>
            <a:r>
              <a:rPr lang="en-DE" dirty="0" err="1"/>
              <a:t>verschiedene</a:t>
            </a:r>
            <a:r>
              <a:rPr lang="en-DE" dirty="0"/>
              <a:t> </a:t>
            </a:r>
            <a:r>
              <a:rPr lang="en-DE" dirty="0" err="1"/>
              <a:t>Auflösungen</a:t>
            </a:r>
            <a:r>
              <a:rPr lang="en-DE" dirty="0"/>
              <a:t>, teils </a:t>
            </a:r>
            <a:r>
              <a:rPr lang="en-DE" dirty="0" err="1"/>
              <a:t>starke</a:t>
            </a:r>
            <a:r>
              <a:rPr lang="en-DE" dirty="0"/>
              <a:t> </a:t>
            </a:r>
            <a:r>
              <a:rPr lang="en-DE" dirty="0" err="1"/>
              <a:t>Verdeckungen</a:t>
            </a:r>
            <a:endParaRPr lang="en-US" dirty="0"/>
          </a:p>
          <a:p>
            <a:pPr marL="457200" indent="-457200">
              <a:spcBef>
                <a:spcPts val="511"/>
              </a:spcBef>
              <a:buFont typeface="Arial" panose="020B0604020202020204" pitchFamily="34" charset="0"/>
              <a:buChar char="•"/>
            </a:pPr>
            <a:r>
              <a:rPr lang="en-US" dirty="0"/>
              <a:t>Hardware: </a:t>
            </a:r>
            <a:r>
              <a:rPr lang="en-DE" dirty="0"/>
              <a:t>2× CPU (Intel i5-1335U, AMD </a:t>
            </a:r>
            <a:r>
              <a:rPr lang="en-DE" dirty="0" err="1"/>
              <a:t>Ryzen</a:t>
            </a:r>
            <a:r>
              <a:rPr lang="en-DE" dirty="0"/>
              <a:t> 7 5800X), 1× GPU (NVIDIA RTX 4070 Ti SUPER)</a:t>
            </a:r>
            <a:r>
              <a:rPr lang="en-US" dirty="0"/>
              <a:t> </a:t>
            </a:r>
          </a:p>
          <a:p>
            <a:pPr marL="457200" indent="-457200">
              <a:spcBef>
                <a:spcPts val="1111"/>
              </a:spcBef>
              <a:buFont typeface="Arial" panose="020B0604020202020204" pitchFamily="34" charset="0"/>
              <a:buChar char="•"/>
            </a:pPr>
            <a:r>
              <a:rPr lang="en-DE" dirty="0" err="1"/>
              <a:t>Ablauf</a:t>
            </a:r>
            <a:r>
              <a:rPr lang="en-DE" b="1" dirty="0"/>
              <a:t>:</a:t>
            </a:r>
            <a:r>
              <a:rPr lang="en-DE" dirty="0"/>
              <a:t> </a:t>
            </a:r>
            <a:r>
              <a:rPr lang="en-US" dirty="0"/>
              <a:t>4</a:t>
            </a:r>
            <a:r>
              <a:rPr lang="en-DE" dirty="0"/>
              <a:t> </a:t>
            </a:r>
            <a:r>
              <a:rPr lang="en-DE" dirty="0" err="1"/>
              <a:t>Aufwärmläufe</a:t>
            </a:r>
            <a:r>
              <a:rPr lang="en-DE" dirty="0"/>
              <a:t>, </a:t>
            </a:r>
            <a:r>
              <a:rPr lang="en-DE" dirty="0" err="1"/>
              <a:t>gemessen</a:t>
            </a:r>
            <a:r>
              <a:rPr lang="en-DE" dirty="0"/>
              <a:t>: Vor-/</a:t>
            </a:r>
            <a:r>
              <a:rPr lang="en-DE" dirty="0" err="1"/>
              <a:t>Inferenz</a:t>
            </a:r>
            <a:r>
              <a:rPr lang="en-DE" dirty="0"/>
              <a:t>-/</a:t>
            </a:r>
            <a:r>
              <a:rPr lang="en-DE" dirty="0" err="1"/>
              <a:t>Nachbearbeitungszeit</a:t>
            </a:r>
            <a:r>
              <a:rPr lang="en-DE" dirty="0"/>
              <a:t> pro Bild</a:t>
            </a:r>
            <a:endParaRPr lang="en-US" dirty="0"/>
          </a:p>
          <a:p>
            <a:pPr>
              <a:spcBef>
                <a:spcPts val="1111"/>
              </a:spcBef>
            </a:pPr>
            <a:r>
              <a:rPr lang="en-US" b="1" dirty="0" err="1"/>
              <a:t>Ergebnis</a:t>
            </a:r>
            <a:r>
              <a:rPr lang="en-US" b="1" dirty="0"/>
              <a:t>: </a:t>
            </a:r>
          </a:p>
          <a:p>
            <a:pPr>
              <a:spcBef>
                <a:spcPts val="1111"/>
              </a:spcBef>
            </a:pPr>
            <a:endParaRPr lang="en-DE" dirty="0"/>
          </a:p>
        </p:txBody>
      </p:sp>
      <p:sp>
        <p:nvSpPr>
          <p:cNvPr id="57" name="Textplatzhalter 36">
            <a:extLst>
              <a:ext uri="{FF2B5EF4-FFF2-40B4-BE49-F238E27FC236}">
                <a16:creationId xmlns:a16="http://schemas.microsoft.com/office/drawing/2014/main" id="{164814DB-B8BF-AB31-770C-431AD1C27909}"/>
              </a:ext>
            </a:extLst>
          </p:cNvPr>
          <p:cNvSpPr txBox="1">
            <a:spLocks/>
          </p:cNvSpPr>
          <p:nvPr/>
        </p:nvSpPr>
        <p:spPr>
          <a:xfrm>
            <a:off x="12380661" y="19376076"/>
            <a:ext cx="5548766" cy="330626"/>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dirty="0"/>
              <a:t>Abbildung 2: YOLO26 Architekturdiagramm. Quelle: [1]</a:t>
            </a:r>
          </a:p>
        </p:txBody>
      </p:sp>
      <p:sp>
        <p:nvSpPr>
          <p:cNvPr id="12" name="Textplatzhalter 36">
            <a:extLst>
              <a:ext uri="{FF2B5EF4-FFF2-40B4-BE49-F238E27FC236}">
                <a16:creationId xmlns:a16="http://schemas.microsoft.com/office/drawing/2014/main" id="{DAE0684C-8DCD-41C3-0BBD-D9F15E2236F9}"/>
              </a:ext>
            </a:extLst>
          </p:cNvPr>
          <p:cNvSpPr txBox="1">
            <a:spLocks/>
          </p:cNvSpPr>
          <p:nvPr/>
        </p:nvSpPr>
        <p:spPr>
          <a:xfrm>
            <a:off x="10899776" y="38099385"/>
            <a:ext cx="8330672" cy="499630"/>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pPr>
            <a:r>
              <a:rPr lang="en-US" dirty="0" err="1"/>
              <a:t>Abbildung</a:t>
            </a:r>
            <a:r>
              <a:rPr lang="en-US" dirty="0"/>
              <a:t> 3: </a:t>
            </a:r>
            <a:r>
              <a:rPr lang="en-DE" dirty="0" err="1"/>
              <a:t>Merkmalskarten</a:t>
            </a:r>
            <a:r>
              <a:rPr lang="en-DE" dirty="0"/>
              <a:t> </a:t>
            </a:r>
            <a:r>
              <a:rPr lang="en-DE" dirty="0" err="1"/>
              <a:t>verschiedener</a:t>
            </a:r>
            <a:r>
              <a:rPr lang="en-DE" dirty="0"/>
              <a:t> </a:t>
            </a:r>
            <a:r>
              <a:rPr lang="en-DE" dirty="0" err="1"/>
              <a:t>Schichten</a:t>
            </a:r>
            <a:r>
              <a:rPr lang="en-DE" dirty="0"/>
              <a:t> des YOLO26n-Pose-Backbones. Oben </a:t>
            </a:r>
            <a:r>
              <a:rPr lang="en-DE" dirty="0" err="1"/>
              <a:t>sind</a:t>
            </a:r>
            <a:r>
              <a:rPr lang="en-DE" dirty="0"/>
              <a:t> die </a:t>
            </a:r>
            <a:r>
              <a:rPr lang="en-DE" dirty="0" err="1"/>
              <a:t>Stufen</a:t>
            </a:r>
            <a:r>
              <a:rPr lang="en-DE" dirty="0"/>
              <a:t> P1/2 bis P5/32 in </a:t>
            </a:r>
            <a:r>
              <a:rPr lang="en-DE" dirty="0" err="1"/>
              <a:t>ihrer</a:t>
            </a:r>
            <a:r>
              <a:rPr lang="en-DE" dirty="0"/>
              <a:t> </a:t>
            </a:r>
            <a:r>
              <a:rPr lang="en-DE" dirty="0" err="1"/>
              <a:t>tatsächlichen</a:t>
            </a:r>
            <a:r>
              <a:rPr lang="en-DE" dirty="0"/>
              <a:t> </a:t>
            </a:r>
            <a:r>
              <a:rPr lang="en-DE" dirty="0" err="1"/>
              <a:t>relativen</a:t>
            </a:r>
            <a:r>
              <a:rPr lang="en-DE" dirty="0"/>
              <a:t> </a:t>
            </a:r>
            <a:r>
              <a:rPr lang="en-DE" dirty="0" err="1"/>
              <a:t>Größe</a:t>
            </a:r>
            <a:r>
              <a:rPr lang="en-DE" dirty="0"/>
              <a:t> </a:t>
            </a:r>
            <a:r>
              <a:rPr lang="en-DE" dirty="0" err="1"/>
              <a:t>dargestellt</a:t>
            </a:r>
            <a:r>
              <a:rPr lang="en-DE" dirty="0"/>
              <a:t>, in der Mitte auf </a:t>
            </a:r>
            <a:r>
              <a:rPr lang="en-DE" dirty="0" err="1"/>
              <a:t>eine</a:t>
            </a:r>
            <a:r>
              <a:rPr lang="en-DE" dirty="0"/>
              <a:t> </a:t>
            </a:r>
            <a:r>
              <a:rPr lang="en-DE" dirty="0" err="1"/>
              <a:t>einheitliche</a:t>
            </a:r>
            <a:r>
              <a:rPr lang="en-DE" dirty="0"/>
              <a:t> </a:t>
            </a:r>
            <a:r>
              <a:rPr lang="en-DE" dirty="0" err="1"/>
              <a:t>Anzeigegröße</a:t>
            </a:r>
            <a:r>
              <a:rPr lang="en-DE" dirty="0"/>
              <a:t> </a:t>
            </a:r>
            <a:r>
              <a:rPr lang="en-DE" dirty="0" err="1"/>
              <a:t>skaliert</a:t>
            </a:r>
            <a:r>
              <a:rPr lang="en-DE" dirty="0"/>
              <a:t>. Unten </a:t>
            </a:r>
            <a:r>
              <a:rPr lang="en-DE" dirty="0" err="1"/>
              <a:t>sind</a:t>
            </a:r>
            <a:r>
              <a:rPr lang="en-DE" dirty="0"/>
              <a:t> das </a:t>
            </a:r>
            <a:r>
              <a:rPr lang="en-DE" dirty="0" err="1"/>
              <a:t>Kanalmittel</a:t>
            </a:r>
            <a:r>
              <a:rPr lang="en-DE" dirty="0"/>
              <a:t> und </a:t>
            </a:r>
            <a:r>
              <a:rPr lang="en-DE" dirty="0" err="1"/>
              <a:t>sechs</a:t>
            </a:r>
            <a:r>
              <a:rPr lang="en-DE" dirty="0"/>
              <a:t> </a:t>
            </a:r>
            <a:r>
              <a:rPr lang="en-DE" dirty="0" err="1"/>
              <a:t>ausgewählte</a:t>
            </a:r>
            <a:r>
              <a:rPr lang="en-DE" dirty="0"/>
              <a:t> </a:t>
            </a:r>
            <a:r>
              <a:rPr lang="en-DE" dirty="0" err="1"/>
              <a:t>Einzelkanäle</a:t>
            </a:r>
            <a:r>
              <a:rPr lang="en-DE" dirty="0"/>
              <a:t> der P2/4-Stufe </a:t>
            </a:r>
            <a:r>
              <a:rPr lang="en-DE" dirty="0" err="1"/>
              <a:t>gezeigt</a:t>
            </a:r>
            <a:r>
              <a:rPr lang="en-DE" dirty="0"/>
              <a:t>.</a:t>
            </a:r>
            <a:endParaRPr lang="de-DE" dirty="0"/>
          </a:p>
        </p:txBody>
      </p:sp>
      <p:sp>
        <p:nvSpPr>
          <p:cNvPr id="72" name="Textplatzhalter 39">
            <a:extLst>
              <a:ext uri="{FF2B5EF4-FFF2-40B4-BE49-F238E27FC236}">
                <a16:creationId xmlns:a16="http://schemas.microsoft.com/office/drawing/2014/main" id="{290A26EA-5167-3202-A99C-AA4B213A6F8F}"/>
              </a:ext>
            </a:extLst>
          </p:cNvPr>
          <p:cNvSpPr txBox="1">
            <a:spLocks/>
          </p:cNvSpPr>
          <p:nvPr/>
        </p:nvSpPr>
        <p:spPr>
          <a:xfrm>
            <a:off x="10929937" y="20072979"/>
            <a:ext cx="8472488" cy="4837778"/>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de-DE" dirty="0"/>
          </a:p>
        </p:txBody>
      </p:sp>
      <p:graphicFrame>
        <p:nvGraphicFramePr>
          <p:cNvPr id="73" name="Table 72">
            <a:extLst>
              <a:ext uri="{FF2B5EF4-FFF2-40B4-BE49-F238E27FC236}">
                <a16:creationId xmlns:a16="http://schemas.microsoft.com/office/drawing/2014/main" id="{066AE830-800F-6160-D25F-FC3B01F2247A}"/>
              </a:ext>
            </a:extLst>
          </p:cNvPr>
          <p:cNvGraphicFramePr>
            <a:graphicFrameLocks noGrp="1"/>
          </p:cNvGraphicFramePr>
          <p:nvPr>
            <p:extLst>
              <p:ext uri="{D42A27DB-BD31-4B8C-83A1-F6EECF244321}">
                <p14:modId xmlns:p14="http://schemas.microsoft.com/office/powerpoint/2010/main" val="2596346936"/>
              </p:ext>
            </p:extLst>
          </p:nvPr>
        </p:nvGraphicFramePr>
        <p:xfrm>
          <a:off x="10953044" y="21294275"/>
          <a:ext cx="8944883" cy="10005114"/>
        </p:xfrm>
        <a:graphic>
          <a:graphicData uri="http://schemas.openxmlformats.org/drawingml/2006/table">
            <a:tbl>
              <a:tblPr>
                <a:tableStyleId>{2D5ABB26-0587-4C30-8999-92F81FD0307C}</a:tableStyleId>
              </a:tblPr>
              <a:tblGrid>
                <a:gridCol w="1635364">
                  <a:extLst>
                    <a:ext uri="{9D8B030D-6E8A-4147-A177-3AD203B41FA5}">
                      <a16:colId xmlns:a16="http://schemas.microsoft.com/office/drawing/2014/main" val="1145915623"/>
                    </a:ext>
                  </a:extLst>
                </a:gridCol>
                <a:gridCol w="3393701">
                  <a:extLst>
                    <a:ext uri="{9D8B030D-6E8A-4147-A177-3AD203B41FA5}">
                      <a16:colId xmlns:a16="http://schemas.microsoft.com/office/drawing/2014/main" val="921209941"/>
                    </a:ext>
                  </a:extLst>
                </a:gridCol>
                <a:gridCol w="3915818">
                  <a:extLst>
                    <a:ext uri="{9D8B030D-6E8A-4147-A177-3AD203B41FA5}">
                      <a16:colId xmlns:a16="http://schemas.microsoft.com/office/drawing/2014/main" val="3350042898"/>
                    </a:ext>
                  </a:extLst>
                </a:gridCol>
              </a:tblGrid>
              <a:tr h="480160">
                <a:tc>
                  <a:txBody>
                    <a:bodyPr/>
                    <a:lstStyle/>
                    <a:p>
                      <a:pPr>
                        <a:buNone/>
                      </a:pPr>
                      <a:r>
                        <a:rPr lang="en-DE" sz="2700" b="0" dirty="0" err="1"/>
                        <a:t>Baustein</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Verarbeitung</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tc>
                  <a:txBody>
                    <a:bodyPr/>
                    <a:lstStyle/>
                    <a:p>
                      <a:pPr>
                        <a:buNone/>
                      </a:pPr>
                      <a:r>
                        <a:rPr lang="en-DE" sz="2700" b="0" dirty="0" err="1"/>
                        <a:t>Funktion</a:t>
                      </a:r>
                      <a:r>
                        <a:rPr lang="en-DE" sz="2700" b="0" dirty="0"/>
                        <a:t> </a:t>
                      </a:r>
                      <a:r>
                        <a:rPr lang="en-DE" sz="2700" b="0" dirty="0" err="1"/>
                        <a:t>im</a:t>
                      </a:r>
                      <a:r>
                        <a:rPr lang="en-DE" sz="2700" b="0" dirty="0"/>
                        <a:t> Netz</a:t>
                      </a:r>
                      <a:endParaRPr lang="en-DE" sz="2700" b="0" dirty="0">
                        <a:latin typeface="+mn-lt"/>
                      </a:endParaRPr>
                    </a:p>
                  </a:txBody>
                  <a:tcPr marL="62845" marR="62845" marT="31422" marB="31422"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3246686"/>
                  </a:ext>
                </a:extLst>
              </a:tr>
              <a:tr h="1467792">
                <a:tc>
                  <a:txBody>
                    <a:bodyPr/>
                    <a:lstStyle/>
                    <a:p>
                      <a:pPr>
                        <a:buNone/>
                      </a:pPr>
                      <a:r>
                        <a:rPr lang="en-DE" sz="2700" b="0" dirty="0"/>
                        <a:t>Conv-Block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a:t>Conv2d → </a:t>
                      </a:r>
                      <a:r>
                        <a:rPr lang="en-DE" sz="2700" b="0" dirty="0" err="1"/>
                        <a:t>BatchNorm</a:t>
                      </a:r>
                      <a:r>
                        <a:rPr lang="en-DE" sz="2700" b="0" dirty="0"/>
                        <a:t> → </a:t>
                      </a:r>
                      <a:r>
                        <a:rPr lang="en-DE" sz="2700" b="0" dirty="0" err="1"/>
                        <a:t>SiLU</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Extrahiert</a:t>
                      </a:r>
                      <a:r>
                        <a:rPr lang="en-DE" sz="2700" dirty="0"/>
                        <a:t> </a:t>
                      </a:r>
                      <a:r>
                        <a:rPr lang="en-DE" sz="2700" dirty="0" err="1"/>
                        <a:t>Merkmale</a:t>
                      </a:r>
                      <a:r>
                        <a:rPr lang="en-DE" sz="2700" dirty="0"/>
                        <a:t>; </a:t>
                      </a:r>
                      <a:r>
                        <a:rPr lang="en-DE" sz="2700" dirty="0" err="1"/>
                        <a:t>halbiert</a:t>
                      </a:r>
                      <a:r>
                        <a:rPr lang="en-DE" sz="2700" dirty="0"/>
                        <a:t> </a:t>
                      </a:r>
                      <a:r>
                        <a:rPr lang="en-DE" sz="2700" dirty="0" err="1"/>
                        <a:t>bei</a:t>
                      </a:r>
                      <a:r>
                        <a:rPr lang="en-DE" sz="2700" dirty="0"/>
                        <a:t> Stride 2 die </a:t>
                      </a:r>
                      <a:r>
                        <a:rPr lang="en-DE" sz="2700" dirty="0" err="1"/>
                        <a:t>Auflösung</a:t>
                      </a:r>
                      <a:r>
                        <a:rPr lang="de-DE" sz="2700" b="0" dirty="0"/>
                        <a:t>.</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3084671"/>
                  </a:ext>
                </a:extLst>
              </a:tr>
              <a:tr h="2336164">
                <a:tc>
                  <a:txBody>
                    <a:bodyPr/>
                    <a:lstStyle/>
                    <a:p>
                      <a:pPr>
                        <a:buNone/>
                      </a:pPr>
                      <a:r>
                        <a:rPr lang="en-DE" sz="2700" b="0" dirty="0"/>
                        <a:t>C3k2-Block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Aufteilung</a:t>
                      </a:r>
                      <a:r>
                        <a:rPr lang="en-DE" sz="2800" dirty="0"/>
                        <a:t> in 2 </a:t>
                      </a:r>
                      <a:r>
                        <a:rPr lang="en-DE" sz="2800" dirty="0" err="1"/>
                        <a:t>Pfade</a:t>
                      </a:r>
                      <a:r>
                        <a:rPr lang="en-DE" sz="2800" dirty="0"/>
                        <a:t> → Bottlenecks </a:t>
                      </a:r>
                      <a:r>
                        <a:rPr lang="en-DE" sz="2800" dirty="0" err="1"/>
                        <a:t>im</a:t>
                      </a:r>
                      <a:r>
                        <a:rPr lang="en-DE" sz="2800" dirty="0"/>
                        <a:t> </a:t>
                      </a:r>
                      <a:r>
                        <a:rPr lang="en-DE" sz="2800" dirty="0" err="1"/>
                        <a:t>Arbeitspfad</a:t>
                      </a:r>
                      <a:r>
                        <a:rPr lang="en-DE" sz="2800" dirty="0"/>
                        <a:t> → </a:t>
                      </a:r>
                      <a:r>
                        <a:rPr lang="en-DE" sz="2800" dirty="0" err="1"/>
                        <a:t>Zusammenführung</a:t>
                      </a:r>
                      <a:r>
                        <a:rPr lang="en-DE" sz="2800" dirty="0"/>
                        <a:t> </a:t>
                      </a:r>
                      <a:r>
                        <a:rPr lang="en-DE" sz="2800" dirty="0" err="1"/>
                        <a:t>aller</a:t>
                      </a:r>
                      <a:r>
                        <a:rPr lang="en-DE" sz="2800" dirty="0"/>
                        <a:t> </a:t>
                      </a:r>
                      <a:r>
                        <a:rPr lang="en-DE" sz="2800" dirty="0" err="1"/>
                        <a:t>Zwischen</a:t>
                      </a:r>
                      <a:r>
                        <a:rPr lang="en-US" sz="2800" dirty="0"/>
                        <a:t>-</a:t>
                      </a:r>
                      <a:r>
                        <a:rPr lang="en-DE" sz="2800" dirty="0" err="1"/>
                        <a:t>ergebnisse</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Verfeinert</a:t>
                      </a:r>
                      <a:r>
                        <a:rPr lang="en-DE" sz="2700" dirty="0"/>
                        <a:t> </a:t>
                      </a:r>
                      <a:r>
                        <a:rPr lang="en-DE" sz="2700" dirty="0" err="1"/>
                        <a:t>Merkmale</a:t>
                      </a:r>
                      <a:r>
                        <a:rPr lang="en-DE" sz="2700" dirty="0"/>
                        <a:t> </a:t>
                      </a:r>
                      <a:r>
                        <a:rPr lang="en-DE" sz="2700" dirty="0" err="1"/>
                        <a:t>bei</a:t>
                      </a:r>
                      <a:r>
                        <a:rPr lang="en-DE" sz="2700" dirty="0"/>
                        <a:t> </a:t>
                      </a:r>
                      <a:r>
                        <a:rPr lang="en-DE" sz="2700" dirty="0" err="1"/>
                        <a:t>gleicher</a:t>
                      </a:r>
                      <a:r>
                        <a:rPr lang="en-DE" sz="2700" dirty="0"/>
                        <a:t> </a:t>
                      </a:r>
                      <a:r>
                        <a:rPr lang="en-DE" sz="2700" dirty="0" err="1"/>
                        <a:t>Auflösung</a:t>
                      </a:r>
                      <a:r>
                        <a:rPr lang="en-DE" sz="2700" dirty="0"/>
                        <a:t>; Bypass spart </a:t>
                      </a:r>
                      <a:r>
                        <a:rPr lang="en-DE" sz="2700" dirty="0" err="1"/>
                        <a:t>Rechenaufwand</a:t>
                      </a:r>
                      <a:r>
                        <a:rPr lang="en-DE" sz="2700" dirty="0"/>
                        <a:t> und </a:t>
                      </a:r>
                      <a:r>
                        <a:rPr lang="en-DE" sz="2700" dirty="0" err="1"/>
                        <a:t>verbessert</a:t>
                      </a:r>
                      <a:r>
                        <a:rPr lang="en-DE" sz="2700" dirty="0"/>
                        <a:t> den </a:t>
                      </a:r>
                      <a:r>
                        <a:rPr lang="en-DE" sz="2700" dirty="0" err="1"/>
                        <a:t>Gradientenfluss</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8271524"/>
                  </a:ext>
                </a:extLst>
              </a:tr>
              <a:tr h="1932111">
                <a:tc>
                  <a:txBody>
                    <a:bodyPr/>
                    <a:lstStyle/>
                    <a:p>
                      <a:pPr>
                        <a:buNone/>
                      </a:pPr>
                      <a:r>
                        <a:rPr lang="en-DE" sz="2700" b="0" dirty="0"/>
                        <a:t>SPPF-Block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a:t>1×1-Conv → </a:t>
                      </a:r>
                      <a:r>
                        <a:rPr lang="en-DE" sz="2800" dirty="0" err="1"/>
                        <a:t>drei</a:t>
                      </a:r>
                      <a:r>
                        <a:rPr lang="en-DE" sz="2800" dirty="0"/>
                        <a:t> </a:t>
                      </a:r>
                      <a:r>
                        <a:rPr lang="en-DE" sz="2800" dirty="0" err="1"/>
                        <a:t>serielle</a:t>
                      </a:r>
                      <a:r>
                        <a:rPr lang="en-DE" sz="2800" dirty="0"/>
                        <a:t> 5×5-MaxPool-Schritte → </a:t>
                      </a:r>
                      <a:r>
                        <a:rPr lang="en-DE" sz="2800" dirty="0" err="1"/>
                        <a:t>Zusammenführung</a:t>
                      </a:r>
                      <a:r>
                        <a:rPr lang="en-DE" sz="2800" dirty="0"/>
                        <a:t> → 1×1-Conv</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800" dirty="0" err="1"/>
                        <a:t>Erfasst</a:t>
                      </a:r>
                      <a:r>
                        <a:rPr lang="en-DE" sz="2800" dirty="0"/>
                        <a:t> </a:t>
                      </a:r>
                      <a:r>
                        <a:rPr lang="en-DE" sz="2800" dirty="0" err="1"/>
                        <a:t>Bildmerkmale</a:t>
                      </a:r>
                      <a:r>
                        <a:rPr lang="en-DE" sz="2800" dirty="0"/>
                        <a:t> auf </a:t>
                      </a:r>
                      <a:r>
                        <a:rPr lang="en-DE" sz="2800" dirty="0" err="1"/>
                        <a:t>verschiedenen</a:t>
                      </a:r>
                      <a:r>
                        <a:rPr lang="en-DE" sz="2800" dirty="0"/>
                        <a:t> </a:t>
                      </a:r>
                      <a:r>
                        <a:rPr lang="en-DE" sz="2800" dirty="0" err="1"/>
                        <a:t>Kontextgrößen</a:t>
                      </a:r>
                      <a:r>
                        <a:rPr lang="en-DE" sz="2800" dirty="0"/>
                        <a:t>, </a:t>
                      </a:r>
                      <a:r>
                        <a:rPr lang="en-DE" sz="2800" dirty="0" err="1"/>
                        <a:t>ohne</a:t>
                      </a:r>
                      <a:r>
                        <a:rPr lang="en-DE" sz="2800" dirty="0"/>
                        <a:t> die </a:t>
                      </a:r>
                      <a:r>
                        <a:rPr lang="en-DE" sz="2800" dirty="0" err="1"/>
                        <a:t>räumliche</a:t>
                      </a:r>
                      <a:r>
                        <a:rPr lang="en-DE" sz="2800" dirty="0"/>
                        <a:t> </a:t>
                      </a:r>
                      <a:r>
                        <a:rPr lang="en-DE" sz="2800" dirty="0" err="1"/>
                        <a:t>Auflösung</a:t>
                      </a:r>
                      <a:r>
                        <a:rPr lang="en-DE" sz="2800" dirty="0"/>
                        <a:t> </a:t>
                      </a:r>
                      <a:r>
                        <a:rPr lang="en-DE" sz="2800" dirty="0" err="1"/>
                        <a:t>zu</a:t>
                      </a:r>
                      <a:r>
                        <a:rPr lang="en-DE" sz="2800" dirty="0"/>
                        <a:t> </a:t>
                      </a:r>
                      <a:r>
                        <a:rPr lang="en-DE" sz="2800" dirty="0" err="1"/>
                        <a:t>reduzieren</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0600419"/>
                  </a:ext>
                </a:extLst>
              </a:tr>
              <a:tr h="2384114">
                <a:tc>
                  <a:txBody>
                    <a:bodyPr/>
                    <a:lstStyle/>
                    <a:p>
                      <a:pPr>
                        <a:buNone/>
                      </a:pPr>
                      <a:r>
                        <a:rPr lang="en-DE" sz="2700" b="0" dirty="0"/>
                        <a:t>C2PSA-Block</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b="0" dirty="0" err="1"/>
                        <a:t>Aufteilung</a:t>
                      </a:r>
                      <a:r>
                        <a:rPr lang="en-DE" sz="2700" b="0" dirty="0"/>
                        <a:t> der </a:t>
                      </a:r>
                      <a:r>
                        <a:rPr lang="en-DE" sz="2700" b="0" dirty="0" err="1"/>
                        <a:t>Merkmale</a:t>
                      </a:r>
                      <a:r>
                        <a:rPr lang="en-DE" sz="2700" b="0" dirty="0"/>
                        <a:t> → Self-Attention in </a:t>
                      </a:r>
                      <a:r>
                        <a:rPr lang="en-DE" sz="2700" b="0" dirty="0" err="1"/>
                        <a:t>einem</a:t>
                      </a:r>
                      <a:r>
                        <a:rPr lang="en-DE" sz="2700" b="0" dirty="0"/>
                        <a:t> </a:t>
                      </a:r>
                      <a:r>
                        <a:rPr lang="en-DE" sz="2700" b="0" dirty="0" err="1"/>
                        <a:t>Teilpfad</a:t>
                      </a:r>
                      <a:r>
                        <a:rPr lang="en-DE" sz="2700" b="0" dirty="0"/>
                        <a:t> → </a:t>
                      </a:r>
                      <a:r>
                        <a:rPr lang="en-DE" sz="2700" b="0" dirty="0" err="1"/>
                        <a:t>Zusammenführung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DE" sz="2700" dirty="0" err="1"/>
                        <a:t>Gewichtet</a:t>
                      </a:r>
                      <a:r>
                        <a:rPr lang="en-DE" sz="2700" dirty="0"/>
                        <a:t> </a:t>
                      </a:r>
                      <a:r>
                        <a:rPr lang="en-DE" sz="2700" dirty="0" err="1"/>
                        <a:t>Bildbereiche</a:t>
                      </a:r>
                      <a:r>
                        <a:rPr lang="en-DE" sz="2700" dirty="0"/>
                        <a:t> </a:t>
                      </a:r>
                      <a:r>
                        <a:rPr lang="en-DE" sz="2700" dirty="0" err="1"/>
                        <a:t>kontextabhängig</a:t>
                      </a:r>
                      <a:endParaRPr lang="en-DE" sz="2700" b="0" dirty="0">
                        <a:latin typeface="+mn-lt"/>
                      </a:endParaRPr>
                    </a:p>
                  </a:txBody>
                  <a:tcPr marL="62845" marR="62845" marT="31422" marB="31422"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3309161"/>
                  </a:ext>
                </a:extLst>
              </a:tr>
            </a:tbl>
          </a:graphicData>
        </a:graphic>
      </p:graphicFrame>
      <p:sp>
        <p:nvSpPr>
          <p:cNvPr id="74" name="Textplatzhalter 32">
            <a:extLst>
              <a:ext uri="{FF2B5EF4-FFF2-40B4-BE49-F238E27FC236}">
                <a16:creationId xmlns:a16="http://schemas.microsoft.com/office/drawing/2014/main" id="{F8CEFEA3-3617-EF4C-606D-978A6D9BBD5A}"/>
              </a:ext>
            </a:extLst>
          </p:cNvPr>
          <p:cNvSpPr>
            <a:spLocks noGrp="1"/>
          </p:cNvSpPr>
          <p:nvPr>
            <p:ph type="body" sz="quarter" idx="27"/>
          </p:nvPr>
        </p:nvSpPr>
        <p:spPr>
          <a:xfrm>
            <a:off x="10918800" y="20294632"/>
            <a:ext cx="8472488" cy="1070435"/>
          </a:xfrm>
        </p:spPr>
        <p:txBody>
          <a:bodyPr/>
          <a:lstStyle/>
          <a:p>
            <a:r>
              <a:rPr lang="en-DE" sz="2700" b="1" dirty="0">
                <a:latin typeface="+mn-lt"/>
              </a:rPr>
              <a:t>ZENTRALE BAUSTEINE DER YOLO26-POSE-ARCHITEKTUR</a:t>
            </a:r>
            <a:endParaRPr lang="de-DE" sz="2700" b="1" dirty="0">
              <a:latin typeface="+mn-lt"/>
            </a:endParaRPr>
          </a:p>
        </p:txBody>
      </p:sp>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ED7AEBF6-8891-71BA-A80D-EF4DDE18A5C5}"/>
                  </a:ext>
                </a:extLst>
              </p:cNvPr>
              <p:cNvSpPr txBox="1"/>
              <p:nvPr/>
            </p:nvSpPr>
            <p:spPr>
              <a:xfrm>
                <a:off x="19897927" y="13845384"/>
                <a:ext cx="10155602" cy="5463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DE" sz="2700" i="1" smtClean="0">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total</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box</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box</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cls</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cls</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pose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pose</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kobj</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kobj</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RLE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RLE</m:t>
                          </m:r>
                        </m:sub>
                      </m:sSub>
                    </m:oMath>
                  </m:oMathPara>
                </a14:m>
                <a:endParaRPr lang="en-DE" dirty="0"/>
              </a:p>
            </p:txBody>
          </p:sp>
        </mc:Choice>
        <mc:Fallback xmlns="">
          <p:sp>
            <p:nvSpPr>
              <p:cNvPr id="131" name="TextBox 130">
                <a:extLst>
                  <a:ext uri="{FF2B5EF4-FFF2-40B4-BE49-F238E27FC236}">
                    <a16:creationId xmlns:a16="http://schemas.microsoft.com/office/drawing/2014/main" id="{6363AD94-D1D1-ED36-C9C5-9A2D62079A11}"/>
                  </a:ext>
                </a:extLst>
              </p:cNvPr>
              <p:cNvSpPr txBox="1">
                <a:spLocks noRot="1" noChangeAspect="1" noMove="1" noResize="1" noEditPoints="1" noAdjustHandles="1" noChangeArrowheads="1" noChangeShapeType="1" noTextEdit="1"/>
              </p:cNvSpPr>
              <p:nvPr/>
            </p:nvSpPr>
            <p:spPr>
              <a:xfrm>
                <a:off x="19897927" y="13845384"/>
                <a:ext cx="10155602" cy="546303"/>
              </a:xfrm>
              <a:prstGeom prst="rect">
                <a:avLst/>
              </a:prstGeom>
              <a:blipFill>
                <a:blip r:embed="rId5"/>
                <a:stretch>
                  <a:fillRect/>
                </a:stretch>
              </a:blipFill>
            </p:spPr>
            <p:txBody>
              <a:bodyPr/>
              <a:lstStyle/>
              <a:p>
                <a:r>
                  <a:rPr lang="en-DE">
                    <a:noFill/>
                  </a:rPr>
                  <a:t> </a:t>
                </a:r>
              </a:p>
            </p:txBody>
          </p:sp>
        </mc:Fallback>
      </mc:AlternateContent>
      <p:grpSp>
        <p:nvGrpSpPr>
          <p:cNvPr id="58" name="Group 57">
            <a:extLst>
              <a:ext uri="{FF2B5EF4-FFF2-40B4-BE49-F238E27FC236}">
                <a16:creationId xmlns:a16="http://schemas.microsoft.com/office/drawing/2014/main" id="{D993CFF1-4CE3-F313-8651-70F106C8CACA}"/>
              </a:ext>
            </a:extLst>
          </p:cNvPr>
          <p:cNvGrpSpPr/>
          <p:nvPr/>
        </p:nvGrpSpPr>
        <p:grpSpPr>
          <a:xfrm>
            <a:off x="20241488" y="29786655"/>
            <a:ext cx="8531228" cy="8328863"/>
            <a:chOff x="20241488" y="28818410"/>
            <a:chExt cx="8531228" cy="8328863"/>
          </a:xfrm>
        </p:grpSpPr>
        <p:pic>
          <p:nvPicPr>
            <p:cNvPr id="132" name="Picture 131">
              <a:extLst>
                <a:ext uri="{FF2B5EF4-FFF2-40B4-BE49-F238E27FC236}">
                  <a16:creationId xmlns:a16="http://schemas.microsoft.com/office/drawing/2014/main" id="{FE30ABE5-931E-FB3C-A35E-B6B46F30196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7009"/>
            <a:stretch>
              <a:fillRect/>
            </a:stretch>
          </p:blipFill>
          <p:spPr bwMode="auto">
            <a:xfrm>
              <a:off x="20241488" y="28818410"/>
              <a:ext cx="8531228" cy="3083472"/>
            </a:xfrm>
            <a:prstGeom prst="rect">
              <a:avLst/>
            </a:prstGeom>
            <a:noFill/>
            <a:ln>
              <a:noFill/>
            </a:ln>
            <a:extLst>
              <a:ext uri="{53640926-AAD7-44D8-BBD7-CCE9431645EC}">
                <a14:shadowObscured xmlns:a14="http://schemas.microsoft.com/office/drawing/2010/main"/>
              </a:ext>
            </a:extLst>
          </p:spPr>
        </p:pic>
        <p:sp>
          <p:nvSpPr>
            <p:cNvPr id="22" name="Textplatzhalter 36">
              <a:extLst>
                <a:ext uri="{FF2B5EF4-FFF2-40B4-BE49-F238E27FC236}">
                  <a16:creationId xmlns:a16="http://schemas.microsoft.com/office/drawing/2014/main" id="{F90115DF-B65B-419F-62CC-ECE7331BE4A2}"/>
                </a:ext>
              </a:extLst>
            </p:cNvPr>
            <p:cNvSpPr txBox="1">
              <a:spLocks/>
            </p:cNvSpPr>
            <p:nvPr/>
          </p:nvSpPr>
          <p:spPr>
            <a:xfrm>
              <a:off x="20296588" y="36785760"/>
              <a:ext cx="8418906" cy="3615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nSpc>
                  <a:spcPct val="100000"/>
                </a:lnSpc>
              </a:pPr>
              <a:r>
                <a:rPr lang="de-DE" dirty="0"/>
                <a:t>Abbildung : YOLO11n- vs. YOLO26n-Pose. Oben: Qualitativer Vergleich: Boxen, Konfidenzen und 17-Keypoint-Skelette — YOLO26 erkennt zusätzlich entfernte Personen. Unten: Laufzeitkomponenten pro Bild (n = 20) auf zwei CPUs und einer GPU; Fehlerbalken: ±1 Standardabweichung.</a:t>
              </a:r>
            </a:p>
          </p:txBody>
        </p:sp>
        <p:pic>
          <p:nvPicPr>
            <p:cNvPr id="26" name="Graphic 25">
              <a:extLst>
                <a:ext uri="{FF2B5EF4-FFF2-40B4-BE49-F238E27FC236}">
                  <a16:creationId xmlns:a16="http://schemas.microsoft.com/office/drawing/2014/main" id="{895F0B32-63E2-09A1-3BBF-F970316995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241488" y="31901882"/>
              <a:ext cx="8531228" cy="4711474"/>
            </a:xfrm>
            <a:prstGeom prst="rect">
              <a:avLst/>
            </a:prstGeom>
          </p:spPr>
        </p:pic>
      </p:grpSp>
      <p:pic>
        <p:nvPicPr>
          <p:cNvPr id="34" name="Picture 33">
            <a:extLst>
              <a:ext uri="{FF2B5EF4-FFF2-40B4-BE49-F238E27FC236}">
                <a16:creationId xmlns:a16="http://schemas.microsoft.com/office/drawing/2014/main" id="{04F273D0-20B0-B4C2-E0A0-69ACAA5111EB}"/>
              </a:ext>
            </a:extLst>
          </p:cNvPr>
          <p:cNvPicPr>
            <a:picLocks noChangeAspect="1"/>
          </p:cNvPicPr>
          <p:nvPr/>
        </p:nvPicPr>
        <p:blipFill>
          <a:blip r:embed="rId8"/>
          <a:stretch>
            <a:fillRect/>
          </a:stretch>
        </p:blipFill>
        <p:spPr>
          <a:xfrm>
            <a:off x="10918800" y="12898339"/>
            <a:ext cx="8472488" cy="6279783"/>
          </a:xfrm>
          <a:prstGeom prst="rect">
            <a:avLst/>
          </a:prstGeom>
        </p:spPr>
      </p:pic>
      <p:grpSp>
        <p:nvGrpSpPr>
          <p:cNvPr id="37" name="Group 36">
            <a:extLst>
              <a:ext uri="{FF2B5EF4-FFF2-40B4-BE49-F238E27FC236}">
                <a16:creationId xmlns:a16="http://schemas.microsoft.com/office/drawing/2014/main" id="{97AE6782-6096-BE36-3E6A-B9D0174049DC}"/>
              </a:ext>
            </a:extLst>
          </p:cNvPr>
          <p:cNvGrpSpPr/>
          <p:nvPr/>
        </p:nvGrpSpPr>
        <p:grpSpPr>
          <a:xfrm>
            <a:off x="10899777" y="32001721"/>
            <a:ext cx="8440734" cy="5879953"/>
            <a:chOff x="10442326" y="30796179"/>
            <a:chExt cx="9377860" cy="6532770"/>
          </a:xfrm>
        </p:grpSpPr>
        <p:grpSp>
          <p:nvGrpSpPr>
            <p:cNvPr id="40" name="Group 39">
              <a:extLst>
                <a:ext uri="{FF2B5EF4-FFF2-40B4-BE49-F238E27FC236}">
                  <a16:creationId xmlns:a16="http://schemas.microsoft.com/office/drawing/2014/main" id="{2B5D559C-170D-209D-19D0-8477A2C35C3A}"/>
                </a:ext>
              </a:extLst>
            </p:cNvPr>
            <p:cNvGrpSpPr/>
            <p:nvPr/>
          </p:nvGrpSpPr>
          <p:grpSpPr>
            <a:xfrm>
              <a:off x="10442326" y="30796179"/>
              <a:ext cx="9377860" cy="6532770"/>
              <a:chOff x="10442326" y="20145375"/>
              <a:chExt cx="9377860" cy="6532770"/>
            </a:xfrm>
          </p:grpSpPr>
          <p:pic>
            <p:nvPicPr>
              <p:cNvPr id="49" name="Picture 48">
                <a:extLst>
                  <a:ext uri="{FF2B5EF4-FFF2-40B4-BE49-F238E27FC236}">
                    <a16:creationId xmlns:a16="http://schemas.microsoft.com/office/drawing/2014/main" id="{EBC4A8E8-8EF9-8254-D44A-7AFDEF2A852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55025" y="22981991"/>
                <a:ext cx="9223829" cy="2014250"/>
              </a:xfrm>
              <a:prstGeom prst="rect">
                <a:avLst/>
              </a:prstGeom>
            </p:spPr>
          </p:pic>
          <p:pic>
            <p:nvPicPr>
              <p:cNvPr id="50" name="Picture 49">
                <a:extLst>
                  <a:ext uri="{FF2B5EF4-FFF2-40B4-BE49-F238E27FC236}">
                    <a16:creationId xmlns:a16="http://schemas.microsoft.com/office/drawing/2014/main" id="{A71BA1A1-AED4-823B-F0B6-B110AF525A06}"/>
                  </a:ext>
                </a:extLst>
              </p:cNvPr>
              <p:cNvPicPr>
                <a:picLocks noChangeAspect="1"/>
              </p:cNvPicPr>
              <p:nvPr/>
            </p:nvPicPr>
            <p:blipFill>
              <a:blip r:embed="rId10">
                <a:extLst>
                  <a:ext uri="{28A0092B-C50C-407E-A947-70E740481C1C}">
                    <a14:useLocalDpi xmlns:a14="http://schemas.microsoft.com/office/drawing/2010/main" val="0"/>
                  </a:ext>
                </a:extLst>
              </a:blip>
              <a:srcRect t="24087" b="8560"/>
              <a:stretch>
                <a:fillRect/>
              </a:stretch>
            </p:blipFill>
            <p:spPr>
              <a:xfrm>
                <a:off x="10455025" y="25289168"/>
                <a:ext cx="9223829" cy="1251292"/>
              </a:xfrm>
              <a:prstGeom prst="rect">
                <a:avLst/>
              </a:prstGeom>
            </p:spPr>
          </p:pic>
          <p:pic>
            <p:nvPicPr>
              <p:cNvPr id="51" name="Picture 50">
                <a:extLst>
                  <a:ext uri="{FF2B5EF4-FFF2-40B4-BE49-F238E27FC236}">
                    <a16:creationId xmlns:a16="http://schemas.microsoft.com/office/drawing/2014/main" id="{FFAA5794-EEE1-ADB6-F9A1-5C9BBEA21645}"/>
                  </a:ext>
                </a:extLst>
              </p:cNvPr>
              <p:cNvPicPr>
                <a:picLocks noChangeAspect="1"/>
              </p:cNvPicPr>
              <p:nvPr/>
            </p:nvPicPr>
            <p:blipFill>
              <a:blip r:embed="rId11">
                <a:extLst>
                  <a:ext uri="{28A0092B-C50C-407E-A947-70E740481C1C}">
                    <a14:useLocalDpi xmlns:a14="http://schemas.microsoft.com/office/drawing/2010/main" val="0"/>
                  </a:ext>
                </a:extLst>
              </a:blip>
              <a:srcRect l="10644" t="7304"/>
              <a:stretch>
                <a:fillRect/>
              </a:stretch>
            </p:blipFill>
            <p:spPr>
              <a:xfrm>
                <a:off x="10455025" y="20169537"/>
                <a:ext cx="9365161" cy="3084686"/>
              </a:xfrm>
              <a:prstGeom prst="rect">
                <a:avLst/>
              </a:prstGeom>
            </p:spPr>
          </p:pic>
          <p:cxnSp>
            <p:nvCxnSpPr>
              <p:cNvPr id="52" name="Straight Arrow Connector 51">
                <a:extLst>
                  <a:ext uri="{FF2B5EF4-FFF2-40B4-BE49-F238E27FC236}">
                    <a16:creationId xmlns:a16="http://schemas.microsoft.com/office/drawing/2014/main" id="{0A5E969F-491F-7B2C-6756-4E45F37C8B5F}"/>
                  </a:ext>
                </a:extLst>
              </p:cNvPr>
              <p:cNvCxnSpPr>
                <a:cxnSpLocks/>
              </p:cNvCxnSpPr>
              <p:nvPr/>
            </p:nvCxnSpPr>
            <p:spPr>
              <a:xfrm flipH="1">
                <a:off x="11658600" y="24879300"/>
                <a:ext cx="1955800" cy="495300"/>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3" name="Rectangle: Rounded Corners 52">
                <a:extLst>
                  <a:ext uri="{FF2B5EF4-FFF2-40B4-BE49-F238E27FC236}">
                    <a16:creationId xmlns:a16="http://schemas.microsoft.com/office/drawing/2014/main" id="{DA7A0AE7-9F7D-7728-F019-CCD5D6107990}"/>
                  </a:ext>
                </a:extLst>
              </p:cNvPr>
              <p:cNvSpPr/>
              <p:nvPr/>
            </p:nvSpPr>
            <p:spPr>
              <a:xfrm>
                <a:off x="10442326" y="25209601"/>
                <a:ext cx="9255578" cy="146854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4" name="Rectangle 53">
                <a:extLst>
                  <a:ext uri="{FF2B5EF4-FFF2-40B4-BE49-F238E27FC236}">
                    <a16:creationId xmlns:a16="http://schemas.microsoft.com/office/drawing/2014/main" id="{F3CE85CE-48F6-E8CC-1792-85C96FC16D8D}"/>
                  </a:ext>
                </a:extLst>
              </p:cNvPr>
              <p:cNvSpPr/>
              <p:nvPr/>
            </p:nvSpPr>
            <p:spPr>
              <a:xfrm>
                <a:off x="11806238" y="20145375"/>
                <a:ext cx="361950" cy="562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cxnSp>
          <p:nvCxnSpPr>
            <p:cNvPr id="41" name="Straight Arrow Connector 40">
              <a:extLst>
                <a:ext uri="{FF2B5EF4-FFF2-40B4-BE49-F238E27FC236}">
                  <a16:creationId xmlns:a16="http://schemas.microsoft.com/office/drawing/2014/main" id="{B9A8972F-EA4E-FBEC-F9B6-93DBB12C94CD}"/>
                </a:ext>
              </a:extLst>
            </p:cNvPr>
            <p:cNvCxnSpPr>
              <a:cxnSpLocks/>
            </p:cNvCxnSpPr>
            <p:nvPr/>
          </p:nvCxnSpPr>
          <p:spPr>
            <a:xfrm flipH="1">
              <a:off x="18330615" y="32638626"/>
              <a:ext cx="202508" cy="1535101"/>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Arrow Connector 43">
              <a:extLst>
                <a:ext uri="{FF2B5EF4-FFF2-40B4-BE49-F238E27FC236}">
                  <a16:creationId xmlns:a16="http://schemas.microsoft.com/office/drawing/2014/main" id="{4A32EA65-9929-94C7-3A2C-BA52FE3F19B1}"/>
                </a:ext>
              </a:extLst>
            </p:cNvPr>
            <p:cNvCxnSpPr>
              <a:cxnSpLocks/>
            </p:cNvCxnSpPr>
            <p:nvPr/>
          </p:nvCxnSpPr>
          <p:spPr>
            <a:xfrm>
              <a:off x="18789115" y="32638626"/>
              <a:ext cx="820221" cy="1577500"/>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D9A3AC11-6556-1760-7666-F6ED2B885287}"/>
                </a:ext>
              </a:extLst>
            </p:cNvPr>
            <p:cNvCxnSpPr>
              <a:cxnSpLocks/>
            </p:cNvCxnSpPr>
            <p:nvPr/>
          </p:nvCxnSpPr>
          <p:spPr>
            <a:xfrm flipH="1">
              <a:off x="16776700" y="32774709"/>
              <a:ext cx="841296" cy="139901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9DC18225-6254-139C-C020-407499953317}"/>
                </a:ext>
              </a:extLst>
            </p:cNvPr>
            <p:cNvCxnSpPr>
              <a:cxnSpLocks/>
            </p:cNvCxnSpPr>
            <p:nvPr/>
          </p:nvCxnSpPr>
          <p:spPr>
            <a:xfrm flipH="1">
              <a:off x="18044704" y="32774709"/>
              <a:ext cx="48838" cy="1441417"/>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0F7AD311-DA6F-A196-017C-FB37939D228D}"/>
                </a:ext>
              </a:extLst>
            </p:cNvPr>
            <p:cNvCxnSpPr>
              <a:cxnSpLocks/>
            </p:cNvCxnSpPr>
            <p:nvPr/>
          </p:nvCxnSpPr>
          <p:spPr>
            <a:xfrm flipH="1">
              <a:off x="12094746" y="33339868"/>
              <a:ext cx="2097504" cy="82328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Arrow Connector 47">
              <a:extLst>
                <a:ext uri="{FF2B5EF4-FFF2-40B4-BE49-F238E27FC236}">
                  <a16:creationId xmlns:a16="http://schemas.microsoft.com/office/drawing/2014/main" id="{BAB0351E-774E-B81C-407C-6E7CFF4EF43D}"/>
                </a:ext>
              </a:extLst>
            </p:cNvPr>
            <p:cNvCxnSpPr>
              <a:cxnSpLocks/>
            </p:cNvCxnSpPr>
            <p:nvPr/>
          </p:nvCxnSpPr>
          <p:spPr>
            <a:xfrm flipH="1">
              <a:off x="13346112" y="33339868"/>
              <a:ext cx="2589214" cy="858086"/>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9" name="Group 8">
            <a:extLst>
              <a:ext uri="{FF2B5EF4-FFF2-40B4-BE49-F238E27FC236}">
                <a16:creationId xmlns:a16="http://schemas.microsoft.com/office/drawing/2014/main" id="{6EFAE0D9-8626-3AF6-96A9-67F6C712C339}"/>
              </a:ext>
            </a:extLst>
          </p:cNvPr>
          <p:cNvGrpSpPr/>
          <p:nvPr/>
        </p:nvGrpSpPr>
        <p:grpSpPr>
          <a:xfrm>
            <a:off x="1614422" y="29394768"/>
            <a:ext cx="8652576" cy="4668472"/>
            <a:chOff x="1614422" y="25508568"/>
            <a:chExt cx="8652576" cy="4668472"/>
          </a:xfrm>
        </p:grpSpPr>
        <p:pic>
          <p:nvPicPr>
            <p:cNvPr id="6" name="Picture 5">
              <a:extLst>
                <a:ext uri="{FF2B5EF4-FFF2-40B4-BE49-F238E27FC236}">
                  <a16:creationId xmlns:a16="http://schemas.microsoft.com/office/drawing/2014/main" id="{D0C11A2F-331E-C8B7-7862-65E17B8014C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614422" y="25636912"/>
              <a:ext cx="2835658" cy="4255149"/>
            </a:xfrm>
            <a:prstGeom prst="rect">
              <a:avLst/>
            </a:prstGeom>
          </p:spPr>
        </p:pic>
        <p:pic>
          <p:nvPicPr>
            <p:cNvPr id="7" name="Picture 6">
              <a:extLst>
                <a:ext uri="{FF2B5EF4-FFF2-40B4-BE49-F238E27FC236}">
                  <a16:creationId xmlns:a16="http://schemas.microsoft.com/office/drawing/2014/main" id="{D451E306-C88B-3F85-2DD2-BE16B230E266}"/>
                </a:ext>
              </a:extLst>
            </p:cNvPr>
            <p:cNvPicPr>
              <a:picLocks noChangeAspect="1"/>
            </p:cNvPicPr>
            <p:nvPr/>
          </p:nvPicPr>
          <p:blipFill>
            <a:blip r:embed="rId13">
              <a:extLst>
                <a:ext uri="{28A0092B-C50C-407E-A947-70E740481C1C}">
                  <a14:useLocalDpi xmlns:a14="http://schemas.microsoft.com/office/drawing/2010/main" val="0"/>
                </a:ext>
              </a:extLst>
            </a:blip>
            <a:srcRect l="16358" t="9830" r="15451" b="5420"/>
            <a:stretch>
              <a:fillRect/>
            </a:stretch>
          </p:blipFill>
          <p:spPr>
            <a:xfrm>
              <a:off x="5258530" y="25508568"/>
              <a:ext cx="5008468" cy="4668472"/>
            </a:xfrm>
            <a:prstGeom prst="rect">
              <a:avLst/>
            </a:prstGeom>
          </p:spPr>
        </p:pic>
        <p:sp>
          <p:nvSpPr>
            <p:cNvPr id="8" name="Arrow: Right 7">
              <a:extLst>
                <a:ext uri="{FF2B5EF4-FFF2-40B4-BE49-F238E27FC236}">
                  <a16:creationId xmlns:a16="http://schemas.microsoft.com/office/drawing/2014/main" id="{4033572D-1F5B-C374-9663-5429BC013DBE}"/>
                </a:ext>
              </a:extLst>
            </p:cNvPr>
            <p:cNvSpPr/>
            <p:nvPr/>
          </p:nvSpPr>
          <p:spPr>
            <a:xfrm>
              <a:off x="4572484" y="27111081"/>
              <a:ext cx="502867" cy="89095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de-DE"/>
            </a:p>
          </p:txBody>
        </p:sp>
      </p:grpSp>
      <p:sp>
        <p:nvSpPr>
          <p:cNvPr id="10" name="Textplatzhalter 36">
            <a:extLst>
              <a:ext uri="{FF2B5EF4-FFF2-40B4-BE49-F238E27FC236}">
                <a16:creationId xmlns:a16="http://schemas.microsoft.com/office/drawing/2014/main" id="{424C8F34-E40E-0F7F-97FB-1B6FCF06EC77}"/>
              </a:ext>
            </a:extLst>
          </p:cNvPr>
          <p:cNvSpPr>
            <a:spLocks noGrp="1"/>
          </p:cNvSpPr>
          <p:nvPr>
            <p:ph type="body" sz="quarter" idx="36"/>
          </p:nvPr>
        </p:nvSpPr>
        <p:spPr>
          <a:xfrm>
            <a:off x="1527175" y="34316613"/>
            <a:ext cx="8472488" cy="890954"/>
          </a:xfrm>
        </p:spPr>
        <p:txBody>
          <a:bodyPr/>
          <a:lstStyle/>
          <a:p>
            <a:r>
              <a:rPr lang="de-DE" dirty="0"/>
              <a:t>Abbildung 1: </a:t>
            </a:r>
            <a:r>
              <a:rPr lang="en-US" dirty="0" err="1"/>
              <a:t>Anpassung</a:t>
            </a:r>
            <a:r>
              <a:rPr lang="en-US" dirty="0"/>
              <a:t> der </a:t>
            </a:r>
            <a:r>
              <a:rPr lang="en-US" dirty="0" err="1"/>
              <a:t>Eingabedimension</a:t>
            </a:r>
            <a:r>
              <a:rPr lang="en-US" dirty="0"/>
              <a:t> </a:t>
            </a:r>
            <a:r>
              <a:rPr lang="en-US" dirty="0" err="1"/>
              <a:t>mittels</a:t>
            </a:r>
            <a:r>
              <a:rPr lang="en-US" dirty="0"/>
              <a:t> Padding</a:t>
            </a:r>
            <a:endParaRPr lang="de-DE" dirty="0"/>
          </a:p>
        </p:txBody>
      </p:sp>
      <p:pic>
        <p:nvPicPr>
          <p:cNvPr id="14" name="Picture 13">
            <a:extLst>
              <a:ext uri="{FF2B5EF4-FFF2-40B4-BE49-F238E27FC236}">
                <a16:creationId xmlns:a16="http://schemas.microsoft.com/office/drawing/2014/main" id="{B1B0A517-754A-584F-30F6-94ADC5BB35B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23289" y="29523112"/>
            <a:ext cx="2835658" cy="4255149"/>
          </a:xfrm>
          <a:prstGeom prst="rect">
            <a:avLst/>
          </a:prstGeom>
        </p:spPr>
      </p:pic>
      <p:pic>
        <p:nvPicPr>
          <p:cNvPr id="17" name="Picture 16">
            <a:extLst>
              <a:ext uri="{FF2B5EF4-FFF2-40B4-BE49-F238E27FC236}">
                <a16:creationId xmlns:a16="http://schemas.microsoft.com/office/drawing/2014/main" id="{B38190FF-EE84-1223-10E6-B334BF60EB3D}"/>
              </a:ext>
            </a:extLst>
          </p:cNvPr>
          <p:cNvPicPr>
            <a:picLocks noChangeAspect="1"/>
          </p:cNvPicPr>
          <p:nvPr/>
        </p:nvPicPr>
        <p:blipFill>
          <a:blip r:embed="rId15"/>
          <a:stretch>
            <a:fillRect/>
          </a:stretch>
        </p:blipFill>
        <p:spPr>
          <a:xfrm>
            <a:off x="1527175" y="18147541"/>
            <a:ext cx="5784590" cy="3254340"/>
          </a:xfrm>
          <a:prstGeom prst="rect">
            <a:avLst/>
          </a:prstGeom>
        </p:spPr>
      </p:pic>
      <p:sp>
        <p:nvSpPr>
          <p:cNvPr id="19" name="Textplatzhalter 36">
            <a:extLst>
              <a:ext uri="{FF2B5EF4-FFF2-40B4-BE49-F238E27FC236}">
                <a16:creationId xmlns:a16="http://schemas.microsoft.com/office/drawing/2014/main" id="{54965D31-3182-2AF6-504A-BADDEC048BDA}"/>
              </a:ext>
            </a:extLst>
          </p:cNvPr>
          <p:cNvSpPr txBox="1">
            <a:spLocks/>
          </p:cNvSpPr>
          <p:nvPr/>
        </p:nvSpPr>
        <p:spPr>
          <a:xfrm>
            <a:off x="7657637" y="18211893"/>
            <a:ext cx="2563619" cy="108745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a:t>Abbildung 1: </a:t>
            </a:r>
            <a:r>
              <a:rPr lang="en-US"/>
              <a:t>Anpassung der Eingabedimension mittels Padding</a:t>
            </a:r>
            <a:endParaRPr lang="de-DE" dirty="0"/>
          </a:p>
        </p:txBody>
      </p:sp>
      <p:grpSp>
        <p:nvGrpSpPr>
          <p:cNvPr id="21" name="Group 20">
            <a:extLst>
              <a:ext uri="{FF2B5EF4-FFF2-40B4-BE49-F238E27FC236}">
                <a16:creationId xmlns:a16="http://schemas.microsoft.com/office/drawing/2014/main" id="{7BB5E951-49BB-9161-1B12-77C93821BCED}"/>
              </a:ext>
            </a:extLst>
          </p:cNvPr>
          <p:cNvGrpSpPr/>
          <p:nvPr/>
        </p:nvGrpSpPr>
        <p:grpSpPr>
          <a:xfrm>
            <a:off x="20241488" y="31644955"/>
            <a:ext cx="8531228" cy="8328863"/>
            <a:chOff x="20241488" y="28818410"/>
            <a:chExt cx="8531228" cy="8328863"/>
          </a:xfrm>
        </p:grpSpPr>
        <p:pic>
          <p:nvPicPr>
            <p:cNvPr id="23" name="Picture 22">
              <a:extLst>
                <a:ext uri="{FF2B5EF4-FFF2-40B4-BE49-F238E27FC236}">
                  <a16:creationId xmlns:a16="http://schemas.microsoft.com/office/drawing/2014/main" id="{5B0C4976-77C7-2BD0-ED2E-55AFF2D2979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7009"/>
            <a:stretch>
              <a:fillRect/>
            </a:stretch>
          </p:blipFill>
          <p:spPr bwMode="auto">
            <a:xfrm>
              <a:off x="20241488" y="28818410"/>
              <a:ext cx="8531228" cy="3083472"/>
            </a:xfrm>
            <a:prstGeom prst="rect">
              <a:avLst/>
            </a:prstGeom>
            <a:noFill/>
            <a:ln>
              <a:noFill/>
            </a:ln>
            <a:extLst>
              <a:ext uri="{53640926-AAD7-44D8-BBD7-CCE9431645EC}">
                <a14:shadowObscured xmlns:a14="http://schemas.microsoft.com/office/drawing/2010/main"/>
              </a:ext>
            </a:extLst>
          </p:spPr>
        </p:pic>
        <p:sp>
          <p:nvSpPr>
            <p:cNvPr id="24" name="Textplatzhalter 36">
              <a:extLst>
                <a:ext uri="{FF2B5EF4-FFF2-40B4-BE49-F238E27FC236}">
                  <a16:creationId xmlns:a16="http://schemas.microsoft.com/office/drawing/2014/main" id="{D2631D9A-AB31-A022-1742-57F9E8659A06}"/>
                </a:ext>
              </a:extLst>
            </p:cNvPr>
            <p:cNvSpPr txBox="1">
              <a:spLocks/>
            </p:cNvSpPr>
            <p:nvPr/>
          </p:nvSpPr>
          <p:spPr>
            <a:xfrm>
              <a:off x="20296588" y="36785760"/>
              <a:ext cx="8418906" cy="3615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gn="just">
                <a:lnSpc>
                  <a:spcPct val="100000"/>
                </a:lnSpc>
              </a:pPr>
              <a:r>
                <a:rPr lang="de-DE" dirty="0"/>
                <a:t>Abbildung 3: YOLO11n- vs. YOLO26n-Pose. Oben: Qualitativer Vergleich: Boxen, Konfidenzen und 17-Keypoint-Skelette — YOLO26 erkennt zusätzlich entfernte Personen. Unten: Laufzeitkomponenten pro Bild (n = 40) auf zwei CPUs und einer GPU; Fehlerbalken: ±1 Standardabweichung.</a:t>
              </a:r>
            </a:p>
          </p:txBody>
        </p:sp>
        <p:pic>
          <p:nvPicPr>
            <p:cNvPr id="25" name="Graphic 24">
              <a:extLst>
                <a:ext uri="{FF2B5EF4-FFF2-40B4-BE49-F238E27FC236}">
                  <a16:creationId xmlns:a16="http://schemas.microsoft.com/office/drawing/2014/main" id="{1A2D6A6C-1D72-712D-5219-99A7BC917B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241488" y="31901882"/>
              <a:ext cx="8531228" cy="4711474"/>
            </a:xfrm>
            <a:prstGeom prst="rect">
              <a:avLst/>
            </a:prstGeom>
          </p:spPr>
        </p:pic>
      </p:grpSp>
    </p:spTree>
    <p:extLst>
      <p:ext uri="{BB962C8B-B14F-4D97-AF65-F5344CB8AC3E}">
        <p14:creationId xmlns:p14="http://schemas.microsoft.com/office/powerpoint/2010/main" val="3134525756"/>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B8766-8D56-0BE1-12A9-65837A3245D7}"/>
            </a:ext>
          </a:extLst>
        </p:cNvPr>
        <p:cNvGrpSpPr/>
        <p:nvPr/>
      </p:nvGrpSpPr>
      <p:grpSpPr>
        <a:xfrm>
          <a:off x="0" y="0"/>
          <a:ext cx="0" cy="0"/>
          <a:chOff x="0" y="0"/>
          <a:chExt cx="0" cy="0"/>
        </a:xfrm>
      </p:grpSpPr>
      <p:sp>
        <p:nvSpPr>
          <p:cNvPr id="30" name="Titel 29">
            <a:extLst>
              <a:ext uri="{FF2B5EF4-FFF2-40B4-BE49-F238E27FC236}">
                <a16:creationId xmlns:a16="http://schemas.microsoft.com/office/drawing/2014/main" id="{18D5243B-5A71-AB8D-859A-4B78071F7209}"/>
              </a:ext>
            </a:extLst>
          </p:cNvPr>
          <p:cNvSpPr>
            <a:spLocks noGrp="1"/>
          </p:cNvSpPr>
          <p:nvPr>
            <p:ph type="ctrTitle"/>
          </p:nvPr>
        </p:nvSpPr>
        <p:spPr/>
        <p:txBody>
          <a:bodyPr/>
          <a:lstStyle/>
          <a:p>
            <a:r>
              <a:rPr lang="de-DE" dirty="0"/>
              <a:t>Oberseminar Automatisierungstechnik SS2026</a:t>
            </a:r>
          </a:p>
        </p:txBody>
      </p:sp>
      <p:sp>
        <p:nvSpPr>
          <p:cNvPr id="31" name="Untertitel 30">
            <a:extLst>
              <a:ext uri="{FF2B5EF4-FFF2-40B4-BE49-F238E27FC236}">
                <a16:creationId xmlns:a16="http://schemas.microsoft.com/office/drawing/2014/main" id="{8C26801F-D9E6-9D07-04C8-1AB9C5C0E593}"/>
              </a:ext>
            </a:extLst>
          </p:cNvPr>
          <p:cNvSpPr>
            <a:spLocks noGrp="1"/>
          </p:cNvSpPr>
          <p:nvPr>
            <p:ph type="subTitle" idx="1"/>
          </p:nvPr>
        </p:nvSpPr>
        <p:spPr/>
        <p:txBody>
          <a:bodyPr/>
          <a:lstStyle/>
          <a:p>
            <a:r>
              <a:rPr lang="en-DE" sz="6600" dirty="0"/>
              <a:t>YOLO26: </a:t>
            </a:r>
            <a:r>
              <a:rPr lang="en-DE" sz="6600" dirty="0" err="1"/>
              <a:t>Bestimmung</a:t>
            </a:r>
            <a:r>
              <a:rPr lang="en-DE" sz="6600" dirty="0"/>
              <a:t> von </a:t>
            </a:r>
            <a:r>
              <a:rPr lang="en-DE" sz="6600" dirty="0" err="1"/>
              <a:t>Objekt</a:t>
            </a:r>
            <a:r>
              <a:rPr lang="en-DE" sz="6600" dirty="0"/>
              <a:t>-Posen in </a:t>
            </a:r>
            <a:r>
              <a:rPr lang="en-DE" sz="6600" dirty="0" err="1"/>
              <a:t>Bildern</a:t>
            </a:r>
            <a:endParaRPr lang="en-US" sz="6600" dirty="0"/>
          </a:p>
          <a:p>
            <a:r>
              <a:rPr lang="de-DE" dirty="0"/>
              <a:t>Nguyen, Duc Hai; Loewe, Richard</a:t>
            </a:r>
          </a:p>
        </p:txBody>
      </p:sp>
      <p:sp>
        <p:nvSpPr>
          <p:cNvPr id="32" name="Textplatzhalter 31">
            <a:extLst>
              <a:ext uri="{FF2B5EF4-FFF2-40B4-BE49-F238E27FC236}">
                <a16:creationId xmlns:a16="http://schemas.microsoft.com/office/drawing/2014/main" id="{B4313753-4F97-3536-DCF2-1EA62DE94003}"/>
              </a:ext>
            </a:extLst>
          </p:cNvPr>
          <p:cNvSpPr>
            <a:spLocks noGrp="1"/>
          </p:cNvSpPr>
          <p:nvPr>
            <p:ph type="body" sz="quarter" idx="26"/>
          </p:nvPr>
        </p:nvSpPr>
        <p:spPr>
          <a:xfrm>
            <a:off x="1527176" y="22019770"/>
            <a:ext cx="8472488" cy="6726680"/>
          </a:xfrm>
        </p:spPr>
        <p:txBody>
          <a:bodyPr/>
          <a:lstStyle/>
          <a:p>
            <a:pPr algn="just"/>
            <a:r>
              <a:rPr lang="en-DE" b="1" dirty="0" err="1">
                <a:highlight>
                  <a:srgbClr val="00FFFF"/>
                </a:highlight>
              </a:rPr>
              <a:t>Eingangsdaten</a:t>
            </a:r>
            <a:r>
              <a:rPr lang="en-DE" b="1" dirty="0">
                <a:highlight>
                  <a:srgbClr val="00FFFF"/>
                </a:highlight>
              </a:rPr>
              <a:t> des </a:t>
            </a:r>
            <a:r>
              <a:rPr lang="en-DE" b="1" dirty="0" err="1">
                <a:highlight>
                  <a:srgbClr val="00FFFF"/>
                </a:highlight>
              </a:rPr>
              <a:t>Netzes</a:t>
            </a:r>
            <a:r>
              <a:rPr lang="en-DE" b="1" dirty="0">
                <a:highlight>
                  <a:srgbClr val="00FFFF"/>
                </a:highlight>
              </a:rPr>
              <a:t> [F2]</a:t>
            </a:r>
          </a:p>
          <a:p>
            <a:pPr algn="just"/>
            <a:r>
              <a:rPr lang="en-DE" b="1" dirty="0">
                <a:highlight>
                  <a:srgbClr val="00FFFF"/>
                </a:highlight>
              </a:rPr>
              <a:t>float32 [640, 640, 3]</a:t>
            </a:r>
            <a:r>
              <a:rPr lang="en-DE" dirty="0">
                <a:highlight>
                  <a:srgbClr val="00FFFF"/>
                </a:highlight>
              </a:rPr>
              <a:t> </a:t>
            </a:r>
            <a:endParaRPr lang="en-US" dirty="0">
              <a:highlight>
                <a:srgbClr val="00FFFF"/>
              </a:highlight>
            </a:endParaRPr>
          </a:p>
          <a:p>
            <a:pPr algn="just"/>
            <a:r>
              <a:rPr lang="en-DE" dirty="0" err="1">
                <a:highlight>
                  <a:srgbClr val="00FFFF"/>
                </a:highlight>
              </a:rPr>
              <a:t>Höhe</a:t>
            </a:r>
            <a:r>
              <a:rPr lang="en-DE" dirty="0">
                <a:highlight>
                  <a:srgbClr val="00FFFF"/>
                </a:highlight>
              </a:rPr>
              <a:t> × Breite × RGB-</a:t>
            </a:r>
            <a:r>
              <a:rPr lang="en-DE" dirty="0" err="1">
                <a:highlight>
                  <a:srgbClr val="00FFFF"/>
                </a:highlight>
              </a:rPr>
              <a:t>Farbkanäle</a:t>
            </a:r>
            <a:endParaRPr lang="en-DE" dirty="0">
              <a:highlight>
                <a:srgbClr val="00FFFF"/>
              </a:highlight>
            </a:endParaRPr>
          </a:p>
          <a:p>
            <a:pPr algn="just"/>
            <a:r>
              <a:rPr lang="en-DE" b="1" dirty="0" err="1">
                <a:highlight>
                  <a:srgbClr val="00FFFF"/>
                </a:highlight>
              </a:rPr>
              <a:t>Vorverarbeitung</a:t>
            </a:r>
            <a:r>
              <a:rPr lang="en-DE" b="1" dirty="0">
                <a:highlight>
                  <a:srgbClr val="00FFFF"/>
                </a:highlight>
              </a:rPr>
              <a:t>:</a:t>
            </a:r>
            <a:endParaRPr lang="en-DE" dirty="0">
              <a:highlight>
                <a:srgbClr val="00FFFF"/>
              </a:highlight>
            </a:endParaRPr>
          </a:p>
          <a:p>
            <a:pPr algn="just"/>
            <a:r>
              <a:rPr lang="en-DE" dirty="0" err="1">
                <a:highlight>
                  <a:srgbClr val="00FFFF"/>
                </a:highlight>
              </a:rPr>
              <a:t>Skalierung</a:t>
            </a:r>
            <a:r>
              <a:rPr lang="en-DE" dirty="0">
                <a:highlight>
                  <a:srgbClr val="00FFFF"/>
                </a:highlight>
              </a:rPr>
              <a:t> </a:t>
            </a:r>
            <a:r>
              <a:rPr lang="en-DE" dirty="0" err="1">
                <a:highlight>
                  <a:srgbClr val="00FFFF"/>
                </a:highlight>
              </a:rPr>
              <a:t>unter</a:t>
            </a:r>
            <a:r>
              <a:rPr lang="en-DE" dirty="0">
                <a:highlight>
                  <a:srgbClr val="00FFFF"/>
                </a:highlight>
              </a:rPr>
              <a:t> </a:t>
            </a:r>
            <a:r>
              <a:rPr lang="en-DE" dirty="0" err="1">
                <a:highlight>
                  <a:srgbClr val="00FFFF"/>
                </a:highlight>
              </a:rPr>
              <a:t>Beibehaltung</a:t>
            </a:r>
            <a:r>
              <a:rPr lang="en-DE" dirty="0">
                <a:highlight>
                  <a:srgbClr val="00FFFF"/>
                </a:highlight>
              </a:rPr>
              <a:t> des </a:t>
            </a:r>
            <a:r>
              <a:rPr lang="en-DE" dirty="0" err="1">
                <a:highlight>
                  <a:srgbClr val="00FFFF"/>
                </a:highlight>
              </a:rPr>
              <a:t>Seitenverhältnisses</a:t>
            </a:r>
            <a:r>
              <a:rPr lang="en-DE" dirty="0">
                <a:highlight>
                  <a:srgbClr val="00FFFF"/>
                </a:highlight>
              </a:rPr>
              <a:t> → </a:t>
            </a:r>
            <a:r>
              <a:rPr lang="en-DE" dirty="0" err="1">
                <a:highlight>
                  <a:srgbClr val="00FFFF"/>
                </a:highlight>
              </a:rPr>
              <a:t>längere</a:t>
            </a:r>
            <a:r>
              <a:rPr lang="en-DE" dirty="0">
                <a:highlight>
                  <a:srgbClr val="00FFFF"/>
                </a:highlight>
              </a:rPr>
              <a:t> </a:t>
            </a:r>
            <a:r>
              <a:rPr lang="en-DE" dirty="0" err="1">
                <a:highlight>
                  <a:srgbClr val="00FFFF"/>
                </a:highlight>
              </a:rPr>
              <a:t>Seite</a:t>
            </a:r>
            <a:r>
              <a:rPr lang="en-DE" dirty="0">
                <a:highlight>
                  <a:srgbClr val="00FFFF"/>
                </a:highlight>
              </a:rPr>
              <a:t> = 640 </a:t>
            </a:r>
            <a:r>
              <a:rPr lang="en-DE" dirty="0" err="1">
                <a:highlight>
                  <a:srgbClr val="00FFFF"/>
                </a:highlight>
              </a:rPr>
              <a:t>px</a:t>
            </a:r>
            <a:endParaRPr lang="en-DE" dirty="0">
              <a:highlight>
                <a:srgbClr val="00FFFF"/>
              </a:highlight>
            </a:endParaRPr>
          </a:p>
          <a:p>
            <a:pPr algn="just"/>
            <a:r>
              <a:rPr lang="en-DE" dirty="0">
                <a:highlight>
                  <a:srgbClr val="00FFFF"/>
                </a:highlight>
              </a:rPr>
              <a:t>Padding der </a:t>
            </a:r>
            <a:r>
              <a:rPr lang="en-DE" dirty="0" err="1">
                <a:highlight>
                  <a:srgbClr val="00FFFF"/>
                </a:highlight>
              </a:rPr>
              <a:t>Randbereiche</a:t>
            </a:r>
            <a:r>
              <a:rPr lang="en-DE" dirty="0">
                <a:highlight>
                  <a:srgbClr val="00FFFF"/>
                </a:highlight>
              </a:rPr>
              <a:t> </a:t>
            </a:r>
            <a:r>
              <a:rPr lang="en-DE" dirty="0" err="1">
                <a:highlight>
                  <a:srgbClr val="00FFFF"/>
                </a:highlight>
              </a:rPr>
              <a:t>mit</a:t>
            </a:r>
            <a:r>
              <a:rPr lang="en-DE" dirty="0">
                <a:highlight>
                  <a:srgbClr val="00FFFF"/>
                </a:highlight>
              </a:rPr>
              <a:t> </a:t>
            </a:r>
            <a:r>
              <a:rPr lang="en-DE" dirty="0" err="1">
                <a:highlight>
                  <a:srgbClr val="00FFFF"/>
                </a:highlight>
              </a:rPr>
              <a:t>Nullwerten</a:t>
            </a:r>
            <a:r>
              <a:rPr lang="en-DE" dirty="0">
                <a:highlight>
                  <a:srgbClr val="00FFFF"/>
                </a:highlight>
              </a:rPr>
              <a:t> (schwarz) → </a:t>
            </a:r>
            <a:r>
              <a:rPr lang="en-DE" dirty="0" err="1">
                <a:highlight>
                  <a:srgbClr val="00FFFF"/>
                </a:highlight>
              </a:rPr>
              <a:t>quadratisches</a:t>
            </a:r>
            <a:r>
              <a:rPr lang="en-DE" dirty="0">
                <a:highlight>
                  <a:srgbClr val="00FFFF"/>
                </a:highlight>
              </a:rPr>
              <a:t> Format</a:t>
            </a:r>
          </a:p>
          <a:p>
            <a:pPr algn="just"/>
            <a:r>
              <a:rPr lang="en-DE" dirty="0" err="1">
                <a:highlight>
                  <a:srgbClr val="00FFFF"/>
                </a:highlight>
              </a:rPr>
              <a:t>Normierung</a:t>
            </a:r>
            <a:r>
              <a:rPr lang="en-DE" dirty="0">
                <a:highlight>
                  <a:srgbClr val="00FFFF"/>
                </a:highlight>
              </a:rPr>
              <a:t> der </a:t>
            </a:r>
            <a:r>
              <a:rPr lang="en-DE" dirty="0" err="1">
                <a:highlight>
                  <a:srgbClr val="00FFFF"/>
                </a:highlight>
              </a:rPr>
              <a:t>Pixelwerte</a:t>
            </a:r>
            <a:r>
              <a:rPr lang="en-DE" dirty="0">
                <a:highlight>
                  <a:srgbClr val="00FFFF"/>
                </a:highlight>
              </a:rPr>
              <a:t> auf float32</a:t>
            </a:r>
          </a:p>
        </p:txBody>
      </p:sp>
      <p:sp>
        <p:nvSpPr>
          <p:cNvPr id="35" name="Bildplatzhalter 34">
            <a:extLst>
              <a:ext uri="{FF2B5EF4-FFF2-40B4-BE49-F238E27FC236}">
                <a16:creationId xmlns:a16="http://schemas.microsoft.com/office/drawing/2014/main" id="{B2229693-2B0E-1FBF-1E54-40F2C47A6E03}"/>
              </a:ext>
            </a:extLst>
          </p:cNvPr>
          <p:cNvSpPr>
            <a:spLocks noGrp="1"/>
          </p:cNvSpPr>
          <p:nvPr>
            <p:ph type="pic" sz="quarter" idx="33"/>
          </p:nvPr>
        </p:nvSpPr>
        <p:spPr>
          <a:xfrm>
            <a:off x="1527176" y="12241212"/>
            <a:ext cx="8472488" cy="9160669"/>
          </a:xfrm>
        </p:spPr>
        <p:txBody>
          <a:bodyPr/>
          <a:lstStyle/>
          <a:p>
            <a:pPr algn="just"/>
            <a:r>
              <a:rPr lang="en-US" b="1" dirty="0">
                <a:highlight>
                  <a:srgbClr val="00FFFF"/>
                </a:highlight>
              </a:rPr>
              <a:t>Motivation &amp; </a:t>
            </a:r>
            <a:r>
              <a:rPr lang="en-US" b="1" dirty="0" err="1">
                <a:highlight>
                  <a:srgbClr val="00FFFF"/>
                </a:highlight>
              </a:rPr>
              <a:t>Einordnung</a:t>
            </a:r>
            <a:endParaRPr lang="en-US" b="1" dirty="0">
              <a:highlight>
                <a:srgbClr val="00FFFF"/>
              </a:highlight>
            </a:endParaRPr>
          </a:p>
          <a:p>
            <a:pPr algn="just"/>
            <a:r>
              <a:rPr lang="en-DE" b="1" dirty="0" err="1">
                <a:highlight>
                  <a:srgbClr val="00FFFF"/>
                </a:highlight>
              </a:rPr>
              <a:t>Posenbestimmung</a:t>
            </a:r>
            <a:r>
              <a:rPr lang="en-DE" b="1" dirty="0">
                <a:highlight>
                  <a:srgbClr val="00FFFF"/>
                </a:highlight>
              </a:rPr>
              <a:t> in der Navigation </a:t>
            </a:r>
            <a:r>
              <a:rPr lang="en-DE" b="1" dirty="0" err="1">
                <a:highlight>
                  <a:srgbClr val="00FFFF"/>
                </a:highlight>
              </a:rPr>
              <a:t>mobiler</a:t>
            </a:r>
            <a:r>
              <a:rPr lang="en-DE" b="1" dirty="0">
                <a:highlight>
                  <a:srgbClr val="00FFFF"/>
                </a:highlight>
              </a:rPr>
              <a:t> </a:t>
            </a:r>
            <a:r>
              <a:rPr lang="en-DE" b="1" dirty="0" err="1">
                <a:highlight>
                  <a:srgbClr val="00FFFF"/>
                </a:highlight>
              </a:rPr>
              <a:t>Roboter</a:t>
            </a:r>
            <a:endParaRPr lang="en-DE" dirty="0">
              <a:highlight>
                <a:srgbClr val="00FFFF"/>
              </a:highlight>
            </a:endParaRPr>
          </a:p>
          <a:p>
            <a:pPr algn="just"/>
            <a:r>
              <a:rPr lang="en-DE" dirty="0">
                <a:highlight>
                  <a:srgbClr val="00FFFF"/>
                </a:highlight>
              </a:rPr>
              <a:t>Navigation = </a:t>
            </a:r>
            <a:r>
              <a:rPr lang="en-DE" dirty="0" err="1">
                <a:highlight>
                  <a:srgbClr val="00FFFF"/>
                </a:highlight>
              </a:rPr>
              <a:t>Wahrnehmung</a:t>
            </a:r>
            <a:r>
              <a:rPr lang="en-DE" dirty="0">
                <a:highlight>
                  <a:srgbClr val="00FFFF"/>
                </a:highlight>
              </a:rPr>
              <a:t> &amp; Interpretation der </a:t>
            </a:r>
            <a:r>
              <a:rPr lang="en-DE" dirty="0" err="1">
                <a:highlight>
                  <a:srgbClr val="00FFFF"/>
                </a:highlight>
              </a:rPr>
              <a:t>Umgebung</a:t>
            </a:r>
            <a:r>
              <a:rPr lang="en-DE" dirty="0">
                <a:highlight>
                  <a:srgbClr val="00FFFF"/>
                </a:highlight>
              </a:rPr>
              <a:t> (Localization &amp; Mapping) → </a:t>
            </a:r>
            <a:r>
              <a:rPr lang="en-DE" dirty="0" err="1">
                <a:highlight>
                  <a:srgbClr val="00FFFF"/>
                </a:highlight>
              </a:rPr>
              <a:t>Grundlage</a:t>
            </a:r>
            <a:r>
              <a:rPr lang="en-DE" dirty="0">
                <a:highlight>
                  <a:srgbClr val="00FFFF"/>
                </a:highlight>
              </a:rPr>
              <a:t> für Guidance &amp; Control</a:t>
            </a:r>
          </a:p>
          <a:p>
            <a:pPr algn="just"/>
            <a:r>
              <a:rPr lang="en-DE" dirty="0" err="1">
                <a:highlight>
                  <a:srgbClr val="00FFFF"/>
                </a:highlight>
              </a:rPr>
              <a:t>Personen</a:t>
            </a:r>
            <a:r>
              <a:rPr lang="en-DE" dirty="0">
                <a:highlight>
                  <a:srgbClr val="00FFFF"/>
                </a:highlight>
              </a:rPr>
              <a:t> </a:t>
            </a:r>
            <a:r>
              <a:rPr lang="en-DE" dirty="0" err="1">
                <a:highlight>
                  <a:srgbClr val="00FFFF"/>
                </a:highlight>
              </a:rPr>
              <a:t>sind</a:t>
            </a:r>
            <a:r>
              <a:rPr lang="en-DE" dirty="0">
                <a:highlight>
                  <a:srgbClr val="00FFFF"/>
                </a:highlight>
              </a:rPr>
              <a:t> </a:t>
            </a:r>
            <a:r>
              <a:rPr lang="en-DE" b="1" dirty="0" err="1">
                <a:highlight>
                  <a:srgbClr val="00FFFF"/>
                </a:highlight>
              </a:rPr>
              <a:t>dynamische</a:t>
            </a:r>
            <a:r>
              <a:rPr lang="en-DE" b="1" dirty="0">
                <a:highlight>
                  <a:srgbClr val="00FFFF"/>
                </a:highlight>
              </a:rPr>
              <a:t> </a:t>
            </a:r>
            <a:r>
              <a:rPr lang="en-DE" b="1" dirty="0" err="1">
                <a:highlight>
                  <a:srgbClr val="00FFFF"/>
                </a:highlight>
              </a:rPr>
              <a:t>Objekte</a:t>
            </a:r>
            <a:r>
              <a:rPr lang="en-DE" dirty="0">
                <a:highlight>
                  <a:srgbClr val="00FFFF"/>
                </a:highlight>
              </a:rPr>
              <a:t>: </a:t>
            </a:r>
            <a:r>
              <a:rPr lang="en-DE" dirty="0" err="1">
                <a:highlight>
                  <a:srgbClr val="00FFFF"/>
                </a:highlight>
              </a:rPr>
              <a:t>Roboter</a:t>
            </a:r>
            <a:r>
              <a:rPr lang="en-DE" dirty="0">
                <a:highlight>
                  <a:srgbClr val="00FFFF"/>
                </a:highlight>
              </a:rPr>
              <a:t> muss nicht </a:t>
            </a:r>
            <a:r>
              <a:rPr lang="en-DE" dirty="0" err="1">
                <a:highlight>
                  <a:srgbClr val="00FFFF"/>
                </a:highlight>
              </a:rPr>
              <a:t>nur</a:t>
            </a:r>
            <a:r>
              <a:rPr lang="en-DE" dirty="0">
                <a:highlight>
                  <a:srgbClr val="00FFFF"/>
                </a:highlight>
              </a:rPr>
              <a:t> Position, </a:t>
            </a:r>
            <a:r>
              <a:rPr lang="en-DE" dirty="0" err="1">
                <a:highlight>
                  <a:srgbClr val="00FFFF"/>
                </a:highlight>
              </a:rPr>
              <a:t>sondern</a:t>
            </a:r>
            <a:r>
              <a:rPr lang="en-DE" dirty="0">
                <a:highlight>
                  <a:srgbClr val="00FFFF"/>
                </a:highlight>
              </a:rPr>
              <a:t> </a:t>
            </a:r>
            <a:r>
              <a:rPr lang="en-DE" dirty="0" err="1">
                <a:highlight>
                  <a:srgbClr val="00FFFF"/>
                </a:highlight>
              </a:rPr>
              <a:t>auch</a:t>
            </a:r>
            <a:r>
              <a:rPr lang="en-DE" dirty="0">
                <a:highlight>
                  <a:srgbClr val="00FFFF"/>
                </a:highlight>
              </a:rPr>
              <a:t> </a:t>
            </a:r>
            <a:r>
              <a:rPr lang="en-DE" b="1" dirty="0" err="1">
                <a:highlight>
                  <a:srgbClr val="00FFFF"/>
                </a:highlight>
              </a:rPr>
              <a:t>Haltung</a:t>
            </a:r>
            <a:r>
              <a:rPr lang="en-DE" b="1" dirty="0">
                <a:highlight>
                  <a:srgbClr val="00FFFF"/>
                </a:highlight>
              </a:rPr>
              <a:t> &amp; </a:t>
            </a:r>
            <a:r>
              <a:rPr lang="en-DE" b="1" dirty="0" err="1">
                <a:highlight>
                  <a:srgbClr val="00FFFF"/>
                </a:highlight>
              </a:rPr>
              <a:t>Bewegungsabsicht</a:t>
            </a:r>
            <a:r>
              <a:rPr lang="en-DE" dirty="0">
                <a:highlight>
                  <a:srgbClr val="00FFFF"/>
                </a:highlight>
              </a:rPr>
              <a:t> </a:t>
            </a:r>
            <a:r>
              <a:rPr lang="en-DE" dirty="0" err="1">
                <a:highlight>
                  <a:srgbClr val="00FFFF"/>
                </a:highlight>
              </a:rPr>
              <a:t>erfassen</a:t>
            </a:r>
            <a:endParaRPr lang="en-DE" dirty="0">
              <a:highlight>
                <a:srgbClr val="00FFFF"/>
              </a:highlight>
            </a:endParaRPr>
          </a:p>
          <a:p>
            <a:pPr algn="just"/>
            <a:r>
              <a:rPr lang="en-DE" dirty="0" err="1">
                <a:highlight>
                  <a:srgbClr val="00FFFF"/>
                </a:highlight>
              </a:rPr>
              <a:t>Keypoint-basierte</a:t>
            </a:r>
            <a:r>
              <a:rPr lang="en-DE" dirty="0">
                <a:highlight>
                  <a:srgbClr val="00FFFF"/>
                </a:highlight>
              </a:rPr>
              <a:t> </a:t>
            </a:r>
            <a:r>
              <a:rPr lang="en-DE" dirty="0" err="1">
                <a:highlight>
                  <a:srgbClr val="00FFFF"/>
                </a:highlight>
              </a:rPr>
              <a:t>Körperposen</a:t>
            </a:r>
            <a:r>
              <a:rPr lang="en-DE" dirty="0">
                <a:highlight>
                  <a:srgbClr val="00FFFF"/>
                </a:highlight>
              </a:rPr>
              <a:t> </a:t>
            </a:r>
            <a:r>
              <a:rPr lang="en-DE" dirty="0" err="1">
                <a:highlight>
                  <a:srgbClr val="00FFFF"/>
                </a:highlight>
              </a:rPr>
              <a:t>ermöglichen</a:t>
            </a:r>
            <a:r>
              <a:rPr lang="en-DE" dirty="0">
                <a:highlight>
                  <a:srgbClr val="00FFFF"/>
                </a:highlight>
              </a:rPr>
              <a:t>: </a:t>
            </a:r>
          </a:p>
          <a:p>
            <a:pPr marL="457200" indent="-457200" algn="just">
              <a:buFont typeface="Arial" panose="020B0604020202020204" pitchFamily="34" charset="0"/>
              <a:buChar char="•"/>
            </a:pPr>
            <a:r>
              <a:rPr lang="en-DE" dirty="0" err="1">
                <a:highlight>
                  <a:srgbClr val="00FFFF"/>
                </a:highlight>
              </a:rPr>
              <a:t>vorausschauende</a:t>
            </a:r>
            <a:r>
              <a:rPr lang="en-DE" dirty="0">
                <a:highlight>
                  <a:srgbClr val="00FFFF"/>
                </a:highlight>
              </a:rPr>
              <a:t> </a:t>
            </a:r>
            <a:r>
              <a:rPr lang="en-DE" dirty="0" err="1">
                <a:highlight>
                  <a:srgbClr val="00FFFF"/>
                </a:highlight>
              </a:rPr>
              <a:t>Bahnplanung</a:t>
            </a:r>
            <a:r>
              <a:rPr lang="en-DE" dirty="0">
                <a:highlight>
                  <a:srgbClr val="00FFFF"/>
                </a:highlight>
              </a:rPr>
              <a:t> &amp; </a:t>
            </a:r>
            <a:r>
              <a:rPr lang="en-DE" dirty="0" err="1">
                <a:highlight>
                  <a:srgbClr val="00FFFF"/>
                </a:highlight>
              </a:rPr>
              <a:t>Kollisionsvermeidung</a:t>
            </a:r>
            <a:endParaRPr lang="en-DE" dirty="0">
              <a:highlight>
                <a:srgbClr val="00FFFF"/>
              </a:highlight>
            </a:endParaRPr>
          </a:p>
          <a:p>
            <a:pPr marL="457200" indent="-457200" algn="just">
              <a:buFont typeface="Arial" panose="020B0604020202020204" pitchFamily="34" charset="0"/>
              <a:buChar char="•"/>
            </a:pPr>
            <a:r>
              <a:rPr lang="en-DE" dirty="0">
                <a:highlight>
                  <a:srgbClr val="00FFFF"/>
                </a:highlight>
              </a:rPr>
              <a:t>Mensch-Roboter-Interaktion (</a:t>
            </a:r>
            <a:r>
              <a:rPr lang="en-DE" dirty="0" err="1">
                <a:highlight>
                  <a:srgbClr val="00FFFF"/>
                </a:highlight>
              </a:rPr>
              <a:t>Gestenerkennung</a:t>
            </a:r>
            <a:r>
              <a:rPr lang="en-DE" dirty="0">
                <a:highlight>
                  <a:srgbClr val="00FFFF"/>
                </a:highlight>
              </a:rPr>
              <a:t>, </a:t>
            </a:r>
            <a:r>
              <a:rPr lang="en-DE" dirty="0" err="1">
                <a:highlight>
                  <a:srgbClr val="00FFFF"/>
                </a:highlight>
              </a:rPr>
              <a:t>Annäherungsposition</a:t>
            </a:r>
            <a:r>
              <a:rPr lang="en-DE" dirty="0">
                <a:highlight>
                  <a:srgbClr val="00FFFF"/>
                </a:highlight>
              </a:rPr>
              <a:t>)</a:t>
            </a:r>
          </a:p>
          <a:p>
            <a:pPr algn="just"/>
            <a:r>
              <a:rPr lang="en-DE" dirty="0" err="1">
                <a:highlight>
                  <a:srgbClr val="00FFFF"/>
                </a:highlight>
              </a:rPr>
              <a:t>Gelöste</a:t>
            </a:r>
            <a:r>
              <a:rPr lang="en-DE" dirty="0">
                <a:highlight>
                  <a:srgbClr val="00FFFF"/>
                </a:highlight>
              </a:rPr>
              <a:t> </a:t>
            </a:r>
            <a:r>
              <a:rPr lang="en-DE" dirty="0" err="1">
                <a:highlight>
                  <a:srgbClr val="00FFFF"/>
                </a:highlight>
              </a:rPr>
              <a:t>Teilaufgabe</a:t>
            </a:r>
            <a:r>
              <a:rPr lang="en-DE" dirty="0">
                <a:highlight>
                  <a:srgbClr val="00FFFF"/>
                </a:highlight>
              </a:rPr>
              <a:t>: </a:t>
            </a:r>
            <a:r>
              <a:rPr lang="en-DE" b="1" dirty="0" err="1">
                <a:highlight>
                  <a:srgbClr val="00FFFF"/>
                </a:highlight>
              </a:rPr>
              <a:t>Detektion</a:t>
            </a:r>
            <a:r>
              <a:rPr lang="en-DE" b="1" dirty="0">
                <a:highlight>
                  <a:srgbClr val="00FFFF"/>
                </a:highlight>
              </a:rPr>
              <a:t> von </a:t>
            </a:r>
            <a:r>
              <a:rPr lang="en-DE" b="1" dirty="0" err="1">
                <a:highlight>
                  <a:srgbClr val="00FFFF"/>
                </a:highlight>
              </a:rPr>
              <a:t>Personen</a:t>
            </a:r>
            <a:r>
              <a:rPr lang="en-DE" b="1" dirty="0">
                <a:highlight>
                  <a:srgbClr val="00FFFF"/>
                </a:highlight>
              </a:rPr>
              <a:t> + </a:t>
            </a:r>
            <a:r>
              <a:rPr lang="en-DE" b="1" dirty="0" err="1">
                <a:highlight>
                  <a:srgbClr val="00FFFF"/>
                </a:highlight>
              </a:rPr>
              <a:t>Schätzung</a:t>
            </a:r>
            <a:r>
              <a:rPr lang="en-DE" b="1" dirty="0">
                <a:highlight>
                  <a:srgbClr val="00FFFF"/>
                </a:highlight>
              </a:rPr>
              <a:t> von 17 Körper-</a:t>
            </a:r>
            <a:r>
              <a:rPr lang="en-DE" b="1" dirty="0" err="1">
                <a:highlight>
                  <a:srgbClr val="00FFFF"/>
                </a:highlight>
              </a:rPr>
              <a:t>Keypoints</a:t>
            </a:r>
            <a:r>
              <a:rPr lang="en-DE" b="1" dirty="0">
                <a:highlight>
                  <a:srgbClr val="00FFFF"/>
                </a:highlight>
              </a:rPr>
              <a:t> in 2D-Bildern</a:t>
            </a:r>
            <a:r>
              <a:rPr lang="en-DE" dirty="0">
                <a:highlight>
                  <a:srgbClr val="00FFFF"/>
                </a:highlight>
              </a:rPr>
              <a:t> </a:t>
            </a:r>
            <a:r>
              <a:rPr lang="en-DE" dirty="0" err="1">
                <a:highlight>
                  <a:srgbClr val="00FFFF"/>
                </a:highlight>
              </a:rPr>
              <a:t>mit</a:t>
            </a:r>
            <a:r>
              <a:rPr lang="en-DE" dirty="0">
                <a:highlight>
                  <a:srgbClr val="00FFFF"/>
                </a:highlight>
              </a:rPr>
              <a:t> YOLO26-Pose</a:t>
            </a:r>
          </a:p>
          <a:p>
            <a:pPr algn="just"/>
            <a:endParaRPr lang="en-DE" b="1" dirty="0">
              <a:highlight>
                <a:srgbClr val="00FFFF"/>
              </a:highlight>
            </a:endParaRPr>
          </a:p>
        </p:txBody>
      </p:sp>
      <p:sp>
        <p:nvSpPr>
          <p:cNvPr id="38" name="Bildplatzhalter 37">
            <a:extLst>
              <a:ext uri="{FF2B5EF4-FFF2-40B4-BE49-F238E27FC236}">
                <a16:creationId xmlns:a16="http://schemas.microsoft.com/office/drawing/2014/main" id="{975FE7C7-2C4D-245B-B0A7-DA8F34163A8C}"/>
              </a:ext>
            </a:extLst>
          </p:cNvPr>
          <p:cNvSpPr>
            <a:spLocks noGrp="1"/>
          </p:cNvSpPr>
          <p:nvPr>
            <p:ph type="pic" sz="quarter" idx="47"/>
          </p:nvPr>
        </p:nvSpPr>
        <p:spPr/>
        <p:txBody>
          <a:bodyPr/>
          <a:lstStyle/>
          <a:p>
            <a:r>
              <a:rPr lang="en-US" b="1" dirty="0"/>
              <a:t>GESAMTARCHITEKTUR</a:t>
            </a:r>
            <a:endParaRPr lang="en-DE" b="1" dirty="0"/>
          </a:p>
        </p:txBody>
      </p:sp>
      <p:sp>
        <p:nvSpPr>
          <p:cNvPr id="39" name="Bildplatzhalter 38">
            <a:extLst>
              <a:ext uri="{FF2B5EF4-FFF2-40B4-BE49-F238E27FC236}">
                <a16:creationId xmlns:a16="http://schemas.microsoft.com/office/drawing/2014/main" id="{EACADA21-8010-3D9C-EF8D-930B5FB2D57E}"/>
              </a:ext>
            </a:extLst>
          </p:cNvPr>
          <p:cNvSpPr>
            <a:spLocks noGrp="1"/>
          </p:cNvSpPr>
          <p:nvPr>
            <p:ph type="pic" sz="quarter" idx="48"/>
          </p:nvPr>
        </p:nvSpPr>
        <p:spPr>
          <a:xfrm>
            <a:off x="20243799" y="12241213"/>
            <a:ext cx="8472488" cy="9914525"/>
          </a:xfrm>
          <a:solidFill>
            <a:schemeClr val="bg1"/>
          </a:solidFill>
        </p:spPr>
        <p:txBody>
          <a:bodyPr/>
          <a:lstStyle/>
          <a:p>
            <a:pPr algn="just"/>
            <a:r>
              <a:rPr lang="en-DE" b="1" dirty="0"/>
              <a:t>TRAINING</a:t>
            </a:r>
            <a:endParaRPr lang="en-US" b="1" dirty="0"/>
          </a:p>
          <a:p>
            <a:pPr algn="just">
              <a:spcBef>
                <a:spcPts val="0"/>
              </a:spcBef>
            </a:pPr>
            <a:endParaRPr lang="en-US" b="1" dirty="0"/>
          </a:p>
          <a:p>
            <a:pPr algn="just">
              <a:spcBef>
                <a:spcPts val="0"/>
              </a:spcBef>
            </a:pPr>
            <a:r>
              <a:rPr lang="en-DE" dirty="0" err="1"/>
              <a:t>Trainiert</a:t>
            </a:r>
            <a:r>
              <a:rPr lang="en-DE" dirty="0"/>
              <a:t> </a:t>
            </a:r>
            <a:r>
              <a:rPr lang="en-DE" dirty="0" err="1"/>
              <a:t>wird</a:t>
            </a:r>
            <a:r>
              <a:rPr lang="en-DE" dirty="0"/>
              <a:t> auf COCO-Pose (COCO </a:t>
            </a:r>
            <a:r>
              <a:rPr lang="en-DE" dirty="0" err="1"/>
              <a:t>Keypoints</a:t>
            </a:r>
            <a:r>
              <a:rPr lang="en-DE" dirty="0"/>
              <a:t> 2017); </a:t>
            </a:r>
            <a:r>
              <a:rPr lang="en-DE" dirty="0" err="1"/>
              <a:t>jedes</a:t>
            </a:r>
            <a:r>
              <a:rPr lang="en-DE" dirty="0"/>
              <a:t> Label </a:t>
            </a:r>
            <a:r>
              <a:rPr lang="en-DE" dirty="0" err="1"/>
              <a:t>enthält</a:t>
            </a:r>
            <a:r>
              <a:rPr lang="en-DE" dirty="0"/>
              <a:t> pro Person die Bounding Box und 17 </a:t>
            </a:r>
            <a:r>
              <a:rPr lang="en-DE" dirty="0" err="1"/>
              <a:t>Keypoints</a:t>
            </a:r>
            <a:r>
              <a:rPr lang="en-DE" dirty="0"/>
              <a:t>. Das Netz </a:t>
            </a:r>
            <a:r>
              <a:rPr lang="en-DE" dirty="0" err="1"/>
              <a:t>lernt</a:t>
            </a:r>
            <a:r>
              <a:rPr lang="en-DE" dirty="0"/>
              <a:t> </a:t>
            </a:r>
            <a:r>
              <a:rPr lang="en-DE" dirty="0" err="1"/>
              <a:t>mehrere</a:t>
            </a:r>
            <a:r>
              <a:rPr lang="en-DE" dirty="0"/>
              <a:t> </a:t>
            </a:r>
            <a:r>
              <a:rPr lang="en-DE" dirty="0" err="1"/>
              <a:t>Ziele</a:t>
            </a:r>
            <a:r>
              <a:rPr lang="en-DE" dirty="0"/>
              <a:t> </a:t>
            </a:r>
            <a:r>
              <a:rPr lang="en-DE" dirty="0" err="1"/>
              <a:t>gleichzeitig</a:t>
            </a:r>
            <a:r>
              <a:rPr lang="en-DE" dirty="0"/>
              <a:t> </a:t>
            </a:r>
            <a:r>
              <a:rPr lang="en-DE" dirty="0" err="1"/>
              <a:t>über</a:t>
            </a:r>
            <a:r>
              <a:rPr lang="en-DE" dirty="0"/>
              <a:t> den </a:t>
            </a:r>
            <a:r>
              <a:rPr lang="en-DE" dirty="0" err="1"/>
              <a:t>gewichteten</a:t>
            </a:r>
            <a:r>
              <a:rPr lang="en-DE" dirty="0"/>
              <a:t> </a:t>
            </a:r>
            <a:r>
              <a:rPr lang="en-DE" dirty="0" err="1"/>
              <a:t>Gesamtverlust</a:t>
            </a:r>
            <a:endParaRPr lang="en-US" dirty="0"/>
          </a:p>
          <a:p>
            <a:pPr algn="just">
              <a:spcBef>
                <a:spcPts val="0"/>
              </a:spcBef>
            </a:pPr>
            <a:endParaRPr lang="en-US" dirty="0"/>
          </a:p>
          <a:p>
            <a:r>
              <a:rPr lang="en-DE" dirty="0"/>
              <a:t>Dabei </a:t>
            </a:r>
            <a:r>
              <a:rPr lang="en-DE" dirty="0" err="1"/>
              <a:t>bestraft</a:t>
            </a:r>
            <a:r>
              <a:rPr lang="en-DE" dirty="0"/>
              <a:t> </a:t>
            </a:r>
            <a:r>
              <a:rPr lang="en-DE" dirty="0" err="1"/>
              <a:t>ℒ_pose</a:t>
            </a:r>
            <a:r>
              <a:rPr lang="en-DE" dirty="0"/>
              <a:t> die </a:t>
            </a:r>
            <a:r>
              <a:rPr lang="en-DE" dirty="0" err="1"/>
              <a:t>Keypoint-Distanz</a:t>
            </a:r>
            <a:r>
              <a:rPr lang="en-DE" dirty="0"/>
              <a:t> </a:t>
            </a:r>
            <a:r>
              <a:rPr lang="en-DE" dirty="0" err="1"/>
              <a:t>skaliert</a:t>
            </a:r>
            <a:r>
              <a:rPr lang="en-DE" dirty="0"/>
              <a:t> </a:t>
            </a:r>
            <a:r>
              <a:rPr lang="en-DE" dirty="0" err="1"/>
              <a:t>nach</a:t>
            </a:r>
            <a:r>
              <a:rPr lang="en-DE" dirty="0"/>
              <a:t> </a:t>
            </a:r>
            <a:r>
              <a:rPr lang="en-DE" dirty="0" err="1"/>
              <a:t>Personengröße</a:t>
            </a:r>
            <a:r>
              <a:rPr lang="en-DE" dirty="0"/>
              <a:t> (OKS-</a:t>
            </a:r>
            <a:r>
              <a:rPr lang="en-DE" dirty="0" err="1"/>
              <a:t>basiert</a:t>
            </a:r>
            <a:r>
              <a:rPr lang="en-DE" dirty="0"/>
              <a:t>), </a:t>
            </a:r>
            <a:r>
              <a:rPr lang="en-DE" dirty="0" err="1"/>
              <a:t>ℒ_kobj</a:t>
            </a:r>
            <a:r>
              <a:rPr lang="en-DE" dirty="0"/>
              <a:t> </a:t>
            </a:r>
            <a:r>
              <a:rPr lang="en-DE" dirty="0" err="1"/>
              <a:t>bewertet</a:t>
            </a:r>
            <a:r>
              <a:rPr lang="en-DE" dirty="0"/>
              <a:t> die </a:t>
            </a:r>
            <a:r>
              <a:rPr lang="en-DE" dirty="0" err="1"/>
              <a:t>Sichtbarkeit</a:t>
            </a:r>
            <a:r>
              <a:rPr lang="en-DE" dirty="0"/>
              <a:t> der </a:t>
            </a:r>
            <a:r>
              <a:rPr lang="en-DE" dirty="0" err="1"/>
              <a:t>Keypoints</a:t>
            </a:r>
            <a:r>
              <a:rPr lang="en-DE" dirty="0"/>
              <a:t>, und der </a:t>
            </a:r>
            <a:r>
              <a:rPr lang="en-DE" dirty="0" err="1"/>
              <a:t>neue</a:t>
            </a:r>
            <a:r>
              <a:rPr lang="en-DE" dirty="0"/>
              <a:t> RLE-Term </a:t>
            </a:r>
            <a:r>
              <a:rPr lang="en-DE" dirty="0" err="1"/>
              <a:t>lässt</a:t>
            </a:r>
            <a:r>
              <a:rPr lang="en-DE" dirty="0"/>
              <a:t> das Netz je </a:t>
            </a:r>
            <a:r>
              <a:rPr lang="en-DE" dirty="0" err="1"/>
              <a:t>Keypoint</a:t>
            </a:r>
            <a:r>
              <a:rPr lang="en-DE" dirty="0"/>
              <a:t> </a:t>
            </a:r>
            <a:r>
              <a:rPr lang="en-DE" dirty="0" err="1"/>
              <a:t>eine</a:t>
            </a:r>
            <a:r>
              <a:rPr lang="en-DE" dirty="0"/>
              <a:t> </a:t>
            </a:r>
            <a:r>
              <a:rPr lang="en-DE" dirty="0" err="1"/>
              <a:t>Unsicherheit</a:t>
            </a:r>
            <a:r>
              <a:rPr lang="en-DE" dirty="0"/>
              <a:t> σ </a:t>
            </a:r>
            <a:r>
              <a:rPr lang="en-DE" dirty="0" err="1"/>
              <a:t>mitlernen</a:t>
            </a:r>
            <a:r>
              <a:rPr lang="en-DE" dirty="0"/>
              <a:t> — </a:t>
            </a:r>
            <a:r>
              <a:rPr lang="en-DE" dirty="0" err="1"/>
              <a:t>verdeckte</a:t>
            </a:r>
            <a:r>
              <a:rPr lang="en-DE" dirty="0"/>
              <a:t> </a:t>
            </a:r>
            <a:r>
              <a:rPr lang="en-DE" dirty="0" err="1"/>
              <a:t>Punkte</a:t>
            </a:r>
            <a:r>
              <a:rPr lang="en-DE" dirty="0"/>
              <a:t> </a:t>
            </a:r>
            <a:r>
              <a:rPr lang="en-DE" dirty="0" err="1"/>
              <a:t>werden</a:t>
            </a:r>
            <a:r>
              <a:rPr lang="en-DE" dirty="0"/>
              <a:t> so </a:t>
            </a:r>
            <a:r>
              <a:rPr lang="en-DE" dirty="0" err="1"/>
              <a:t>automatisch</a:t>
            </a:r>
            <a:r>
              <a:rPr lang="en-DE" dirty="0"/>
              <a:t> </a:t>
            </a:r>
            <a:r>
              <a:rPr lang="en-DE" dirty="0" err="1"/>
              <a:t>heruntergewichtet</a:t>
            </a:r>
            <a:r>
              <a:rPr lang="en-DE" dirty="0"/>
              <a:t>.</a:t>
            </a:r>
          </a:p>
          <a:p>
            <a:pPr algn="just"/>
            <a:r>
              <a:rPr lang="en-DE" dirty="0"/>
              <a:t>YOLO26 </a:t>
            </a:r>
            <a:r>
              <a:rPr lang="en-DE" dirty="0" err="1"/>
              <a:t>verlagert</a:t>
            </a:r>
            <a:r>
              <a:rPr lang="en-DE" dirty="0"/>
              <a:t> </a:t>
            </a:r>
            <a:r>
              <a:rPr lang="en-DE" dirty="0" err="1"/>
              <a:t>zudem</a:t>
            </a:r>
            <a:r>
              <a:rPr lang="en-DE" dirty="0"/>
              <a:t> die NMS ins Training: Ein One-to-Many-Head </a:t>
            </a:r>
            <a:r>
              <a:rPr lang="en-DE" dirty="0" err="1"/>
              <a:t>liefert</a:t>
            </a:r>
            <a:r>
              <a:rPr lang="en-DE" dirty="0"/>
              <a:t> </a:t>
            </a:r>
            <a:r>
              <a:rPr lang="en-DE" dirty="0" err="1"/>
              <a:t>dichte</a:t>
            </a:r>
            <a:r>
              <a:rPr lang="en-DE" dirty="0"/>
              <a:t> </a:t>
            </a:r>
            <a:r>
              <a:rPr lang="en-DE" dirty="0" err="1"/>
              <a:t>Lernsignale</a:t>
            </a:r>
            <a:r>
              <a:rPr lang="en-DE" dirty="0"/>
              <a:t>, </a:t>
            </a:r>
            <a:r>
              <a:rPr lang="en-DE" dirty="0" err="1"/>
              <a:t>während</a:t>
            </a:r>
            <a:r>
              <a:rPr lang="en-DE" dirty="0"/>
              <a:t> der One-to-One-Head — der </a:t>
            </a:r>
            <a:r>
              <a:rPr lang="en-DE" dirty="0" err="1"/>
              <a:t>spätere</a:t>
            </a:r>
            <a:r>
              <a:rPr lang="en-DE" dirty="0"/>
              <a:t> </a:t>
            </a:r>
            <a:r>
              <a:rPr lang="en-DE" dirty="0" err="1"/>
              <a:t>Inferenzpfad</a:t>
            </a:r>
            <a:r>
              <a:rPr lang="en-DE" dirty="0"/>
              <a:t> — </a:t>
            </a:r>
            <a:r>
              <a:rPr lang="en-DE" dirty="0" err="1"/>
              <a:t>genau</a:t>
            </a:r>
            <a:r>
              <a:rPr lang="en-DE" dirty="0"/>
              <a:t> </a:t>
            </a:r>
            <a:r>
              <a:rPr lang="en-DE" dirty="0" err="1"/>
              <a:t>eine</a:t>
            </a:r>
            <a:r>
              <a:rPr lang="en-DE" dirty="0"/>
              <a:t> </a:t>
            </a:r>
            <a:r>
              <a:rPr lang="en-DE" dirty="0" err="1"/>
              <a:t>Zuordnung</a:t>
            </a:r>
            <a:r>
              <a:rPr lang="en-DE" dirty="0"/>
              <a:t> pro </a:t>
            </a:r>
            <a:r>
              <a:rPr lang="en-DE" dirty="0" err="1"/>
              <a:t>Objekt</a:t>
            </a:r>
            <a:r>
              <a:rPr lang="en-DE" dirty="0"/>
              <a:t> </a:t>
            </a:r>
            <a:r>
              <a:rPr lang="en-DE" dirty="0" err="1"/>
              <a:t>lernt</a:t>
            </a:r>
            <a:r>
              <a:rPr lang="en-DE" dirty="0"/>
              <a:t>; der Progressive Loss </a:t>
            </a:r>
            <a:r>
              <a:rPr lang="en-DE" dirty="0" err="1"/>
              <a:t>verschiebt</a:t>
            </a:r>
            <a:r>
              <a:rPr lang="en-DE" dirty="0"/>
              <a:t> die </a:t>
            </a:r>
            <a:r>
              <a:rPr lang="en-DE" dirty="0" err="1"/>
              <a:t>Gewichtung</a:t>
            </a:r>
            <a:r>
              <a:rPr lang="en-DE" dirty="0"/>
              <a:t> von (0,8/0,2) </a:t>
            </a:r>
            <a:r>
              <a:rPr lang="en-DE" dirty="0" err="1"/>
              <a:t>zu</a:t>
            </a:r>
            <a:r>
              <a:rPr lang="en-DE" dirty="0"/>
              <a:t> (0,1/0,9) </a:t>
            </a:r>
            <a:r>
              <a:rPr lang="en-DE" dirty="0" err="1"/>
              <a:t>zugunsten</a:t>
            </a:r>
            <a:r>
              <a:rPr lang="en-DE" dirty="0"/>
              <a:t> des </a:t>
            </a:r>
            <a:r>
              <a:rPr lang="en-DE" dirty="0" err="1"/>
              <a:t>Inferenz</a:t>
            </a:r>
            <a:r>
              <a:rPr lang="en-DE" dirty="0"/>
              <a:t>-Heads. STAL </a:t>
            </a:r>
            <a:r>
              <a:rPr lang="en-DE" dirty="0" err="1"/>
              <a:t>garantiert</a:t>
            </a:r>
            <a:r>
              <a:rPr lang="en-DE" dirty="0"/>
              <a:t> positive </a:t>
            </a:r>
            <a:r>
              <a:rPr lang="en-DE" dirty="0" err="1"/>
              <a:t>Zuordnungen</a:t>
            </a:r>
            <a:r>
              <a:rPr lang="en-DE" dirty="0"/>
              <a:t> für </a:t>
            </a:r>
            <a:r>
              <a:rPr lang="en-DE" dirty="0" err="1"/>
              <a:t>kleine</a:t>
            </a:r>
            <a:r>
              <a:rPr lang="en-DE" dirty="0"/>
              <a:t> </a:t>
            </a:r>
            <a:r>
              <a:rPr lang="en-DE" dirty="0" err="1"/>
              <a:t>Objekte</a:t>
            </a:r>
            <a:r>
              <a:rPr lang="en-DE" dirty="0"/>
              <a:t>, der Hybrid-</a:t>
            </a:r>
            <a:r>
              <a:rPr lang="en-DE" dirty="0" err="1"/>
              <a:t>Optimierer</a:t>
            </a:r>
            <a:r>
              <a:rPr lang="en-DE" dirty="0"/>
              <a:t> </a:t>
            </a:r>
            <a:r>
              <a:rPr lang="en-DE" dirty="0" err="1"/>
              <a:t>MuSGD</a:t>
            </a:r>
            <a:r>
              <a:rPr lang="en-DE" dirty="0"/>
              <a:t> (Muon + SGD) </a:t>
            </a:r>
            <a:r>
              <a:rPr lang="en-DE" dirty="0" err="1"/>
              <a:t>beschleunigt</a:t>
            </a:r>
            <a:r>
              <a:rPr lang="en-DE" dirty="0"/>
              <a:t> die </a:t>
            </a:r>
            <a:r>
              <a:rPr lang="en-DE" dirty="0" err="1"/>
              <a:t>Konvergenz</a:t>
            </a:r>
            <a:r>
              <a:rPr lang="en-DE" dirty="0"/>
              <a:t>, und der </a:t>
            </a:r>
            <a:r>
              <a:rPr lang="en-DE" dirty="0" err="1"/>
              <a:t>Verzicht</a:t>
            </a:r>
            <a:r>
              <a:rPr lang="en-DE" dirty="0"/>
              <a:t> auf DFL </a:t>
            </a:r>
            <a:r>
              <a:rPr lang="en-DE" dirty="0" err="1"/>
              <a:t>ermöglicht</a:t>
            </a:r>
            <a:r>
              <a:rPr lang="en-DE" dirty="0"/>
              <a:t> </a:t>
            </a:r>
            <a:r>
              <a:rPr lang="en-DE" dirty="0" err="1"/>
              <a:t>eine</a:t>
            </a:r>
            <a:r>
              <a:rPr lang="en-DE" dirty="0"/>
              <a:t> </a:t>
            </a:r>
            <a:r>
              <a:rPr lang="en-DE" dirty="0" err="1"/>
              <a:t>direkte</a:t>
            </a:r>
            <a:r>
              <a:rPr lang="en-DE" dirty="0"/>
              <a:t> Box-Regression.</a:t>
            </a:r>
          </a:p>
          <a:p>
            <a:pPr algn="just">
              <a:spcBef>
                <a:spcPts val="0"/>
              </a:spcBef>
            </a:pPr>
            <a:endParaRPr lang="en-US" dirty="0"/>
          </a:p>
          <a:p>
            <a:pPr algn="just">
              <a:spcBef>
                <a:spcPts val="0"/>
              </a:spcBef>
            </a:pPr>
            <a:endParaRPr lang="en-US" i="1" dirty="0">
              <a:latin typeface="Cambria Math" panose="02040503050406030204" pitchFamily="18" charset="0"/>
            </a:endParaRPr>
          </a:p>
          <a:p>
            <a:pPr algn="just">
              <a:spcBef>
                <a:spcPts val="0"/>
              </a:spcBef>
            </a:pPr>
            <a:endParaRPr lang="en-US" i="1" dirty="0">
              <a:latin typeface="Cambria Math" panose="02040503050406030204" pitchFamily="18" charset="0"/>
            </a:endParaRPr>
          </a:p>
          <a:p>
            <a:pPr algn="just">
              <a:spcBef>
                <a:spcPts val="0"/>
              </a:spcBef>
            </a:pPr>
            <a:endParaRPr lang="en-US" i="1" dirty="0">
              <a:latin typeface="Cambria Math" panose="02040503050406030204" pitchFamily="18" charset="0"/>
            </a:endParaRPr>
          </a:p>
        </p:txBody>
      </p:sp>
      <p:sp>
        <p:nvSpPr>
          <p:cNvPr id="42" name="Textplatzhalter 41">
            <a:extLst>
              <a:ext uri="{FF2B5EF4-FFF2-40B4-BE49-F238E27FC236}">
                <a16:creationId xmlns:a16="http://schemas.microsoft.com/office/drawing/2014/main" id="{CCB13725-A724-7835-A589-DFFFE15A834F}"/>
              </a:ext>
            </a:extLst>
          </p:cNvPr>
          <p:cNvSpPr>
            <a:spLocks noGrp="1"/>
          </p:cNvSpPr>
          <p:nvPr>
            <p:ph type="body" sz="quarter" idx="51"/>
          </p:nvPr>
        </p:nvSpPr>
        <p:spPr>
          <a:xfrm>
            <a:off x="20272375" y="41265660"/>
            <a:ext cx="8472488" cy="4837778"/>
          </a:xfrm>
        </p:spPr>
        <p:txBody>
          <a:bodyPr/>
          <a:lstStyle/>
          <a:p>
            <a:pPr marL="449263" indent="-449263">
              <a:tabLst>
                <a:tab pos="449263" algn="l"/>
              </a:tabLst>
            </a:pPr>
            <a:r>
              <a:rPr lang="en-DE" sz="1800" dirty="0"/>
              <a:t>[</a:t>
            </a:r>
            <a:r>
              <a:rPr lang="en-US" sz="1800" dirty="0"/>
              <a:t>1</a:t>
            </a:r>
            <a:r>
              <a:rPr lang="en-DE" sz="1800" dirty="0"/>
              <a:t>] Glenn </a:t>
            </a:r>
            <a:r>
              <a:rPr lang="en-DE" sz="1800" dirty="0" err="1"/>
              <a:t>Jocher</a:t>
            </a:r>
            <a:r>
              <a:rPr lang="en-DE" sz="1800" dirty="0"/>
              <a:t>, Jing Qiu, </a:t>
            </a:r>
            <a:r>
              <a:rPr lang="en-DE" sz="1800" dirty="0" err="1"/>
              <a:t>Mengyu</a:t>
            </a:r>
            <a:r>
              <a:rPr lang="en-DE" sz="1800" dirty="0"/>
              <a:t> Liu, Shuai Lyu, Fatih Cagatay </a:t>
            </a:r>
            <a:r>
              <a:rPr lang="en-DE" sz="1800" dirty="0" err="1"/>
              <a:t>Akyon</a:t>
            </a:r>
            <a:r>
              <a:rPr lang="en-DE" sz="1800" dirty="0"/>
              <a:t>, Muhammet Esat </a:t>
            </a:r>
            <a:r>
              <a:rPr lang="en-DE" sz="1800" dirty="0" err="1"/>
              <a:t>Kalfaoglu</a:t>
            </a:r>
            <a:r>
              <a:rPr lang="en-DE" sz="1800" dirty="0"/>
              <a:t>: “</a:t>
            </a:r>
            <a:r>
              <a:rPr lang="en-DE" sz="1800" dirty="0" err="1"/>
              <a:t>Ultralytics</a:t>
            </a:r>
            <a:r>
              <a:rPr lang="en-DE" sz="1800" dirty="0"/>
              <a:t> YOLO26: Unified Real-Time End-to-End Vision Models”. </a:t>
            </a:r>
            <a:r>
              <a:rPr lang="en-DE" sz="1800" dirty="0" err="1"/>
              <a:t>arXiv</a:t>
            </a:r>
            <a:r>
              <a:rPr lang="en-DE" sz="1800" dirty="0"/>
              <a:t> preprint arXiv:2606.03748, June 2026 (Internet source </a:t>
            </a:r>
            <a:r>
              <a:rPr lang="en-DE" sz="1800" dirty="0">
                <a:hlinkClick r:id="rId3"/>
              </a:rPr>
              <a:t>https://arxiv.org/pdf/2606.03748</a:t>
            </a:r>
            <a:r>
              <a:rPr lang="en-DE" sz="1800" dirty="0"/>
              <a:t>, accessed on 11.07.2026)</a:t>
            </a:r>
            <a:endParaRPr lang="de-DE" sz="1800" dirty="0"/>
          </a:p>
          <a:p>
            <a:endParaRPr lang="de-DE" sz="1800" dirty="0"/>
          </a:p>
        </p:txBody>
      </p:sp>
      <p:sp>
        <p:nvSpPr>
          <p:cNvPr id="43" name="Textplatzhalter 42">
            <a:extLst>
              <a:ext uri="{FF2B5EF4-FFF2-40B4-BE49-F238E27FC236}">
                <a16:creationId xmlns:a16="http://schemas.microsoft.com/office/drawing/2014/main" id="{4FF6321A-2008-39CB-7032-5E1E6FADF971}"/>
              </a:ext>
            </a:extLst>
          </p:cNvPr>
          <p:cNvSpPr>
            <a:spLocks noGrp="1"/>
          </p:cNvSpPr>
          <p:nvPr>
            <p:ph type="body" sz="quarter" idx="52"/>
          </p:nvPr>
        </p:nvSpPr>
        <p:spPr>
          <a:xfrm>
            <a:off x="20213637" y="40639449"/>
            <a:ext cx="8472488" cy="1070435"/>
          </a:xfrm>
        </p:spPr>
        <p:txBody>
          <a:bodyPr/>
          <a:lstStyle/>
          <a:p>
            <a:r>
              <a:rPr lang="de-DE" sz="2700" b="1" dirty="0">
                <a:latin typeface="+mn-lt"/>
              </a:rPr>
              <a:t>QUELLE</a:t>
            </a:r>
          </a:p>
        </p:txBody>
      </p:sp>
      <p:sp>
        <p:nvSpPr>
          <p:cNvPr id="2" name="Textfeld 1">
            <a:extLst>
              <a:ext uri="{FF2B5EF4-FFF2-40B4-BE49-F238E27FC236}">
                <a16:creationId xmlns:a16="http://schemas.microsoft.com/office/drawing/2014/main" id="{D6960CF5-CEFE-55FB-7E1A-5BB183ABA534}"/>
              </a:ext>
            </a:extLst>
          </p:cNvPr>
          <p:cNvSpPr txBox="1"/>
          <p:nvPr/>
        </p:nvSpPr>
        <p:spPr>
          <a:xfrm>
            <a:off x="11201400" y="325898"/>
            <a:ext cx="18812489" cy="5693866"/>
          </a:xfrm>
          <a:prstGeom prst="rect">
            <a:avLst/>
          </a:prstGeom>
          <a:solidFill>
            <a:srgbClr val="FFFF00"/>
          </a:solidFill>
        </p:spPr>
        <p:txBody>
          <a:bodyPr wrap="square" rtlCol="0">
            <a:spAutoFit/>
          </a:bodyPr>
          <a:lstStyle/>
          <a:p>
            <a:r>
              <a:rPr lang="de-DE" sz="4000" dirty="0"/>
              <a:t>Hinweise (am Ende zu entfernen!):</a:t>
            </a:r>
          </a:p>
          <a:p>
            <a:pPr marL="571500" indent="-571500">
              <a:buFont typeface="Arial" panose="020B0604020202020204" pitchFamily="34" charset="0"/>
              <a:buChar char="•"/>
            </a:pPr>
            <a:r>
              <a:rPr lang="de-DE" sz="3600" dirty="0"/>
              <a:t>Positionen vom Logo und der zwei Titeltextblöcke </a:t>
            </a:r>
            <a:r>
              <a:rPr lang="de-DE" sz="3600" b="1" dirty="0"/>
              <a:t>nicht verändern</a:t>
            </a:r>
            <a:r>
              <a:rPr lang="de-DE" sz="3600" dirty="0"/>
              <a:t>!</a:t>
            </a:r>
          </a:p>
          <a:p>
            <a:pPr marL="571500" indent="-571500">
              <a:buFont typeface="Arial" panose="020B0604020202020204" pitchFamily="34" charset="0"/>
              <a:buChar char="•"/>
            </a:pPr>
            <a:r>
              <a:rPr lang="de-DE" sz="3600" dirty="0"/>
              <a:t>Untere Grenze der drei Spalten ist anzupassen um unteren Platz zu nutzen. Die obere Grenze und die horizontale Lage der Spalten </a:t>
            </a:r>
            <a:r>
              <a:rPr lang="de-DE" sz="3600" b="1" dirty="0"/>
              <a:t>nicht verändern</a:t>
            </a:r>
            <a:r>
              <a:rPr lang="de-DE" sz="3600" dirty="0"/>
              <a:t>.</a:t>
            </a:r>
          </a:p>
          <a:p>
            <a:pPr marL="571500" indent="-571500">
              <a:buFont typeface="Arial" panose="020B0604020202020204" pitchFamily="34" charset="0"/>
              <a:buChar char="•"/>
            </a:pPr>
            <a:r>
              <a:rPr lang="de-DE" sz="3600" dirty="0"/>
              <a:t>Jedes Bild muss unterschrieben werden, siehe Beispiel unten.</a:t>
            </a:r>
          </a:p>
          <a:p>
            <a:pPr marL="571500" indent="-571500">
              <a:buFont typeface="Arial" panose="020B0604020202020204" pitchFamily="34" charset="0"/>
              <a:buChar char="•"/>
            </a:pPr>
            <a:r>
              <a:rPr lang="de-DE" sz="3600" dirty="0"/>
              <a:t>Schriftart, -größe, -farbe der Blöcke </a:t>
            </a:r>
            <a:r>
              <a:rPr lang="de-DE" sz="3600" b="1" dirty="0"/>
              <a:t>nicht verändern</a:t>
            </a:r>
            <a:r>
              <a:rPr lang="de-DE" sz="3600" dirty="0"/>
              <a:t>!</a:t>
            </a:r>
          </a:p>
          <a:p>
            <a:pPr marL="571500" indent="-571500">
              <a:buFont typeface="Arial" panose="020B0604020202020204" pitchFamily="34" charset="0"/>
              <a:buChar char="•"/>
            </a:pPr>
            <a:r>
              <a:rPr lang="de-DE" sz="3600" dirty="0"/>
              <a:t>Breite der Blöcke </a:t>
            </a:r>
            <a:r>
              <a:rPr lang="de-DE" sz="3600" b="1" dirty="0"/>
              <a:t>nicht verändern</a:t>
            </a:r>
            <a:r>
              <a:rPr lang="de-DE" sz="3600" dirty="0"/>
              <a:t>!</a:t>
            </a:r>
          </a:p>
          <a:p>
            <a:pPr marL="571500" indent="-571500">
              <a:buFont typeface="Arial" panose="020B0604020202020204" pitchFamily="34" charset="0"/>
              <a:buChar char="•"/>
            </a:pPr>
            <a:r>
              <a:rPr lang="de-DE" sz="3600" dirty="0"/>
              <a:t>Sonst können Sie die Blöcke sinnvoll verschieben, kopieren, umsortieren, vertikal ausdehnen, löschen und selbstverständlich ausfüllen.</a:t>
            </a:r>
          </a:p>
          <a:p>
            <a:pPr marL="571500" indent="-571500">
              <a:buFont typeface="Arial" panose="020B0604020202020204" pitchFamily="34" charset="0"/>
              <a:buChar char="•"/>
            </a:pPr>
            <a:r>
              <a:rPr lang="de-DE" sz="3600" dirty="0"/>
              <a:t>Verwendete Quellen bitte zum Schluss angeben! </a:t>
            </a:r>
          </a:p>
        </p:txBody>
      </p:sp>
      <p:sp>
        <p:nvSpPr>
          <p:cNvPr id="3" name="Textplatzhalter 31">
            <a:extLst>
              <a:ext uri="{FF2B5EF4-FFF2-40B4-BE49-F238E27FC236}">
                <a16:creationId xmlns:a16="http://schemas.microsoft.com/office/drawing/2014/main" id="{A371D5B1-E0D0-E1FF-C07A-6F28759018F8}"/>
              </a:ext>
            </a:extLst>
          </p:cNvPr>
          <p:cNvSpPr txBox="1">
            <a:spLocks/>
          </p:cNvSpPr>
          <p:nvPr/>
        </p:nvSpPr>
        <p:spPr>
          <a:xfrm>
            <a:off x="1527176" y="39622182"/>
            <a:ext cx="8472488" cy="2395924"/>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sz="4900" dirty="0">
                <a:solidFill>
                  <a:srgbClr val="00008C"/>
                </a:solidFill>
                <a:latin typeface="Noto Sans Medium" panose="020B0502040504020204"/>
              </a:rPr>
              <a:t>Professur für Automatisierungstechnik</a:t>
            </a:r>
            <a:br>
              <a:rPr lang="de-DE" sz="4900" dirty="0">
                <a:solidFill>
                  <a:srgbClr val="00008C"/>
                </a:solidFill>
                <a:latin typeface="Noto Sans Medium" panose="020B0502040504020204"/>
              </a:rPr>
            </a:br>
            <a:r>
              <a:rPr lang="de-DE" sz="4900" dirty="0">
                <a:solidFill>
                  <a:srgbClr val="00008C"/>
                </a:solidFill>
                <a:latin typeface="Noto Sans Medium" panose="020B0502040504020204"/>
              </a:rPr>
              <a:t>Prof. Dr. techn. Klaus </a:t>
            </a:r>
            <a:r>
              <a:rPr lang="de-DE" sz="4900" dirty="0" err="1">
                <a:solidFill>
                  <a:srgbClr val="00008C"/>
                </a:solidFill>
                <a:latin typeface="Noto Sans Medium" panose="020B0502040504020204"/>
              </a:rPr>
              <a:t>Janschek</a:t>
            </a:r>
            <a:endParaRPr lang="de-DE" sz="4900" dirty="0">
              <a:solidFill>
                <a:srgbClr val="00008C"/>
              </a:solidFill>
              <a:latin typeface="Noto Sans Medium" panose="020B0502040504020204"/>
            </a:endParaRPr>
          </a:p>
        </p:txBody>
      </p:sp>
      <p:sp>
        <p:nvSpPr>
          <p:cNvPr id="18" name="Bildplatzhalter 37">
            <a:extLst>
              <a:ext uri="{FF2B5EF4-FFF2-40B4-BE49-F238E27FC236}">
                <a16:creationId xmlns:a16="http://schemas.microsoft.com/office/drawing/2014/main" id="{FAD5CD6D-1FE6-ED55-935D-79FFC4BA70BF}"/>
              </a:ext>
            </a:extLst>
          </p:cNvPr>
          <p:cNvSpPr txBox="1">
            <a:spLocks/>
          </p:cNvSpPr>
          <p:nvPr/>
        </p:nvSpPr>
        <p:spPr>
          <a:xfrm>
            <a:off x="10899775" y="31295920"/>
            <a:ext cx="8472488" cy="5840412"/>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en-DE" dirty="0"/>
          </a:p>
        </p:txBody>
      </p:sp>
      <p:sp>
        <p:nvSpPr>
          <p:cNvPr id="29" name="Bildplatzhalter 38">
            <a:extLst>
              <a:ext uri="{FF2B5EF4-FFF2-40B4-BE49-F238E27FC236}">
                <a16:creationId xmlns:a16="http://schemas.microsoft.com/office/drawing/2014/main" id="{C1BFEF04-9281-B57F-82F5-FDADFEF436FF}"/>
              </a:ext>
            </a:extLst>
          </p:cNvPr>
          <p:cNvSpPr txBox="1">
            <a:spLocks/>
          </p:cNvSpPr>
          <p:nvPr/>
        </p:nvSpPr>
        <p:spPr>
          <a:xfrm>
            <a:off x="20243006" y="23447580"/>
            <a:ext cx="8472488" cy="14709029"/>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gn="just"/>
            <a:r>
              <a:rPr lang="de-DE" b="1" dirty="0"/>
              <a:t>TEST + ERGEBNIS</a:t>
            </a:r>
          </a:p>
          <a:p>
            <a:pPr algn="just">
              <a:spcBef>
                <a:spcPts val="1111"/>
              </a:spcBef>
            </a:pPr>
            <a:r>
              <a:rPr lang="en-DE" b="1" dirty="0" err="1"/>
              <a:t>Testziel</a:t>
            </a:r>
            <a:r>
              <a:rPr lang="en-DE" b="1" dirty="0"/>
              <a:t>:</a:t>
            </a:r>
            <a:r>
              <a:rPr lang="en-DE" dirty="0"/>
              <a:t> </a:t>
            </a:r>
            <a:r>
              <a:rPr lang="en-DE" dirty="0" err="1"/>
              <a:t>Untersucht</a:t>
            </a:r>
            <a:r>
              <a:rPr lang="en-DE" dirty="0"/>
              <a:t> </a:t>
            </a:r>
            <a:r>
              <a:rPr lang="en-DE" dirty="0" err="1"/>
              <a:t>wird</a:t>
            </a:r>
            <a:r>
              <a:rPr lang="en-DE" dirty="0"/>
              <a:t>, </a:t>
            </a:r>
            <a:r>
              <a:rPr lang="en-DE" dirty="0" err="1"/>
              <a:t>ob</a:t>
            </a:r>
            <a:r>
              <a:rPr lang="en-DE" dirty="0"/>
              <a:t> der NMS-</a:t>
            </a:r>
            <a:r>
              <a:rPr lang="en-DE" dirty="0" err="1"/>
              <a:t>freie</a:t>
            </a:r>
            <a:r>
              <a:rPr lang="en-DE" dirty="0"/>
              <a:t> Ansatz von YOLO26-Pose die </a:t>
            </a:r>
            <a:r>
              <a:rPr lang="en-DE" dirty="0" err="1"/>
              <a:t>Nachbearbeitung</a:t>
            </a:r>
            <a:r>
              <a:rPr lang="en-DE" dirty="0"/>
              <a:t> </a:t>
            </a:r>
            <a:r>
              <a:rPr lang="en-DE" dirty="0" err="1"/>
              <a:t>gegenüber</a:t>
            </a:r>
            <a:r>
              <a:rPr lang="en-DE" dirty="0"/>
              <a:t> YOLO11-Pose </a:t>
            </a:r>
            <a:r>
              <a:rPr lang="en-DE" dirty="0" err="1"/>
              <a:t>verkürzt</a:t>
            </a:r>
            <a:r>
              <a:rPr lang="en-DE" dirty="0"/>
              <a:t> und </a:t>
            </a:r>
            <a:r>
              <a:rPr lang="en-DE" dirty="0" err="1"/>
              <a:t>ob</a:t>
            </a:r>
            <a:r>
              <a:rPr lang="en-DE" dirty="0"/>
              <a:t> </a:t>
            </a:r>
            <a:r>
              <a:rPr lang="en-DE" dirty="0" err="1"/>
              <a:t>ein</a:t>
            </a:r>
            <a:r>
              <a:rPr lang="en-DE" dirty="0"/>
              <a:t> </a:t>
            </a:r>
            <a:r>
              <a:rPr lang="en-DE" dirty="0" err="1"/>
              <a:t>Gesamtzeitvorteil</a:t>
            </a:r>
            <a:r>
              <a:rPr lang="en-DE" dirty="0"/>
              <a:t> von der Hardware-</a:t>
            </a:r>
            <a:r>
              <a:rPr lang="en-DE" dirty="0" err="1"/>
              <a:t>Plattform</a:t>
            </a:r>
            <a:r>
              <a:rPr lang="en-DE" dirty="0"/>
              <a:t> </a:t>
            </a:r>
            <a:r>
              <a:rPr lang="en-DE" dirty="0" err="1"/>
              <a:t>abhängt</a:t>
            </a:r>
            <a:r>
              <a:rPr lang="en-DE" dirty="0"/>
              <a:t>.</a:t>
            </a:r>
          </a:p>
          <a:p>
            <a:pPr algn="just">
              <a:spcBef>
                <a:spcPts val="1111"/>
              </a:spcBef>
            </a:pPr>
            <a:r>
              <a:rPr lang="en-DE" b="1" dirty="0"/>
              <a:t>Test-Setup:</a:t>
            </a:r>
            <a:r>
              <a:rPr lang="en-DE" dirty="0"/>
              <a:t> </a:t>
            </a:r>
            <a:r>
              <a:rPr lang="en-DE" dirty="0" err="1"/>
              <a:t>Beide</a:t>
            </a:r>
            <a:r>
              <a:rPr lang="en-DE" dirty="0"/>
              <a:t> Modelle (Nano-</a:t>
            </a:r>
            <a:r>
              <a:rPr lang="en-DE" dirty="0" err="1"/>
              <a:t>Variante</a:t>
            </a:r>
            <a:r>
              <a:rPr lang="en-DE" dirty="0"/>
              <a:t>) </a:t>
            </a:r>
            <a:r>
              <a:rPr lang="en-DE" dirty="0" err="1"/>
              <a:t>wurden</a:t>
            </a:r>
            <a:r>
              <a:rPr lang="en-DE" dirty="0"/>
              <a:t> </a:t>
            </a:r>
            <a:r>
              <a:rPr lang="en-DE" dirty="0" err="1"/>
              <a:t>unter</a:t>
            </a:r>
            <a:r>
              <a:rPr lang="en-DE" dirty="0"/>
              <a:t> </a:t>
            </a:r>
            <a:r>
              <a:rPr lang="en-DE" dirty="0" err="1"/>
              <a:t>identischen</a:t>
            </a:r>
            <a:r>
              <a:rPr lang="en-DE" dirty="0"/>
              <a:t> </a:t>
            </a:r>
            <a:r>
              <a:rPr lang="en-DE" dirty="0" err="1"/>
              <a:t>Bedingungen</a:t>
            </a:r>
            <a:r>
              <a:rPr lang="en-DE" dirty="0"/>
              <a:t> auf 10 </a:t>
            </a:r>
            <a:r>
              <a:rPr lang="en-DE" dirty="0" err="1"/>
              <a:t>frei</a:t>
            </a:r>
            <a:r>
              <a:rPr lang="en-DE" dirty="0"/>
              <a:t> </a:t>
            </a:r>
            <a:r>
              <a:rPr lang="en-DE" dirty="0" err="1"/>
              <a:t>verfügbaren</a:t>
            </a:r>
            <a:r>
              <a:rPr lang="en-DE" dirty="0"/>
              <a:t> </a:t>
            </a:r>
            <a:r>
              <a:rPr lang="en-DE" dirty="0" err="1"/>
              <a:t>Bildern</a:t>
            </a:r>
            <a:r>
              <a:rPr lang="en-DE" dirty="0"/>
              <a:t> </a:t>
            </a:r>
            <a:r>
              <a:rPr lang="en-DE" dirty="0" err="1"/>
              <a:t>mit</a:t>
            </a:r>
            <a:r>
              <a:rPr lang="en-DE" dirty="0"/>
              <a:t> </a:t>
            </a:r>
            <a:r>
              <a:rPr lang="en-DE" dirty="0" err="1"/>
              <a:t>mehreren</a:t>
            </a:r>
            <a:r>
              <a:rPr lang="en-DE" dirty="0"/>
              <a:t>, teils stark </a:t>
            </a:r>
            <a:r>
              <a:rPr lang="en-DE" dirty="0" err="1"/>
              <a:t>verdeckten</a:t>
            </a:r>
            <a:r>
              <a:rPr lang="en-DE" dirty="0"/>
              <a:t> </a:t>
            </a:r>
            <a:r>
              <a:rPr lang="en-DE" dirty="0" err="1"/>
              <a:t>Personen</a:t>
            </a:r>
            <a:r>
              <a:rPr lang="en-DE" dirty="0"/>
              <a:t> </a:t>
            </a:r>
            <a:r>
              <a:rPr lang="en-DE" dirty="0" err="1"/>
              <a:t>ausgeführt</a:t>
            </a:r>
            <a:r>
              <a:rPr lang="en-DE" dirty="0"/>
              <a:t> — auf </a:t>
            </a:r>
            <a:r>
              <a:rPr lang="en-DE" dirty="0" err="1"/>
              <a:t>zwei</a:t>
            </a:r>
            <a:r>
              <a:rPr lang="en-DE" dirty="0"/>
              <a:t> CPUs (Intel i5-1335U, AMD </a:t>
            </a:r>
            <a:r>
              <a:rPr lang="en-DE" dirty="0" err="1"/>
              <a:t>Ryzen</a:t>
            </a:r>
            <a:r>
              <a:rPr lang="en-DE" dirty="0"/>
              <a:t> 7 5800X) und </a:t>
            </a:r>
            <a:r>
              <a:rPr lang="en-DE" dirty="0" err="1"/>
              <a:t>einer</a:t>
            </a:r>
            <a:r>
              <a:rPr lang="en-DE" dirty="0"/>
              <a:t> GPU (NVIDIA RTX 4070 Ti SUPER).</a:t>
            </a:r>
            <a:r>
              <a:rPr lang="en-US" dirty="0"/>
              <a:t> </a:t>
            </a:r>
            <a:r>
              <a:rPr lang="en-DE" dirty="0"/>
              <a:t>Vor-, </a:t>
            </a:r>
            <a:r>
              <a:rPr lang="en-DE" dirty="0" err="1"/>
              <a:t>Inferenz</a:t>
            </a:r>
            <a:r>
              <a:rPr lang="en-DE" dirty="0"/>
              <a:t>- und </a:t>
            </a:r>
            <a:r>
              <a:rPr lang="en-DE" dirty="0" err="1"/>
              <a:t>Nachbearbeitungszeit</a:t>
            </a:r>
            <a:r>
              <a:rPr lang="en-DE" dirty="0"/>
              <a:t> pro Bild </a:t>
            </a:r>
            <a:r>
              <a:rPr lang="en-DE" dirty="0" err="1"/>
              <a:t>wurden</a:t>
            </a:r>
            <a:r>
              <a:rPr lang="en-DE" dirty="0"/>
              <a:t> </a:t>
            </a:r>
            <a:r>
              <a:rPr lang="en-DE" dirty="0" err="1"/>
              <a:t>getrennt</a:t>
            </a:r>
            <a:r>
              <a:rPr lang="en-DE" dirty="0"/>
              <a:t> </a:t>
            </a:r>
            <a:r>
              <a:rPr lang="en-DE" dirty="0" err="1"/>
              <a:t>gemessen</a:t>
            </a:r>
            <a:r>
              <a:rPr lang="en-DE" dirty="0"/>
              <a:t>.</a:t>
            </a:r>
          </a:p>
          <a:p>
            <a:pPr algn="just">
              <a:spcBef>
                <a:spcPts val="1111"/>
              </a:spcBef>
            </a:pPr>
            <a:r>
              <a:rPr lang="en-DE" b="1" dirty="0" err="1"/>
              <a:t>Ergebnisse</a:t>
            </a:r>
            <a:r>
              <a:rPr lang="en-DE" b="1" dirty="0"/>
              <a:t>:</a:t>
            </a:r>
            <a:r>
              <a:rPr lang="en-DE" dirty="0"/>
              <a:t> Die </a:t>
            </a:r>
            <a:r>
              <a:rPr lang="en-DE" dirty="0" err="1"/>
              <a:t>Nachbearbeitung</a:t>
            </a:r>
            <a:r>
              <a:rPr lang="en-DE" dirty="0"/>
              <a:t> </a:t>
            </a:r>
            <a:r>
              <a:rPr lang="en-DE" dirty="0" err="1"/>
              <a:t>ist</a:t>
            </a:r>
            <a:r>
              <a:rPr lang="en-DE" dirty="0"/>
              <a:t> </a:t>
            </a:r>
            <a:r>
              <a:rPr lang="en-DE" dirty="0" err="1"/>
              <a:t>bei</a:t>
            </a:r>
            <a:r>
              <a:rPr lang="en-DE" dirty="0"/>
              <a:t> YOLO26 auf </a:t>
            </a:r>
            <a:r>
              <a:rPr lang="en-DE" dirty="0" err="1"/>
              <a:t>allen</a:t>
            </a:r>
            <a:r>
              <a:rPr lang="en-DE" dirty="0"/>
              <a:t> </a:t>
            </a:r>
            <a:r>
              <a:rPr lang="en-DE" dirty="0" err="1"/>
              <a:t>Plattformen</a:t>
            </a:r>
            <a:r>
              <a:rPr lang="en-DE" dirty="0"/>
              <a:t> </a:t>
            </a:r>
            <a:r>
              <a:rPr lang="en-DE" dirty="0" err="1"/>
              <a:t>kürzer</a:t>
            </a:r>
            <a:r>
              <a:rPr lang="en-DE" dirty="0"/>
              <a:t> und die </a:t>
            </a:r>
            <a:r>
              <a:rPr lang="en-DE" dirty="0" err="1"/>
              <a:t>Laufzeit</a:t>
            </a:r>
            <a:r>
              <a:rPr lang="en-DE" dirty="0"/>
              <a:t> </a:t>
            </a:r>
            <a:r>
              <a:rPr lang="en-DE" dirty="0" err="1"/>
              <a:t>stabiler</a:t>
            </a:r>
            <a:r>
              <a:rPr lang="en-DE" dirty="0"/>
              <a:t>. Der </a:t>
            </a:r>
            <a:r>
              <a:rPr lang="en-DE" dirty="0" err="1"/>
              <a:t>Gesamtvorteil</a:t>
            </a:r>
            <a:r>
              <a:rPr lang="en-DE" dirty="0"/>
              <a:t> </a:t>
            </a:r>
            <a:r>
              <a:rPr lang="en-DE" dirty="0" err="1"/>
              <a:t>ist</a:t>
            </a:r>
            <a:r>
              <a:rPr lang="en-DE" dirty="0"/>
              <a:t> </a:t>
            </a:r>
            <a:r>
              <a:rPr lang="en-DE" dirty="0" err="1"/>
              <a:t>jedoch</a:t>
            </a:r>
            <a:r>
              <a:rPr lang="en-DE" dirty="0"/>
              <a:t> </a:t>
            </a:r>
            <a:r>
              <a:rPr lang="en-DE" dirty="0" err="1"/>
              <a:t>hardwareabhängig</a:t>
            </a:r>
            <a:r>
              <a:rPr lang="en-DE" dirty="0"/>
              <a:t>: Auf den CPUs </a:t>
            </a:r>
            <a:r>
              <a:rPr lang="en-DE" dirty="0" err="1"/>
              <a:t>ist</a:t>
            </a:r>
            <a:r>
              <a:rPr lang="en-DE" dirty="0"/>
              <a:t> YOLO26 </a:t>
            </a:r>
            <a:r>
              <a:rPr lang="en-DE" dirty="0" err="1"/>
              <a:t>leicht</a:t>
            </a:r>
            <a:r>
              <a:rPr lang="en-DE" dirty="0"/>
              <a:t> </a:t>
            </a:r>
            <a:r>
              <a:rPr lang="en-DE" dirty="0" err="1"/>
              <a:t>langsamer</a:t>
            </a:r>
            <a:r>
              <a:rPr lang="en-DE" dirty="0"/>
              <a:t> (182,1 vs. 160,4 </a:t>
            </a:r>
            <a:r>
              <a:rPr lang="en-DE" dirty="0" err="1"/>
              <a:t>ms</a:t>
            </a:r>
            <a:r>
              <a:rPr lang="en-DE" dirty="0"/>
              <a:t>; 48,6 vs. 45,2 </a:t>
            </a:r>
            <a:r>
              <a:rPr lang="en-DE" dirty="0" err="1"/>
              <a:t>ms</a:t>
            </a:r>
            <a:r>
              <a:rPr lang="en-DE" dirty="0"/>
              <a:t>), auf der GPU </a:t>
            </a:r>
            <a:r>
              <a:rPr lang="en-DE" dirty="0" err="1"/>
              <a:t>schneller</a:t>
            </a:r>
            <a:r>
              <a:rPr lang="en-DE" dirty="0"/>
              <a:t> (21,8 vs. 24,7 </a:t>
            </a:r>
            <a:r>
              <a:rPr lang="en-DE" dirty="0" err="1"/>
              <a:t>ms</a:t>
            </a:r>
            <a:r>
              <a:rPr lang="en-DE" dirty="0"/>
              <a:t> — </a:t>
            </a:r>
            <a:r>
              <a:rPr lang="en-DE" dirty="0" err="1"/>
              <a:t>über</a:t>
            </a:r>
            <a:r>
              <a:rPr lang="en-DE" dirty="0"/>
              <a:t> </a:t>
            </a:r>
            <a:r>
              <a:rPr lang="en-US" dirty="0"/>
              <a:t>1</a:t>
            </a:r>
            <a:r>
              <a:rPr lang="en-DE" dirty="0"/>
              <a:t>0 Bilder/s). </a:t>
            </a:r>
            <a:r>
              <a:rPr lang="en-DE" dirty="0" err="1"/>
              <a:t>Qualitativ</a:t>
            </a:r>
            <a:r>
              <a:rPr lang="en-DE" dirty="0"/>
              <a:t> </a:t>
            </a:r>
            <a:r>
              <a:rPr lang="en-DE" dirty="0" err="1"/>
              <a:t>erkennt</a:t>
            </a:r>
            <a:r>
              <a:rPr lang="en-DE" dirty="0"/>
              <a:t> YOLO26 </a:t>
            </a:r>
            <a:r>
              <a:rPr lang="en-DE" dirty="0" err="1"/>
              <a:t>zusätzlich</a:t>
            </a:r>
            <a:r>
              <a:rPr lang="en-DE" dirty="0"/>
              <a:t> </a:t>
            </a:r>
            <a:r>
              <a:rPr lang="en-DE" dirty="0" err="1"/>
              <a:t>entfernte</a:t>
            </a:r>
            <a:r>
              <a:rPr lang="en-DE" dirty="0"/>
              <a:t> und </a:t>
            </a:r>
            <a:r>
              <a:rPr lang="en-DE" dirty="0" err="1"/>
              <a:t>verdeckte</a:t>
            </a:r>
            <a:r>
              <a:rPr lang="en-DE" dirty="0"/>
              <a:t> </a:t>
            </a:r>
            <a:r>
              <a:rPr lang="en-DE" dirty="0" err="1"/>
              <a:t>Personen</a:t>
            </a:r>
            <a:r>
              <a:rPr lang="en-DE" dirty="0"/>
              <a:t>. </a:t>
            </a:r>
          </a:p>
        </p:txBody>
      </p:sp>
      <p:sp>
        <p:nvSpPr>
          <p:cNvPr id="57" name="Textplatzhalter 36">
            <a:extLst>
              <a:ext uri="{FF2B5EF4-FFF2-40B4-BE49-F238E27FC236}">
                <a16:creationId xmlns:a16="http://schemas.microsoft.com/office/drawing/2014/main" id="{F7873E98-0908-648E-C05C-9296D05F332C}"/>
              </a:ext>
            </a:extLst>
          </p:cNvPr>
          <p:cNvSpPr txBox="1">
            <a:spLocks/>
          </p:cNvSpPr>
          <p:nvPr/>
        </p:nvSpPr>
        <p:spPr>
          <a:xfrm>
            <a:off x="12380661" y="19376076"/>
            <a:ext cx="5548766" cy="330626"/>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dirty="0"/>
              <a:t>Abbildung 1: YOLO26 Architekturdiagramm. Quelle: [1]</a:t>
            </a:r>
          </a:p>
        </p:txBody>
      </p:sp>
      <p:sp>
        <p:nvSpPr>
          <p:cNvPr id="12" name="Textplatzhalter 36">
            <a:extLst>
              <a:ext uri="{FF2B5EF4-FFF2-40B4-BE49-F238E27FC236}">
                <a16:creationId xmlns:a16="http://schemas.microsoft.com/office/drawing/2014/main" id="{5BF250AF-F175-A243-700A-8EB3A2BE73EE}"/>
              </a:ext>
            </a:extLst>
          </p:cNvPr>
          <p:cNvSpPr txBox="1">
            <a:spLocks/>
          </p:cNvSpPr>
          <p:nvPr/>
        </p:nvSpPr>
        <p:spPr>
          <a:xfrm>
            <a:off x="1502497" y="37011216"/>
            <a:ext cx="8497166" cy="756597"/>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gn="just">
              <a:lnSpc>
                <a:spcPct val="100000"/>
              </a:lnSpc>
            </a:pPr>
            <a:r>
              <a:rPr lang="de-DE" dirty="0"/>
              <a:t>Abbildung 2: Oben: Merkmalskarten des trainierten YOLO26n-Pose am Ende jeder Backbone-Stufe (P1/2–P5/32), dargestellt in wahrer relativer Größe; gezeigt ist jeweils die über alle Kanäle gemittelte </a:t>
            </a:r>
            <a:r>
              <a:rPr lang="de-DE" dirty="0" err="1"/>
              <a:t>Absolutaktivierung</a:t>
            </a:r>
            <a:r>
              <a:rPr lang="de-DE" dirty="0"/>
              <a:t>. Mitte: dieselben Ebenen auf gleiche Anzeigegröße skaliert (</a:t>
            </a:r>
            <a:r>
              <a:rPr lang="de-DE" dirty="0" err="1"/>
              <a:t>Nearest</a:t>
            </a:r>
            <a:r>
              <a:rPr lang="de-DE" dirty="0"/>
              <a:t>-Neighbor) — die gröberen Pixelblöcke zeigen den Auflösungsverlust durch die stride-2-Faltungen. Unten: Zerlegung der P2/4-Ebene (Ausgabe des ersten C3k2-Blocks, 160×160×64): links das Kanalmittel aus der mittleren Reihe, daneben sechs einzelne Merkmalskanäle derselben Ausgabe (Auswahl nach Aktivierungsvarianz, je Kanal auf [0, 1] normiert) — einzelne gelernte Filter reagieren auf unterschiedliche Strukturen des Objekts.</a:t>
            </a:r>
          </a:p>
        </p:txBody>
      </p:sp>
      <p:sp>
        <p:nvSpPr>
          <p:cNvPr id="72" name="Textplatzhalter 39">
            <a:extLst>
              <a:ext uri="{FF2B5EF4-FFF2-40B4-BE49-F238E27FC236}">
                <a16:creationId xmlns:a16="http://schemas.microsoft.com/office/drawing/2014/main" id="{5CEF0381-BCE1-348F-ABC9-5502212953A0}"/>
              </a:ext>
            </a:extLst>
          </p:cNvPr>
          <p:cNvSpPr txBox="1">
            <a:spLocks/>
          </p:cNvSpPr>
          <p:nvPr/>
        </p:nvSpPr>
        <p:spPr>
          <a:xfrm>
            <a:off x="10929937" y="20072979"/>
            <a:ext cx="8472488" cy="4837778"/>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de-DE" dirty="0"/>
          </a:p>
        </p:txBody>
      </p:sp>
      <p:sp>
        <p:nvSpPr>
          <p:cNvPr id="74" name="Textplatzhalter 32">
            <a:extLst>
              <a:ext uri="{FF2B5EF4-FFF2-40B4-BE49-F238E27FC236}">
                <a16:creationId xmlns:a16="http://schemas.microsoft.com/office/drawing/2014/main" id="{155E5BE5-5E5D-2806-3E4E-121F43C862AE}"/>
              </a:ext>
            </a:extLst>
          </p:cNvPr>
          <p:cNvSpPr>
            <a:spLocks noGrp="1"/>
          </p:cNvSpPr>
          <p:nvPr>
            <p:ph type="body" sz="quarter" idx="27"/>
          </p:nvPr>
        </p:nvSpPr>
        <p:spPr>
          <a:xfrm>
            <a:off x="10918799" y="19914245"/>
            <a:ext cx="8483625" cy="1070435"/>
          </a:xfrm>
        </p:spPr>
        <p:txBody>
          <a:bodyPr/>
          <a:lstStyle/>
          <a:p>
            <a:pPr algn="just"/>
            <a:r>
              <a:rPr lang="en-DE" sz="2700" b="1" dirty="0">
                <a:latin typeface="+mn-lt"/>
              </a:rPr>
              <a:t>ZENTRALE BAUSTEINE DER YOLO26-POSE-ARCHITEKTUR</a:t>
            </a:r>
            <a:endParaRPr lang="en-US" sz="2700" b="1" dirty="0">
              <a:latin typeface="+mn-lt"/>
            </a:endParaRPr>
          </a:p>
          <a:p>
            <a:r>
              <a:rPr lang="en-DE" sz="2700" dirty="0">
                <a:latin typeface="+mn-lt"/>
              </a:rPr>
              <a:t>YOLO26-Pose </a:t>
            </a:r>
            <a:r>
              <a:rPr lang="en-DE" sz="2700" dirty="0" err="1">
                <a:latin typeface="+mn-lt"/>
              </a:rPr>
              <a:t>gliedert</a:t>
            </a:r>
            <a:r>
              <a:rPr lang="en-DE" sz="2700" dirty="0">
                <a:latin typeface="+mn-lt"/>
              </a:rPr>
              <a:t> </a:t>
            </a:r>
            <a:r>
              <a:rPr lang="en-DE" sz="2700" dirty="0" err="1">
                <a:latin typeface="+mn-lt"/>
              </a:rPr>
              <a:t>sich</a:t>
            </a:r>
            <a:r>
              <a:rPr lang="en-DE" sz="2700" dirty="0">
                <a:latin typeface="+mn-lt"/>
              </a:rPr>
              <a:t> in Backbone, Neck und Head (Abb. 1) und </a:t>
            </a:r>
            <a:r>
              <a:rPr lang="en-DE" sz="2700" dirty="0" err="1">
                <a:latin typeface="+mn-lt"/>
              </a:rPr>
              <a:t>verarbeitet</a:t>
            </a:r>
            <a:r>
              <a:rPr lang="en-DE" sz="2700" dirty="0">
                <a:latin typeface="+mn-lt"/>
              </a:rPr>
              <a:t> </a:t>
            </a:r>
            <a:r>
              <a:rPr lang="en-DE" sz="2700" dirty="0" err="1">
                <a:latin typeface="+mn-lt"/>
              </a:rPr>
              <a:t>Eingangsbilder</a:t>
            </a:r>
            <a:r>
              <a:rPr lang="en-DE" sz="2700" dirty="0">
                <a:latin typeface="+mn-lt"/>
              </a:rPr>
              <a:t> </a:t>
            </a:r>
            <a:r>
              <a:rPr lang="en-DE" sz="2700" dirty="0" err="1">
                <a:latin typeface="+mn-lt"/>
              </a:rPr>
              <a:t>als</a:t>
            </a:r>
            <a:r>
              <a:rPr lang="en-DE" sz="2700" dirty="0">
                <a:latin typeface="+mn-lt"/>
              </a:rPr>
              <a:t> Tensor der </a:t>
            </a:r>
            <a:r>
              <a:rPr lang="en-DE" sz="2700" dirty="0" err="1">
                <a:latin typeface="+mn-lt"/>
              </a:rPr>
              <a:t>Größe</a:t>
            </a:r>
            <a:r>
              <a:rPr lang="en-DE" sz="2700" dirty="0">
                <a:latin typeface="+mn-lt"/>
              </a:rPr>
              <a:t> 640×640×3.</a:t>
            </a:r>
          </a:p>
          <a:p>
            <a:pPr algn="just"/>
            <a:r>
              <a:rPr lang="en-DE" sz="2700" dirty="0">
                <a:latin typeface="+mn-lt"/>
              </a:rPr>
              <a:t>Der </a:t>
            </a:r>
            <a:r>
              <a:rPr lang="en-DE" sz="2700" b="1" dirty="0">
                <a:latin typeface="+mn-lt"/>
              </a:rPr>
              <a:t>Backbone</a:t>
            </a:r>
            <a:r>
              <a:rPr lang="en-DE" sz="2700" dirty="0">
                <a:latin typeface="+mn-lt"/>
              </a:rPr>
              <a:t> </a:t>
            </a:r>
            <a:r>
              <a:rPr lang="en-DE" sz="2700" dirty="0" err="1">
                <a:latin typeface="+mn-lt"/>
              </a:rPr>
              <a:t>extrahiert</a:t>
            </a:r>
            <a:r>
              <a:rPr lang="en-DE" sz="2700" dirty="0">
                <a:latin typeface="+mn-lt"/>
              </a:rPr>
              <a:t> </a:t>
            </a:r>
            <a:r>
              <a:rPr lang="en-DE" sz="2700" dirty="0" err="1">
                <a:latin typeface="+mn-lt"/>
              </a:rPr>
              <a:t>Merkmale</a:t>
            </a:r>
            <a:r>
              <a:rPr lang="en-DE" sz="2700" dirty="0">
                <a:latin typeface="+mn-lt"/>
              </a:rPr>
              <a:t> in </a:t>
            </a:r>
            <a:r>
              <a:rPr lang="en-DE" sz="2700" dirty="0" err="1">
                <a:latin typeface="+mn-lt"/>
              </a:rPr>
              <a:t>fünf</a:t>
            </a:r>
            <a:r>
              <a:rPr lang="en-DE" sz="2700" dirty="0">
                <a:latin typeface="+mn-lt"/>
              </a:rPr>
              <a:t> </a:t>
            </a:r>
            <a:r>
              <a:rPr lang="en-DE" sz="2700" dirty="0" err="1">
                <a:latin typeface="+mn-lt"/>
              </a:rPr>
              <a:t>Stufen</a:t>
            </a:r>
            <a:r>
              <a:rPr lang="en-DE" sz="2700" dirty="0">
                <a:latin typeface="+mn-lt"/>
              </a:rPr>
              <a:t>: Conv-</a:t>
            </a:r>
            <a:r>
              <a:rPr lang="en-DE" sz="2700" dirty="0" err="1">
                <a:latin typeface="+mn-lt"/>
              </a:rPr>
              <a:t>Blöcke</a:t>
            </a:r>
            <a:r>
              <a:rPr lang="en-DE" sz="2700" dirty="0">
                <a:latin typeface="+mn-lt"/>
              </a:rPr>
              <a:t> (Conv2d → </a:t>
            </a:r>
            <a:r>
              <a:rPr lang="en-DE" sz="2700" dirty="0" err="1">
                <a:latin typeface="+mn-lt"/>
              </a:rPr>
              <a:t>BatchNorm</a:t>
            </a:r>
            <a:r>
              <a:rPr lang="en-DE" sz="2700" dirty="0">
                <a:latin typeface="+mn-lt"/>
              </a:rPr>
              <a:t> → </a:t>
            </a:r>
            <a:r>
              <a:rPr lang="en-DE" sz="2700" dirty="0" err="1">
                <a:latin typeface="+mn-lt"/>
              </a:rPr>
              <a:t>SiLU</a:t>
            </a:r>
            <a:r>
              <a:rPr lang="en-DE" sz="2700" dirty="0">
                <a:latin typeface="+mn-lt"/>
              </a:rPr>
              <a:t>) </a:t>
            </a:r>
            <a:r>
              <a:rPr lang="en-DE" sz="2700" dirty="0" err="1">
                <a:latin typeface="+mn-lt"/>
              </a:rPr>
              <a:t>mit</a:t>
            </a:r>
            <a:r>
              <a:rPr lang="en-DE" sz="2700" dirty="0">
                <a:latin typeface="+mn-lt"/>
              </a:rPr>
              <a:t> Stride 2 </a:t>
            </a:r>
            <a:r>
              <a:rPr lang="en-DE" sz="2700" dirty="0" err="1">
                <a:latin typeface="+mn-lt"/>
              </a:rPr>
              <a:t>halbieren</a:t>
            </a:r>
            <a:r>
              <a:rPr lang="en-DE" sz="2700" dirty="0">
                <a:latin typeface="+mn-lt"/>
              </a:rPr>
              <a:t> </a:t>
            </a:r>
            <a:r>
              <a:rPr lang="en-DE" sz="2700" dirty="0" err="1">
                <a:latin typeface="+mn-lt"/>
              </a:rPr>
              <a:t>jeweils</a:t>
            </a:r>
            <a:r>
              <a:rPr lang="en-DE" sz="2700" dirty="0">
                <a:latin typeface="+mn-lt"/>
              </a:rPr>
              <a:t> die </a:t>
            </a:r>
            <a:r>
              <a:rPr lang="en-DE" sz="2700" dirty="0" err="1">
                <a:latin typeface="+mn-lt"/>
              </a:rPr>
              <a:t>Auflösung</a:t>
            </a:r>
            <a:r>
              <a:rPr lang="en-DE" sz="2700" dirty="0">
                <a:latin typeface="+mn-lt"/>
              </a:rPr>
              <a:t>, </a:t>
            </a:r>
            <a:r>
              <a:rPr lang="en-DE" sz="2700" dirty="0" err="1">
                <a:latin typeface="+mn-lt"/>
              </a:rPr>
              <a:t>dazwischenliegende</a:t>
            </a:r>
            <a:r>
              <a:rPr lang="en-DE" sz="2700" dirty="0">
                <a:latin typeface="+mn-lt"/>
              </a:rPr>
              <a:t> C3k2-Blöcke </a:t>
            </a:r>
            <a:r>
              <a:rPr lang="en-DE" sz="2700" dirty="0" err="1">
                <a:latin typeface="+mn-lt"/>
              </a:rPr>
              <a:t>verfeinern</a:t>
            </a:r>
            <a:r>
              <a:rPr lang="en-DE" sz="2700" dirty="0">
                <a:latin typeface="+mn-lt"/>
              </a:rPr>
              <a:t> die </a:t>
            </a:r>
            <a:r>
              <a:rPr lang="en-DE" sz="2700" dirty="0" err="1">
                <a:latin typeface="+mn-lt"/>
              </a:rPr>
              <a:t>Merkmale</a:t>
            </a:r>
            <a:r>
              <a:rPr lang="en-DE" sz="2700" dirty="0">
                <a:latin typeface="+mn-lt"/>
              </a:rPr>
              <a:t> auf </a:t>
            </a:r>
            <a:r>
              <a:rPr lang="en-DE" sz="2700" dirty="0" err="1">
                <a:latin typeface="+mn-lt"/>
              </a:rPr>
              <a:t>gleichbleibender</a:t>
            </a:r>
            <a:r>
              <a:rPr lang="en-DE" sz="2700" dirty="0">
                <a:latin typeface="+mn-lt"/>
              </a:rPr>
              <a:t> </a:t>
            </a:r>
            <a:r>
              <a:rPr lang="en-DE" sz="2700" dirty="0" err="1">
                <a:latin typeface="+mn-lt"/>
              </a:rPr>
              <a:t>Auflösung</a:t>
            </a:r>
            <a:r>
              <a:rPr lang="en-DE" sz="2700" dirty="0">
                <a:latin typeface="+mn-lt"/>
              </a:rPr>
              <a:t>. Deren CSP-</a:t>
            </a:r>
            <a:r>
              <a:rPr lang="en-DE" sz="2700" dirty="0" err="1">
                <a:latin typeface="+mn-lt"/>
              </a:rPr>
              <a:t>Prinzip</a:t>
            </a:r>
            <a:r>
              <a:rPr lang="en-DE" sz="2700" dirty="0">
                <a:latin typeface="+mn-lt"/>
              </a:rPr>
              <a:t>: Nur </a:t>
            </a:r>
            <a:r>
              <a:rPr lang="en-DE" sz="2700" dirty="0" err="1">
                <a:latin typeface="+mn-lt"/>
              </a:rPr>
              <a:t>ein</a:t>
            </a:r>
            <a:r>
              <a:rPr lang="en-DE" sz="2700" dirty="0">
                <a:latin typeface="+mn-lt"/>
              </a:rPr>
              <a:t> </a:t>
            </a:r>
            <a:r>
              <a:rPr lang="en-DE" sz="2700" dirty="0" err="1">
                <a:latin typeface="+mn-lt"/>
              </a:rPr>
              <a:t>Teilpfad</a:t>
            </a:r>
            <a:r>
              <a:rPr lang="en-DE" sz="2700" dirty="0">
                <a:latin typeface="+mn-lt"/>
              </a:rPr>
              <a:t> </a:t>
            </a:r>
            <a:r>
              <a:rPr lang="en-DE" sz="2700" dirty="0" err="1">
                <a:latin typeface="+mn-lt"/>
              </a:rPr>
              <a:t>durchläuft</a:t>
            </a:r>
            <a:r>
              <a:rPr lang="en-DE" sz="2700" dirty="0">
                <a:latin typeface="+mn-lt"/>
              </a:rPr>
              <a:t> die </a:t>
            </a:r>
            <a:r>
              <a:rPr lang="en-DE" sz="2700" dirty="0" err="1">
                <a:latin typeface="+mn-lt"/>
              </a:rPr>
              <a:t>rechenintensiven</a:t>
            </a:r>
            <a:r>
              <a:rPr lang="en-DE" sz="2700" dirty="0">
                <a:latin typeface="+mn-lt"/>
              </a:rPr>
              <a:t> Bottlenecks, der </a:t>
            </a:r>
            <a:r>
              <a:rPr lang="en-DE" sz="2700" dirty="0" err="1">
                <a:latin typeface="+mn-lt"/>
              </a:rPr>
              <a:t>zweite</a:t>
            </a:r>
            <a:r>
              <a:rPr lang="en-DE" sz="2700" dirty="0">
                <a:latin typeface="+mn-lt"/>
              </a:rPr>
              <a:t> </a:t>
            </a:r>
            <a:r>
              <a:rPr lang="en-DE" sz="2700" dirty="0" err="1">
                <a:latin typeface="+mn-lt"/>
              </a:rPr>
              <a:t>dient</a:t>
            </a:r>
            <a:r>
              <a:rPr lang="en-DE" sz="2700" dirty="0">
                <a:latin typeface="+mn-lt"/>
              </a:rPr>
              <a:t> </a:t>
            </a:r>
            <a:r>
              <a:rPr lang="en-DE" sz="2700" dirty="0" err="1">
                <a:latin typeface="+mn-lt"/>
              </a:rPr>
              <a:t>als</a:t>
            </a:r>
            <a:r>
              <a:rPr lang="en-DE" sz="2700" dirty="0">
                <a:latin typeface="+mn-lt"/>
              </a:rPr>
              <a:t> Bypass; die </a:t>
            </a:r>
            <a:r>
              <a:rPr lang="en-DE" sz="2700" dirty="0" err="1">
                <a:latin typeface="+mn-lt"/>
              </a:rPr>
              <a:t>Zusammenführung</a:t>
            </a:r>
            <a:r>
              <a:rPr lang="en-DE" sz="2700" dirty="0">
                <a:latin typeface="+mn-lt"/>
              </a:rPr>
              <a:t> </a:t>
            </a:r>
            <a:r>
              <a:rPr lang="en-DE" sz="2700" dirty="0" err="1">
                <a:latin typeface="+mn-lt"/>
              </a:rPr>
              <a:t>aller</a:t>
            </a:r>
            <a:r>
              <a:rPr lang="en-DE" sz="2700" dirty="0">
                <a:latin typeface="+mn-lt"/>
              </a:rPr>
              <a:t> </a:t>
            </a:r>
            <a:r>
              <a:rPr lang="en-DE" sz="2700" dirty="0" err="1">
                <a:latin typeface="+mn-lt"/>
              </a:rPr>
              <a:t>Zwischenergebnisse</a:t>
            </a:r>
            <a:r>
              <a:rPr lang="en-DE" sz="2700" dirty="0">
                <a:latin typeface="+mn-lt"/>
              </a:rPr>
              <a:t> </a:t>
            </a:r>
            <a:r>
              <a:rPr lang="en-DE" sz="2700" dirty="0" err="1">
                <a:latin typeface="+mn-lt"/>
              </a:rPr>
              <a:t>verbessert</a:t>
            </a:r>
            <a:r>
              <a:rPr lang="en-DE" sz="2700" dirty="0">
                <a:latin typeface="+mn-lt"/>
              </a:rPr>
              <a:t> den </a:t>
            </a:r>
            <a:r>
              <a:rPr lang="en-DE" sz="2700" dirty="0" err="1">
                <a:latin typeface="+mn-lt"/>
              </a:rPr>
              <a:t>Gradientenfluss</a:t>
            </a:r>
            <a:r>
              <a:rPr lang="en-DE" sz="2700" dirty="0">
                <a:latin typeface="+mn-lt"/>
              </a:rPr>
              <a:t> </a:t>
            </a:r>
            <a:r>
              <a:rPr lang="en-DE" sz="2700" dirty="0" err="1">
                <a:latin typeface="+mn-lt"/>
              </a:rPr>
              <a:t>bei</a:t>
            </a:r>
            <a:r>
              <a:rPr lang="en-DE" sz="2700" dirty="0">
                <a:latin typeface="+mn-lt"/>
              </a:rPr>
              <a:t> </a:t>
            </a:r>
            <a:r>
              <a:rPr lang="en-DE" sz="2700" dirty="0" err="1">
                <a:latin typeface="+mn-lt"/>
              </a:rPr>
              <a:t>geringem</a:t>
            </a:r>
            <a:r>
              <a:rPr lang="en-DE" sz="2700" dirty="0">
                <a:latin typeface="+mn-lt"/>
              </a:rPr>
              <a:t> </a:t>
            </a:r>
            <a:r>
              <a:rPr lang="en-DE" sz="2700" dirty="0" err="1">
                <a:latin typeface="+mn-lt"/>
              </a:rPr>
              <a:t>Rechenaufwand</a:t>
            </a:r>
            <a:r>
              <a:rPr lang="en-DE" sz="2700" dirty="0">
                <a:latin typeface="+mn-lt"/>
              </a:rPr>
              <a:t>. Am Ende des Backbones </a:t>
            </a:r>
            <a:r>
              <a:rPr lang="en-DE" sz="2700" dirty="0" err="1">
                <a:latin typeface="+mn-lt"/>
              </a:rPr>
              <a:t>erweitert</a:t>
            </a:r>
            <a:r>
              <a:rPr lang="en-DE" sz="2700" dirty="0">
                <a:latin typeface="+mn-lt"/>
              </a:rPr>
              <a:t> SPPF den </a:t>
            </a:r>
            <a:r>
              <a:rPr lang="en-DE" sz="2700" dirty="0" err="1">
                <a:latin typeface="+mn-lt"/>
              </a:rPr>
              <a:t>Bildkontext</a:t>
            </a:r>
            <a:r>
              <a:rPr lang="en-DE" sz="2700" dirty="0">
                <a:latin typeface="+mn-lt"/>
              </a:rPr>
              <a:t> </a:t>
            </a:r>
            <a:r>
              <a:rPr lang="en-DE" sz="2700" dirty="0" err="1">
                <a:latin typeface="+mn-lt"/>
              </a:rPr>
              <a:t>über</a:t>
            </a:r>
            <a:r>
              <a:rPr lang="en-DE" sz="2700" dirty="0">
                <a:latin typeface="+mn-lt"/>
              </a:rPr>
              <a:t> </a:t>
            </a:r>
            <a:r>
              <a:rPr lang="en-DE" sz="2700" dirty="0" err="1">
                <a:latin typeface="+mn-lt"/>
              </a:rPr>
              <a:t>mehrere</a:t>
            </a:r>
            <a:r>
              <a:rPr lang="en-DE" sz="2700" dirty="0">
                <a:latin typeface="+mn-lt"/>
              </a:rPr>
              <a:t> </a:t>
            </a:r>
            <a:r>
              <a:rPr lang="en-DE" sz="2700" dirty="0" err="1">
                <a:latin typeface="+mn-lt"/>
              </a:rPr>
              <a:t>Skalen</a:t>
            </a:r>
            <a:r>
              <a:rPr lang="en-DE" sz="2700" dirty="0">
                <a:latin typeface="+mn-lt"/>
              </a:rPr>
              <a:t> (</a:t>
            </a:r>
            <a:r>
              <a:rPr lang="en-DE" sz="2700" dirty="0" err="1">
                <a:latin typeface="+mn-lt"/>
              </a:rPr>
              <a:t>dreifaches</a:t>
            </a:r>
            <a:r>
              <a:rPr lang="en-DE" sz="2700" dirty="0">
                <a:latin typeface="+mn-lt"/>
              </a:rPr>
              <a:t> 5×5-Pooling in Serie), und C2PSA </a:t>
            </a:r>
            <a:r>
              <a:rPr lang="en-DE" sz="2700" dirty="0" err="1">
                <a:latin typeface="+mn-lt"/>
              </a:rPr>
              <a:t>gewichtet</a:t>
            </a:r>
            <a:r>
              <a:rPr lang="en-DE" sz="2700" dirty="0">
                <a:latin typeface="+mn-lt"/>
              </a:rPr>
              <a:t> </a:t>
            </a:r>
            <a:r>
              <a:rPr lang="en-DE" sz="2700" dirty="0" err="1">
                <a:latin typeface="+mn-lt"/>
              </a:rPr>
              <a:t>Bildbereiche</a:t>
            </a:r>
            <a:r>
              <a:rPr lang="en-DE" sz="2700" dirty="0">
                <a:latin typeface="+mn-lt"/>
              </a:rPr>
              <a:t> </a:t>
            </a:r>
            <a:r>
              <a:rPr lang="en-DE" sz="2700" dirty="0" err="1">
                <a:latin typeface="+mn-lt"/>
              </a:rPr>
              <a:t>kontextabhängig</a:t>
            </a:r>
            <a:r>
              <a:rPr lang="en-DE" sz="2700" dirty="0">
                <a:latin typeface="+mn-lt"/>
              </a:rPr>
              <a:t> per Self-Attention. </a:t>
            </a:r>
            <a:r>
              <a:rPr lang="en-DE" sz="2700" dirty="0" err="1">
                <a:latin typeface="+mn-lt"/>
              </a:rPr>
              <a:t>Diese</a:t>
            </a:r>
            <a:r>
              <a:rPr lang="en-DE" sz="2700" dirty="0">
                <a:latin typeface="+mn-lt"/>
              </a:rPr>
              <a:t> </a:t>
            </a:r>
            <a:r>
              <a:rPr lang="en-DE" sz="2700" dirty="0" err="1">
                <a:latin typeface="+mn-lt"/>
              </a:rPr>
              <a:t>schrittweise</a:t>
            </a:r>
            <a:r>
              <a:rPr lang="en-DE" sz="2700" dirty="0">
                <a:latin typeface="+mn-lt"/>
              </a:rPr>
              <a:t> </a:t>
            </a:r>
            <a:r>
              <a:rPr lang="en-DE" sz="2700" dirty="0" err="1">
                <a:latin typeface="+mn-lt"/>
              </a:rPr>
              <a:t>Abstraktion</a:t>
            </a:r>
            <a:r>
              <a:rPr lang="en-DE" sz="2700" dirty="0">
                <a:latin typeface="+mn-lt"/>
              </a:rPr>
              <a:t> </a:t>
            </a:r>
            <a:r>
              <a:rPr lang="en-DE" sz="2700" dirty="0" err="1">
                <a:latin typeface="+mn-lt"/>
              </a:rPr>
              <a:t>zeigt</a:t>
            </a:r>
            <a:r>
              <a:rPr lang="en-DE" sz="2700" dirty="0">
                <a:latin typeface="+mn-lt"/>
              </a:rPr>
              <a:t> Abb. 2 am </a:t>
            </a:r>
            <a:r>
              <a:rPr lang="en-DE" sz="2700" dirty="0" err="1">
                <a:latin typeface="+mn-lt"/>
              </a:rPr>
              <a:t>trainierten</a:t>
            </a:r>
            <a:r>
              <a:rPr lang="en-DE" sz="2700" dirty="0">
                <a:latin typeface="+mn-lt"/>
              </a:rPr>
              <a:t> Netz: </a:t>
            </a:r>
            <a:r>
              <a:rPr lang="en-DE" sz="2700" dirty="0" err="1">
                <a:latin typeface="+mn-lt"/>
              </a:rPr>
              <a:t>Frühe</a:t>
            </a:r>
            <a:r>
              <a:rPr lang="en-DE" sz="2700" dirty="0">
                <a:latin typeface="+mn-lt"/>
              </a:rPr>
              <a:t> </a:t>
            </a:r>
            <a:r>
              <a:rPr lang="en-DE" sz="2700" dirty="0" err="1">
                <a:latin typeface="+mn-lt"/>
              </a:rPr>
              <a:t>Ebenen</a:t>
            </a:r>
            <a:r>
              <a:rPr lang="en-DE" sz="2700" dirty="0">
                <a:latin typeface="+mn-lt"/>
              </a:rPr>
              <a:t> (P1/2, 320×320×16) </a:t>
            </a:r>
            <a:r>
              <a:rPr lang="en-DE" sz="2700" dirty="0" err="1">
                <a:latin typeface="+mn-lt"/>
              </a:rPr>
              <a:t>bilden</a:t>
            </a:r>
            <a:r>
              <a:rPr lang="en-DE" sz="2700" dirty="0">
                <a:latin typeface="+mn-lt"/>
              </a:rPr>
              <a:t> </a:t>
            </a:r>
            <a:r>
              <a:rPr lang="en-DE" sz="2700" dirty="0" err="1">
                <a:latin typeface="+mn-lt"/>
              </a:rPr>
              <a:t>feine</a:t>
            </a:r>
            <a:r>
              <a:rPr lang="en-DE" sz="2700" dirty="0">
                <a:latin typeface="+mn-lt"/>
              </a:rPr>
              <a:t> </a:t>
            </a:r>
            <a:r>
              <a:rPr lang="en-DE" sz="2700" dirty="0" err="1">
                <a:latin typeface="+mn-lt"/>
              </a:rPr>
              <a:t>Konturen</a:t>
            </a:r>
            <a:r>
              <a:rPr lang="en-DE" sz="2700" dirty="0">
                <a:latin typeface="+mn-lt"/>
              </a:rPr>
              <a:t> ab, </a:t>
            </a:r>
            <a:r>
              <a:rPr lang="en-DE" sz="2700" dirty="0" err="1">
                <a:latin typeface="+mn-lt"/>
              </a:rPr>
              <a:t>tiefe</a:t>
            </a:r>
            <a:r>
              <a:rPr lang="en-DE" sz="2700" dirty="0">
                <a:latin typeface="+mn-lt"/>
              </a:rPr>
              <a:t> </a:t>
            </a:r>
            <a:r>
              <a:rPr lang="en-DE" sz="2700" dirty="0" err="1">
                <a:latin typeface="+mn-lt"/>
              </a:rPr>
              <a:t>Ebenen</a:t>
            </a:r>
            <a:r>
              <a:rPr lang="en-DE" sz="2700" dirty="0">
                <a:latin typeface="+mn-lt"/>
              </a:rPr>
              <a:t> (P5/32, 20×20×256) </a:t>
            </a:r>
            <a:r>
              <a:rPr lang="en-DE" sz="2700" dirty="0" err="1">
                <a:latin typeface="+mn-lt"/>
              </a:rPr>
              <a:t>kodieren</a:t>
            </a:r>
            <a:r>
              <a:rPr lang="en-DE" sz="2700" dirty="0">
                <a:latin typeface="+mn-lt"/>
              </a:rPr>
              <a:t> auf </a:t>
            </a:r>
            <a:r>
              <a:rPr lang="en-DE" sz="2700" dirty="0" err="1">
                <a:latin typeface="+mn-lt"/>
              </a:rPr>
              <a:t>wenigen</a:t>
            </a:r>
            <a:r>
              <a:rPr lang="en-DE" sz="2700" dirty="0">
                <a:latin typeface="+mn-lt"/>
              </a:rPr>
              <a:t> </a:t>
            </a:r>
            <a:r>
              <a:rPr lang="en-DE" sz="2700" dirty="0" err="1">
                <a:latin typeface="+mn-lt"/>
              </a:rPr>
              <a:t>Positionen</a:t>
            </a:r>
            <a:r>
              <a:rPr lang="en-DE" sz="2700" dirty="0">
                <a:latin typeface="+mn-lt"/>
              </a:rPr>
              <a:t> </a:t>
            </a:r>
            <a:r>
              <a:rPr lang="en-DE" sz="2700" dirty="0" err="1">
                <a:latin typeface="+mn-lt"/>
              </a:rPr>
              <a:t>grobe</a:t>
            </a:r>
            <a:r>
              <a:rPr lang="en-DE" sz="2700" dirty="0">
                <a:latin typeface="+mn-lt"/>
              </a:rPr>
              <a:t>, </a:t>
            </a:r>
            <a:r>
              <a:rPr lang="en-DE" sz="2700" dirty="0" err="1">
                <a:latin typeface="+mn-lt"/>
              </a:rPr>
              <a:t>semantisch</a:t>
            </a:r>
            <a:r>
              <a:rPr lang="en-DE" sz="2700" dirty="0">
                <a:latin typeface="+mn-lt"/>
              </a:rPr>
              <a:t> </a:t>
            </a:r>
            <a:r>
              <a:rPr lang="en-DE" sz="2700" dirty="0" err="1">
                <a:latin typeface="+mn-lt"/>
              </a:rPr>
              <a:t>reiche</a:t>
            </a:r>
            <a:r>
              <a:rPr lang="en-DE" sz="2700" dirty="0">
                <a:latin typeface="+mn-lt"/>
              </a:rPr>
              <a:t> </a:t>
            </a:r>
            <a:r>
              <a:rPr lang="en-DE" sz="2700" dirty="0" err="1">
                <a:latin typeface="+mn-lt"/>
              </a:rPr>
              <a:t>Strukturen</a:t>
            </a:r>
            <a:r>
              <a:rPr lang="en-DE" sz="2700" dirty="0">
                <a:latin typeface="+mn-lt"/>
              </a:rPr>
              <a:t> — die </a:t>
            </a:r>
            <a:r>
              <a:rPr lang="en-DE" sz="2700" dirty="0" err="1">
                <a:latin typeface="+mn-lt"/>
              </a:rPr>
              <a:t>räumliche</a:t>
            </a:r>
            <a:r>
              <a:rPr lang="en-DE" sz="2700" dirty="0">
                <a:latin typeface="+mn-lt"/>
              </a:rPr>
              <a:t> </a:t>
            </a:r>
            <a:r>
              <a:rPr lang="en-DE" sz="2700" dirty="0" err="1">
                <a:latin typeface="+mn-lt"/>
              </a:rPr>
              <a:t>Auflösung</a:t>
            </a:r>
            <a:r>
              <a:rPr lang="en-DE" sz="2700" dirty="0">
                <a:latin typeface="+mn-lt"/>
              </a:rPr>
              <a:t> </a:t>
            </a:r>
            <a:r>
              <a:rPr lang="en-DE" sz="2700" dirty="0" err="1">
                <a:latin typeface="+mn-lt"/>
              </a:rPr>
              <a:t>sinkt</a:t>
            </a:r>
            <a:r>
              <a:rPr lang="en-DE" sz="2700" dirty="0">
                <a:latin typeface="+mn-lt"/>
              </a:rPr>
              <a:t>, </a:t>
            </a:r>
            <a:r>
              <a:rPr lang="en-DE" sz="2700" dirty="0" err="1">
                <a:latin typeface="+mn-lt"/>
              </a:rPr>
              <a:t>während</a:t>
            </a:r>
            <a:r>
              <a:rPr lang="en-DE" sz="2700" dirty="0">
                <a:latin typeface="+mn-lt"/>
              </a:rPr>
              <a:t> die </a:t>
            </a:r>
            <a:r>
              <a:rPr lang="en-DE" sz="2700" dirty="0" err="1">
                <a:latin typeface="+mn-lt"/>
              </a:rPr>
              <a:t>Merkmalstiefe</a:t>
            </a:r>
            <a:r>
              <a:rPr lang="en-DE" sz="2700" dirty="0">
                <a:latin typeface="+mn-lt"/>
              </a:rPr>
              <a:t> </a:t>
            </a:r>
            <a:r>
              <a:rPr lang="en-DE" sz="2700" dirty="0" err="1">
                <a:latin typeface="+mn-lt"/>
              </a:rPr>
              <a:t>wächst</a:t>
            </a:r>
            <a:r>
              <a:rPr lang="en-DE" sz="2700" dirty="0">
                <a:latin typeface="+mn-lt"/>
              </a:rPr>
              <a:t>. Die </a:t>
            </a:r>
            <a:r>
              <a:rPr lang="en-DE" sz="2700" dirty="0" err="1">
                <a:latin typeface="+mn-lt"/>
              </a:rPr>
              <a:t>Zerlegung</a:t>
            </a:r>
            <a:r>
              <a:rPr lang="en-DE" sz="2700" dirty="0">
                <a:latin typeface="+mn-lt"/>
              </a:rPr>
              <a:t> der P2/4-Ebene (Abb. 2, </a:t>
            </a:r>
            <a:r>
              <a:rPr lang="en-DE" sz="2700" dirty="0" err="1">
                <a:latin typeface="+mn-lt"/>
              </a:rPr>
              <a:t>unten</a:t>
            </a:r>
            <a:r>
              <a:rPr lang="en-DE" sz="2700" dirty="0">
                <a:latin typeface="+mn-lt"/>
              </a:rPr>
              <a:t>) </a:t>
            </a:r>
            <a:r>
              <a:rPr lang="en-DE" sz="2700" dirty="0" err="1">
                <a:latin typeface="+mn-lt"/>
              </a:rPr>
              <a:t>macht</a:t>
            </a:r>
            <a:r>
              <a:rPr lang="en-DE" sz="2700" dirty="0">
                <a:latin typeface="+mn-lt"/>
              </a:rPr>
              <a:t> </a:t>
            </a:r>
            <a:r>
              <a:rPr lang="en-DE" sz="2700" dirty="0" err="1">
                <a:latin typeface="+mn-lt"/>
              </a:rPr>
              <a:t>zudem</a:t>
            </a:r>
            <a:r>
              <a:rPr lang="en-DE" sz="2700" dirty="0">
                <a:latin typeface="+mn-lt"/>
              </a:rPr>
              <a:t> </a:t>
            </a:r>
            <a:r>
              <a:rPr lang="en-DE" sz="2700" dirty="0" err="1">
                <a:latin typeface="+mn-lt"/>
              </a:rPr>
              <a:t>sichtbar</a:t>
            </a:r>
            <a:r>
              <a:rPr lang="en-DE" sz="2700" dirty="0">
                <a:latin typeface="+mn-lt"/>
              </a:rPr>
              <a:t>, </a:t>
            </a:r>
            <a:r>
              <a:rPr lang="en-DE" sz="2700" dirty="0" err="1">
                <a:latin typeface="+mn-lt"/>
              </a:rPr>
              <a:t>dass</a:t>
            </a:r>
            <a:r>
              <a:rPr lang="en-DE" sz="2700" dirty="0">
                <a:latin typeface="+mn-lt"/>
              </a:rPr>
              <a:t> </a:t>
            </a:r>
            <a:r>
              <a:rPr lang="en-DE" sz="2700" dirty="0" err="1">
                <a:latin typeface="+mn-lt"/>
              </a:rPr>
              <a:t>einzelne</a:t>
            </a:r>
            <a:r>
              <a:rPr lang="en-DE" sz="2700" dirty="0">
                <a:latin typeface="+mn-lt"/>
              </a:rPr>
              <a:t> </a:t>
            </a:r>
            <a:r>
              <a:rPr lang="en-DE" sz="2700" dirty="0" err="1">
                <a:latin typeface="+mn-lt"/>
              </a:rPr>
              <a:t>gelernte</a:t>
            </a:r>
            <a:r>
              <a:rPr lang="en-DE" sz="2700" dirty="0">
                <a:latin typeface="+mn-lt"/>
              </a:rPr>
              <a:t> Filter auf </a:t>
            </a:r>
            <a:r>
              <a:rPr lang="en-DE" sz="2700" dirty="0" err="1">
                <a:latin typeface="+mn-lt"/>
              </a:rPr>
              <a:t>unterschiedliche</a:t>
            </a:r>
            <a:r>
              <a:rPr lang="en-DE" sz="2700" dirty="0">
                <a:latin typeface="+mn-lt"/>
              </a:rPr>
              <a:t> </a:t>
            </a:r>
            <a:r>
              <a:rPr lang="en-DE" sz="2700" dirty="0" err="1">
                <a:latin typeface="+mn-lt"/>
              </a:rPr>
              <a:t>Strukturen</a:t>
            </a:r>
            <a:r>
              <a:rPr lang="en-DE" sz="2700" dirty="0">
                <a:latin typeface="+mn-lt"/>
              </a:rPr>
              <a:t> </a:t>
            </a:r>
            <a:r>
              <a:rPr lang="en-DE" sz="2700" dirty="0" err="1">
                <a:latin typeface="+mn-lt"/>
              </a:rPr>
              <a:t>wie</a:t>
            </a:r>
            <a:r>
              <a:rPr lang="en-DE" sz="2700" dirty="0">
                <a:latin typeface="+mn-lt"/>
              </a:rPr>
              <a:t> Silhouette, </a:t>
            </a:r>
            <a:r>
              <a:rPr lang="en-DE" sz="2700" dirty="0" err="1">
                <a:latin typeface="+mn-lt"/>
              </a:rPr>
              <a:t>Textur</a:t>
            </a:r>
            <a:r>
              <a:rPr lang="en-DE" sz="2700" dirty="0">
                <a:latin typeface="+mn-lt"/>
              </a:rPr>
              <a:t> </a:t>
            </a:r>
            <a:r>
              <a:rPr lang="en-DE" sz="2700" dirty="0" err="1">
                <a:latin typeface="+mn-lt"/>
              </a:rPr>
              <a:t>oder</a:t>
            </a:r>
            <a:r>
              <a:rPr lang="en-DE" sz="2700" dirty="0">
                <a:latin typeface="+mn-lt"/>
              </a:rPr>
              <a:t> </a:t>
            </a:r>
            <a:r>
              <a:rPr lang="en-DE" sz="2700" dirty="0" err="1">
                <a:latin typeface="+mn-lt"/>
              </a:rPr>
              <a:t>Hintergrund</a:t>
            </a:r>
            <a:r>
              <a:rPr lang="en-DE" sz="2700" dirty="0">
                <a:latin typeface="+mn-lt"/>
              </a:rPr>
              <a:t> </a:t>
            </a:r>
            <a:r>
              <a:rPr lang="en-DE" sz="2700" dirty="0" err="1">
                <a:latin typeface="+mn-lt"/>
              </a:rPr>
              <a:t>reagieren</a:t>
            </a:r>
            <a:r>
              <a:rPr lang="en-DE" sz="2700" dirty="0">
                <a:latin typeface="+mn-lt"/>
              </a:rPr>
              <a:t>.</a:t>
            </a:r>
          </a:p>
          <a:p>
            <a:r>
              <a:rPr lang="en-DE" sz="2700" dirty="0">
                <a:latin typeface="+mn-lt"/>
              </a:rPr>
              <a:t>Der </a:t>
            </a:r>
            <a:r>
              <a:rPr lang="en-DE" sz="2700" b="1" dirty="0">
                <a:latin typeface="+mn-lt"/>
              </a:rPr>
              <a:t>Neck</a:t>
            </a:r>
            <a:r>
              <a:rPr lang="en-DE" sz="2700" dirty="0">
                <a:latin typeface="+mn-lt"/>
              </a:rPr>
              <a:t> </a:t>
            </a:r>
            <a:r>
              <a:rPr lang="en-DE" sz="2700" dirty="0" err="1">
                <a:latin typeface="+mn-lt"/>
              </a:rPr>
              <a:t>führt</a:t>
            </a:r>
            <a:r>
              <a:rPr lang="en-DE" sz="2700" dirty="0">
                <a:latin typeface="+mn-lt"/>
              </a:rPr>
              <a:t> die </a:t>
            </a:r>
            <a:r>
              <a:rPr lang="en-DE" sz="2700" dirty="0" err="1">
                <a:latin typeface="+mn-lt"/>
              </a:rPr>
              <a:t>Ebenen</a:t>
            </a:r>
            <a:r>
              <a:rPr lang="en-DE" sz="2700" dirty="0">
                <a:latin typeface="+mn-lt"/>
              </a:rPr>
              <a:t> P3–P5 </a:t>
            </a:r>
            <a:r>
              <a:rPr lang="en-DE" sz="2700" dirty="0" err="1">
                <a:latin typeface="+mn-lt"/>
              </a:rPr>
              <a:t>zusammen</a:t>
            </a:r>
            <a:r>
              <a:rPr lang="en-DE" sz="2700" dirty="0">
                <a:latin typeface="+mn-lt"/>
              </a:rPr>
              <a:t>: </a:t>
            </a:r>
            <a:r>
              <a:rPr lang="en-DE" sz="2700" dirty="0" err="1">
                <a:latin typeface="+mn-lt"/>
              </a:rPr>
              <a:t>Tiefe</a:t>
            </a:r>
            <a:r>
              <a:rPr lang="en-DE" sz="2700" dirty="0">
                <a:latin typeface="+mn-lt"/>
              </a:rPr>
              <a:t> </a:t>
            </a:r>
            <a:r>
              <a:rPr lang="en-DE" sz="2700" dirty="0" err="1">
                <a:latin typeface="+mn-lt"/>
              </a:rPr>
              <a:t>Merkmalskarten</a:t>
            </a:r>
            <a:r>
              <a:rPr lang="en-DE" sz="2700" dirty="0">
                <a:latin typeface="+mn-lt"/>
              </a:rPr>
              <a:t> </a:t>
            </a:r>
            <a:r>
              <a:rPr lang="en-DE" sz="2700" dirty="0" err="1">
                <a:latin typeface="+mn-lt"/>
              </a:rPr>
              <a:t>werden</a:t>
            </a:r>
            <a:r>
              <a:rPr lang="en-DE" sz="2700" dirty="0">
                <a:latin typeface="+mn-lt"/>
              </a:rPr>
              <a:t> per </a:t>
            </a:r>
            <a:r>
              <a:rPr lang="en-DE" sz="2700" dirty="0" err="1">
                <a:latin typeface="+mn-lt"/>
              </a:rPr>
              <a:t>Upsampling</a:t>
            </a:r>
            <a:r>
              <a:rPr lang="en-DE" sz="2700" dirty="0">
                <a:latin typeface="+mn-lt"/>
              </a:rPr>
              <a:t> </a:t>
            </a:r>
            <a:r>
              <a:rPr lang="en-DE" sz="2700" dirty="0" err="1">
                <a:latin typeface="+mn-lt"/>
              </a:rPr>
              <a:t>hochskaliert</a:t>
            </a:r>
            <a:r>
              <a:rPr lang="en-DE" sz="2700" dirty="0">
                <a:latin typeface="+mn-lt"/>
              </a:rPr>
              <a:t>, </a:t>
            </a:r>
            <a:r>
              <a:rPr lang="en-DE" sz="2700" dirty="0" err="1">
                <a:latin typeface="+mn-lt"/>
              </a:rPr>
              <a:t>mit</a:t>
            </a:r>
            <a:r>
              <a:rPr lang="en-DE" sz="2700" dirty="0">
                <a:latin typeface="+mn-lt"/>
              </a:rPr>
              <a:t> </a:t>
            </a:r>
            <a:r>
              <a:rPr lang="en-DE" sz="2700" dirty="0" err="1">
                <a:latin typeface="+mn-lt"/>
              </a:rPr>
              <a:t>feiner</a:t>
            </a:r>
            <a:r>
              <a:rPr lang="en-DE" sz="2700" dirty="0">
                <a:latin typeface="+mn-lt"/>
              </a:rPr>
              <a:t> </a:t>
            </a:r>
            <a:r>
              <a:rPr lang="en-DE" sz="2700" dirty="0" err="1">
                <a:latin typeface="+mn-lt"/>
              </a:rPr>
              <a:t>aufgelösten</a:t>
            </a:r>
            <a:r>
              <a:rPr lang="en-DE" sz="2700" dirty="0">
                <a:latin typeface="+mn-lt"/>
              </a:rPr>
              <a:t> </a:t>
            </a:r>
            <a:r>
              <a:rPr lang="en-DE" sz="2700" dirty="0" err="1">
                <a:latin typeface="+mn-lt"/>
              </a:rPr>
              <a:t>konkateniert</a:t>
            </a:r>
            <a:r>
              <a:rPr lang="en-DE" sz="2700" dirty="0">
                <a:latin typeface="+mn-lt"/>
              </a:rPr>
              <a:t> und von C3k2-Blöcken </a:t>
            </a:r>
            <a:r>
              <a:rPr lang="en-DE" sz="2700" dirty="0" err="1">
                <a:latin typeface="+mn-lt"/>
              </a:rPr>
              <a:t>fusioniert</a:t>
            </a:r>
            <a:r>
              <a:rPr lang="en-DE" sz="2700" dirty="0">
                <a:latin typeface="+mn-lt"/>
              </a:rPr>
              <a:t>. So </a:t>
            </a:r>
            <a:r>
              <a:rPr lang="en-DE" sz="2700" dirty="0" err="1">
                <a:latin typeface="+mn-lt"/>
              </a:rPr>
              <a:t>entstehen</a:t>
            </a:r>
            <a:r>
              <a:rPr lang="en-DE" sz="2700" dirty="0">
                <a:latin typeface="+mn-lt"/>
              </a:rPr>
              <a:t> </a:t>
            </a:r>
            <a:r>
              <a:rPr lang="en-DE" sz="2700" dirty="0" err="1">
                <a:latin typeface="+mn-lt"/>
              </a:rPr>
              <a:t>drei</a:t>
            </a:r>
            <a:r>
              <a:rPr lang="en-DE" sz="2700" dirty="0">
                <a:latin typeface="+mn-lt"/>
              </a:rPr>
              <a:t> </a:t>
            </a:r>
            <a:r>
              <a:rPr lang="en-DE" sz="2700" dirty="0" err="1">
                <a:latin typeface="+mn-lt"/>
              </a:rPr>
              <a:t>Ausgabepfade</a:t>
            </a:r>
            <a:r>
              <a:rPr lang="en-DE" sz="2700" dirty="0">
                <a:latin typeface="+mn-lt"/>
              </a:rPr>
              <a:t>, die </a:t>
            </a:r>
            <a:r>
              <a:rPr lang="en-DE" sz="2700" dirty="0" err="1">
                <a:latin typeface="+mn-lt"/>
              </a:rPr>
              <a:t>feine</a:t>
            </a:r>
            <a:r>
              <a:rPr lang="en-DE" sz="2700" dirty="0">
                <a:latin typeface="+mn-lt"/>
              </a:rPr>
              <a:t> </a:t>
            </a:r>
            <a:r>
              <a:rPr lang="en-DE" sz="2700" dirty="0" err="1">
                <a:latin typeface="+mn-lt"/>
              </a:rPr>
              <a:t>räumliche</a:t>
            </a:r>
            <a:r>
              <a:rPr lang="en-DE" sz="2700" dirty="0">
                <a:latin typeface="+mn-lt"/>
              </a:rPr>
              <a:t> Details </a:t>
            </a:r>
            <a:r>
              <a:rPr lang="en-DE" sz="2700" dirty="0" err="1">
                <a:latin typeface="+mn-lt"/>
              </a:rPr>
              <a:t>mit</a:t>
            </a:r>
            <a:r>
              <a:rPr lang="en-DE" sz="2700" dirty="0">
                <a:latin typeface="+mn-lt"/>
              </a:rPr>
              <a:t> </a:t>
            </a:r>
            <a:r>
              <a:rPr lang="en-DE" sz="2700" dirty="0" err="1">
                <a:latin typeface="+mn-lt"/>
              </a:rPr>
              <a:t>semantisch</a:t>
            </a:r>
            <a:r>
              <a:rPr lang="en-DE" sz="2700" dirty="0">
                <a:latin typeface="+mn-lt"/>
              </a:rPr>
              <a:t> starken </a:t>
            </a:r>
            <a:r>
              <a:rPr lang="en-DE" sz="2700" dirty="0" err="1">
                <a:latin typeface="+mn-lt"/>
              </a:rPr>
              <a:t>Merkmalen</a:t>
            </a:r>
            <a:r>
              <a:rPr lang="en-DE" sz="2700" dirty="0">
                <a:latin typeface="+mn-lt"/>
              </a:rPr>
              <a:t> </a:t>
            </a:r>
            <a:r>
              <a:rPr lang="en-DE" sz="2700" dirty="0" err="1">
                <a:latin typeface="+mn-lt"/>
              </a:rPr>
              <a:t>kombinieren</a:t>
            </a:r>
            <a:r>
              <a:rPr lang="en-DE" sz="2700" dirty="0">
                <a:latin typeface="+mn-lt"/>
              </a:rPr>
              <a:t> — P3 für </a:t>
            </a:r>
            <a:r>
              <a:rPr lang="en-DE" sz="2700" dirty="0" err="1">
                <a:latin typeface="+mn-lt"/>
              </a:rPr>
              <a:t>kleine</a:t>
            </a:r>
            <a:r>
              <a:rPr lang="en-DE" sz="2700" dirty="0">
                <a:latin typeface="+mn-lt"/>
              </a:rPr>
              <a:t> </a:t>
            </a:r>
            <a:r>
              <a:rPr lang="en-DE" sz="2700" dirty="0" err="1">
                <a:latin typeface="+mn-lt"/>
              </a:rPr>
              <a:t>bzw</a:t>
            </a:r>
            <a:r>
              <a:rPr lang="en-DE" sz="2700" dirty="0">
                <a:latin typeface="+mn-lt"/>
              </a:rPr>
              <a:t>. </a:t>
            </a:r>
            <a:r>
              <a:rPr lang="en-DE" sz="2700" dirty="0" err="1">
                <a:latin typeface="+mn-lt"/>
              </a:rPr>
              <a:t>entfernte</a:t>
            </a:r>
            <a:r>
              <a:rPr lang="en-DE" sz="2700" dirty="0">
                <a:latin typeface="+mn-lt"/>
              </a:rPr>
              <a:t>, P4 für </a:t>
            </a:r>
            <a:r>
              <a:rPr lang="en-DE" sz="2700" dirty="0" err="1">
                <a:latin typeface="+mn-lt"/>
              </a:rPr>
              <a:t>mittlere</a:t>
            </a:r>
            <a:r>
              <a:rPr lang="en-DE" sz="2700" dirty="0">
                <a:latin typeface="+mn-lt"/>
              </a:rPr>
              <a:t> und P5 für </a:t>
            </a:r>
            <a:r>
              <a:rPr lang="en-DE" sz="2700" dirty="0" err="1">
                <a:latin typeface="+mn-lt"/>
              </a:rPr>
              <a:t>große</a:t>
            </a:r>
            <a:r>
              <a:rPr lang="en-DE" sz="2700" dirty="0">
                <a:latin typeface="+mn-lt"/>
              </a:rPr>
              <a:t> </a:t>
            </a:r>
            <a:r>
              <a:rPr lang="en-DE" sz="2700" dirty="0" err="1">
                <a:latin typeface="+mn-lt"/>
              </a:rPr>
              <a:t>Personen</a:t>
            </a:r>
            <a:r>
              <a:rPr lang="en-DE" sz="2700" dirty="0">
                <a:latin typeface="+mn-lt"/>
              </a:rPr>
              <a:t>. Neu in YOLO26 </a:t>
            </a:r>
            <a:r>
              <a:rPr lang="en-DE" sz="2700" dirty="0" err="1">
                <a:latin typeface="+mn-lt"/>
              </a:rPr>
              <a:t>ist</a:t>
            </a:r>
            <a:r>
              <a:rPr lang="en-DE" sz="2700" dirty="0">
                <a:latin typeface="+mn-lt"/>
              </a:rPr>
              <a:t> </a:t>
            </a:r>
            <a:r>
              <a:rPr lang="en-DE" sz="2700" dirty="0" err="1">
                <a:latin typeface="+mn-lt"/>
              </a:rPr>
              <a:t>ein</a:t>
            </a:r>
            <a:r>
              <a:rPr lang="en-DE" sz="2700" dirty="0">
                <a:latin typeface="+mn-lt"/>
              </a:rPr>
              <a:t> </a:t>
            </a:r>
            <a:r>
              <a:rPr lang="en-DE" sz="2700" dirty="0" err="1">
                <a:latin typeface="+mn-lt"/>
              </a:rPr>
              <a:t>zusätzlicher</a:t>
            </a:r>
            <a:r>
              <a:rPr lang="en-DE" sz="2700" dirty="0">
                <a:latin typeface="+mn-lt"/>
              </a:rPr>
              <a:t> Attention-Block </a:t>
            </a:r>
            <a:r>
              <a:rPr lang="en-DE" sz="2700" dirty="0" err="1">
                <a:latin typeface="+mn-lt"/>
              </a:rPr>
              <a:t>im</a:t>
            </a:r>
            <a:r>
              <a:rPr lang="en-DE" sz="2700" dirty="0">
                <a:latin typeface="+mn-lt"/>
              </a:rPr>
              <a:t> </a:t>
            </a:r>
            <a:r>
              <a:rPr lang="en-DE" sz="2700" dirty="0" err="1">
                <a:latin typeface="+mn-lt"/>
              </a:rPr>
              <a:t>letzten</a:t>
            </a:r>
            <a:r>
              <a:rPr lang="en-DE" sz="2700" dirty="0">
                <a:latin typeface="+mn-lt"/>
              </a:rPr>
              <a:t> Neck-Segment (C3k2 </a:t>
            </a:r>
            <a:r>
              <a:rPr lang="en-DE" sz="2700" dirty="0" err="1">
                <a:latin typeface="+mn-lt"/>
              </a:rPr>
              <a:t>mit</a:t>
            </a:r>
            <a:r>
              <a:rPr lang="en-DE" sz="2700" dirty="0">
                <a:latin typeface="+mn-lt"/>
              </a:rPr>
              <a:t> attn=True), der die </a:t>
            </a:r>
            <a:r>
              <a:rPr lang="en-DE" sz="2700" dirty="0" err="1">
                <a:latin typeface="+mn-lt"/>
              </a:rPr>
              <a:t>Genauigkeit</a:t>
            </a:r>
            <a:r>
              <a:rPr lang="en-DE" sz="2700" dirty="0">
                <a:latin typeface="+mn-lt"/>
              </a:rPr>
              <a:t> </a:t>
            </a:r>
            <a:r>
              <a:rPr lang="en-DE" sz="2700" dirty="0" err="1">
                <a:latin typeface="+mn-lt"/>
              </a:rPr>
              <a:t>bei</a:t>
            </a:r>
            <a:r>
              <a:rPr lang="en-DE" sz="2700" dirty="0">
                <a:latin typeface="+mn-lt"/>
              </a:rPr>
              <a:t> </a:t>
            </a:r>
            <a:r>
              <a:rPr lang="en-DE" sz="2700" dirty="0" err="1">
                <a:latin typeface="+mn-lt"/>
              </a:rPr>
              <a:t>nahezu</a:t>
            </a:r>
            <a:r>
              <a:rPr lang="en-DE" sz="2700" dirty="0">
                <a:latin typeface="+mn-lt"/>
              </a:rPr>
              <a:t> </a:t>
            </a:r>
            <a:r>
              <a:rPr lang="en-DE" sz="2700" dirty="0" err="1">
                <a:latin typeface="+mn-lt"/>
              </a:rPr>
              <a:t>gleicher</a:t>
            </a:r>
            <a:r>
              <a:rPr lang="en-DE" sz="2700" dirty="0">
                <a:latin typeface="+mn-lt"/>
              </a:rPr>
              <a:t> </a:t>
            </a:r>
            <a:r>
              <a:rPr lang="en-DE" sz="2700" dirty="0" err="1">
                <a:latin typeface="+mn-lt"/>
              </a:rPr>
              <a:t>Latenz</a:t>
            </a:r>
            <a:r>
              <a:rPr lang="en-DE" sz="2700" dirty="0">
                <a:latin typeface="+mn-lt"/>
              </a:rPr>
              <a:t> </a:t>
            </a:r>
            <a:r>
              <a:rPr lang="en-DE" sz="2700" dirty="0" err="1">
                <a:latin typeface="+mn-lt"/>
              </a:rPr>
              <a:t>erhöht</a:t>
            </a:r>
            <a:r>
              <a:rPr lang="en-DE" sz="2700" dirty="0">
                <a:latin typeface="+mn-lt"/>
              </a:rPr>
              <a:t>.</a:t>
            </a:r>
          </a:p>
          <a:p>
            <a:r>
              <a:rPr lang="en-DE" sz="2700" dirty="0">
                <a:latin typeface="+mn-lt"/>
              </a:rPr>
              <a:t>Der </a:t>
            </a:r>
            <a:r>
              <a:rPr lang="en-DE" sz="2700" b="1" dirty="0">
                <a:latin typeface="+mn-lt"/>
              </a:rPr>
              <a:t>Pose-Head</a:t>
            </a:r>
            <a:r>
              <a:rPr lang="en-DE" sz="2700" dirty="0">
                <a:latin typeface="+mn-lt"/>
              </a:rPr>
              <a:t> </a:t>
            </a:r>
            <a:r>
              <a:rPr lang="en-DE" sz="2700" dirty="0" err="1">
                <a:latin typeface="+mn-lt"/>
              </a:rPr>
              <a:t>sagt</a:t>
            </a:r>
            <a:r>
              <a:rPr lang="en-DE" sz="2700" dirty="0">
                <a:latin typeface="+mn-lt"/>
              </a:rPr>
              <a:t> auf </a:t>
            </a:r>
            <a:r>
              <a:rPr lang="en-DE" sz="2700" dirty="0" err="1">
                <a:latin typeface="+mn-lt"/>
              </a:rPr>
              <a:t>jeder</a:t>
            </a:r>
            <a:r>
              <a:rPr lang="en-DE" sz="2700" dirty="0">
                <a:latin typeface="+mn-lt"/>
              </a:rPr>
              <a:t> der </a:t>
            </a:r>
            <a:r>
              <a:rPr lang="en-DE" sz="2700" dirty="0" err="1">
                <a:latin typeface="+mn-lt"/>
              </a:rPr>
              <a:t>drei</a:t>
            </a:r>
            <a:r>
              <a:rPr lang="en-DE" sz="2700" dirty="0">
                <a:latin typeface="+mn-lt"/>
              </a:rPr>
              <a:t> </a:t>
            </a:r>
            <a:r>
              <a:rPr lang="en-DE" sz="2700" dirty="0" err="1">
                <a:latin typeface="+mn-lt"/>
              </a:rPr>
              <a:t>Skalen</a:t>
            </a:r>
            <a:r>
              <a:rPr lang="en-DE" sz="2700" dirty="0">
                <a:latin typeface="+mn-lt"/>
              </a:rPr>
              <a:t> pro </a:t>
            </a:r>
            <a:r>
              <a:rPr lang="en-DE" sz="2700" dirty="0" err="1">
                <a:latin typeface="+mn-lt"/>
              </a:rPr>
              <a:t>Kandidat</a:t>
            </a:r>
            <a:r>
              <a:rPr lang="en-DE" sz="2700" dirty="0">
                <a:latin typeface="+mn-lt"/>
              </a:rPr>
              <a:t> Bounding Box, </a:t>
            </a:r>
            <a:r>
              <a:rPr lang="en-DE" sz="2700" dirty="0" err="1">
                <a:latin typeface="+mn-lt"/>
              </a:rPr>
              <a:t>Konfidenz</a:t>
            </a:r>
            <a:r>
              <a:rPr lang="en-DE" sz="2700" dirty="0">
                <a:latin typeface="+mn-lt"/>
              </a:rPr>
              <a:t> und die 17 </a:t>
            </a:r>
            <a:r>
              <a:rPr lang="en-DE" sz="2700" dirty="0" err="1">
                <a:latin typeface="+mn-lt"/>
              </a:rPr>
              <a:t>Keypoints</a:t>
            </a:r>
            <a:r>
              <a:rPr lang="en-DE" sz="2700" dirty="0">
                <a:latin typeface="+mn-lt"/>
              </a:rPr>
              <a:t> </a:t>
            </a:r>
            <a:r>
              <a:rPr lang="en-DE" sz="2700" dirty="0" err="1">
                <a:latin typeface="+mn-lt"/>
              </a:rPr>
              <a:t>direkt</a:t>
            </a:r>
            <a:r>
              <a:rPr lang="en-DE" sz="2700" dirty="0">
                <a:latin typeface="+mn-lt"/>
              </a:rPr>
              <a:t> </a:t>
            </a:r>
            <a:r>
              <a:rPr lang="en-DE" sz="2700" dirty="0" err="1">
                <a:latin typeface="+mn-lt"/>
              </a:rPr>
              <a:t>voraus</a:t>
            </a:r>
            <a:r>
              <a:rPr lang="en-DE" sz="2700" dirty="0">
                <a:latin typeface="+mn-lt"/>
              </a:rPr>
              <a:t> — </a:t>
            </a:r>
            <a:r>
              <a:rPr lang="en-DE" sz="2700" dirty="0" err="1">
                <a:latin typeface="+mn-lt"/>
              </a:rPr>
              <a:t>ohne</a:t>
            </a:r>
            <a:r>
              <a:rPr lang="en-DE" sz="2700" dirty="0">
                <a:latin typeface="+mn-lt"/>
              </a:rPr>
              <a:t> Anker und </a:t>
            </a:r>
            <a:r>
              <a:rPr lang="en-DE" sz="2700" dirty="0" err="1">
                <a:latin typeface="+mn-lt"/>
              </a:rPr>
              <a:t>ohne</a:t>
            </a:r>
            <a:r>
              <a:rPr lang="en-DE" sz="2700" dirty="0">
                <a:latin typeface="+mn-lt"/>
              </a:rPr>
              <a:t> </a:t>
            </a:r>
            <a:r>
              <a:rPr lang="en-DE" sz="2700" dirty="0" err="1">
                <a:latin typeface="+mn-lt"/>
              </a:rPr>
              <a:t>Verteilungsregression</a:t>
            </a:r>
            <a:r>
              <a:rPr lang="en-DE" sz="2700" dirty="0">
                <a:latin typeface="+mn-lt"/>
              </a:rPr>
              <a:t> (</a:t>
            </a:r>
            <a:r>
              <a:rPr lang="en-DE" sz="2700" dirty="0" err="1">
                <a:latin typeface="+mn-lt"/>
              </a:rPr>
              <a:t>kein</a:t>
            </a:r>
            <a:r>
              <a:rPr lang="en-DE" sz="2700" dirty="0">
                <a:latin typeface="+mn-lt"/>
              </a:rPr>
              <a:t> DFL). Da die </a:t>
            </a:r>
            <a:r>
              <a:rPr lang="en-DE" sz="2700" dirty="0" err="1">
                <a:latin typeface="+mn-lt"/>
              </a:rPr>
              <a:t>Duplikatunterdrückung</a:t>
            </a:r>
            <a:r>
              <a:rPr lang="en-DE" sz="2700" dirty="0">
                <a:latin typeface="+mn-lt"/>
              </a:rPr>
              <a:t> </a:t>
            </a:r>
            <a:r>
              <a:rPr lang="en-DE" sz="2700" dirty="0" err="1">
                <a:latin typeface="+mn-lt"/>
              </a:rPr>
              <a:t>bereits</a:t>
            </a:r>
            <a:r>
              <a:rPr lang="en-DE" sz="2700" dirty="0">
                <a:latin typeface="+mn-lt"/>
              </a:rPr>
              <a:t> </a:t>
            </a:r>
            <a:r>
              <a:rPr lang="en-DE" sz="2700" dirty="0" err="1">
                <a:latin typeface="+mn-lt"/>
              </a:rPr>
              <a:t>im</a:t>
            </a:r>
            <a:r>
              <a:rPr lang="en-DE" sz="2700" dirty="0">
                <a:latin typeface="+mn-lt"/>
              </a:rPr>
              <a:t> Training </a:t>
            </a:r>
            <a:r>
              <a:rPr lang="en-DE" sz="2700" dirty="0" err="1">
                <a:latin typeface="+mn-lt"/>
              </a:rPr>
              <a:t>gelernt</a:t>
            </a:r>
            <a:r>
              <a:rPr lang="en-DE" sz="2700" dirty="0">
                <a:latin typeface="+mn-lt"/>
              </a:rPr>
              <a:t> </a:t>
            </a:r>
            <a:r>
              <a:rPr lang="en-DE" sz="2700" dirty="0" err="1">
                <a:latin typeface="+mn-lt"/>
              </a:rPr>
              <a:t>wird</a:t>
            </a:r>
            <a:r>
              <a:rPr lang="en-DE" sz="2700" dirty="0">
                <a:latin typeface="+mn-lt"/>
              </a:rPr>
              <a:t> (→ Training), </a:t>
            </a:r>
            <a:r>
              <a:rPr lang="en-DE" sz="2700" dirty="0" err="1">
                <a:latin typeface="+mn-lt"/>
              </a:rPr>
              <a:t>liefert</a:t>
            </a:r>
            <a:r>
              <a:rPr lang="en-DE" sz="2700" dirty="0">
                <a:latin typeface="+mn-lt"/>
              </a:rPr>
              <a:t> der Head seine </a:t>
            </a:r>
            <a:r>
              <a:rPr lang="en-DE" sz="2700" dirty="0" err="1">
                <a:latin typeface="+mn-lt"/>
              </a:rPr>
              <a:t>Ausgabe</a:t>
            </a:r>
            <a:r>
              <a:rPr lang="en-DE" sz="2700" dirty="0">
                <a:latin typeface="+mn-lt"/>
              </a:rPr>
              <a:t> der </a:t>
            </a:r>
            <a:r>
              <a:rPr lang="en-DE" sz="2700" dirty="0" err="1">
                <a:latin typeface="+mn-lt"/>
              </a:rPr>
              <a:t>festen</a:t>
            </a:r>
            <a:r>
              <a:rPr lang="en-DE" sz="2700" dirty="0">
                <a:latin typeface="+mn-lt"/>
              </a:rPr>
              <a:t> </a:t>
            </a:r>
            <a:r>
              <a:rPr lang="en-DE" sz="2700" dirty="0" err="1">
                <a:latin typeface="+mn-lt"/>
              </a:rPr>
              <a:t>Größe</a:t>
            </a:r>
            <a:r>
              <a:rPr lang="en-DE" sz="2700" dirty="0">
                <a:latin typeface="+mn-lt"/>
              </a:rPr>
              <a:t> 300×57 </a:t>
            </a:r>
            <a:r>
              <a:rPr lang="en-DE" sz="2700" dirty="0" err="1">
                <a:latin typeface="+mn-lt"/>
              </a:rPr>
              <a:t>ohne</a:t>
            </a:r>
            <a:r>
              <a:rPr lang="en-DE" sz="2700" dirty="0">
                <a:latin typeface="+mn-lt"/>
              </a:rPr>
              <a:t> </a:t>
            </a:r>
            <a:r>
              <a:rPr lang="en-DE" sz="2700" dirty="0" err="1">
                <a:latin typeface="+mn-lt"/>
              </a:rPr>
              <a:t>nachgelagerte</a:t>
            </a:r>
            <a:r>
              <a:rPr lang="en-DE" sz="2700" dirty="0">
                <a:latin typeface="+mn-lt"/>
              </a:rPr>
              <a:t> NMS.</a:t>
            </a:r>
          </a:p>
          <a:p>
            <a:pPr algn="just"/>
            <a:endParaRPr lang="de-DE" sz="2700" b="1" dirty="0">
              <a:latin typeface="+mn-lt"/>
            </a:endParaRPr>
          </a:p>
        </p:txBody>
      </p:sp>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7F2A7258-AB1B-ED99-0FF7-78D745E4404B}"/>
                  </a:ext>
                </a:extLst>
              </p:cNvPr>
              <p:cNvSpPr txBox="1"/>
              <p:nvPr/>
            </p:nvSpPr>
            <p:spPr>
              <a:xfrm>
                <a:off x="20050327" y="14585263"/>
                <a:ext cx="10155602" cy="5463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DE" sz="2700" i="1" smtClean="0">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total</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box</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box</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cls</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cls</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pose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pose</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kobj</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kobj</m:t>
                          </m:r>
                        </m:sub>
                      </m:sSub>
                      <m:r>
                        <a:rPr lang="en-DE" sz="2700" i="1">
                          <a:latin typeface="Cambria Math" panose="02040503050406030204" pitchFamily="18" charset="0"/>
                        </a:rPr>
                        <m:t>+</m:t>
                      </m:r>
                      <m:sSub>
                        <m:sSubPr>
                          <m:ctrlPr>
                            <a:rPr lang="en-DE" sz="2700" i="1">
                              <a:latin typeface="Cambria Math" panose="02040503050406030204" pitchFamily="18" charset="0"/>
                            </a:rPr>
                          </m:ctrlPr>
                        </m:sSubPr>
                        <m:e>
                          <m:r>
                            <a:rPr lang="en-DE" sz="2700" i="1">
                              <a:latin typeface="Cambria Math" panose="02040503050406030204" pitchFamily="18" charset="0"/>
                            </a:rPr>
                            <m:t>𝜆</m:t>
                          </m:r>
                        </m:e>
                        <m:sub>
                          <m:r>
                            <m:rPr>
                              <m:sty m:val="p"/>
                            </m:rPr>
                            <a:rPr lang="en-DE" sz="2700">
                              <a:latin typeface="Cambria Math" panose="02040503050406030204" pitchFamily="18" charset="0"/>
                            </a:rPr>
                            <m:t>RLE</m:t>
                          </m:r>
                        </m:sub>
                      </m:sSub>
                      <m:sSub>
                        <m:sSubPr>
                          <m:ctrlPr>
                            <a:rPr lang="en-DE" sz="2700" i="1">
                              <a:latin typeface="Cambria Math" panose="02040503050406030204" pitchFamily="18" charset="0"/>
                            </a:rPr>
                          </m:ctrlPr>
                        </m:sSubPr>
                        <m:e>
                          <m:r>
                            <a:rPr lang="en-DE" sz="2700">
                              <a:latin typeface="Cambria Math" panose="02040503050406030204" pitchFamily="18" charset="0"/>
                            </a:rPr>
                            <m:t>ℒ</m:t>
                          </m:r>
                        </m:e>
                        <m:sub>
                          <m:r>
                            <m:rPr>
                              <m:sty m:val="p"/>
                            </m:rPr>
                            <a:rPr lang="en-DE" sz="2700">
                              <a:latin typeface="Cambria Math" panose="02040503050406030204" pitchFamily="18" charset="0"/>
                            </a:rPr>
                            <m:t>RLE</m:t>
                          </m:r>
                        </m:sub>
                      </m:sSub>
                    </m:oMath>
                  </m:oMathPara>
                </a14:m>
                <a:endParaRPr lang="en-DE" dirty="0"/>
              </a:p>
            </p:txBody>
          </p:sp>
        </mc:Choice>
        <mc:Fallback xmlns="">
          <p:sp>
            <p:nvSpPr>
              <p:cNvPr id="131" name="TextBox 130">
                <a:extLst>
                  <a:ext uri="{FF2B5EF4-FFF2-40B4-BE49-F238E27FC236}">
                    <a16:creationId xmlns:a16="http://schemas.microsoft.com/office/drawing/2014/main" id="{7F2A7258-AB1B-ED99-0FF7-78D745E4404B}"/>
                  </a:ext>
                </a:extLst>
              </p:cNvPr>
              <p:cNvSpPr txBox="1">
                <a:spLocks noRot="1" noChangeAspect="1" noMove="1" noResize="1" noEditPoints="1" noAdjustHandles="1" noChangeArrowheads="1" noChangeShapeType="1" noTextEdit="1"/>
              </p:cNvSpPr>
              <p:nvPr/>
            </p:nvSpPr>
            <p:spPr>
              <a:xfrm>
                <a:off x="20050327" y="14585263"/>
                <a:ext cx="10155602" cy="546303"/>
              </a:xfrm>
              <a:prstGeom prst="rect">
                <a:avLst/>
              </a:prstGeom>
              <a:blipFill>
                <a:blip r:embed="rId4"/>
                <a:stretch>
                  <a:fillRect/>
                </a:stretch>
              </a:blipFill>
            </p:spPr>
            <p:txBody>
              <a:bodyPr/>
              <a:lstStyle/>
              <a:p>
                <a:r>
                  <a:rPr lang="en-DE">
                    <a:noFill/>
                  </a:rPr>
                  <a:t> </a:t>
                </a:r>
              </a:p>
            </p:txBody>
          </p:sp>
        </mc:Fallback>
      </mc:AlternateContent>
      <p:sp>
        <p:nvSpPr>
          <p:cNvPr id="17" name="Textplatzhalter 42">
            <a:extLst>
              <a:ext uri="{FF2B5EF4-FFF2-40B4-BE49-F238E27FC236}">
                <a16:creationId xmlns:a16="http://schemas.microsoft.com/office/drawing/2014/main" id="{F5F33986-5083-7D8D-470F-6FEC83CBD1C7}"/>
              </a:ext>
            </a:extLst>
          </p:cNvPr>
          <p:cNvSpPr txBox="1">
            <a:spLocks/>
          </p:cNvSpPr>
          <p:nvPr/>
        </p:nvSpPr>
        <p:spPr>
          <a:xfrm>
            <a:off x="20213637" y="22415191"/>
            <a:ext cx="8472488" cy="1070435"/>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3500" kern="1200">
                <a:solidFill>
                  <a:schemeClr val="tx1"/>
                </a:solidFill>
                <a:latin typeface="+mj-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endParaRPr lang="de-DE" sz="2700" b="1" dirty="0">
              <a:latin typeface="+mn-lt"/>
            </a:endParaRPr>
          </a:p>
        </p:txBody>
      </p:sp>
      <p:grpSp>
        <p:nvGrpSpPr>
          <p:cNvPr id="58" name="Group 57">
            <a:extLst>
              <a:ext uri="{FF2B5EF4-FFF2-40B4-BE49-F238E27FC236}">
                <a16:creationId xmlns:a16="http://schemas.microsoft.com/office/drawing/2014/main" id="{FD323FC3-E9D3-1994-4359-AA9873DF9E02}"/>
              </a:ext>
            </a:extLst>
          </p:cNvPr>
          <p:cNvGrpSpPr/>
          <p:nvPr/>
        </p:nvGrpSpPr>
        <p:grpSpPr>
          <a:xfrm>
            <a:off x="20241488" y="31644955"/>
            <a:ext cx="8531228" cy="8328863"/>
            <a:chOff x="20241488" y="28818410"/>
            <a:chExt cx="8531228" cy="8328863"/>
          </a:xfrm>
        </p:grpSpPr>
        <p:pic>
          <p:nvPicPr>
            <p:cNvPr id="132" name="Picture 131">
              <a:extLst>
                <a:ext uri="{FF2B5EF4-FFF2-40B4-BE49-F238E27FC236}">
                  <a16:creationId xmlns:a16="http://schemas.microsoft.com/office/drawing/2014/main" id="{640EC140-2DE0-9DED-BBF3-CF68EB86FFA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17009"/>
            <a:stretch>
              <a:fillRect/>
            </a:stretch>
          </p:blipFill>
          <p:spPr bwMode="auto">
            <a:xfrm>
              <a:off x="20241488" y="28818410"/>
              <a:ext cx="8531228" cy="3083472"/>
            </a:xfrm>
            <a:prstGeom prst="rect">
              <a:avLst/>
            </a:prstGeom>
            <a:noFill/>
            <a:ln>
              <a:noFill/>
            </a:ln>
            <a:extLst>
              <a:ext uri="{53640926-AAD7-44D8-BBD7-CCE9431645EC}">
                <a14:shadowObscured xmlns:a14="http://schemas.microsoft.com/office/drawing/2010/main"/>
              </a:ext>
            </a:extLst>
          </p:spPr>
        </p:pic>
        <p:sp>
          <p:nvSpPr>
            <p:cNvPr id="22" name="Textplatzhalter 36">
              <a:extLst>
                <a:ext uri="{FF2B5EF4-FFF2-40B4-BE49-F238E27FC236}">
                  <a16:creationId xmlns:a16="http://schemas.microsoft.com/office/drawing/2014/main" id="{5D669BDD-303B-C9EE-6BEA-3BED15DF6B47}"/>
                </a:ext>
              </a:extLst>
            </p:cNvPr>
            <p:cNvSpPr txBox="1">
              <a:spLocks/>
            </p:cNvSpPr>
            <p:nvPr/>
          </p:nvSpPr>
          <p:spPr>
            <a:xfrm>
              <a:off x="20296588" y="36785760"/>
              <a:ext cx="8418906" cy="361513"/>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1600" kern="120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pPr algn="just">
                <a:lnSpc>
                  <a:spcPct val="100000"/>
                </a:lnSpc>
              </a:pPr>
              <a:r>
                <a:rPr lang="de-DE" dirty="0"/>
                <a:t>Abbildung 3: YOLO11n- vs. YOLO26n-Pose. Oben: Qualitativer Vergleich: Boxen, Konfidenzen und 17-Keypoint-Skelette — YOLO26 erkennt zusätzlich entfernte Personen. Unten: Laufzeitkomponenten pro Bild (n = 40) auf zwei CPUs und einer GPU; Fehlerbalken: ±1 Standardabweichung.</a:t>
              </a:r>
            </a:p>
          </p:txBody>
        </p:sp>
        <p:pic>
          <p:nvPicPr>
            <p:cNvPr id="26" name="Graphic 25">
              <a:extLst>
                <a:ext uri="{FF2B5EF4-FFF2-40B4-BE49-F238E27FC236}">
                  <a16:creationId xmlns:a16="http://schemas.microsoft.com/office/drawing/2014/main" id="{753AA8B6-416F-2CD0-32EC-21F2920185F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0241488" y="31901882"/>
              <a:ext cx="8531228" cy="4711474"/>
            </a:xfrm>
            <a:prstGeom prst="rect">
              <a:avLst/>
            </a:prstGeom>
          </p:spPr>
        </p:pic>
      </p:grpSp>
      <p:pic>
        <p:nvPicPr>
          <p:cNvPr id="34" name="Picture 33">
            <a:extLst>
              <a:ext uri="{FF2B5EF4-FFF2-40B4-BE49-F238E27FC236}">
                <a16:creationId xmlns:a16="http://schemas.microsoft.com/office/drawing/2014/main" id="{961712F0-A07E-8107-FF28-A960A12C8389}"/>
              </a:ext>
            </a:extLst>
          </p:cNvPr>
          <p:cNvPicPr>
            <a:picLocks noChangeAspect="1"/>
          </p:cNvPicPr>
          <p:nvPr/>
        </p:nvPicPr>
        <p:blipFill>
          <a:blip r:embed="rId7"/>
          <a:stretch>
            <a:fillRect/>
          </a:stretch>
        </p:blipFill>
        <p:spPr>
          <a:xfrm>
            <a:off x="10918800" y="12898339"/>
            <a:ext cx="8472488" cy="6279783"/>
          </a:xfrm>
          <a:prstGeom prst="rect">
            <a:avLst/>
          </a:prstGeom>
        </p:spPr>
      </p:pic>
      <p:grpSp>
        <p:nvGrpSpPr>
          <p:cNvPr id="4" name="Group 3">
            <a:extLst>
              <a:ext uri="{FF2B5EF4-FFF2-40B4-BE49-F238E27FC236}">
                <a16:creationId xmlns:a16="http://schemas.microsoft.com/office/drawing/2014/main" id="{86626E30-5684-E3C4-C10A-F7411939B114}"/>
              </a:ext>
            </a:extLst>
          </p:cNvPr>
          <p:cNvGrpSpPr/>
          <p:nvPr/>
        </p:nvGrpSpPr>
        <p:grpSpPr>
          <a:xfrm>
            <a:off x="1431852" y="30163568"/>
            <a:ext cx="8951835" cy="6466648"/>
            <a:chOff x="10442326" y="30796179"/>
            <a:chExt cx="9377860" cy="6532770"/>
          </a:xfrm>
        </p:grpSpPr>
        <p:grpSp>
          <p:nvGrpSpPr>
            <p:cNvPr id="5" name="Group 4">
              <a:extLst>
                <a:ext uri="{FF2B5EF4-FFF2-40B4-BE49-F238E27FC236}">
                  <a16:creationId xmlns:a16="http://schemas.microsoft.com/office/drawing/2014/main" id="{6382F179-A77F-EBBF-58D5-622397FE2B4A}"/>
                </a:ext>
              </a:extLst>
            </p:cNvPr>
            <p:cNvGrpSpPr/>
            <p:nvPr/>
          </p:nvGrpSpPr>
          <p:grpSpPr>
            <a:xfrm>
              <a:off x="10442326" y="30796179"/>
              <a:ext cx="9377860" cy="6532770"/>
              <a:chOff x="10442326" y="20145375"/>
              <a:chExt cx="9377860" cy="6532770"/>
            </a:xfrm>
          </p:grpSpPr>
          <p:pic>
            <p:nvPicPr>
              <p:cNvPr id="13" name="Picture 12">
                <a:extLst>
                  <a:ext uri="{FF2B5EF4-FFF2-40B4-BE49-F238E27FC236}">
                    <a16:creationId xmlns:a16="http://schemas.microsoft.com/office/drawing/2014/main" id="{263D80CF-B048-994F-88D1-2C97DC6A8B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55025" y="22981991"/>
                <a:ext cx="9223829" cy="2014250"/>
              </a:xfrm>
              <a:prstGeom prst="rect">
                <a:avLst/>
              </a:prstGeom>
            </p:spPr>
          </p:pic>
          <p:pic>
            <p:nvPicPr>
              <p:cNvPr id="14" name="Picture 13">
                <a:extLst>
                  <a:ext uri="{FF2B5EF4-FFF2-40B4-BE49-F238E27FC236}">
                    <a16:creationId xmlns:a16="http://schemas.microsoft.com/office/drawing/2014/main" id="{59CBC0E7-0D05-1FCF-4AA4-CC09BA7F7BD5}"/>
                  </a:ext>
                </a:extLst>
              </p:cNvPr>
              <p:cNvPicPr>
                <a:picLocks noChangeAspect="1"/>
              </p:cNvPicPr>
              <p:nvPr/>
            </p:nvPicPr>
            <p:blipFill>
              <a:blip r:embed="rId9">
                <a:extLst>
                  <a:ext uri="{28A0092B-C50C-407E-A947-70E740481C1C}">
                    <a14:useLocalDpi xmlns:a14="http://schemas.microsoft.com/office/drawing/2010/main" val="0"/>
                  </a:ext>
                </a:extLst>
              </a:blip>
              <a:srcRect t="24087" b="8560"/>
              <a:stretch>
                <a:fillRect/>
              </a:stretch>
            </p:blipFill>
            <p:spPr>
              <a:xfrm>
                <a:off x="10455025" y="25289168"/>
                <a:ext cx="9223829" cy="1251292"/>
              </a:xfrm>
              <a:prstGeom prst="rect">
                <a:avLst/>
              </a:prstGeom>
            </p:spPr>
          </p:pic>
          <p:pic>
            <p:nvPicPr>
              <p:cNvPr id="16" name="Picture 15">
                <a:extLst>
                  <a:ext uri="{FF2B5EF4-FFF2-40B4-BE49-F238E27FC236}">
                    <a16:creationId xmlns:a16="http://schemas.microsoft.com/office/drawing/2014/main" id="{A78C52EE-3415-114A-85E3-8BA99E9BCBA4}"/>
                  </a:ext>
                </a:extLst>
              </p:cNvPr>
              <p:cNvPicPr>
                <a:picLocks noChangeAspect="1"/>
              </p:cNvPicPr>
              <p:nvPr/>
            </p:nvPicPr>
            <p:blipFill>
              <a:blip r:embed="rId10">
                <a:extLst>
                  <a:ext uri="{28A0092B-C50C-407E-A947-70E740481C1C}">
                    <a14:useLocalDpi xmlns:a14="http://schemas.microsoft.com/office/drawing/2010/main" val="0"/>
                  </a:ext>
                </a:extLst>
              </a:blip>
              <a:srcRect l="10644" t="7304"/>
              <a:stretch>
                <a:fillRect/>
              </a:stretch>
            </p:blipFill>
            <p:spPr>
              <a:xfrm>
                <a:off x="10455025" y="20169537"/>
                <a:ext cx="9365161" cy="3084686"/>
              </a:xfrm>
              <a:prstGeom prst="rect">
                <a:avLst/>
              </a:prstGeom>
            </p:spPr>
          </p:pic>
          <p:cxnSp>
            <p:nvCxnSpPr>
              <p:cNvPr id="19" name="Straight Arrow Connector 18">
                <a:extLst>
                  <a:ext uri="{FF2B5EF4-FFF2-40B4-BE49-F238E27FC236}">
                    <a16:creationId xmlns:a16="http://schemas.microsoft.com/office/drawing/2014/main" id="{1ABAFDF3-06BE-EFAC-CF63-461E457223A3}"/>
                  </a:ext>
                </a:extLst>
              </p:cNvPr>
              <p:cNvCxnSpPr>
                <a:cxnSpLocks/>
              </p:cNvCxnSpPr>
              <p:nvPr/>
            </p:nvCxnSpPr>
            <p:spPr>
              <a:xfrm flipH="1">
                <a:off x="11658600" y="24879300"/>
                <a:ext cx="1955800" cy="495300"/>
              </a:xfrm>
              <a:prstGeom prst="straightConnector1">
                <a:avLst/>
              </a:prstGeom>
              <a:ln w="381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A823EC17-E4E8-C5CA-07E7-F5237435462A}"/>
                  </a:ext>
                </a:extLst>
              </p:cNvPr>
              <p:cNvSpPr/>
              <p:nvPr/>
            </p:nvSpPr>
            <p:spPr>
              <a:xfrm>
                <a:off x="10442326" y="25209601"/>
                <a:ext cx="9255578" cy="1468544"/>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1" name="Rectangle 20">
                <a:extLst>
                  <a:ext uri="{FF2B5EF4-FFF2-40B4-BE49-F238E27FC236}">
                    <a16:creationId xmlns:a16="http://schemas.microsoft.com/office/drawing/2014/main" id="{AA02D9A6-F829-2A19-6324-456A35EA7E18}"/>
                  </a:ext>
                </a:extLst>
              </p:cNvPr>
              <p:cNvSpPr/>
              <p:nvPr/>
            </p:nvSpPr>
            <p:spPr>
              <a:xfrm>
                <a:off x="11806238" y="20145375"/>
                <a:ext cx="361950" cy="562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cxnSp>
          <p:nvCxnSpPr>
            <p:cNvPr id="6" name="Straight Arrow Connector 5">
              <a:extLst>
                <a:ext uri="{FF2B5EF4-FFF2-40B4-BE49-F238E27FC236}">
                  <a16:creationId xmlns:a16="http://schemas.microsoft.com/office/drawing/2014/main" id="{3F5C688F-2CAB-3F96-FF20-13575A69325C}"/>
                </a:ext>
              </a:extLst>
            </p:cNvPr>
            <p:cNvCxnSpPr>
              <a:cxnSpLocks/>
            </p:cNvCxnSpPr>
            <p:nvPr/>
          </p:nvCxnSpPr>
          <p:spPr>
            <a:xfrm flipH="1">
              <a:off x="18330615" y="32638626"/>
              <a:ext cx="202508" cy="1535101"/>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Straight Arrow Connector 6">
              <a:extLst>
                <a:ext uri="{FF2B5EF4-FFF2-40B4-BE49-F238E27FC236}">
                  <a16:creationId xmlns:a16="http://schemas.microsoft.com/office/drawing/2014/main" id="{F7A644DC-7C5C-5898-F0A9-DDAFC51BFC0C}"/>
                </a:ext>
              </a:extLst>
            </p:cNvPr>
            <p:cNvCxnSpPr>
              <a:cxnSpLocks/>
            </p:cNvCxnSpPr>
            <p:nvPr/>
          </p:nvCxnSpPr>
          <p:spPr>
            <a:xfrm>
              <a:off x="18789115" y="32638626"/>
              <a:ext cx="820221" cy="1577500"/>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Arrow Connector 7">
              <a:extLst>
                <a:ext uri="{FF2B5EF4-FFF2-40B4-BE49-F238E27FC236}">
                  <a16:creationId xmlns:a16="http://schemas.microsoft.com/office/drawing/2014/main" id="{8C30EFB7-532C-3AA1-E0CE-F80A781B3041}"/>
                </a:ext>
              </a:extLst>
            </p:cNvPr>
            <p:cNvCxnSpPr>
              <a:cxnSpLocks/>
            </p:cNvCxnSpPr>
            <p:nvPr/>
          </p:nvCxnSpPr>
          <p:spPr>
            <a:xfrm flipH="1">
              <a:off x="16776700" y="32774709"/>
              <a:ext cx="841296" cy="139901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Arrow Connector 8">
              <a:extLst>
                <a:ext uri="{FF2B5EF4-FFF2-40B4-BE49-F238E27FC236}">
                  <a16:creationId xmlns:a16="http://schemas.microsoft.com/office/drawing/2014/main" id="{B3794080-0A8A-87BF-D2CE-24F575B7C6DD}"/>
                </a:ext>
              </a:extLst>
            </p:cNvPr>
            <p:cNvCxnSpPr>
              <a:cxnSpLocks/>
            </p:cNvCxnSpPr>
            <p:nvPr/>
          </p:nvCxnSpPr>
          <p:spPr>
            <a:xfrm flipH="1">
              <a:off x="18044704" y="32774709"/>
              <a:ext cx="48838" cy="1441417"/>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35AEC657-BBCA-15B3-1973-B355A1F705D9}"/>
                </a:ext>
              </a:extLst>
            </p:cNvPr>
            <p:cNvCxnSpPr>
              <a:cxnSpLocks/>
            </p:cNvCxnSpPr>
            <p:nvPr/>
          </p:nvCxnSpPr>
          <p:spPr>
            <a:xfrm flipH="1">
              <a:off x="12094746" y="33339868"/>
              <a:ext cx="2097504" cy="823288"/>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3E2AF14B-60AB-79CD-EC40-A4D582D25D5C}"/>
                </a:ext>
              </a:extLst>
            </p:cNvPr>
            <p:cNvCxnSpPr>
              <a:cxnSpLocks/>
            </p:cNvCxnSpPr>
            <p:nvPr/>
          </p:nvCxnSpPr>
          <p:spPr>
            <a:xfrm flipH="1">
              <a:off x="13346112" y="33339868"/>
              <a:ext cx="2589214" cy="858086"/>
            </a:xfrm>
            <a:prstGeom prst="straightConnector1">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185403630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0FDA9-E486-0A1F-D463-E0FD4F740BB8}"/>
            </a:ext>
          </a:extLst>
        </p:cNvPr>
        <p:cNvGrpSpPr/>
        <p:nvPr/>
      </p:nvGrpSpPr>
      <p:grpSpPr>
        <a:xfrm>
          <a:off x="0" y="0"/>
          <a:ext cx="0" cy="0"/>
          <a:chOff x="0" y="0"/>
          <a:chExt cx="0" cy="0"/>
        </a:xfrm>
      </p:grpSpPr>
      <p:sp>
        <p:nvSpPr>
          <p:cNvPr id="30" name="Titel 29">
            <a:extLst>
              <a:ext uri="{FF2B5EF4-FFF2-40B4-BE49-F238E27FC236}">
                <a16:creationId xmlns:a16="http://schemas.microsoft.com/office/drawing/2014/main" id="{A2DBACA1-1972-3A98-B3BA-4346A9FE763B}"/>
              </a:ext>
            </a:extLst>
          </p:cNvPr>
          <p:cNvSpPr>
            <a:spLocks noGrp="1"/>
          </p:cNvSpPr>
          <p:nvPr>
            <p:ph type="ctrTitle"/>
          </p:nvPr>
        </p:nvSpPr>
        <p:spPr/>
        <p:txBody>
          <a:bodyPr/>
          <a:lstStyle/>
          <a:p>
            <a:r>
              <a:rPr lang="de-DE" dirty="0"/>
              <a:t>Oberseminar Automatisierungstechnik SS2026</a:t>
            </a:r>
          </a:p>
        </p:txBody>
      </p:sp>
      <p:sp>
        <p:nvSpPr>
          <p:cNvPr id="31" name="Untertitel 30">
            <a:extLst>
              <a:ext uri="{FF2B5EF4-FFF2-40B4-BE49-F238E27FC236}">
                <a16:creationId xmlns:a16="http://schemas.microsoft.com/office/drawing/2014/main" id="{E6217FAB-D7C8-68CC-D9B6-0CCF95D2FB1A}"/>
              </a:ext>
            </a:extLst>
          </p:cNvPr>
          <p:cNvSpPr>
            <a:spLocks noGrp="1"/>
          </p:cNvSpPr>
          <p:nvPr>
            <p:ph type="subTitle" idx="1"/>
          </p:nvPr>
        </p:nvSpPr>
        <p:spPr/>
        <p:txBody>
          <a:bodyPr/>
          <a:lstStyle/>
          <a:p>
            <a:r>
              <a:rPr lang="en-DE" sz="6600" dirty="0"/>
              <a:t>YOLO26: </a:t>
            </a:r>
            <a:r>
              <a:rPr lang="en-DE" sz="6600" dirty="0" err="1"/>
              <a:t>Bestimmung</a:t>
            </a:r>
            <a:r>
              <a:rPr lang="en-DE" sz="6600" dirty="0"/>
              <a:t> von </a:t>
            </a:r>
            <a:r>
              <a:rPr lang="en-DE" sz="6600" dirty="0" err="1"/>
              <a:t>Objekt</a:t>
            </a:r>
            <a:r>
              <a:rPr lang="en-DE" sz="6600" dirty="0"/>
              <a:t>-Posen in </a:t>
            </a:r>
            <a:r>
              <a:rPr lang="en-DE" sz="6600" dirty="0" err="1"/>
              <a:t>Bildern</a:t>
            </a:r>
            <a:endParaRPr lang="en-US" sz="6600" dirty="0"/>
          </a:p>
          <a:p>
            <a:r>
              <a:rPr lang="de-DE" dirty="0"/>
              <a:t>Nguyen, Duc Hai; Loewe, Richard</a:t>
            </a:r>
          </a:p>
        </p:txBody>
      </p:sp>
      <p:sp>
        <p:nvSpPr>
          <p:cNvPr id="32" name="Textplatzhalter 31">
            <a:extLst>
              <a:ext uri="{FF2B5EF4-FFF2-40B4-BE49-F238E27FC236}">
                <a16:creationId xmlns:a16="http://schemas.microsoft.com/office/drawing/2014/main" id="{F12F59D6-F5D0-9FC4-9EBC-81A061F8A082}"/>
              </a:ext>
            </a:extLst>
          </p:cNvPr>
          <p:cNvSpPr>
            <a:spLocks noGrp="1"/>
          </p:cNvSpPr>
          <p:nvPr>
            <p:ph type="body" sz="quarter" idx="26"/>
          </p:nvPr>
        </p:nvSpPr>
        <p:spPr/>
        <p:txBody>
          <a:bodyPr/>
          <a:lstStyle/>
          <a:p>
            <a:endParaRPr lang="de-DE" dirty="0"/>
          </a:p>
        </p:txBody>
      </p:sp>
      <p:sp>
        <p:nvSpPr>
          <p:cNvPr id="33" name="Textplatzhalter 32">
            <a:extLst>
              <a:ext uri="{FF2B5EF4-FFF2-40B4-BE49-F238E27FC236}">
                <a16:creationId xmlns:a16="http://schemas.microsoft.com/office/drawing/2014/main" id="{BBFF3CF0-52A2-300F-DE53-600D24B241D1}"/>
              </a:ext>
            </a:extLst>
          </p:cNvPr>
          <p:cNvSpPr>
            <a:spLocks noGrp="1"/>
          </p:cNvSpPr>
          <p:nvPr>
            <p:ph type="body" sz="quarter" idx="27"/>
          </p:nvPr>
        </p:nvSpPr>
        <p:spPr/>
        <p:txBody>
          <a:bodyPr/>
          <a:lstStyle/>
          <a:p>
            <a:r>
              <a:rPr lang="de-DE" b="1" dirty="0"/>
              <a:t>Analyse der Lösung</a:t>
            </a:r>
          </a:p>
        </p:txBody>
      </p:sp>
      <p:sp>
        <p:nvSpPr>
          <p:cNvPr id="35" name="Bildplatzhalter 34">
            <a:extLst>
              <a:ext uri="{FF2B5EF4-FFF2-40B4-BE49-F238E27FC236}">
                <a16:creationId xmlns:a16="http://schemas.microsoft.com/office/drawing/2014/main" id="{BE2CCB5B-6DDE-FD22-1B16-A74898E7CD50}"/>
              </a:ext>
            </a:extLst>
          </p:cNvPr>
          <p:cNvSpPr>
            <a:spLocks noGrp="1"/>
          </p:cNvSpPr>
          <p:nvPr>
            <p:ph type="pic" sz="quarter" idx="33"/>
          </p:nvPr>
        </p:nvSpPr>
        <p:spPr/>
        <p:txBody>
          <a:bodyPr/>
          <a:lstStyle/>
          <a:p>
            <a:r>
              <a:rPr lang="en-US" sz="3500" b="1" dirty="0"/>
              <a:t>Motivation</a:t>
            </a:r>
            <a:endParaRPr lang="en-DE" sz="3500" b="1" dirty="0"/>
          </a:p>
        </p:txBody>
      </p:sp>
      <p:pic>
        <p:nvPicPr>
          <p:cNvPr id="5" name="Picture Placeholder 4">
            <a:extLst>
              <a:ext uri="{FF2B5EF4-FFF2-40B4-BE49-F238E27FC236}">
                <a16:creationId xmlns:a16="http://schemas.microsoft.com/office/drawing/2014/main" id="{4E1A0C47-F73E-EEC3-63BA-5C8B38B1D2FA}"/>
              </a:ext>
            </a:extLst>
          </p:cNvPr>
          <p:cNvPicPr>
            <a:picLocks noGrp="1" noChangeAspect="1"/>
          </p:cNvPicPr>
          <p:nvPr>
            <p:ph type="pic" sz="quarter" idx="35"/>
          </p:nvPr>
        </p:nvPicPr>
        <p:blipFill>
          <a:blip r:embed="rId2">
            <a:extLst>
              <a:ext uri="{28A0092B-C50C-407E-A947-70E740481C1C}">
                <a14:useLocalDpi xmlns:a14="http://schemas.microsoft.com/office/drawing/2010/main" val="0"/>
              </a:ext>
            </a:extLst>
          </a:blip>
          <a:srcRect l="22425" r="22425"/>
          <a:stretch>
            <a:fillRect/>
          </a:stretch>
        </p:blipFill>
        <p:spPr>
          <a:prstGeom prst="rect">
            <a:avLst/>
          </a:prstGeom>
        </p:spPr>
      </p:pic>
      <p:sp>
        <p:nvSpPr>
          <p:cNvPr id="37" name="Textplatzhalter 36">
            <a:extLst>
              <a:ext uri="{FF2B5EF4-FFF2-40B4-BE49-F238E27FC236}">
                <a16:creationId xmlns:a16="http://schemas.microsoft.com/office/drawing/2014/main" id="{3E8277BD-56B6-19F4-8D4E-9A3A5B530DC3}"/>
              </a:ext>
            </a:extLst>
          </p:cNvPr>
          <p:cNvSpPr>
            <a:spLocks noGrp="1"/>
          </p:cNvSpPr>
          <p:nvPr>
            <p:ph type="body" sz="quarter" idx="36"/>
          </p:nvPr>
        </p:nvSpPr>
        <p:spPr/>
        <p:txBody>
          <a:bodyPr/>
          <a:lstStyle/>
          <a:p>
            <a:r>
              <a:rPr lang="de-DE" dirty="0"/>
              <a:t>Abbildung 1: Unterschrift</a:t>
            </a:r>
          </a:p>
        </p:txBody>
      </p:sp>
      <p:sp>
        <p:nvSpPr>
          <p:cNvPr id="38" name="Bildplatzhalter 37">
            <a:extLst>
              <a:ext uri="{FF2B5EF4-FFF2-40B4-BE49-F238E27FC236}">
                <a16:creationId xmlns:a16="http://schemas.microsoft.com/office/drawing/2014/main" id="{C756F743-D240-A52F-E615-E6B4F293BDDE}"/>
              </a:ext>
            </a:extLst>
          </p:cNvPr>
          <p:cNvSpPr>
            <a:spLocks noGrp="1"/>
          </p:cNvSpPr>
          <p:nvPr>
            <p:ph type="pic" sz="quarter" idx="47"/>
          </p:nvPr>
        </p:nvSpPr>
        <p:spPr/>
        <p:txBody>
          <a:bodyPr/>
          <a:lstStyle/>
          <a:p>
            <a:endParaRPr lang="en-DE"/>
          </a:p>
        </p:txBody>
      </p:sp>
      <p:sp>
        <p:nvSpPr>
          <p:cNvPr id="39" name="Bildplatzhalter 38">
            <a:extLst>
              <a:ext uri="{FF2B5EF4-FFF2-40B4-BE49-F238E27FC236}">
                <a16:creationId xmlns:a16="http://schemas.microsoft.com/office/drawing/2014/main" id="{DBE0D85F-D346-23CD-CFED-7EB787AF8613}"/>
              </a:ext>
            </a:extLst>
          </p:cNvPr>
          <p:cNvSpPr>
            <a:spLocks noGrp="1"/>
          </p:cNvSpPr>
          <p:nvPr>
            <p:ph type="pic" sz="quarter" idx="48"/>
          </p:nvPr>
        </p:nvSpPr>
        <p:spPr/>
        <p:txBody>
          <a:bodyPr/>
          <a:lstStyle/>
          <a:p>
            <a:endParaRPr lang="en-DE"/>
          </a:p>
        </p:txBody>
      </p:sp>
      <p:sp>
        <p:nvSpPr>
          <p:cNvPr id="40" name="Textplatzhalter 39">
            <a:extLst>
              <a:ext uri="{FF2B5EF4-FFF2-40B4-BE49-F238E27FC236}">
                <a16:creationId xmlns:a16="http://schemas.microsoft.com/office/drawing/2014/main" id="{75B1B10C-CFC3-D66A-3E25-58B4EF4D9C1C}"/>
              </a:ext>
            </a:extLst>
          </p:cNvPr>
          <p:cNvSpPr>
            <a:spLocks noGrp="1"/>
          </p:cNvSpPr>
          <p:nvPr>
            <p:ph type="body" sz="quarter" idx="49"/>
          </p:nvPr>
        </p:nvSpPr>
        <p:spPr/>
        <p:txBody>
          <a:bodyPr/>
          <a:lstStyle/>
          <a:p>
            <a:endParaRPr lang="de-DE" dirty="0"/>
          </a:p>
        </p:txBody>
      </p:sp>
      <p:sp>
        <p:nvSpPr>
          <p:cNvPr id="41" name="Textplatzhalter 40">
            <a:extLst>
              <a:ext uri="{FF2B5EF4-FFF2-40B4-BE49-F238E27FC236}">
                <a16:creationId xmlns:a16="http://schemas.microsoft.com/office/drawing/2014/main" id="{3FDC165E-2654-FA4B-11BC-7088E69B3D17}"/>
              </a:ext>
            </a:extLst>
          </p:cNvPr>
          <p:cNvSpPr>
            <a:spLocks noGrp="1"/>
          </p:cNvSpPr>
          <p:nvPr>
            <p:ph type="body" sz="quarter" idx="50"/>
          </p:nvPr>
        </p:nvSpPr>
        <p:spPr/>
        <p:txBody>
          <a:bodyPr/>
          <a:lstStyle/>
          <a:p>
            <a:endParaRPr lang="de-DE" dirty="0"/>
          </a:p>
        </p:txBody>
      </p:sp>
      <p:sp>
        <p:nvSpPr>
          <p:cNvPr id="42" name="Textplatzhalter 41">
            <a:extLst>
              <a:ext uri="{FF2B5EF4-FFF2-40B4-BE49-F238E27FC236}">
                <a16:creationId xmlns:a16="http://schemas.microsoft.com/office/drawing/2014/main" id="{6287328F-C9F2-2182-D3E9-AC6AA59AFB32}"/>
              </a:ext>
            </a:extLst>
          </p:cNvPr>
          <p:cNvSpPr>
            <a:spLocks noGrp="1"/>
          </p:cNvSpPr>
          <p:nvPr>
            <p:ph type="body" sz="quarter" idx="51"/>
          </p:nvPr>
        </p:nvSpPr>
        <p:spPr>
          <a:xfrm>
            <a:off x="20272375" y="34173727"/>
            <a:ext cx="8472488" cy="4837778"/>
          </a:xfrm>
        </p:spPr>
        <p:txBody>
          <a:bodyPr/>
          <a:lstStyle/>
          <a:p>
            <a:pPr marL="449263" indent="-449263">
              <a:tabLst>
                <a:tab pos="449263" algn="l"/>
              </a:tabLst>
            </a:pPr>
            <a:r>
              <a:rPr lang="de-DE" sz="1800" dirty="0"/>
              <a:t>[1] 	J. Campbell, R. </a:t>
            </a:r>
            <a:r>
              <a:rPr lang="de-DE" sz="1800" dirty="0" err="1"/>
              <a:t>Sukthankar</a:t>
            </a:r>
            <a:r>
              <a:rPr lang="de-DE" sz="1800" dirty="0"/>
              <a:t>, I. </a:t>
            </a:r>
            <a:r>
              <a:rPr lang="de-DE" sz="1800" dirty="0" err="1"/>
              <a:t>Nourbakhsh</a:t>
            </a:r>
            <a:r>
              <a:rPr lang="de-DE" sz="1800" dirty="0"/>
              <a:t>, A. </a:t>
            </a:r>
            <a:r>
              <a:rPr lang="de-DE" sz="1800" dirty="0" err="1"/>
              <a:t>Pahwa</a:t>
            </a:r>
            <a:r>
              <a:rPr lang="de-DE" sz="1800" dirty="0"/>
              <a:t>:  “A Robust Visual </a:t>
            </a:r>
            <a:r>
              <a:rPr lang="de-DE" sz="1800" dirty="0" err="1"/>
              <a:t>Odometry</a:t>
            </a:r>
            <a:r>
              <a:rPr lang="de-DE" sz="1800" dirty="0"/>
              <a:t> and </a:t>
            </a:r>
            <a:r>
              <a:rPr lang="de-DE" sz="1800" dirty="0" err="1"/>
              <a:t>Precipice</a:t>
            </a:r>
            <a:r>
              <a:rPr lang="de-DE" sz="1800" dirty="0"/>
              <a:t> </a:t>
            </a:r>
            <a:r>
              <a:rPr lang="de-DE" sz="1800" dirty="0" err="1"/>
              <a:t>Detection</a:t>
            </a:r>
            <a:r>
              <a:rPr lang="de-DE" sz="1800" dirty="0"/>
              <a:t> System </a:t>
            </a:r>
            <a:r>
              <a:rPr lang="de-DE" sz="1800" dirty="0" err="1"/>
              <a:t>Using</a:t>
            </a:r>
            <a:r>
              <a:rPr lang="de-DE" sz="1800" dirty="0"/>
              <a:t> Consumer-grade </a:t>
            </a:r>
            <a:r>
              <a:rPr lang="de-DE" sz="1800" dirty="0" err="1"/>
              <a:t>Monocular</a:t>
            </a:r>
            <a:r>
              <a:rPr lang="de-DE" sz="1800" dirty="0"/>
              <a:t> Vision”. In Proceedings </a:t>
            </a:r>
            <a:r>
              <a:rPr lang="de-DE" sz="1800" dirty="0" err="1"/>
              <a:t>of</a:t>
            </a:r>
            <a:r>
              <a:rPr lang="de-DE" sz="1800" dirty="0"/>
              <a:t> </a:t>
            </a:r>
            <a:r>
              <a:rPr lang="de-DE" sz="1800" dirty="0" err="1"/>
              <a:t>the</a:t>
            </a:r>
            <a:r>
              <a:rPr lang="de-DE" sz="1800" dirty="0"/>
              <a:t> IEEE International Conference on Robotics and Automation (ICRA’05), Barcelona, Spain, April 2005 (Internet source www.example-internet-source.com/example/example.pdf, </a:t>
            </a:r>
            <a:r>
              <a:rPr lang="de-DE" sz="1800" dirty="0" err="1"/>
              <a:t>accessed</a:t>
            </a:r>
            <a:r>
              <a:rPr lang="de-DE" sz="1800" dirty="0"/>
              <a:t> on 08.02.2018)</a:t>
            </a:r>
          </a:p>
          <a:p>
            <a:pPr marL="449263" indent="-449263">
              <a:tabLst>
                <a:tab pos="449263" algn="l"/>
              </a:tabLst>
            </a:pPr>
            <a:r>
              <a:rPr lang="de-DE" sz="1800" dirty="0"/>
              <a:t>[2] 	A.D. </a:t>
            </a:r>
            <a:r>
              <a:rPr lang="de-DE" sz="1800" dirty="0" err="1"/>
              <a:t>Jepson</a:t>
            </a:r>
            <a:r>
              <a:rPr lang="de-DE" sz="1800" dirty="0"/>
              <a:t>, D.J, Heeger: “A fast </a:t>
            </a:r>
            <a:r>
              <a:rPr lang="de-DE" sz="1800" dirty="0" err="1"/>
              <a:t>subspace</a:t>
            </a:r>
            <a:r>
              <a:rPr lang="de-DE" sz="1800" dirty="0"/>
              <a:t> </a:t>
            </a:r>
            <a:r>
              <a:rPr lang="de-DE" sz="1800" dirty="0" err="1"/>
              <a:t>algorithm</a:t>
            </a:r>
            <a:r>
              <a:rPr lang="de-DE" sz="1800" dirty="0"/>
              <a:t> </a:t>
            </a:r>
            <a:r>
              <a:rPr lang="de-DE" sz="1800" dirty="0" err="1"/>
              <a:t>for</a:t>
            </a:r>
            <a:r>
              <a:rPr lang="de-DE" sz="1800" dirty="0"/>
              <a:t> </a:t>
            </a:r>
            <a:r>
              <a:rPr lang="de-DE" sz="1800" dirty="0" err="1"/>
              <a:t>recovering</a:t>
            </a:r>
            <a:r>
              <a:rPr lang="de-DE" sz="1800" dirty="0"/>
              <a:t> rigid </a:t>
            </a:r>
            <a:r>
              <a:rPr lang="de-DE" sz="1800" dirty="0" err="1"/>
              <a:t>motion</a:t>
            </a:r>
            <a:r>
              <a:rPr lang="de-DE" sz="1800" dirty="0"/>
              <a:t>”. In Proceedings </a:t>
            </a:r>
            <a:r>
              <a:rPr lang="de-DE" sz="1800" dirty="0" err="1"/>
              <a:t>of</a:t>
            </a:r>
            <a:r>
              <a:rPr lang="de-DE" sz="1800" dirty="0"/>
              <a:t> </a:t>
            </a:r>
            <a:r>
              <a:rPr lang="de-DE" sz="1800" dirty="0" err="1"/>
              <a:t>the</a:t>
            </a:r>
            <a:r>
              <a:rPr lang="de-DE" sz="1800" dirty="0"/>
              <a:t> IEEE Workshop on Visual Motion, pp. 124 131, Princeton, USA, </a:t>
            </a:r>
            <a:r>
              <a:rPr lang="de-DE" sz="1800" dirty="0" err="1"/>
              <a:t>Oct</a:t>
            </a:r>
            <a:r>
              <a:rPr lang="de-DE" sz="1800" dirty="0"/>
              <a:t>. 1991</a:t>
            </a:r>
          </a:p>
          <a:p>
            <a:pPr marL="449263" indent="-449263">
              <a:tabLst>
                <a:tab pos="449263" algn="l"/>
              </a:tabLst>
            </a:pPr>
            <a:r>
              <a:rPr lang="de-DE" sz="1800" dirty="0"/>
              <a:t>[3]	Glenn </a:t>
            </a:r>
            <a:r>
              <a:rPr lang="de-DE" sz="1800" dirty="0" err="1"/>
              <a:t>Jocher</a:t>
            </a:r>
            <a:r>
              <a:rPr lang="de-DE" sz="1800" dirty="0"/>
              <a:t>, Jing Qiu: </a:t>
            </a:r>
            <a:r>
              <a:rPr lang="de-DE" sz="1800" dirty="0" err="1"/>
              <a:t>Ultralytics</a:t>
            </a:r>
            <a:r>
              <a:rPr lang="de-DE" sz="1800" dirty="0"/>
              <a:t> YOLO11, 11.0.0, 2024, https://github.com/ultralytics/ultralytics, AGPL-3.0. </a:t>
            </a:r>
          </a:p>
          <a:p>
            <a:endParaRPr lang="de-DE" sz="1800" dirty="0"/>
          </a:p>
        </p:txBody>
      </p:sp>
      <p:sp>
        <p:nvSpPr>
          <p:cNvPr id="43" name="Textplatzhalter 42">
            <a:extLst>
              <a:ext uri="{FF2B5EF4-FFF2-40B4-BE49-F238E27FC236}">
                <a16:creationId xmlns:a16="http://schemas.microsoft.com/office/drawing/2014/main" id="{70BA0B74-47D1-D172-53DF-CC593671E5CC}"/>
              </a:ext>
            </a:extLst>
          </p:cNvPr>
          <p:cNvSpPr>
            <a:spLocks noGrp="1"/>
          </p:cNvSpPr>
          <p:nvPr>
            <p:ph type="body" sz="quarter" idx="52"/>
          </p:nvPr>
        </p:nvSpPr>
        <p:spPr>
          <a:xfrm>
            <a:off x="20272375" y="33103292"/>
            <a:ext cx="8472488" cy="1070435"/>
          </a:xfrm>
        </p:spPr>
        <p:txBody>
          <a:bodyPr/>
          <a:lstStyle/>
          <a:p>
            <a:r>
              <a:rPr lang="de-DE" b="1" dirty="0"/>
              <a:t>Quellen:</a:t>
            </a:r>
          </a:p>
        </p:txBody>
      </p:sp>
      <p:pic>
        <p:nvPicPr>
          <p:cNvPr id="7" name="Picture Placeholder 6">
            <a:extLst>
              <a:ext uri="{FF2B5EF4-FFF2-40B4-BE49-F238E27FC236}">
                <a16:creationId xmlns:a16="http://schemas.microsoft.com/office/drawing/2014/main" id="{9B9891C7-7CF6-7769-7A7E-27637A8CF46C}"/>
              </a:ext>
            </a:extLst>
          </p:cNvPr>
          <p:cNvPicPr>
            <a:picLocks noGrp="1" noChangeAspect="1"/>
          </p:cNvPicPr>
          <p:nvPr>
            <p:ph type="pic" sz="quarter" idx="53"/>
          </p:nvPr>
        </p:nvPicPr>
        <p:blipFill>
          <a:blip r:embed="rId3"/>
          <a:srcRect l="22425" r="22425"/>
          <a:stretch/>
        </p:blipFill>
        <p:spPr>
          <a:prstGeom prst="rect">
            <a:avLst/>
          </a:prstGeom>
        </p:spPr>
      </p:pic>
      <p:sp>
        <p:nvSpPr>
          <p:cNvPr id="45" name="Textplatzhalter 44">
            <a:extLst>
              <a:ext uri="{FF2B5EF4-FFF2-40B4-BE49-F238E27FC236}">
                <a16:creationId xmlns:a16="http://schemas.microsoft.com/office/drawing/2014/main" id="{32458E98-BEA1-63EB-2C85-E720D5847E44}"/>
              </a:ext>
            </a:extLst>
          </p:cNvPr>
          <p:cNvSpPr>
            <a:spLocks noGrp="1"/>
          </p:cNvSpPr>
          <p:nvPr>
            <p:ph type="body" sz="quarter" idx="54"/>
          </p:nvPr>
        </p:nvSpPr>
        <p:spPr/>
        <p:txBody>
          <a:bodyPr/>
          <a:lstStyle/>
          <a:p>
            <a:endParaRPr lang="de-DE" dirty="0"/>
          </a:p>
        </p:txBody>
      </p:sp>
      <p:sp>
        <p:nvSpPr>
          <p:cNvPr id="46" name="Bildplatzhalter 45">
            <a:extLst>
              <a:ext uri="{FF2B5EF4-FFF2-40B4-BE49-F238E27FC236}">
                <a16:creationId xmlns:a16="http://schemas.microsoft.com/office/drawing/2014/main" id="{B37515B2-E14D-F4C5-DC48-101540B08D13}"/>
              </a:ext>
            </a:extLst>
          </p:cNvPr>
          <p:cNvSpPr>
            <a:spLocks noGrp="1"/>
          </p:cNvSpPr>
          <p:nvPr>
            <p:ph type="pic" sz="quarter" idx="55"/>
          </p:nvPr>
        </p:nvSpPr>
        <p:spPr/>
        <p:txBody>
          <a:bodyPr/>
          <a:lstStyle/>
          <a:p>
            <a:endParaRPr lang="en-DE"/>
          </a:p>
        </p:txBody>
      </p:sp>
      <p:sp>
        <p:nvSpPr>
          <p:cNvPr id="47" name="Textplatzhalter 46">
            <a:extLst>
              <a:ext uri="{FF2B5EF4-FFF2-40B4-BE49-F238E27FC236}">
                <a16:creationId xmlns:a16="http://schemas.microsoft.com/office/drawing/2014/main" id="{4458CE0F-3F1C-AE75-99CD-30CDE68837F1}"/>
              </a:ext>
            </a:extLst>
          </p:cNvPr>
          <p:cNvSpPr>
            <a:spLocks noGrp="1"/>
          </p:cNvSpPr>
          <p:nvPr>
            <p:ph type="body" sz="quarter" idx="56"/>
          </p:nvPr>
        </p:nvSpPr>
        <p:spPr/>
        <p:txBody>
          <a:bodyPr/>
          <a:lstStyle/>
          <a:p>
            <a:endParaRPr lang="de-DE" dirty="0"/>
          </a:p>
        </p:txBody>
      </p:sp>
      <p:sp>
        <p:nvSpPr>
          <p:cNvPr id="48" name="Bildplatzhalter 47">
            <a:extLst>
              <a:ext uri="{FF2B5EF4-FFF2-40B4-BE49-F238E27FC236}">
                <a16:creationId xmlns:a16="http://schemas.microsoft.com/office/drawing/2014/main" id="{81DA87FD-393B-245B-806E-22EC2FA57876}"/>
              </a:ext>
            </a:extLst>
          </p:cNvPr>
          <p:cNvSpPr>
            <a:spLocks noGrp="1"/>
          </p:cNvSpPr>
          <p:nvPr>
            <p:ph type="pic" sz="quarter" idx="57"/>
          </p:nvPr>
        </p:nvSpPr>
        <p:spPr/>
        <p:txBody>
          <a:bodyPr/>
          <a:lstStyle/>
          <a:p>
            <a:endParaRPr lang="en-DE"/>
          </a:p>
        </p:txBody>
      </p:sp>
      <p:sp>
        <p:nvSpPr>
          <p:cNvPr id="49" name="Textplatzhalter 48">
            <a:extLst>
              <a:ext uri="{FF2B5EF4-FFF2-40B4-BE49-F238E27FC236}">
                <a16:creationId xmlns:a16="http://schemas.microsoft.com/office/drawing/2014/main" id="{78F28AA0-F762-9A7B-1809-6ECBFDD00107}"/>
              </a:ext>
            </a:extLst>
          </p:cNvPr>
          <p:cNvSpPr>
            <a:spLocks noGrp="1"/>
          </p:cNvSpPr>
          <p:nvPr>
            <p:ph type="body" sz="quarter" idx="58"/>
          </p:nvPr>
        </p:nvSpPr>
        <p:spPr/>
        <p:txBody>
          <a:bodyPr/>
          <a:lstStyle/>
          <a:p>
            <a:endParaRPr lang="de-DE" dirty="0"/>
          </a:p>
        </p:txBody>
      </p:sp>
      <p:sp>
        <p:nvSpPr>
          <p:cNvPr id="50" name="Bildplatzhalter 49">
            <a:extLst>
              <a:ext uri="{FF2B5EF4-FFF2-40B4-BE49-F238E27FC236}">
                <a16:creationId xmlns:a16="http://schemas.microsoft.com/office/drawing/2014/main" id="{CF4E7AEB-212D-098C-4C21-DC619C123790}"/>
              </a:ext>
            </a:extLst>
          </p:cNvPr>
          <p:cNvSpPr>
            <a:spLocks noGrp="1"/>
          </p:cNvSpPr>
          <p:nvPr>
            <p:ph type="pic" sz="quarter" idx="59"/>
          </p:nvPr>
        </p:nvSpPr>
        <p:spPr>
          <a:xfrm>
            <a:off x="20240623" y="19002544"/>
            <a:ext cx="3787776" cy="3864026"/>
          </a:xfrm>
        </p:spPr>
        <p:txBody>
          <a:bodyPr/>
          <a:lstStyle/>
          <a:p>
            <a:endParaRPr lang="en-DE"/>
          </a:p>
        </p:txBody>
      </p:sp>
      <p:sp>
        <p:nvSpPr>
          <p:cNvPr id="51" name="Textplatzhalter 50">
            <a:extLst>
              <a:ext uri="{FF2B5EF4-FFF2-40B4-BE49-F238E27FC236}">
                <a16:creationId xmlns:a16="http://schemas.microsoft.com/office/drawing/2014/main" id="{05FE8E9D-4B29-39BB-BF75-CECE20F54F4F}"/>
              </a:ext>
            </a:extLst>
          </p:cNvPr>
          <p:cNvSpPr>
            <a:spLocks noGrp="1"/>
          </p:cNvSpPr>
          <p:nvPr>
            <p:ph type="body" sz="quarter" idx="60"/>
          </p:nvPr>
        </p:nvSpPr>
        <p:spPr>
          <a:xfrm>
            <a:off x="20240623" y="23279372"/>
            <a:ext cx="3787775" cy="3186112"/>
          </a:xfrm>
        </p:spPr>
        <p:txBody>
          <a:bodyPr/>
          <a:lstStyle/>
          <a:p>
            <a:endParaRPr lang="de-DE" dirty="0"/>
          </a:p>
        </p:txBody>
      </p:sp>
      <p:sp>
        <p:nvSpPr>
          <p:cNvPr id="52" name="Bildplatzhalter 51">
            <a:extLst>
              <a:ext uri="{FF2B5EF4-FFF2-40B4-BE49-F238E27FC236}">
                <a16:creationId xmlns:a16="http://schemas.microsoft.com/office/drawing/2014/main" id="{96434ECE-E6CB-0517-4B76-168F319BE300}"/>
              </a:ext>
            </a:extLst>
          </p:cNvPr>
          <p:cNvSpPr>
            <a:spLocks noGrp="1"/>
          </p:cNvSpPr>
          <p:nvPr>
            <p:ph type="pic" sz="quarter" idx="61"/>
          </p:nvPr>
        </p:nvSpPr>
        <p:spPr>
          <a:xfrm>
            <a:off x="24928511" y="19002544"/>
            <a:ext cx="3787776" cy="3864026"/>
          </a:xfrm>
        </p:spPr>
        <p:txBody>
          <a:bodyPr/>
          <a:lstStyle/>
          <a:p>
            <a:endParaRPr lang="en-DE"/>
          </a:p>
        </p:txBody>
      </p:sp>
      <p:sp>
        <p:nvSpPr>
          <p:cNvPr id="53" name="Textplatzhalter 52">
            <a:extLst>
              <a:ext uri="{FF2B5EF4-FFF2-40B4-BE49-F238E27FC236}">
                <a16:creationId xmlns:a16="http://schemas.microsoft.com/office/drawing/2014/main" id="{B9E8F3C6-C42C-A357-DB7C-B0461DCB01B8}"/>
              </a:ext>
            </a:extLst>
          </p:cNvPr>
          <p:cNvSpPr>
            <a:spLocks noGrp="1"/>
          </p:cNvSpPr>
          <p:nvPr>
            <p:ph type="body" sz="quarter" idx="62"/>
          </p:nvPr>
        </p:nvSpPr>
        <p:spPr>
          <a:xfrm>
            <a:off x="24928511" y="23279372"/>
            <a:ext cx="3787775" cy="3186112"/>
          </a:xfrm>
        </p:spPr>
        <p:txBody>
          <a:bodyPr/>
          <a:lstStyle/>
          <a:p>
            <a:endParaRPr lang="de-DE"/>
          </a:p>
        </p:txBody>
      </p:sp>
      <p:sp>
        <p:nvSpPr>
          <p:cNvPr id="2" name="Textfeld 1">
            <a:extLst>
              <a:ext uri="{FF2B5EF4-FFF2-40B4-BE49-F238E27FC236}">
                <a16:creationId xmlns:a16="http://schemas.microsoft.com/office/drawing/2014/main" id="{825B8D95-3B2F-D00B-3BC4-A9C8F6047C94}"/>
              </a:ext>
            </a:extLst>
          </p:cNvPr>
          <p:cNvSpPr txBox="1"/>
          <p:nvPr/>
        </p:nvSpPr>
        <p:spPr>
          <a:xfrm>
            <a:off x="11201400" y="325898"/>
            <a:ext cx="18812489" cy="5693866"/>
          </a:xfrm>
          <a:prstGeom prst="rect">
            <a:avLst/>
          </a:prstGeom>
          <a:solidFill>
            <a:srgbClr val="FFFF00"/>
          </a:solidFill>
        </p:spPr>
        <p:txBody>
          <a:bodyPr wrap="square" rtlCol="0">
            <a:spAutoFit/>
          </a:bodyPr>
          <a:lstStyle/>
          <a:p>
            <a:r>
              <a:rPr lang="de-DE" sz="4000" dirty="0"/>
              <a:t>Hinweise (am Ende zu entfernen!):</a:t>
            </a:r>
          </a:p>
          <a:p>
            <a:pPr marL="571500" indent="-571500">
              <a:buFont typeface="Arial" panose="020B0604020202020204" pitchFamily="34" charset="0"/>
              <a:buChar char="•"/>
            </a:pPr>
            <a:r>
              <a:rPr lang="de-DE" sz="3600" dirty="0"/>
              <a:t>Positionen vom Logo und der zwei Titeltextblöcke </a:t>
            </a:r>
            <a:r>
              <a:rPr lang="de-DE" sz="3600" b="1" dirty="0"/>
              <a:t>nicht verändern</a:t>
            </a:r>
            <a:r>
              <a:rPr lang="de-DE" sz="3600" dirty="0"/>
              <a:t>!</a:t>
            </a:r>
          </a:p>
          <a:p>
            <a:pPr marL="571500" indent="-571500">
              <a:buFont typeface="Arial" panose="020B0604020202020204" pitchFamily="34" charset="0"/>
              <a:buChar char="•"/>
            </a:pPr>
            <a:r>
              <a:rPr lang="de-DE" sz="3600" dirty="0"/>
              <a:t>Untere Grenze der drei Spalten ist anzupassen um unteren Platz zu nutzen. Die obere Grenze und die horizontale Lage der Spalten </a:t>
            </a:r>
            <a:r>
              <a:rPr lang="de-DE" sz="3600" b="1" dirty="0"/>
              <a:t>nicht verändern</a:t>
            </a:r>
            <a:r>
              <a:rPr lang="de-DE" sz="3600" dirty="0"/>
              <a:t>.</a:t>
            </a:r>
          </a:p>
          <a:p>
            <a:pPr marL="571500" indent="-571500">
              <a:buFont typeface="Arial" panose="020B0604020202020204" pitchFamily="34" charset="0"/>
              <a:buChar char="•"/>
            </a:pPr>
            <a:r>
              <a:rPr lang="de-DE" sz="3600" dirty="0"/>
              <a:t>Jedes Bild muss unterschrieben werden, siehe Beispiel unten.</a:t>
            </a:r>
          </a:p>
          <a:p>
            <a:pPr marL="571500" indent="-571500">
              <a:buFont typeface="Arial" panose="020B0604020202020204" pitchFamily="34" charset="0"/>
              <a:buChar char="•"/>
            </a:pPr>
            <a:r>
              <a:rPr lang="de-DE" sz="3600" dirty="0"/>
              <a:t>Schriftart, -größe, -farbe der Blöcke </a:t>
            </a:r>
            <a:r>
              <a:rPr lang="de-DE" sz="3600" b="1" dirty="0"/>
              <a:t>nicht verändern</a:t>
            </a:r>
            <a:r>
              <a:rPr lang="de-DE" sz="3600" dirty="0"/>
              <a:t>!</a:t>
            </a:r>
          </a:p>
          <a:p>
            <a:pPr marL="571500" indent="-571500">
              <a:buFont typeface="Arial" panose="020B0604020202020204" pitchFamily="34" charset="0"/>
              <a:buChar char="•"/>
            </a:pPr>
            <a:r>
              <a:rPr lang="de-DE" sz="3600" dirty="0"/>
              <a:t>Breite der Blöcke </a:t>
            </a:r>
            <a:r>
              <a:rPr lang="de-DE" sz="3600" b="1" dirty="0"/>
              <a:t>nicht verändern</a:t>
            </a:r>
            <a:r>
              <a:rPr lang="de-DE" sz="3600" dirty="0"/>
              <a:t>!</a:t>
            </a:r>
          </a:p>
          <a:p>
            <a:pPr marL="571500" indent="-571500">
              <a:buFont typeface="Arial" panose="020B0604020202020204" pitchFamily="34" charset="0"/>
              <a:buChar char="•"/>
            </a:pPr>
            <a:r>
              <a:rPr lang="de-DE" sz="3600" dirty="0"/>
              <a:t>Sonst können Sie die Blöcke sinnvoll verschieben, kopieren, umsortieren, vertikal ausdehnen, löschen und selbstverständlich ausfüllen.</a:t>
            </a:r>
          </a:p>
          <a:p>
            <a:pPr marL="571500" indent="-571500">
              <a:buFont typeface="Arial" panose="020B0604020202020204" pitchFamily="34" charset="0"/>
              <a:buChar char="•"/>
            </a:pPr>
            <a:r>
              <a:rPr lang="de-DE" sz="3600" dirty="0"/>
              <a:t>Verwendete Quellen bitte zum Schluss angeben! </a:t>
            </a:r>
          </a:p>
        </p:txBody>
      </p:sp>
      <p:sp>
        <p:nvSpPr>
          <p:cNvPr id="3" name="Textplatzhalter 31">
            <a:extLst>
              <a:ext uri="{FF2B5EF4-FFF2-40B4-BE49-F238E27FC236}">
                <a16:creationId xmlns:a16="http://schemas.microsoft.com/office/drawing/2014/main" id="{EDFD0CBA-1D97-6234-A3FA-7DAA094A004F}"/>
              </a:ext>
            </a:extLst>
          </p:cNvPr>
          <p:cNvSpPr txBox="1">
            <a:spLocks/>
          </p:cNvSpPr>
          <p:nvPr/>
        </p:nvSpPr>
        <p:spPr>
          <a:xfrm>
            <a:off x="1527176" y="39622182"/>
            <a:ext cx="8472488" cy="2395924"/>
          </a:xfrm>
          <a:prstGeom prst="rect">
            <a:avLst/>
          </a:prstGeom>
        </p:spPr>
        <p:txBody>
          <a:bodyPr vert="horz" lIns="0" tIns="0" rIns="0" bIns="0" rtlCol="0">
            <a:noAutofit/>
          </a:bodyPr>
          <a:lstStyle>
            <a:lvl1pPr marL="0" indent="0" algn="l" defTabSz="3027487" rtl="0" eaLnBrk="1" latinLnBrk="0" hangingPunct="1">
              <a:lnSpc>
                <a:spcPct val="90000"/>
              </a:lnSpc>
              <a:spcBef>
                <a:spcPts val="3311"/>
              </a:spcBef>
              <a:buFont typeface="Arial" panose="020B0604020202020204" pitchFamily="34" charset="0"/>
              <a:buNone/>
              <a:defRPr sz="2700" kern="1200">
                <a:solidFill>
                  <a:schemeClr val="tx1"/>
                </a:solidFill>
                <a:latin typeface="+mn-lt"/>
                <a:ea typeface="+mn-ea"/>
                <a:cs typeface="+mn-cs"/>
              </a:defRPr>
            </a:lvl1pPr>
            <a:lvl2pPr marL="182563" indent="0"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2pPr>
            <a:lvl3pPr marL="541338"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3pPr>
            <a:lvl4pPr marL="715963" indent="-174625"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4pPr>
            <a:lvl5pPr marL="898525" indent="-182563" algn="l" defTabSz="3027487" rtl="0" eaLnBrk="1" latinLnBrk="0" hangingPunct="1">
              <a:lnSpc>
                <a:spcPct val="90000"/>
              </a:lnSpc>
              <a:spcBef>
                <a:spcPts val="1655"/>
              </a:spcBef>
              <a:buFont typeface="Arial" panose="020B0604020202020204" pitchFamily="34" charset="0"/>
              <a:buNone/>
              <a:defRPr sz="270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a:lstStyle>
          <a:p>
            <a:r>
              <a:rPr lang="de-DE" sz="4900" dirty="0">
                <a:solidFill>
                  <a:srgbClr val="00008C"/>
                </a:solidFill>
                <a:latin typeface="Noto Sans Medium" panose="020B0502040504020204"/>
              </a:rPr>
              <a:t>Professur für Automatisierungstechnik</a:t>
            </a:r>
            <a:br>
              <a:rPr lang="de-DE" sz="4900" dirty="0">
                <a:solidFill>
                  <a:srgbClr val="00008C"/>
                </a:solidFill>
                <a:latin typeface="Noto Sans Medium" panose="020B0502040504020204"/>
              </a:rPr>
            </a:br>
            <a:r>
              <a:rPr lang="de-DE" sz="4900" dirty="0">
                <a:solidFill>
                  <a:srgbClr val="00008C"/>
                </a:solidFill>
                <a:latin typeface="Noto Sans Medium" panose="020B0502040504020204"/>
              </a:rPr>
              <a:t>Prof. Dr. techn. Klaus </a:t>
            </a:r>
            <a:r>
              <a:rPr lang="de-DE" sz="4900" dirty="0" err="1">
                <a:solidFill>
                  <a:srgbClr val="00008C"/>
                </a:solidFill>
                <a:latin typeface="Noto Sans Medium" panose="020B0502040504020204"/>
              </a:rPr>
              <a:t>Janschek</a:t>
            </a:r>
            <a:endParaRPr lang="de-DE" sz="4900" dirty="0">
              <a:solidFill>
                <a:srgbClr val="00008C"/>
              </a:solidFill>
              <a:latin typeface="Noto Sans Medium" panose="020B0502040504020204"/>
            </a:endParaRPr>
          </a:p>
        </p:txBody>
      </p:sp>
      <p:pic>
        <p:nvPicPr>
          <p:cNvPr id="9" name="Picture 8">
            <a:extLst>
              <a:ext uri="{FF2B5EF4-FFF2-40B4-BE49-F238E27FC236}">
                <a16:creationId xmlns:a16="http://schemas.microsoft.com/office/drawing/2014/main" id="{D01EBCEB-DAD7-E4FD-5DDF-BF9C49A0B1F8}"/>
              </a:ext>
            </a:extLst>
          </p:cNvPr>
          <p:cNvPicPr>
            <a:picLocks noChangeAspect="1"/>
          </p:cNvPicPr>
          <p:nvPr/>
        </p:nvPicPr>
        <p:blipFill>
          <a:blip r:embed="rId3"/>
          <a:stretch>
            <a:fillRect/>
          </a:stretch>
        </p:blipFill>
        <p:spPr>
          <a:xfrm>
            <a:off x="12823824" y="13024160"/>
            <a:ext cx="6868304" cy="3864025"/>
          </a:xfrm>
          <a:prstGeom prst="rect">
            <a:avLst/>
          </a:prstGeom>
        </p:spPr>
      </p:pic>
      <p:pic>
        <p:nvPicPr>
          <p:cNvPr id="10" name="Picture Placeholder 4">
            <a:extLst>
              <a:ext uri="{FF2B5EF4-FFF2-40B4-BE49-F238E27FC236}">
                <a16:creationId xmlns:a16="http://schemas.microsoft.com/office/drawing/2014/main" id="{3D59A1F3-09FE-B66E-1652-B73355409434}"/>
              </a:ext>
            </a:extLst>
          </p:cNvPr>
          <p:cNvPicPr>
            <a:picLocks noChangeAspect="1"/>
          </p:cNvPicPr>
          <p:nvPr/>
        </p:nvPicPr>
        <p:blipFill>
          <a:blip r:embed="rId2">
            <a:extLst>
              <a:ext uri="{28A0092B-C50C-407E-A947-70E740481C1C}">
                <a14:useLocalDpi xmlns:a14="http://schemas.microsoft.com/office/drawing/2010/main" val="0"/>
              </a:ext>
            </a:extLst>
          </a:blip>
          <a:srcRect l="6" r="-1544"/>
          <a:stretch>
            <a:fillRect/>
          </a:stretch>
        </p:blipFill>
        <p:spPr>
          <a:xfrm>
            <a:off x="5763420" y="13000104"/>
            <a:ext cx="6973784" cy="3864026"/>
          </a:xfrm>
          <a:prstGeom prst="rect">
            <a:avLst/>
          </a:prstGeom>
        </p:spPr>
      </p:pic>
    </p:spTree>
    <p:extLst>
      <p:ext uri="{BB962C8B-B14F-4D97-AF65-F5344CB8AC3E}">
        <p14:creationId xmlns:p14="http://schemas.microsoft.com/office/powerpoint/2010/main" val="919528827"/>
      </p:ext>
    </p:extLst>
  </p:cSld>
  <p:clrMapOvr>
    <a:masterClrMapping/>
  </p:clrMapOvr>
</p:sld>
</file>

<file path=ppt/theme/theme1.xml><?xml version="1.0" encoding="utf-8"?>
<a:theme xmlns:a="http://schemas.openxmlformats.org/drawingml/2006/main" name="Office">
  <a:themeElements>
    <a:clrScheme name="TUD_2025_Blau-Rot">
      <a:dk1>
        <a:srgbClr val="000000"/>
      </a:dk1>
      <a:lt1>
        <a:sysClr val="window" lastClr="FFFFFF"/>
      </a:lt1>
      <a:dk2>
        <a:srgbClr val="566371"/>
      </a:dk2>
      <a:lt2>
        <a:srgbClr val="FFFFFF"/>
      </a:lt2>
      <a:accent1>
        <a:srgbClr val="00008C"/>
      </a:accent1>
      <a:accent2>
        <a:srgbClr val="97C6FF"/>
      </a:accent2>
      <a:accent3>
        <a:srgbClr val="2F57B2"/>
      </a:accent3>
      <a:accent4>
        <a:srgbClr val="001450"/>
      </a:accent4>
      <a:accent5>
        <a:srgbClr val="D20F41"/>
      </a:accent5>
      <a:accent6>
        <a:srgbClr val="FFAAA5"/>
      </a:accent6>
      <a:hlink>
        <a:srgbClr val="00008C"/>
      </a:hlink>
      <a:folHlink>
        <a:srgbClr val="2F57B2"/>
      </a:folHlink>
    </a:clrScheme>
    <a:fontScheme name="TUD 25 Noto Sans">
      <a:majorFont>
        <a:latin typeface="Noto Sans SemiBold"/>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2309</Words>
  <Application>Microsoft Office PowerPoint</Application>
  <PresentationFormat>Custom</PresentationFormat>
  <Paragraphs>144</Paragraphs>
  <Slides>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Aptos</vt:lpstr>
      <vt:lpstr>Arial</vt:lpstr>
      <vt:lpstr>Cambria Math</vt:lpstr>
      <vt:lpstr>Noto Sans</vt:lpstr>
      <vt:lpstr>Noto Sans Medium</vt:lpstr>
      <vt:lpstr>Noto Sans SemiBold</vt:lpstr>
      <vt:lpstr>Noto Serif</vt:lpstr>
      <vt:lpstr>Office</vt:lpstr>
      <vt:lpstr>Oberseminar Automatisierungstechnik SS2026</vt:lpstr>
      <vt:lpstr>Oberseminar Automatisierungstechnik SS2026</vt:lpstr>
      <vt:lpstr>Oberseminar Automatisierungstechnik SS2026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Puhlfürst,Ulrich</dc:creator>
  <cp:lastModifiedBy>Duc Hai Nguyen</cp:lastModifiedBy>
  <cp:revision>65</cp:revision>
  <dcterms:created xsi:type="dcterms:W3CDTF">2025-09-04T12:04:34Z</dcterms:created>
  <dcterms:modified xsi:type="dcterms:W3CDTF">2026-07-13T13:46:15Z</dcterms:modified>
</cp:coreProperties>
</file>