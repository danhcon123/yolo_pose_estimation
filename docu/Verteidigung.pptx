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  <p:sldMasterId id="2147483711" r:id="rId3"/>
  </p:sldMasterIdLst>
  <p:notesMasterIdLst>
    <p:notesMasterId r:id="rId20"/>
  </p:notesMasterIdLst>
  <p:handoutMasterIdLst>
    <p:handoutMasterId r:id="rId21"/>
  </p:handoutMasterIdLst>
  <p:sldIdLst>
    <p:sldId id="256" r:id="rId4"/>
    <p:sldId id="336" r:id="rId5"/>
    <p:sldId id="335" r:id="rId6"/>
    <p:sldId id="320" r:id="rId7"/>
    <p:sldId id="339" r:id="rId8"/>
    <p:sldId id="333" r:id="rId9"/>
    <p:sldId id="341" r:id="rId10"/>
    <p:sldId id="344" r:id="rId11"/>
    <p:sldId id="342" r:id="rId12"/>
    <p:sldId id="343" r:id="rId13"/>
    <p:sldId id="345" r:id="rId14"/>
    <p:sldId id="338" r:id="rId15"/>
    <p:sldId id="334" r:id="rId16"/>
    <p:sldId id="337" r:id="rId17"/>
    <p:sldId id="304" r:id="rId18"/>
    <p:sldId id="292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83C701C-0B02-F39B-CF72-564DBC6FBC27}" name="Duc Hai Nguyen" initials="DN" userId="b80d323cb1f4b6b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8C"/>
    <a:srgbClr val="FFFFFF"/>
    <a:srgbClr val="323F4B"/>
    <a:srgbClr val="000000"/>
    <a:srgbClr val="00005A"/>
    <a:srgbClr val="97C6FF"/>
    <a:srgbClr val="C8C8FF"/>
    <a:srgbClr val="FFB9FF"/>
    <a:srgbClr val="FFAAA5"/>
    <a:srgbClr val="FFBE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0460" autoAdjust="0"/>
  </p:normalViewPr>
  <p:slideViewPr>
    <p:cSldViewPr snapToGrid="0" showGuides="1">
      <p:cViewPr>
        <p:scale>
          <a:sx n="75" d="100"/>
          <a:sy n="75" d="100"/>
        </p:scale>
        <p:origin x="1950" y="13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25" d="100"/>
        <a:sy n="125" d="100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microsoft.com/office/2018/10/relationships/authors" Target="authors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377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grundlegende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Baustein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Conv2d, 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SiLU-Aktivierung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lernbare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Kanten,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komplexere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zunehmend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abstrakte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extrahieren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Conv-Bl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3x3 Kernel Stride 2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schrittweise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YOLO26-Architektur h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ufig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Ausgangskan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stabilisiert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Training, w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weitergegeben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</a:p>
          <a:p>
            <a:endParaRPr lang="en-US" dirty="0"/>
          </a:p>
          <a:p>
            <a:endParaRPr lang="en-US" b="1" dirty="0"/>
          </a:p>
          <a:p>
            <a:endParaRPr lang="en-US" b="1" dirty="0"/>
          </a:p>
          <a:p>
            <a:r>
              <a:rPr lang="en-DE" b="1" dirty="0"/>
              <a:t>Der </a:t>
            </a:r>
            <a:r>
              <a:rPr lang="en-DE" b="1" dirty="0" err="1"/>
              <a:t>Upsample</a:t>
            </a:r>
            <a:r>
              <a:rPr lang="en-DE" b="1" dirty="0"/>
              <a:t>-Block </a:t>
            </a:r>
            <a:r>
              <a:rPr lang="en-US" b="1" dirty="0"/>
              <a:t>:</a:t>
            </a:r>
          </a:p>
          <a:p>
            <a:r>
              <a:rPr lang="en-DE" b="1" dirty="0" err="1"/>
              <a:t>verdoppelt</a:t>
            </a:r>
            <a:r>
              <a:rPr lang="en-DE" dirty="0"/>
              <a:t>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b="1" dirty="0" err="1"/>
              <a:t>einer</a:t>
            </a:r>
            <a:r>
              <a:rPr lang="en-DE" b="1" dirty="0"/>
              <a:t> Nearest-</a:t>
            </a:r>
            <a:r>
              <a:rPr lang="en-DE" b="1" dirty="0" err="1"/>
              <a:t>Neighbor</a:t>
            </a:r>
            <a:r>
              <a:rPr lang="en-DE" b="1" dirty="0"/>
              <a:t>-Interpolation </a:t>
            </a:r>
            <a:r>
              <a:rPr lang="en-DE" dirty="0"/>
              <a:t>die </a:t>
            </a:r>
            <a:r>
              <a:rPr lang="en-DE" dirty="0" err="1"/>
              <a:t>räumliche</a:t>
            </a:r>
            <a:r>
              <a:rPr lang="en-DE" dirty="0"/>
              <a:t> </a:t>
            </a:r>
            <a:r>
              <a:rPr lang="en-DE" b="1" dirty="0" err="1"/>
              <a:t>Auflösung</a:t>
            </a:r>
            <a:r>
              <a:rPr lang="en-DE" dirty="0"/>
              <a:t> </a:t>
            </a:r>
            <a:r>
              <a:rPr lang="en-DE" b="1" dirty="0"/>
              <a:t>der </a:t>
            </a:r>
            <a:r>
              <a:rPr lang="en-DE" b="1" dirty="0" err="1"/>
              <a:t>Merkmalskarte</a:t>
            </a:r>
            <a:r>
              <a:rPr lang="en-DE" dirty="0"/>
              <a:t>. Die </a:t>
            </a:r>
            <a:r>
              <a:rPr lang="en-DE" b="1" dirty="0" err="1"/>
              <a:t>Kanalzahl</a:t>
            </a:r>
            <a:r>
              <a:rPr lang="en-DE" dirty="0"/>
              <a:t> </a:t>
            </a:r>
            <a:r>
              <a:rPr lang="en-DE" dirty="0" err="1"/>
              <a:t>bleibt</a:t>
            </a:r>
            <a:r>
              <a:rPr lang="en-DE" dirty="0"/>
              <a:t> </a:t>
            </a:r>
            <a:r>
              <a:rPr lang="en-DE" dirty="0" err="1"/>
              <a:t>dabei</a:t>
            </a:r>
            <a:r>
              <a:rPr lang="en-DE" dirty="0"/>
              <a:t> </a:t>
            </a:r>
            <a:r>
              <a:rPr lang="en-DE" b="1" dirty="0" err="1"/>
              <a:t>unverändert</a:t>
            </a:r>
            <a:r>
              <a:rPr lang="en-DE" dirty="0"/>
              <a:t>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DE" dirty="0"/>
              <a:t>In </a:t>
            </a:r>
            <a:r>
              <a:rPr lang="en-DE" b="1" dirty="0" err="1"/>
              <a:t>tieferen</a:t>
            </a:r>
            <a:r>
              <a:rPr lang="en-DE" b="1" dirty="0"/>
              <a:t> Backbone-</a:t>
            </a:r>
            <a:r>
              <a:rPr lang="en-DE" b="1" dirty="0" err="1"/>
              <a:t>Schichten</a:t>
            </a:r>
            <a:r>
              <a:rPr lang="en-DE" b="1" dirty="0"/>
              <a:t> </a:t>
            </a:r>
            <a:r>
              <a:rPr lang="en-DE" dirty="0" err="1"/>
              <a:t>nimmt</a:t>
            </a:r>
            <a:r>
              <a:rPr lang="en-DE" dirty="0"/>
              <a:t> </a:t>
            </a:r>
            <a:r>
              <a:rPr lang="en-DE" b="1" dirty="0"/>
              <a:t>die </a:t>
            </a:r>
            <a:r>
              <a:rPr lang="en-DE" b="1" dirty="0" err="1"/>
              <a:t>räumliche</a:t>
            </a:r>
            <a:r>
              <a:rPr lang="en-DE" b="1" dirty="0"/>
              <a:t> </a:t>
            </a:r>
            <a:r>
              <a:rPr lang="en-DE" b="1" dirty="0" err="1"/>
              <a:t>Auflösung</a:t>
            </a:r>
            <a:r>
              <a:rPr lang="en-DE" b="1" dirty="0"/>
              <a:t> ab</a:t>
            </a:r>
            <a:r>
              <a:rPr lang="en-DE" dirty="0"/>
              <a:t>, </a:t>
            </a:r>
            <a:r>
              <a:rPr lang="en-DE" dirty="0" err="1"/>
              <a:t>während</a:t>
            </a:r>
            <a:r>
              <a:rPr lang="en-DE" dirty="0"/>
              <a:t> der </a:t>
            </a:r>
            <a:r>
              <a:rPr lang="en-DE" b="1" dirty="0" err="1"/>
              <a:t>erfasste</a:t>
            </a:r>
            <a:r>
              <a:rPr lang="en-DE" b="1" dirty="0"/>
              <a:t> </a:t>
            </a:r>
            <a:r>
              <a:rPr lang="en-DE" b="1" dirty="0" err="1"/>
              <a:t>Kontext</a:t>
            </a:r>
            <a:r>
              <a:rPr lang="en-DE" b="1" dirty="0"/>
              <a:t> </a:t>
            </a:r>
            <a:r>
              <a:rPr lang="en-DE" b="1" dirty="0" err="1"/>
              <a:t>zunimmt</a:t>
            </a:r>
            <a:r>
              <a:rPr lang="en-DE" b="1" dirty="0"/>
              <a:t>. </a:t>
            </a:r>
            <a:endParaRPr lang="en-US" b="1" dirty="0"/>
          </a:p>
          <a:p>
            <a:r>
              <a:rPr lang="en-DE" b="1" dirty="0" err="1"/>
              <a:t>Flachere</a:t>
            </a:r>
            <a:r>
              <a:rPr lang="en-DE" b="1" dirty="0"/>
              <a:t> </a:t>
            </a:r>
            <a:r>
              <a:rPr lang="en-DE" b="1" dirty="0" err="1"/>
              <a:t>Merkmalskarten</a:t>
            </a:r>
            <a:r>
              <a:rPr lang="en-DE" b="1" dirty="0"/>
              <a:t> </a:t>
            </a:r>
            <a:r>
              <a:rPr lang="en-DE" dirty="0" err="1"/>
              <a:t>eignen</a:t>
            </a:r>
            <a:r>
              <a:rPr lang="en-DE" dirty="0"/>
              <a:t> </a:t>
            </a:r>
            <a:r>
              <a:rPr lang="en-DE" dirty="0" err="1"/>
              <a:t>sich</a:t>
            </a:r>
            <a:r>
              <a:rPr lang="en-DE" dirty="0"/>
              <a:t> </a:t>
            </a:r>
            <a:r>
              <a:rPr lang="en-DE" dirty="0" err="1"/>
              <a:t>daher</a:t>
            </a:r>
            <a:r>
              <a:rPr lang="en-DE" dirty="0"/>
              <a:t> </a:t>
            </a:r>
            <a:r>
              <a:rPr lang="en-DE" dirty="0" err="1"/>
              <a:t>eher</a:t>
            </a:r>
            <a:r>
              <a:rPr lang="en-DE" dirty="0"/>
              <a:t> </a:t>
            </a:r>
            <a:r>
              <a:rPr lang="en-DE" b="1" dirty="0"/>
              <a:t>für </a:t>
            </a:r>
            <a:r>
              <a:rPr lang="en-DE" b="1" dirty="0" err="1"/>
              <a:t>kleine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dirty="0"/>
              <a:t>, </a:t>
            </a:r>
            <a:r>
              <a:rPr lang="en-DE" b="1" dirty="0" err="1"/>
              <a:t>tiefere</a:t>
            </a:r>
            <a:r>
              <a:rPr lang="en-DE" b="1" dirty="0"/>
              <a:t> </a:t>
            </a:r>
            <a:r>
              <a:rPr lang="en-DE" b="1" dirty="0" err="1"/>
              <a:t>Merkmalskarten</a:t>
            </a:r>
            <a:r>
              <a:rPr lang="en-DE" b="1" dirty="0"/>
              <a:t> </a:t>
            </a:r>
            <a:r>
              <a:rPr lang="en-DE" dirty="0" err="1"/>
              <a:t>eher</a:t>
            </a:r>
            <a:r>
              <a:rPr lang="en-DE" dirty="0"/>
              <a:t> für </a:t>
            </a:r>
            <a:r>
              <a:rPr lang="en-DE" b="1" dirty="0" err="1"/>
              <a:t>große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b="1" dirty="0"/>
              <a:t>.</a:t>
            </a:r>
            <a:endParaRPr lang="en-US" b="1" dirty="0"/>
          </a:p>
          <a:p>
            <a:r>
              <a:rPr lang="en-DE" b="1" dirty="0"/>
              <a:t>SPPF und C2PSA </a:t>
            </a:r>
            <a:r>
              <a:rPr lang="en-DE" dirty="0" err="1"/>
              <a:t>verbessern</a:t>
            </a:r>
            <a:r>
              <a:rPr lang="en-DE" dirty="0"/>
              <a:t> </a:t>
            </a:r>
            <a:r>
              <a:rPr lang="en-DE" dirty="0" err="1"/>
              <a:t>vor</a:t>
            </a:r>
            <a:r>
              <a:rPr lang="en-DE" dirty="0"/>
              <a:t> </a:t>
            </a:r>
            <a:r>
              <a:rPr lang="en-DE" dirty="0" err="1"/>
              <a:t>allem</a:t>
            </a:r>
            <a:r>
              <a:rPr lang="en-DE" dirty="0"/>
              <a:t> den </a:t>
            </a:r>
            <a:r>
              <a:rPr lang="en-DE" b="1" dirty="0" err="1"/>
              <a:t>räumlichen</a:t>
            </a:r>
            <a:r>
              <a:rPr lang="en-DE" b="1" dirty="0"/>
              <a:t> </a:t>
            </a:r>
            <a:r>
              <a:rPr lang="en-DE" b="1" dirty="0" err="1"/>
              <a:t>Kontext</a:t>
            </a:r>
            <a:r>
              <a:rPr lang="en-DE" b="1" dirty="0"/>
              <a:t> und die </a:t>
            </a:r>
            <a:r>
              <a:rPr lang="en-DE" b="1" dirty="0" err="1"/>
              <a:t>Gewichtung</a:t>
            </a:r>
            <a:r>
              <a:rPr lang="en-DE" b="1" dirty="0"/>
              <a:t> </a:t>
            </a:r>
            <a:r>
              <a:rPr lang="en-DE" b="1" dirty="0" err="1"/>
              <a:t>wichtiger</a:t>
            </a:r>
            <a:r>
              <a:rPr lang="en-DE" b="1" dirty="0"/>
              <a:t> </a:t>
            </a:r>
            <a:r>
              <a:rPr lang="en-DE" b="1" dirty="0" err="1"/>
              <a:t>Merkmale</a:t>
            </a:r>
            <a:r>
              <a:rPr lang="en-DE" dirty="0"/>
              <a:t>. Kleine </a:t>
            </a:r>
            <a:r>
              <a:rPr lang="en-DE" dirty="0" err="1"/>
              <a:t>Objekte</a:t>
            </a:r>
            <a:r>
              <a:rPr lang="en-DE" dirty="0"/>
              <a:t> </a:t>
            </a:r>
            <a:r>
              <a:rPr lang="en-DE" dirty="0" err="1"/>
              <a:t>profitieren</a:t>
            </a:r>
            <a:r>
              <a:rPr lang="en-DE" dirty="0"/>
              <a:t> </a:t>
            </a:r>
            <a:r>
              <a:rPr lang="en-DE" dirty="0" err="1"/>
              <a:t>davon</a:t>
            </a:r>
            <a:r>
              <a:rPr lang="en-DE" dirty="0"/>
              <a:t> </a:t>
            </a:r>
            <a:r>
              <a:rPr lang="en-DE" dirty="0" err="1"/>
              <a:t>indirekt</a:t>
            </a:r>
            <a:r>
              <a:rPr lang="en-DE" dirty="0"/>
              <a:t>, 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DE" b="1" dirty="0"/>
              <a:t>der </a:t>
            </a:r>
            <a:r>
              <a:rPr lang="en-DE" b="1" dirty="0" err="1"/>
              <a:t>oberste</a:t>
            </a:r>
            <a:r>
              <a:rPr lang="en-DE" b="1" dirty="0"/>
              <a:t> Head </a:t>
            </a:r>
            <a:r>
              <a:rPr lang="en-DE" b="1" dirty="0" err="1"/>
              <a:t>ist</a:t>
            </a:r>
            <a:r>
              <a:rPr lang="en-DE" b="1" dirty="0"/>
              <a:t> </a:t>
            </a:r>
            <a:r>
              <a:rPr lang="en-DE" b="1" dirty="0" err="1"/>
              <a:t>hauptsächlich</a:t>
            </a:r>
            <a:r>
              <a:rPr lang="en-DE" b="1" dirty="0"/>
              <a:t> für </a:t>
            </a:r>
            <a:r>
              <a:rPr lang="en-DE" b="1" dirty="0" err="1"/>
              <a:t>kleinere</a:t>
            </a:r>
            <a:r>
              <a:rPr lang="en-DE" b="1" dirty="0"/>
              <a:t> </a:t>
            </a:r>
            <a:r>
              <a:rPr lang="en-DE" b="1" dirty="0" err="1"/>
              <a:t>Objekte</a:t>
            </a:r>
            <a:r>
              <a:rPr lang="en-DE" b="1" dirty="0"/>
              <a:t> </a:t>
            </a:r>
            <a:r>
              <a:rPr lang="en-DE" b="1" dirty="0" err="1"/>
              <a:t>zuständig</a:t>
            </a:r>
            <a:r>
              <a:rPr lang="en-DE" dirty="0"/>
              <a:t>.</a:t>
            </a:r>
          </a:p>
          <a:p>
            <a:r>
              <a:rPr lang="en-DE" dirty="0"/>
              <a:t>In der </a:t>
            </a:r>
            <a:r>
              <a:rPr lang="en-DE" dirty="0" err="1"/>
              <a:t>Abbildung</a:t>
            </a:r>
            <a:r>
              <a:rPr lang="en-DE" dirty="0"/>
              <a:t> </a:t>
            </a:r>
            <a:r>
              <a:rPr lang="en-DE" dirty="0" err="1"/>
              <a:t>erhält</a:t>
            </a:r>
            <a:r>
              <a:rPr lang="en-DE" dirty="0"/>
              <a:t> er die </a:t>
            </a:r>
            <a:r>
              <a:rPr lang="en-DE" dirty="0" err="1"/>
              <a:t>hochauflösende</a:t>
            </a:r>
            <a:r>
              <a:rPr lang="en-DE" dirty="0"/>
              <a:t> </a:t>
            </a:r>
            <a:r>
              <a:rPr lang="en-DE" dirty="0" err="1"/>
              <a:t>Merkmalskarte</a:t>
            </a:r>
            <a:r>
              <a:rPr lang="en-DE" dirty="0"/>
              <a:t> </a:t>
            </a:r>
            <a:r>
              <a:rPr lang="en-DE" b="1" dirty="0"/>
              <a:t>P3/8</a:t>
            </a:r>
            <a:r>
              <a:rPr lang="en-DE" dirty="0"/>
              <a:t>:</a:t>
            </a: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P3/8: 80 × 80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kleine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P4/16: 40 × 40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mittelgroße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P5/32: 20 × 20 →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große</a:t>
            </a:r>
            <a:r>
              <a:rPr lang="en-DE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DE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Objekte</a:t>
            </a:r>
            <a:endParaRPr lang="en-DE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8251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Conv-Block: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grundlegende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Baustein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Conv2d, 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SiLU-Aktivierung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lernbare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Kanten,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komplexere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zunehmend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abstrakte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extrahieren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Conv-Bl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3x3 Kernel Stride 2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schrittweise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YOLO26-Architektur h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ufig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Filter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Ausgangskan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Normalisierun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stabilisiert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Training, w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hrend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SiLU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Signale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weitergegeben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C3k2-Block:</a:t>
            </a:r>
          </a:p>
          <a:p>
            <a:pPr rtl="0" fontAlgn="ctr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Verfeinerung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extrahierten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Pfade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 rtl="0" fontAlgn="ctr">
              <a:buFontTx/>
              <a:buChar char="-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Teil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weitergef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171450" indent="-171450" rtl="0" fontAlgn="ctr">
              <a:buFontTx/>
              <a:buChar char="-"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tzliche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Bottleneck-Bl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verarbeitet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unterschiedlich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verarbeiteten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konkateniert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1-Faltung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erhalten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chunk(2)</a:t>
            </a:r>
            <a:r>
              <a:rPr lang="en-DE" dirty="0"/>
              <a:t> </a:t>
            </a:r>
            <a:r>
              <a:rPr lang="en-DE" dirty="0" err="1"/>
              <a:t>bedeutet</a:t>
            </a:r>
            <a:r>
              <a:rPr lang="en-DE" dirty="0"/>
              <a:t>: </a:t>
            </a:r>
            <a:r>
              <a:rPr lang="en-DE" b="1" dirty="0" err="1"/>
              <a:t>Teile</a:t>
            </a:r>
            <a:r>
              <a:rPr lang="en-DE" b="1" dirty="0"/>
              <a:t> den Tensor in </a:t>
            </a:r>
            <a:r>
              <a:rPr lang="en-DE" b="1" dirty="0" err="1"/>
              <a:t>zwei</a:t>
            </a:r>
            <a:r>
              <a:rPr lang="en-DE" b="1" dirty="0"/>
              <a:t> </a:t>
            </a:r>
            <a:r>
              <a:rPr lang="en-DE" b="1" dirty="0" err="1"/>
              <a:t>möglichst</a:t>
            </a:r>
            <a:r>
              <a:rPr lang="en-DE" b="1" dirty="0"/>
              <a:t> </a:t>
            </a:r>
            <a:r>
              <a:rPr lang="en-DE" b="1" dirty="0" err="1"/>
              <a:t>gleich</a:t>
            </a:r>
            <a:r>
              <a:rPr lang="en-DE" b="1" dirty="0"/>
              <a:t> </a:t>
            </a:r>
            <a:r>
              <a:rPr lang="en-DE" b="1" dirty="0" err="1"/>
              <a:t>große</a:t>
            </a:r>
            <a:r>
              <a:rPr lang="en-DE" b="1" dirty="0"/>
              <a:t> </a:t>
            </a:r>
            <a:r>
              <a:rPr lang="en-DE" b="1" dirty="0" err="1"/>
              <a:t>Teile</a:t>
            </a:r>
            <a:r>
              <a:rPr lang="en-DE" b="1" dirty="0"/>
              <a:t>.</a:t>
            </a:r>
            <a:r>
              <a:rPr lang="en-DE" dirty="0"/>
              <a:t> </a:t>
            </a:r>
            <a:r>
              <a:rPr lang="en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split(...)</a:t>
            </a:r>
            <a:r>
              <a:rPr lang="en-DE" dirty="0"/>
              <a:t> </a:t>
            </a:r>
            <a:r>
              <a:rPr lang="en-DE" dirty="0" err="1"/>
              <a:t>bedeutet</a:t>
            </a:r>
            <a:r>
              <a:rPr lang="en-DE" dirty="0"/>
              <a:t>: </a:t>
            </a:r>
            <a:r>
              <a:rPr lang="en-DE" b="1" dirty="0" err="1"/>
              <a:t>Teile</a:t>
            </a:r>
            <a:r>
              <a:rPr lang="en-DE" b="1" dirty="0"/>
              <a:t> den Tensor </a:t>
            </a:r>
            <a:r>
              <a:rPr lang="en-DE" b="1" dirty="0" err="1"/>
              <a:t>nach</a:t>
            </a:r>
            <a:r>
              <a:rPr lang="en-DE" b="1" dirty="0"/>
              <a:t> </a:t>
            </a:r>
            <a:r>
              <a:rPr lang="en-DE" b="1" dirty="0" err="1"/>
              <a:t>vorgegebenen</a:t>
            </a:r>
            <a:r>
              <a:rPr lang="en-DE" b="1" dirty="0"/>
              <a:t> </a:t>
            </a:r>
            <a:r>
              <a:rPr lang="en-DE" b="1" dirty="0" err="1"/>
              <a:t>Größen</a:t>
            </a:r>
            <a:r>
              <a:rPr lang="en-DE" b="1" dirty="0"/>
              <a:t> auf.</a:t>
            </a:r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endParaRPr lang="en-US" dirty="0"/>
          </a:p>
          <a:p>
            <a:pPr rtl="0" fontAlgn="ctr"/>
            <a:r>
              <a:rPr lang="en-DE" dirty="0"/>
              <a:t>Durch die </a:t>
            </a:r>
            <a:r>
              <a:rPr lang="en-DE" b="1" dirty="0" err="1"/>
              <a:t>Konkatenation</a:t>
            </a:r>
            <a:r>
              <a:rPr lang="en-DE" dirty="0"/>
              <a:t> </a:t>
            </a:r>
            <a:r>
              <a:rPr lang="en-DE" b="1" dirty="0" err="1"/>
              <a:t>steigt</a:t>
            </a:r>
            <a:r>
              <a:rPr lang="en-DE" dirty="0"/>
              <a:t> die </a:t>
            </a:r>
            <a:r>
              <a:rPr lang="en-DE" b="1" dirty="0" err="1"/>
              <a:t>Anzahl</a:t>
            </a:r>
            <a:r>
              <a:rPr lang="en-DE" b="1" dirty="0"/>
              <a:t> der </a:t>
            </a:r>
            <a:r>
              <a:rPr lang="en-DE" b="1" dirty="0" err="1"/>
              <a:t>Kanäle</a:t>
            </a:r>
            <a:r>
              <a:rPr lang="en-DE" dirty="0"/>
              <a:t>. </a:t>
            </a:r>
            <a:endParaRPr lang="en-US" dirty="0"/>
          </a:p>
          <a:p>
            <a:pPr rtl="0" fontAlgn="ctr"/>
            <a:r>
              <a:rPr lang="en-DE" dirty="0"/>
              <a:t>Die </a:t>
            </a:r>
            <a:r>
              <a:rPr lang="en-DE" dirty="0" err="1"/>
              <a:t>anschließende</a:t>
            </a:r>
            <a:r>
              <a:rPr lang="en-DE" dirty="0"/>
              <a:t> </a:t>
            </a:r>
            <a:r>
              <a:rPr lang="en-DE" b="1" dirty="0"/>
              <a:t>1×1-Faltung </a:t>
            </a:r>
            <a:r>
              <a:rPr lang="en-DE" b="1" dirty="0" err="1"/>
              <a:t>kombiniert</a:t>
            </a:r>
            <a:r>
              <a:rPr lang="en-DE" b="1" dirty="0"/>
              <a:t> </a:t>
            </a:r>
            <a:r>
              <a:rPr lang="en-DE" dirty="0"/>
              <a:t>die </a:t>
            </a:r>
            <a:r>
              <a:rPr lang="en-DE" b="1" dirty="0" err="1"/>
              <a:t>Kanalinformationen</a:t>
            </a:r>
            <a:r>
              <a:rPr lang="en-DE" dirty="0"/>
              <a:t> </a:t>
            </a:r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de-DE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Pyramid</a:t>
            </a:r>
            <a:r>
              <a:rPr lang="de-DE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Pooling – Fast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 Ende des Backbones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erweitert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SPPF-Block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Kontext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aufeinanderfolgende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Max-Pooling-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ctr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effektiven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Bereichen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5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5, 9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 und 13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Aufl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ö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sung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Merkmalskarte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ndern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rtl="0" fontAlgn="ctr"/>
            <a:r>
              <a:rPr lang="en-DE" dirty="0"/>
              <a:t>Die </a:t>
            </a:r>
            <a:r>
              <a:rPr lang="en-DE" b="1" dirty="0"/>
              <a:t>Max-Pooling-Operation</a:t>
            </a:r>
            <a:r>
              <a:rPr lang="en-DE" dirty="0"/>
              <a:t> </a:t>
            </a:r>
            <a:r>
              <a:rPr lang="en-DE" dirty="0" err="1"/>
              <a:t>übernimmt</a:t>
            </a:r>
            <a:r>
              <a:rPr lang="en-DE" dirty="0"/>
              <a:t> </a:t>
            </a:r>
            <a:r>
              <a:rPr lang="en-DE" b="1" dirty="0" err="1"/>
              <a:t>aus</a:t>
            </a:r>
            <a:r>
              <a:rPr lang="en-DE" dirty="0"/>
              <a:t> </a:t>
            </a:r>
            <a:r>
              <a:rPr lang="en-DE" dirty="0" err="1"/>
              <a:t>jedem</a:t>
            </a:r>
            <a:r>
              <a:rPr lang="en-DE" dirty="0"/>
              <a:t> </a:t>
            </a:r>
            <a:r>
              <a:rPr lang="en-DE" b="1" dirty="0" err="1"/>
              <a:t>lokalen</a:t>
            </a:r>
            <a:r>
              <a:rPr lang="en-DE" b="1" dirty="0"/>
              <a:t> </a:t>
            </a:r>
            <a:r>
              <a:rPr lang="en-DE" b="1" dirty="0" err="1"/>
              <a:t>Bereich</a:t>
            </a:r>
            <a:r>
              <a:rPr lang="en-DE" b="1" dirty="0"/>
              <a:t> </a:t>
            </a:r>
            <a:r>
              <a:rPr lang="en-DE" dirty="0"/>
              <a:t>den </a:t>
            </a:r>
            <a:r>
              <a:rPr lang="en-DE" b="1" dirty="0" err="1"/>
              <a:t>größten</a:t>
            </a:r>
            <a:r>
              <a:rPr lang="en-DE" b="1" dirty="0"/>
              <a:t> </a:t>
            </a:r>
            <a:r>
              <a:rPr lang="en-DE" b="1" dirty="0" err="1"/>
              <a:t>Aktivierungswert</a:t>
            </a:r>
            <a:r>
              <a:rPr lang="en-DE" b="1" dirty="0"/>
              <a:t> </a:t>
            </a:r>
            <a:r>
              <a:rPr lang="en-DE" dirty="0"/>
              <a:t>und </a:t>
            </a:r>
            <a:r>
              <a:rPr lang="en-DE" b="1" dirty="0" err="1"/>
              <a:t>hebt</a:t>
            </a:r>
            <a:r>
              <a:rPr lang="en-DE" dirty="0"/>
              <a:t> </a:t>
            </a: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besonders</a:t>
            </a:r>
            <a:r>
              <a:rPr lang="en-DE" dirty="0"/>
              <a:t> </a:t>
            </a:r>
            <a:r>
              <a:rPr lang="en-DE" b="1" dirty="0" err="1"/>
              <a:t>starke</a:t>
            </a:r>
            <a:r>
              <a:rPr lang="en-DE" b="1" dirty="0"/>
              <a:t> </a:t>
            </a:r>
            <a:r>
              <a:rPr lang="en-DE" b="1" dirty="0" err="1"/>
              <a:t>beziehungsweise</a:t>
            </a:r>
            <a:r>
              <a:rPr lang="en-DE" b="1" dirty="0"/>
              <a:t> </a:t>
            </a:r>
            <a:r>
              <a:rPr lang="en-DE" b="1" dirty="0" err="1"/>
              <a:t>relevante</a:t>
            </a:r>
            <a:r>
              <a:rPr lang="en-DE" b="1" dirty="0"/>
              <a:t> </a:t>
            </a:r>
            <a:r>
              <a:rPr lang="en-DE" b="1" dirty="0" err="1"/>
              <a:t>Merkmale</a:t>
            </a:r>
            <a:r>
              <a:rPr lang="en-DE" dirty="0"/>
              <a:t> </a:t>
            </a:r>
            <a:r>
              <a:rPr lang="en-DE" b="1" dirty="0" err="1"/>
              <a:t>hervor</a:t>
            </a:r>
            <a:r>
              <a:rPr lang="en-DE" dirty="0"/>
              <a:t>.</a:t>
            </a:r>
            <a:endParaRPr lang="en-DE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C2PSA-Block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rtl="0" fontAlgn="ctr"/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nachfolgende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C2PSA-Block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tzlich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Self-Attention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umlich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Merkmale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kontextabh</a:t>
            </a:r>
            <a:r>
              <a:rPr lang="en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ngig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gewichten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wichtige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Bildbereiche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rker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cksichtigen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D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942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Der </a:t>
            </a:r>
            <a:r>
              <a:rPr lang="en-DE" dirty="0" err="1"/>
              <a:t>Gesamtverlust</a:t>
            </a:r>
            <a:r>
              <a:rPr lang="en-DE" dirty="0"/>
              <a:t> </a:t>
            </a:r>
            <a:r>
              <a:rPr lang="en-DE" dirty="0" err="1"/>
              <a:t>kombiniert</a:t>
            </a:r>
            <a:r>
              <a:rPr lang="en-DE" dirty="0"/>
              <a:t> die </a:t>
            </a:r>
            <a:r>
              <a:rPr lang="en-DE" dirty="0" err="1"/>
              <a:t>Erkennung</a:t>
            </a:r>
            <a:r>
              <a:rPr lang="en-DE" dirty="0"/>
              <a:t> der Person, die </a:t>
            </a:r>
            <a:r>
              <a:rPr lang="en-DE" dirty="0" err="1"/>
              <a:t>Genauigkeit</a:t>
            </a:r>
            <a:r>
              <a:rPr lang="en-DE" dirty="0"/>
              <a:t> der Bounding Box </a:t>
            </a:r>
            <a:r>
              <a:rPr lang="en-DE" dirty="0" err="1"/>
              <a:t>sowie</a:t>
            </a:r>
            <a:r>
              <a:rPr lang="en-DE" dirty="0"/>
              <a:t> die Position, </a:t>
            </a:r>
            <a:r>
              <a:rPr lang="en-DE" dirty="0" err="1"/>
              <a:t>Sichtbarkeit</a:t>
            </a:r>
            <a:r>
              <a:rPr lang="en-DE" dirty="0"/>
              <a:t> und </a:t>
            </a:r>
            <a:r>
              <a:rPr lang="en-DE" dirty="0" err="1"/>
              <a:t>Unsicherheit</a:t>
            </a:r>
            <a:r>
              <a:rPr lang="en-DE" dirty="0"/>
              <a:t> der </a:t>
            </a:r>
            <a:r>
              <a:rPr lang="en-DE" dirty="0" err="1"/>
              <a:t>Keypoints</a:t>
            </a:r>
            <a:r>
              <a:rPr lang="en-DE" dirty="0"/>
              <a:t>. </a:t>
            </a:r>
            <a:endParaRPr lang="en-US" dirty="0"/>
          </a:p>
          <a:p>
            <a:r>
              <a:rPr lang="en-DE" dirty="0"/>
              <a:t>Die Lambda-</a:t>
            </a:r>
            <a:r>
              <a:rPr lang="en-DE" dirty="0" err="1"/>
              <a:t>Faktore</a:t>
            </a:r>
            <a:r>
              <a:rPr lang="en-US" dirty="0"/>
              <a:t>n = </a:t>
            </a:r>
            <a:r>
              <a:rPr lang="en-DE" dirty="0" err="1"/>
              <a:t>Gewichtungsfaktor</a:t>
            </a:r>
            <a:r>
              <a:rPr lang="en-DE" dirty="0"/>
              <a:t> der </a:t>
            </a:r>
            <a:r>
              <a:rPr lang="en-DE" dirty="0" err="1"/>
              <a:t>Verlustkomponente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b="1" dirty="0" err="1"/>
              <a:t>CIoU</a:t>
            </a:r>
            <a:r>
              <a:rPr lang="en-DE" b="1" dirty="0"/>
              <a:t> </a:t>
            </a:r>
            <a:r>
              <a:rPr lang="en-DE" b="1" dirty="0" err="1"/>
              <a:t>betrachtet</a:t>
            </a:r>
            <a:r>
              <a:rPr lang="en-DE" b="1" dirty="0"/>
              <a:t> die Box </a:t>
            </a:r>
            <a:r>
              <a:rPr lang="en-DE" b="1" dirty="0" err="1"/>
              <a:t>als</a:t>
            </a:r>
            <a:r>
              <a:rPr lang="en-DE" b="1" dirty="0"/>
              <a:t> </a:t>
            </a:r>
            <a:r>
              <a:rPr lang="en-DE" b="1" dirty="0" err="1"/>
              <a:t>Ganzes</a:t>
            </a:r>
            <a:r>
              <a:rPr lang="en-DE" b="1" dirty="0"/>
              <a:t>, </a:t>
            </a:r>
            <a:r>
              <a:rPr lang="en-DE" b="1" dirty="0" err="1"/>
              <a:t>während</a:t>
            </a:r>
            <a:r>
              <a:rPr lang="en-DE" b="1" dirty="0"/>
              <a:t> L1 </a:t>
            </a:r>
            <a:r>
              <a:rPr lang="en-DE" b="1" dirty="0" err="1"/>
              <a:t>jeden</a:t>
            </a:r>
            <a:r>
              <a:rPr lang="en-DE" b="1" dirty="0"/>
              <a:t> </a:t>
            </a:r>
            <a:r>
              <a:rPr lang="en-DE" b="1" dirty="0" err="1"/>
              <a:t>Boxwert</a:t>
            </a:r>
            <a:r>
              <a:rPr lang="en-DE" b="1" dirty="0"/>
              <a:t> </a:t>
            </a:r>
            <a:r>
              <a:rPr lang="en-DE" b="1" dirty="0" err="1"/>
              <a:t>einzeln</a:t>
            </a:r>
            <a:r>
              <a:rPr lang="en-DE" b="1" dirty="0"/>
              <a:t> </a:t>
            </a:r>
            <a:r>
              <a:rPr lang="en-DE" b="1" dirty="0" err="1"/>
              <a:t>korrigiert</a:t>
            </a:r>
            <a:r>
              <a:rPr lang="en-DE" b="1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en-DE" b="0" dirty="0" err="1"/>
              <a:t>CIoU</a:t>
            </a:r>
            <a:r>
              <a:rPr lang="en-DE" b="0" dirty="0"/>
              <a:t> </a:t>
            </a:r>
            <a:r>
              <a:rPr lang="en-DE" b="0" dirty="0" err="1"/>
              <a:t>betrachtet</a:t>
            </a:r>
            <a:r>
              <a:rPr lang="en-DE" b="0" dirty="0"/>
              <a:t> die Box </a:t>
            </a:r>
            <a:r>
              <a:rPr lang="en-DE" b="0" dirty="0" err="1"/>
              <a:t>als</a:t>
            </a:r>
            <a:r>
              <a:rPr lang="en-DE" b="0" dirty="0"/>
              <a:t> </a:t>
            </a:r>
            <a:r>
              <a:rPr lang="en-DE" b="0" dirty="0" err="1"/>
              <a:t>Ganzes</a:t>
            </a:r>
            <a:r>
              <a:rPr lang="en-DE" b="0" dirty="0"/>
              <a:t>, </a:t>
            </a:r>
            <a:r>
              <a:rPr lang="en-DE" b="0" dirty="0" err="1"/>
              <a:t>während</a:t>
            </a:r>
            <a:r>
              <a:rPr lang="en-DE" b="0" dirty="0"/>
              <a:t> L1 </a:t>
            </a:r>
            <a:r>
              <a:rPr lang="en-DE" b="0" dirty="0" err="1"/>
              <a:t>jeden</a:t>
            </a:r>
            <a:r>
              <a:rPr lang="en-DE" b="0" dirty="0"/>
              <a:t> </a:t>
            </a:r>
            <a:r>
              <a:rPr lang="en-DE" b="0" dirty="0" err="1"/>
              <a:t>Boxwert</a:t>
            </a:r>
            <a:r>
              <a:rPr lang="en-DE" b="0" dirty="0"/>
              <a:t> </a:t>
            </a:r>
            <a:r>
              <a:rPr lang="en-DE" b="0" dirty="0" err="1"/>
              <a:t>einzeln</a:t>
            </a:r>
            <a:r>
              <a:rPr lang="en-DE" b="0" dirty="0"/>
              <a:t> </a:t>
            </a:r>
            <a:r>
              <a:rPr lang="en-DE" b="0" dirty="0" err="1"/>
              <a:t>korrigiert</a:t>
            </a:r>
            <a:r>
              <a:rPr lang="en-DE" b="0" dirty="0"/>
              <a:t>.</a:t>
            </a:r>
            <a:endParaRPr lang="en-US" b="0" dirty="0"/>
          </a:p>
          <a:p>
            <a:r>
              <a:rPr lang="en-DE" b="1" dirty="0" err="1"/>
              <a:t>CIoU</a:t>
            </a:r>
            <a:r>
              <a:rPr lang="en-DE" dirty="0"/>
              <a:t> </a:t>
            </a:r>
            <a:r>
              <a:rPr lang="en-US" dirty="0"/>
              <a:t>- </a:t>
            </a:r>
            <a:r>
              <a:rPr lang="en-DE" b="1" dirty="0"/>
              <a:t>Complete Intersection over Union</a:t>
            </a:r>
            <a:r>
              <a:rPr lang="en-DE" dirty="0"/>
              <a:t>.</a:t>
            </a:r>
            <a:r>
              <a:rPr lang="en-US" dirty="0"/>
              <a:t> </a:t>
            </a:r>
            <a:r>
              <a:rPr lang="en-DE" dirty="0"/>
              <a:t> </a:t>
            </a:r>
            <a:r>
              <a:rPr lang="en-DE" dirty="0" err="1"/>
              <a:t>bewertet</a:t>
            </a:r>
            <a:r>
              <a:rPr lang="en-DE" dirty="0"/>
              <a:t> </a:t>
            </a:r>
            <a:r>
              <a:rPr lang="en-DE" dirty="0" err="1"/>
              <a:t>eine</a:t>
            </a:r>
            <a:r>
              <a:rPr lang="en-DE" dirty="0"/>
              <a:t> </a:t>
            </a:r>
            <a:r>
              <a:rPr lang="en-DE" dirty="0" err="1"/>
              <a:t>vorhergesagte</a:t>
            </a:r>
            <a:r>
              <a:rPr lang="en-DE" dirty="0"/>
              <a:t> Bounding Box </a:t>
            </a:r>
            <a:r>
              <a:rPr lang="en-DE" dirty="0" err="1"/>
              <a:t>anhand</a:t>
            </a:r>
            <a:r>
              <a:rPr lang="en-DE" dirty="0"/>
              <a:t> von </a:t>
            </a:r>
            <a:r>
              <a:rPr lang="en-DE" dirty="0" err="1"/>
              <a:t>drei</a:t>
            </a:r>
            <a:r>
              <a:rPr lang="en-DE" dirty="0"/>
              <a:t> </a:t>
            </a:r>
            <a:r>
              <a:rPr lang="en-DE" dirty="0" err="1"/>
              <a:t>Punkten</a:t>
            </a:r>
            <a:r>
              <a:rPr lang="en-DE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Überlappung</a:t>
            </a:r>
            <a:r>
              <a:rPr lang="en-DE" dirty="0"/>
              <a:t> </a:t>
            </a:r>
            <a:r>
              <a:rPr lang="en-DE" dirty="0" err="1"/>
              <a:t>mit</a:t>
            </a:r>
            <a:r>
              <a:rPr lang="en-DE" dirty="0"/>
              <a:t> der </a:t>
            </a:r>
            <a:r>
              <a:rPr lang="en-DE" dirty="0" err="1"/>
              <a:t>tatsächlichen</a:t>
            </a:r>
            <a:r>
              <a:rPr lang="en-DE" dirty="0"/>
              <a:t> Box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Abstand</a:t>
            </a:r>
            <a:r>
              <a:rPr lang="en-DE" dirty="0"/>
              <a:t> </a:t>
            </a:r>
            <a:r>
              <a:rPr lang="en-DE" dirty="0" err="1"/>
              <a:t>zwischen</a:t>
            </a:r>
            <a:r>
              <a:rPr lang="en-DE" dirty="0"/>
              <a:t> den </a:t>
            </a:r>
            <a:r>
              <a:rPr lang="en-DE" dirty="0" err="1"/>
              <a:t>Boxmittelpunkten</a:t>
            </a:r>
            <a:r>
              <a:rPr lang="en-DE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DE" dirty="0" err="1"/>
              <a:t>Ähnlichkeit</a:t>
            </a:r>
            <a:r>
              <a:rPr lang="en-DE" dirty="0"/>
              <a:t> des </a:t>
            </a:r>
            <a:r>
              <a:rPr lang="en-DE" dirty="0" err="1"/>
              <a:t>Seitenverhältnisses</a:t>
            </a:r>
            <a:endParaRPr lang="en-DE" dirty="0"/>
          </a:p>
          <a:p>
            <a:endParaRPr lang="en-US" b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787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 err="1"/>
              <a:t>Während</a:t>
            </a:r>
            <a:r>
              <a:rPr lang="en-DE" dirty="0"/>
              <a:t> des Trainings </a:t>
            </a:r>
            <a:r>
              <a:rPr lang="en-DE" dirty="0" err="1"/>
              <a:t>verwendet</a:t>
            </a:r>
            <a:r>
              <a:rPr lang="en-DE" dirty="0"/>
              <a:t> YOLO26 </a:t>
            </a:r>
            <a:r>
              <a:rPr lang="en-DE" dirty="0" err="1"/>
              <a:t>zwei</a:t>
            </a:r>
            <a:r>
              <a:rPr lang="en-DE" dirty="0"/>
              <a:t> Heads. </a:t>
            </a:r>
            <a:endParaRPr lang="en-US" dirty="0"/>
          </a:p>
          <a:p>
            <a:endParaRPr lang="en-US" dirty="0"/>
          </a:p>
          <a:p>
            <a:r>
              <a:rPr lang="en-US" dirty="0"/>
              <a:t>B</a:t>
            </a:r>
            <a:r>
              <a:rPr lang="en-DE" dirty="0" err="1"/>
              <a:t>eim</a:t>
            </a:r>
            <a:r>
              <a:rPr lang="en-DE" dirty="0"/>
              <a:t> Progressive Loss </a:t>
            </a:r>
            <a:r>
              <a:rPr lang="en-DE" dirty="0" err="1"/>
              <a:t>wird</a:t>
            </a:r>
            <a:r>
              <a:rPr lang="en-DE" dirty="0"/>
              <a:t> </a:t>
            </a:r>
            <a:r>
              <a:rPr lang="en-DE" dirty="0" err="1"/>
              <a:t>zu</a:t>
            </a:r>
            <a:r>
              <a:rPr lang="en-DE" dirty="0"/>
              <a:t> </a:t>
            </a:r>
            <a:r>
              <a:rPr lang="en-DE" dirty="0" err="1"/>
              <a:t>Beginn</a:t>
            </a:r>
            <a:r>
              <a:rPr lang="en-DE" dirty="0"/>
              <a:t> </a:t>
            </a:r>
            <a:r>
              <a:rPr lang="en-DE" dirty="0" err="1"/>
              <a:t>stärker</a:t>
            </a:r>
            <a:r>
              <a:rPr lang="en-DE" dirty="0"/>
              <a:t> der One-to-Many-Head </a:t>
            </a:r>
            <a:r>
              <a:rPr lang="en-DE" dirty="0" err="1"/>
              <a:t>trainiert</a:t>
            </a:r>
            <a:r>
              <a:rPr lang="en-DE" dirty="0"/>
              <a:t>, </a:t>
            </a:r>
            <a:r>
              <a:rPr lang="en-DE" dirty="0" err="1"/>
              <a:t>weil</a:t>
            </a:r>
            <a:r>
              <a:rPr lang="en-DE" dirty="0"/>
              <a:t> er </a:t>
            </a:r>
            <a:r>
              <a:rPr lang="en-DE" dirty="0" err="1"/>
              <a:t>durch</a:t>
            </a:r>
            <a:r>
              <a:rPr lang="en-DE" dirty="0"/>
              <a:t> </a:t>
            </a:r>
            <a:r>
              <a:rPr lang="en-DE" dirty="0" err="1"/>
              <a:t>viele</a:t>
            </a:r>
            <a:r>
              <a:rPr lang="en-DE" dirty="0"/>
              <a:t> positive </a:t>
            </a:r>
            <a:r>
              <a:rPr lang="en-DE" dirty="0" err="1"/>
              <a:t>Zuordnungen</a:t>
            </a:r>
            <a:r>
              <a:rPr lang="en-DE" dirty="0"/>
              <a:t> </a:t>
            </a:r>
            <a:r>
              <a:rPr lang="en-DE" dirty="0" err="1"/>
              <a:t>ein</a:t>
            </a:r>
            <a:r>
              <a:rPr lang="en-DE" dirty="0"/>
              <a:t> stabiles </a:t>
            </a:r>
            <a:r>
              <a:rPr lang="en-DE" dirty="0" err="1"/>
              <a:t>Lernsignal</a:t>
            </a:r>
            <a:r>
              <a:rPr lang="en-DE" dirty="0"/>
              <a:t> </a:t>
            </a:r>
            <a:r>
              <a:rPr lang="en-DE" dirty="0" err="1"/>
              <a:t>liefert</a:t>
            </a:r>
            <a:r>
              <a:rPr lang="en-DE" dirty="0"/>
              <a:t>. </a:t>
            </a:r>
            <a:endParaRPr lang="en-US" dirty="0"/>
          </a:p>
          <a:p>
            <a:r>
              <a:rPr lang="en-DE" dirty="0" err="1"/>
              <a:t>Im</a:t>
            </a:r>
            <a:r>
              <a:rPr lang="en-DE" dirty="0"/>
              <a:t> </a:t>
            </a:r>
            <a:r>
              <a:rPr lang="en-DE" dirty="0" err="1"/>
              <a:t>Verlauf</a:t>
            </a:r>
            <a:r>
              <a:rPr lang="en-DE" dirty="0"/>
              <a:t> des Trainings </a:t>
            </a:r>
            <a:r>
              <a:rPr lang="en-DE" dirty="0" err="1"/>
              <a:t>wird</a:t>
            </a:r>
            <a:r>
              <a:rPr lang="en-DE" dirty="0"/>
              <a:t> das </a:t>
            </a:r>
            <a:r>
              <a:rPr lang="en-DE" dirty="0" err="1"/>
              <a:t>Gewicht</a:t>
            </a:r>
            <a:r>
              <a:rPr lang="en-DE" dirty="0"/>
              <a:t> </a:t>
            </a:r>
            <a:r>
              <a:rPr lang="en-DE" dirty="0" err="1"/>
              <a:t>schrittweise</a:t>
            </a:r>
            <a:r>
              <a:rPr lang="en-DE" dirty="0"/>
              <a:t> auf den One-to-One-Head </a:t>
            </a:r>
            <a:r>
              <a:rPr lang="en-DE" dirty="0" err="1"/>
              <a:t>verlagert</a:t>
            </a:r>
            <a:r>
              <a:rPr lang="en-DE" dirty="0"/>
              <a:t>, 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Trainingsbeginn</a:t>
            </a:r>
            <a:r>
              <a:rPr lang="en-US" dirty="0"/>
              <a:t>:  One-to-Many 0,8 | One-to-One 0,2</a:t>
            </a:r>
          </a:p>
          <a:p>
            <a:r>
              <a:rPr lang="en-US" dirty="0" err="1"/>
              <a:t>Trainingsende</a:t>
            </a:r>
            <a:r>
              <a:rPr lang="en-US" dirty="0"/>
              <a:t>:    One-to-Many 0,1 | One-to-One 0,9</a:t>
            </a:r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92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E7AF-4796-CA6D-1CE9-135D9D9B1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2E5F4-1752-F71F-D916-75ECC8227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783A2-0C59-8EEB-A5D1-74F8F6101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b="1" dirty="0"/>
              <a:t>STAL</a:t>
            </a:r>
            <a:r>
              <a:rPr lang="en-US" b="1" dirty="0"/>
              <a:t>: </a:t>
            </a:r>
            <a:r>
              <a:rPr lang="en-DE" dirty="0"/>
              <a:t>Methode </a:t>
            </a:r>
            <a:r>
              <a:rPr lang="en-DE" dirty="0" err="1"/>
              <a:t>zur</a:t>
            </a:r>
            <a:r>
              <a:rPr lang="en-DE" dirty="0"/>
              <a:t> </a:t>
            </a:r>
            <a:r>
              <a:rPr lang="en-DE" b="1" dirty="0" err="1"/>
              <a:t>Zuordnung</a:t>
            </a:r>
            <a:r>
              <a:rPr lang="en-DE" b="1" dirty="0"/>
              <a:t> von </a:t>
            </a:r>
            <a:r>
              <a:rPr lang="en-DE" b="1" dirty="0" err="1"/>
              <a:t>Trainingslabels</a:t>
            </a:r>
            <a:r>
              <a:rPr lang="en-US" b="1" dirty="0"/>
              <a:t>, </a:t>
            </a:r>
            <a:r>
              <a:rPr lang="en-DE" dirty="0" err="1"/>
              <a:t>garantiert</a:t>
            </a:r>
            <a:r>
              <a:rPr lang="en-DE" dirty="0"/>
              <a:t> </a:t>
            </a:r>
            <a:r>
              <a:rPr lang="en-DE" dirty="0" err="1"/>
              <a:t>Trainingszuordnungen</a:t>
            </a:r>
            <a:r>
              <a:rPr lang="en-DE" dirty="0"/>
              <a:t> für </a:t>
            </a:r>
            <a:r>
              <a:rPr lang="en-DE" dirty="0" err="1"/>
              <a:t>kleine</a:t>
            </a:r>
            <a:r>
              <a:rPr lang="en-DE" dirty="0"/>
              <a:t> </a:t>
            </a:r>
            <a:r>
              <a:rPr lang="en-DE" dirty="0" err="1"/>
              <a:t>Objekte</a:t>
            </a:r>
            <a:endParaRPr lang="en-US" dirty="0"/>
          </a:p>
          <a:p>
            <a:endParaRPr lang="en-US" dirty="0"/>
          </a:p>
          <a:p>
            <a:r>
              <a:rPr lang="en-DE" dirty="0" err="1"/>
              <a:t>Zusätzlich</a:t>
            </a:r>
            <a:r>
              <a:rPr lang="en-DE" dirty="0"/>
              <a:t> </a:t>
            </a:r>
            <a:r>
              <a:rPr lang="en-DE" dirty="0" err="1"/>
              <a:t>verwendet</a:t>
            </a:r>
            <a:r>
              <a:rPr lang="en-DE" dirty="0"/>
              <a:t> YOLO26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dirty="0" err="1"/>
              <a:t>MuSGD</a:t>
            </a:r>
            <a:r>
              <a:rPr lang="en-DE" dirty="0"/>
              <a:t> </a:t>
            </a:r>
            <a:r>
              <a:rPr lang="en-DE" dirty="0" err="1"/>
              <a:t>einen</a:t>
            </a:r>
            <a:r>
              <a:rPr lang="en-DE" dirty="0"/>
              <a:t> </a:t>
            </a:r>
            <a:r>
              <a:rPr lang="en-DE" dirty="0" err="1"/>
              <a:t>hybriden</a:t>
            </a:r>
            <a:r>
              <a:rPr lang="en-DE" dirty="0"/>
              <a:t> </a:t>
            </a:r>
            <a:r>
              <a:rPr lang="en-DE" dirty="0" err="1"/>
              <a:t>Optimierer</a:t>
            </a:r>
            <a:r>
              <a:rPr lang="en-DE" dirty="0"/>
              <a:t>. </a:t>
            </a:r>
            <a:endParaRPr lang="en-US" dirty="0"/>
          </a:p>
          <a:p>
            <a:endParaRPr lang="en-US" dirty="0"/>
          </a:p>
          <a:p>
            <a:r>
              <a:rPr lang="en-DE" dirty="0" err="1"/>
              <a:t>Gleichzeitig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auf Distribution Focal Loss </a:t>
            </a:r>
            <a:r>
              <a:rPr lang="en-DE" dirty="0" err="1"/>
              <a:t>verzichtet</a:t>
            </a:r>
            <a:r>
              <a:rPr lang="en-DE" dirty="0"/>
              <a:t> und die Bounding Box </a:t>
            </a:r>
            <a:r>
              <a:rPr lang="en-DE" dirty="0" err="1"/>
              <a:t>direkt</a:t>
            </a:r>
            <a:r>
              <a:rPr lang="en-DE" dirty="0"/>
              <a:t> </a:t>
            </a:r>
            <a:r>
              <a:rPr lang="en-DE" dirty="0" err="1"/>
              <a:t>regressiert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2749E-FD8C-29EB-B2D3-4AE164F85AD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7426D0-550D-F250-4ED8-85AFDF99E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040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OSAT SS2026 • YOLO26: Bestimmung von Objekt-Posen in Bildern • Seite &lt;Nr.&gt;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611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4" name="Untertitel 2">
            <a:extLst>
              <a:ext uri="{FF2B5EF4-FFF2-40B4-BE49-F238E27FC236}">
                <a16:creationId xmlns:a16="http://schemas.microsoft.com/office/drawing/2014/main" id="{900D5406-B789-4FDC-AF8E-BA50BEF4269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Dresden, 21.07.2026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67F0855C-B0D9-41CD-97A7-F4E38BC217F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>
                <a:solidFill>
                  <a:srgbClr val="00008C"/>
                </a:solidFill>
              </a:rPr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-51542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5C0215D-C2A9-4288-A167-D96DA6BA38F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10984857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C549F246-3DE0-4A33-89D1-F3F79D06D45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>
            <a:spLocks/>
          </p:cNvSpPr>
          <p:nvPr userDrawn="1"/>
        </p:nvSpPr>
        <p:spPr>
          <a:xfrm>
            <a:off x="597543" y="6057900"/>
            <a:ext cx="3737903" cy="395287"/>
          </a:xfrm>
          <a:prstGeom prst="rect">
            <a:avLst/>
          </a:prstGeom>
        </p:spPr>
        <p:txBody>
          <a:bodyPr vert="horz" wrap="none" lIns="0" tIns="252000" rIns="0" bIns="0" rtlCol="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dirty="0"/>
              <a:t>Master-Untertitelformat bearbeiten</a:t>
            </a:r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ayoutvorga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5378450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5378450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537845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404814"/>
            <a:ext cx="5378449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50" y="3429000"/>
            <a:ext cx="5378449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18520" y="5624513"/>
            <a:ext cx="5363880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82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7706136"/>
            <a:ext cx="14132540" cy="14874190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V_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V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997200"/>
            <a:ext cx="3506788" cy="2844800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43400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72009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7250113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613" y="0"/>
            <a:ext cx="4116387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49D69647-48F8-4B90-9CC3-E65255E92C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73376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03950" y="-1"/>
            <a:ext cx="5988050" cy="6858001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3EF372E1-253E-419E-B4D6-7D0068DC7F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24675" y="6057900"/>
            <a:ext cx="465772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73557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3506788" cy="1331912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43400" y="0"/>
            <a:ext cx="78486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07C9BA0-A1AB-441D-8DBE-C0CF26A821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1425" y="6057900"/>
            <a:ext cx="6530975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4788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30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0" y="404814"/>
            <a:ext cx="72390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43400" y="1736725"/>
            <a:ext cx="723900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116388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30BC2D8-9972-4382-AB9E-D0E258B13A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400" y="6057900"/>
            <a:ext cx="723900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DF051B-43FA-419C-8BC2-E0F70D76FC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1845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50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404814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598805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D763E79-9848-472D-A208-36D672491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6057900"/>
            <a:ext cx="5378450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DFCE1DD-45F2-4133-8BC5-E0BD70008A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839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Zwei Inhalte_60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5613" y="404813"/>
            <a:ext cx="3506787" cy="824547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075613" y="1736725"/>
            <a:ext cx="3506787" cy="4105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7859713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EE076A1-CD22-4F15-967A-BCBA15F42E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75612" y="6057900"/>
            <a:ext cx="3506787" cy="43592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B9E920F-1A3F-42B1-BCE6-1145087EB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01595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1 Bild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12192000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760AFB2-59A0-403C-8E84-5030275AE8B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9815EB-9327-48CD-96B3-43DC5F549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21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Zwei Inhalte + 2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B604590A-6975-42D1-908C-CE5FC455952D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203950" y="1736724"/>
            <a:ext cx="537845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BC227089-21FE-41A6-BC10-34BEFF1D47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733800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4C311CE4-AD5A-44B9-BD6C-84A8F5D94B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67324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A061FE1-7C03-48BD-996F-3B2AE8580DA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29528" y="3733801"/>
            <a:ext cx="6062472" cy="3124199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B58018AB-F062-405D-B819-907E0DB753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D783A2B-51C5-4C95-9003-3F3482637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0229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3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1018B3E5-DFDA-4E50-80B0-8583C84118F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1627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83473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2791F6B-95C8-49BE-B8B9-8F04CE1AC96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7258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66947" y="3733800"/>
            <a:ext cx="4025053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C8A0F81A-CDA0-49D4-9423-A9300D95CF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21D2608-1818-4D42-B89A-D605C4F842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79093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alt + 4 Bilder qu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2D3B9-D281-41BC-9A6E-EBA632B80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10972800" cy="1692275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6" name="Textplatzhalter 6">
            <a:extLst>
              <a:ext uri="{FF2B5EF4-FFF2-40B4-BE49-F238E27FC236}">
                <a16:creationId xmlns:a16="http://schemas.microsoft.com/office/drawing/2014/main" id="{A413D657-1B5E-406D-8617-E2E725A52F9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9005" y="6057900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1</a:t>
            </a:r>
            <a:endParaRPr lang="en-US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F2458F30-68A9-4380-94A9-377AD7D4874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1547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0509D82A-4ACB-44BB-A6BC-2597416A167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6055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2</a:t>
            </a:r>
            <a:endParaRPr lang="en-US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43B9AAEC-8800-42FB-8E44-B81C048BC76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3094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21635FF8-DA1B-41D1-AFFE-F750A584CD4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18712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3</a:t>
            </a:r>
            <a:endParaRPr lang="en-US" dirty="0"/>
          </a:p>
        </p:txBody>
      </p:sp>
      <p:sp>
        <p:nvSpPr>
          <p:cNvPr id="12" name="Bildplatzhalter 5">
            <a:extLst>
              <a:ext uri="{FF2B5EF4-FFF2-40B4-BE49-F238E27FC236}">
                <a16:creationId xmlns:a16="http://schemas.microsoft.com/office/drawing/2014/main" id="{A9BF99E2-F099-4BD6-8080-40827C91C32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84640" y="3733800"/>
            <a:ext cx="3007360" cy="31242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 dirty="0"/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CF308826-6824-4C9B-9041-059D7052D5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83645" y="6053138"/>
            <a:ext cx="808355" cy="800100"/>
          </a:xfrm>
        </p:spPr>
        <p:txBody>
          <a:bodyPr lIns="0" rIns="180000" bIns="360000"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4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F6BFEE9-F7EB-43C7-9F30-97F48E372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0404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40DD1341-867C-486E-884D-435F6D877C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476501" y="6057900"/>
            <a:ext cx="9105900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819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OSAT SS2026 • </a:t>
            </a:r>
            <a:r>
              <a:rPr lang="de-DE" sz="1200" b="0" dirty="0">
                <a:solidFill>
                  <a:srgbClr val="00008C"/>
                </a:solidFill>
              </a:rPr>
              <a:t>YOLO26: </a:t>
            </a:r>
            <a:r>
              <a:rPr lang="de-DE" sz="1200" dirty="0"/>
              <a:t>Bestimmung von Objekt-Posen in Bildern</a:t>
            </a:r>
            <a:r>
              <a:rPr lang="de-DE" sz="1200" b="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‹#›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05" r:id="rId2"/>
    <p:sldLayoutId id="2147483706" r:id="rId3"/>
    <p:sldLayoutId id="2147483776" r:id="rId4"/>
    <p:sldLayoutId id="2147483769" r:id="rId5"/>
    <p:sldLayoutId id="2147483778" r:id="rId6"/>
    <p:sldLayoutId id="2147483650" r:id="rId7"/>
    <p:sldLayoutId id="2147483710" r:id="rId8"/>
    <p:sldLayoutId id="2147483709" r:id="rId9"/>
    <p:sldLayoutId id="2147483652" r:id="rId10"/>
    <p:sldLayoutId id="2147483779" r:id="rId11"/>
    <p:sldLayoutId id="2147483656" r:id="rId12"/>
    <p:sldLayoutId id="2147483665" r:id="rId13"/>
    <p:sldLayoutId id="2147483657" r:id="rId14"/>
    <p:sldLayoutId id="2147483666" r:id="rId15"/>
    <p:sldLayoutId id="2147483654" r:id="rId16"/>
    <p:sldLayoutId id="2147483655" r:id="rId17"/>
    <p:sldLayoutId id="2147483694" r:id="rId18"/>
    <p:sldLayoutId id="2147483695" r:id="rId19"/>
    <p:sldLayoutId id="2147483696" r:id="rId20"/>
    <p:sldLayoutId id="2147483777" r:id="rId21"/>
    <p:sldLayoutId id="2147483771" r:id="rId22"/>
    <p:sldLayoutId id="2147483772" r:id="rId23"/>
    <p:sldLayoutId id="2147483773" r:id="rId24"/>
    <p:sldLayoutId id="2147483775" r:id="rId25"/>
    <p:sldLayoutId id="2147483774" r:id="rId26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7" r:id="rId8"/>
    <p:sldLayoutId id="2147483768" r:id="rId9"/>
    <p:sldLayoutId id="2147483770" r:id="rId1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52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6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606.03748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5"/>
          </a:xfrm>
        </p:spPr>
        <p:txBody>
          <a:bodyPr/>
          <a:lstStyle/>
          <a:p>
            <a:r>
              <a:rPr lang="de-DE" b="1" dirty="0"/>
              <a:t>YOLO26: Bestimmung von Objekt-Posen in Bildern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387475"/>
          </a:xfrm>
        </p:spPr>
        <p:txBody>
          <a:bodyPr/>
          <a:lstStyle/>
          <a:p>
            <a:r>
              <a:rPr lang="de-DE" dirty="0"/>
              <a:t>Nguyen, Duc Hai, Richard Loewe (Gruppe Nr.4)</a:t>
            </a:r>
          </a:p>
          <a:p>
            <a:r>
              <a:rPr lang="de-DE" dirty="0"/>
              <a:t>Professur für Automatisierungstechnik</a:t>
            </a:r>
          </a:p>
          <a:p>
            <a:r>
              <a:rPr lang="de-DE" dirty="0"/>
              <a:t>Verteidigung des Oberseminars Automatisierungstechnik im SS2026</a:t>
            </a:r>
          </a:p>
        </p:txBody>
      </p:sp>
    </p:spTree>
    <p:extLst>
      <p:ext uri="{BB962C8B-B14F-4D97-AF65-F5344CB8AC3E}">
        <p14:creationId xmlns:p14="http://schemas.microsoft.com/office/powerpoint/2010/main" val="2213360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45FC8-F8A7-F0FA-3DBE-2EF5E3AA3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27F4C6-8174-CDC7-70C7-3F6F5DEEF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845DD70-577D-996D-0A37-51BC7F093E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9916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900FE-203C-6668-8C7B-A47BC5F3B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A06AC08-B0F2-6905-E722-3B63C7176D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5532" y="960275"/>
            <a:ext cx="7760935" cy="5173957"/>
          </a:xfrm>
        </p:spPr>
      </p:pic>
    </p:spTree>
    <p:extLst>
      <p:ext uri="{BB962C8B-B14F-4D97-AF65-F5344CB8AC3E}">
        <p14:creationId xmlns:p14="http://schemas.microsoft.com/office/powerpoint/2010/main" val="683118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6DF4A-1F16-CFD9-32C6-9C61DF565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48A46A-5B43-745A-D1A3-E78675E46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Netzarchitektur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F242F0-D342-7657-E243-C19110F359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07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88BC-1C91-DE15-E6F2-21EF7AA53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019EC-417A-88AE-7159-C7F1FCAA0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Netzarchitektur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9BEB7-7C51-872A-0B5B-B4EACE27D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6A52DC-61A1-865E-2EF8-95537E548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399" y="241300"/>
            <a:ext cx="7874001" cy="582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936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9DE9-5085-B629-C2F4-C5690287B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Bausteine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6F0E8D-0635-E453-2B4F-855E673B2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000"/>
            <a:ext cx="12192000" cy="504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73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D64E-60A1-5BE6-F483-8E0A58E63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9EE00-A0F0-DA44-539B-1D95D19FE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Trainingsprozess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DBE7F8-2697-43D1-D898-1B1BC04D4D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9553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005F0-80E2-618A-99BC-71B1C1BA7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25F7-8F05-8287-D7E8-5EBBE526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Verlustfunktionen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C98B660-30E6-A490-153B-127D6967789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1064954"/>
                  </p:ext>
                </p:extLst>
              </p:nvPr>
            </p:nvGraphicFramePr>
            <p:xfrm>
              <a:off x="825500" y="1827212"/>
              <a:ext cx="10756899" cy="4105278"/>
            </p:xfrm>
            <a:graphic>
              <a:graphicData uri="http://schemas.openxmlformats.org/drawingml/2006/table">
                <a:tbl>
                  <a:tblPr/>
                  <a:tblGrid>
                    <a:gridCol w="1407064">
                      <a:extLst>
                        <a:ext uri="{9D8B030D-6E8A-4147-A177-3AD203B41FA5}">
                          <a16:colId xmlns:a16="http://schemas.microsoft.com/office/drawing/2014/main" val="2640205199"/>
                        </a:ext>
                      </a:extLst>
                    </a:gridCol>
                    <a:gridCol w="7295566">
                      <a:extLst>
                        <a:ext uri="{9D8B030D-6E8A-4147-A177-3AD203B41FA5}">
                          <a16:colId xmlns:a16="http://schemas.microsoft.com/office/drawing/2014/main" val="3818123168"/>
                        </a:ext>
                      </a:extLst>
                    </a:gridCol>
                    <a:gridCol w="2054269">
                      <a:extLst>
                        <a:ext uri="{9D8B030D-6E8A-4147-A177-3AD203B41FA5}">
                          <a16:colId xmlns:a16="http://schemas.microsoft.com/office/drawing/2014/main" val="1594351989"/>
                        </a:ext>
                      </a:extLst>
                    </a:gridCol>
                  </a:tblGrid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Verlust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Bedeutung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DE" sz="200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1420123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box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Bounding Box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US" sz="2000" dirty="0" err="1"/>
                            <a:t>CIoU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7,5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62686132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a:rPr lang="en-US" sz="20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Direkte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Abweichung</a:t>
                          </a:r>
                          <a:r>
                            <a:rPr lang="en-DE" sz="2000" dirty="0"/>
                            <a:t> der Box-</a:t>
                          </a:r>
                          <a:r>
                            <a:rPr lang="en-DE" sz="2000" dirty="0" err="1"/>
                            <a:t>Koordinaten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1,5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70877916"/>
                      </a:ext>
                    </a:extLst>
                  </a:tr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cls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Korrekte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Objektklasse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DE" sz="2000" dirty="0"/>
                            <a:t>Binary-Cross-Entropy-Loss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0,5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1282200"/>
                      </a:ext>
                    </a:extLst>
                  </a:tr>
                  <a:tr h="8120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pose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Keypoint-Positionen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12,0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4932814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kobj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Sichtbarkeit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beziehungsweise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Vorhandensein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Keypoints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58039879"/>
                      </a:ext>
                    </a:extLst>
                  </a:tr>
                  <a:tr h="615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DE" sz="2000">
                                        <a:latin typeface="Cambria Math" panose="02040503050406030204" pitchFamily="18" charset="0"/>
                                      </a:rPr>
                                      <m:t>RLE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Unsicherheit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Keypoint-Vorhersage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461885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C98B660-30E6-A490-153B-127D6967789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1064954"/>
                  </p:ext>
                </p:extLst>
              </p:nvPr>
            </p:nvGraphicFramePr>
            <p:xfrm>
              <a:off x="825500" y="1827212"/>
              <a:ext cx="10756899" cy="4105278"/>
            </p:xfrm>
            <a:graphic>
              <a:graphicData uri="http://schemas.openxmlformats.org/drawingml/2006/table">
                <a:tbl>
                  <a:tblPr/>
                  <a:tblGrid>
                    <a:gridCol w="1407064">
                      <a:extLst>
                        <a:ext uri="{9D8B030D-6E8A-4147-A177-3AD203B41FA5}">
                          <a16:colId xmlns:a16="http://schemas.microsoft.com/office/drawing/2014/main" val="2640205199"/>
                        </a:ext>
                      </a:extLst>
                    </a:gridCol>
                    <a:gridCol w="7295566">
                      <a:extLst>
                        <a:ext uri="{9D8B030D-6E8A-4147-A177-3AD203B41FA5}">
                          <a16:colId xmlns:a16="http://schemas.microsoft.com/office/drawing/2014/main" val="3818123168"/>
                        </a:ext>
                      </a:extLst>
                    </a:gridCol>
                    <a:gridCol w="2054269">
                      <a:extLst>
                        <a:ext uri="{9D8B030D-6E8A-4147-A177-3AD203B41FA5}">
                          <a16:colId xmlns:a16="http://schemas.microsoft.com/office/drawing/2014/main" val="1594351989"/>
                        </a:ext>
                      </a:extLst>
                    </a:gridCol>
                  </a:tblGrid>
                  <a:tr h="4171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Verlust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Bedeutung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24036" t="-4348" r="-890" b="-8811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1420123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71287" r="-665368" b="-5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Bounding Box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US" sz="2000" dirty="0" err="1"/>
                            <a:t>CIoU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7,5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62686132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171287" r="-665368" b="-4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Direkte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Abweichung</a:t>
                          </a:r>
                          <a:r>
                            <a:rPr lang="en-DE" sz="2000" dirty="0"/>
                            <a:t> der Box-</a:t>
                          </a:r>
                          <a:r>
                            <a:rPr lang="en-DE" sz="2000" dirty="0" err="1"/>
                            <a:t>Koordinaten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1,5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70877916"/>
                      </a:ext>
                    </a:extLst>
                  </a:tr>
                  <a:tr h="41711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402941" r="-665368" b="-49705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Korrekte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Objektklasse</a:t>
                          </a:r>
                          <a:r>
                            <a:rPr lang="en-US" sz="2000" dirty="0"/>
                            <a:t> (</a:t>
                          </a:r>
                          <a:r>
                            <a:rPr lang="en-DE" sz="2000" dirty="0"/>
                            <a:t>Binary-Cross-Entropy-Loss</a:t>
                          </a:r>
                          <a:r>
                            <a:rPr lang="en-US" sz="2000" dirty="0"/>
                            <a:t>)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US" sz="2000" dirty="0"/>
                            <a:t>0,5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1282200"/>
                      </a:ext>
                    </a:extLst>
                  </a:tr>
                  <a:tr h="81201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255224" r="-665368" b="-1522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Genauigkeit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Keypoint-Positionen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12,0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4932814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471287" r="-665368" b="-10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Sichtbarkeit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beziehungsweise</a:t>
                          </a:r>
                          <a:r>
                            <a:rPr lang="en-DE" sz="2000" dirty="0"/>
                            <a:t> </a:t>
                          </a:r>
                          <a:r>
                            <a:rPr lang="en-DE" sz="2000" dirty="0" err="1"/>
                            <a:t>Vorhandensein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Keypoints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58039879"/>
                      </a:ext>
                    </a:extLst>
                  </a:tr>
                  <a:tr h="615320">
                    <a:tc>
                      <a:txBody>
                        <a:bodyPr/>
                        <a:lstStyle/>
                        <a:p>
                          <a:endParaRPr lang="en-DE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3" t="-571287" r="-665368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DE" sz="2000" dirty="0" err="1"/>
                            <a:t>Unsicherheit</a:t>
                          </a:r>
                          <a:r>
                            <a:rPr lang="en-DE" sz="2000" dirty="0"/>
                            <a:t> der </a:t>
                          </a:r>
                          <a:r>
                            <a:rPr lang="en-DE" sz="2000" dirty="0" err="1"/>
                            <a:t>Keypoint-Vorhersage</a:t>
                          </a:r>
                          <a:endParaRPr lang="en-DE" sz="2000" dirty="0"/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en-DE" sz="2000" dirty="0"/>
                            <a:t>1,0</a:t>
                          </a:r>
                        </a:p>
                      </a:txBody>
                      <a:tcPr marL="30867" marR="30867" marT="15433" marB="15433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5461885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BAB0E-C93B-CF2D-976A-C7768CB5F86D}"/>
                  </a:ext>
                </a:extLst>
              </p:cNvPr>
              <p:cNvSpPr txBox="1"/>
              <p:nvPr/>
            </p:nvSpPr>
            <p:spPr>
              <a:xfrm>
                <a:off x="63500" y="1052513"/>
                <a:ext cx="12065000" cy="596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sz="3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total</m:t>
                          </m:r>
                        </m:sub>
                      </m:sSub>
                      <m:r>
                        <a:rPr lang="en-DE" sz="3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box</m:t>
                          </m:r>
                        </m:sub>
                      </m:sSub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box</m:t>
                          </m:r>
                        </m:sub>
                      </m:sSub>
                      <m:r>
                        <a:rPr lang="en-DE" sz="3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  <m:r>
                        <a:rPr lang="en-DE" sz="3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pose</m:t>
                          </m:r>
                        </m:sub>
                      </m:sSub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pose</m:t>
                          </m:r>
                        </m:sub>
                      </m:sSub>
                      <m:r>
                        <a:rPr lang="en-DE" sz="3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kobj</m:t>
                          </m:r>
                        </m:sub>
                      </m:sSub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kobj</m:t>
                          </m:r>
                        </m:sub>
                      </m:sSub>
                      <m:r>
                        <a:rPr lang="en-DE" sz="3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RLE</m:t>
                          </m:r>
                        </m:sub>
                      </m:sSub>
                      <m:sSub>
                        <m:sSubPr>
                          <m:ctrlPr>
                            <a:rPr lang="en-DE" sz="3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sz="3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DE" sz="3000">
                              <a:latin typeface="Cambria Math" panose="02040503050406030204" pitchFamily="18" charset="0"/>
                            </a:rPr>
                            <m:t>RLE</m:t>
                          </m:r>
                        </m:sub>
                      </m:sSub>
                    </m:oMath>
                  </m:oMathPara>
                </a14:m>
                <a:endParaRPr lang="en-DE" sz="3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BAB0E-C93B-CF2D-976A-C7768CB5F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" y="1052513"/>
                <a:ext cx="12065000" cy="5967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5370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DFC2C-69BE-6438-3DF9-B3FE74ABE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Dual-Head-Training und Zuordnung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1F5FE-98F6-CC21-EF4C-858D09143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b="1" dirty="0"/>
              <a:t>One-to-Many-Head:</a:t>
            </a:r>
            <a:r>
              <a:rPr lang="en-DE" dirty="0"/>
              <a:t> </a:t>
            </a:r>
            <a:r>
              <a:rPr lang="en-DE" dirty="0" err="1"/>
              <a:t>mehrere</a:t>
            </a:r>
            <a:r>
              <a:rPr lang="en-DE" dirty="0"/>
              <a:t> positive </a:t>
            </a:r>
            <a:r>
              <a:rPr lang="en-DE" dirty="0" err="1"/>
              <a:t>Zuordnungen</a:t>
            </a:r>
            <a:r>
              <a:rPr lang="en-DE" dirty="0"/>
              <a:t> pro </a:t>
            </a:r>
            <a:r>
              <a:rPr lang="en-DE" dirty="0" err="1"/>
              <a:t>Objekt</a:t>
            </a:r>
            <a:r>
              <a:rPr lang="en-DE" dirty="0"/>
              <a:t>, </a:t>
            </a: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starkes</a:t>
            </a:r>
            <a:r>
              <a:rPr lang="en-DE" dirty="0"/>
              <a:t> </a:t>
            </a:r>
            <a:r>
              <a:rPr lang="en-DE" dirty="0" err="1"/>
              <a:t>Lernsignal</a:t>
            </a:r>
            <a:r>
              <a:rPr lang="en-DE" dirty="0"/>
              <a:t> </a:t>
            </a:r>
            <a:endParaRPr lang="vi-VN" dirty="0"/>
          </a:p>
          <a:p>
            <a:r>
              <a:rPr lang="en-DE" b="1" dirty="0"/>
              <a:t>One-to-One-Head:</a:t>
            </a:r>
            <a:r>
              <a:rPr lang="en-DE" dirty="0"/>
              <a:t> </a:t>
            </a:r>
            <a:r>
              <a:rPr lang="en-DE" dirty="0" err="1"/>
              <a:t>eine</a:t>
            </a:r>
            <a:r>
              <a:rPr lang="en-DE" dirty="0"/>
              <a:t> </a:t>
            </a:r>
            <a:r>
              <a:rPr lang="en-DE" dirty="0" err="1"/>
              <a:t>eindeutige</a:t>
            </a:r>
            <a:r>
              <a:rPr lang="en-DE" dirty="0"/>
              <a:t> </a:t>
            </a:r>
            <a:r>
              <a:rPr lang="en-DE" dirty="0" err="1"/>
              <a:t>Vorhersage</a:t>
            </a:r>
            <a:r>
              <a:rPr lang="en-DE" dirty="0"/>
              <a:t> pro </a:t>
            </a:r>
            <a:r>
              <a:rPr lang="en-DE" dirty="0" err="1"/>
              <a:t>Objekt</a:t>
            </a:r>
            <a:r>
              <a:rPr lang="en-DE" dirty="0"/>
              <a:t> </a:t>
            </a:r>
            <a:endParaRPr lang="vi-VN" dirty="0"/>
          </a:p>
          <a:p>
            <a:r>
              <a:rPr lang="en-DE" b="1" dirty="0"/>
              <a:t>Progressive Loss:</a:t>
            </a:r>
            <a:r>
              <a:rPr lang="en-DE" dirty="0"/>
              <a:t> </a:t>
            </a:r>
            <a:r>
              <a:rPr lang="en-DE" dirty="0" err="1"/>
              <a:t>Fokus</a:t>
            </a:r>
            <a:r>
              <a:rPr lang="en-DE" dirty="0"/>
              <a:t> </a:t>
            </a:r>
            <a:r>
              <a:rPr lang="en-DE" dirty="0" err="1"/>
              <a:t>verschiebt</a:t>
            </a:r>
            <a:r>
              <a:rPr lang="en-DE" dirty="0"/>
              <a:t> </a:t>
            </a:r>
            <a:r>
              <a:rPr lang="en-DE" dirty="0" err="1"/>
              <a:t>sich</a:t>
            </a:r>
            <a:r>
              <a:rPr lang="en-DE" dirty="0"/>
              <a:t> </a:t>
            </a:r>
            <a:r>
              <a:rPr lang="en-DE" dirty="0" err="1"/>
              <a:t>während</a:t>
            </a:r>
            <a:r>
              <a:rPr lang="en-DE" dirty="0"/>
              <a:t> des Trainings </a:t>
            </a:r>
            <a:r>
              <a:rPr lang="en-DE" dirty="0" err="1"/>
              <a:t>vom</a:t>
            </a:r>
            <a:r>
              <a:rPr lang="en-DE" dirty="0"/>
              <a:t> One-to-Many- </a:t>
            </a:r>
            <a:r>
              <a:rPr lang="en-DE" dirty="0" err="1"/>
              <a:t>zum</a:t>
            </a:r>
            <a:r>
              <a:rPr lang="en-DE" dirty="0"/>
              <a:t> One-to-One-Head </a:t>
            </a:r>
            <a:endParaRPr lang="vi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82AD2-5E5A-DE0A-B3AB-40CCF4FB84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045"/>
          <a:stretch>
            <a:fillRect/>
          </a:stretch>
        </p:blipFill>
        <p:spPr>
          <a:xfrm>
            <a:off x="609599" y="3937000"/>
            <a:ext cx="10646064" cy="22937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E1B06-167A-DAEA-5C1C-508078CD88F0}"/>
              </a:ext>
            </a:extLst>
          </p:cNvPr>
          <p:cNvSpPr txBox="1"/>
          <p:nvPr/>
        </p:nvSpPr>
        <p:spPr>
          <a:xfrm>
            <a:off x="9026040" y="5861432"/>
            <a:ext cx="130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Quelle: [2]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50578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B9617-BA6A-A15B-A266-9E72C4AE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B0C58-CDDB-10A7-A133-EB9123AE5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Optimierung</a:t>
            </a:r>
            <a:r>
              <a:rPr lang="en-US" dirty="0"/>
              <a:t> und </a:t>
            </a:r>
            <a:r>
              <a:rPr lang="en-US" dirty="0" err="1"/>
              <a:t>Vereinfachung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35D6D-472C-E41E-69E1-B47CF5C3E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b="1" dirty="0"/>
              <a:t>STAL:</a:t>
            </a:r>
            <a:r>
              <a:rPr lang="en-DE" dirty="0"/>
              <a:t> </a:t>
            </a:r>
            <a:r>
              <a:rPr lang="en-DE" dirty="0" err="1"/>
              <a:t>stellt</a:t>
            </a:r>
            <a:r>
              <a:rPr lang="en-DE" dirty="0"/>
              <a:t> </a:t>
            </a:r>
            <a:r>
              <a:rPr lang="en-DE" dirty="0" err="1"/>
              <a:t>sicher</a:t>
            </a:r>
            <a:r>
              <a:rPr lang="en-DE" dirty="0"/>
              <a:t>, </a:t>
            </a:r>
            <a:r>
              <a:rPr lang="en-DE" dirty="0" err="1"/>
              <a:t>dass</a:t>
            </a:r>
            <a:r>
              <a:rPr lang="en-DE" dirty="0"/>
              <a:t> </a:t>
            </a:r>
            <a:r>
              <a:rPr lang="en-DE" dirty="0" err="1"/>
              <a:t>besonders</a:t>
            </a:r>
            <a:r>
              <a:rPr lang="en-DE" dirty="0"/>
              <a:t> </a:t>
            </a:r>
            <a:r>
              <a:rPr lang="en-DE" dirty="0" err="1"/>
              <a:t>kleine</a:t>
            </a:r>
            <a:r>
              <a:rPr lang="en-DE" dirty="0"/>
              <a:t> </a:t>
            </a:r>
            <a:r>
              <a:rPr lang="en-DE" dirty="0" err="1"/>
              <a:t>Objekte</a:t>
            </a:r>
            <a:r>
              <a:rPr lang="en-DE" dirty="0"/>
              <a:t> positive </a:t>
            </a:r>
            <a:r>
              <a:rPr lang="en-DE" dirty="0" err="1"/>
              <a:t>Trainingszuordnungen</a:t>
            </a:r>
            <a:r>
              <a:rPr lang="en-DE" dirty="0"/>
              <a:t> </a:t>
            </a:r>
            <a:r>
              <a:rPr lang="en-DE" dirty="0" err="1"/>
              <a:t>erhalten</a:t>
            </a:r>
            <a:r>
              <a:rPr lang="en-DE" dirty="0"/>
              <a:t> </a:t>
            </a:r>
            <a:endParaRPr lang="en-US" b="1" dirty="0"/>
          </a:p>
          <a:p>
            <a:r>
              <a:rPr lang="en-DE" b="1" dirty="0" err="1"/>
              <a:t>MuSGD</a:t>
            </a:r>
            <a:r>
              <a:rPr lang="en-DE" b="1" dirty="0"/>
              <a:t>: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 err="1"/>
              <a:t>Kombination</a:t>
            </a:r>
            <a:r>
              <a:rPr lang="en-DE" dirty="0"/>
              <a:t> </a:t>
            </a:r>
            <a:r>
              <a:rPr lang="en-DE" dirty="0" err="1"/>
              <a:t>aus</a:t>
            </a:r>
            <a:r>
              <a:rPr lang="en-DE" dirty="0"/>
              <a:t> Muon und SGD </a:t>
            </a:r>
            <a:r>
              <a:rPr lang="en-DE" dirty="0" err="1"/>
              <a:t>zur</a:t>
            </a:r>
            <a:r>
              <a:rPr lang="en-DE" dirty="0"/>
              <a:t> </a:t>
            </a:r>
            <a:r>
              <a:rPr lang="en-DE" dirty="0" err="1"/>
              <a:t>Optimierung</a:t>
            </a:r>
            <a:r>
              <a:rPr lang="en-DE" dirty="0"/>
              <a:t> der </a:t>
            </a:r>
            <a:r>
              <a:rPr lang="en-DE" dirty="0" err="1"/>
              <a:t>Modellgewichte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/>
              <a:t>Ziel: </a:t>
            </a:r>
            <a:r>
              <a:rPr lang="en-DE" dirty="0" err="1"/>
              <a:t>schnellere</a:t>
            </a:r>
            <a:r>
              <a:rPr lang="en-DE" dirty="0"/>
              <a:t> </a:t>
            </a:r>
            <a:r>
              <a:rPr lang="en-DE" dirty="0" err="1"/>
              <a:t>beziehungsweise</a:t>
            </a:r>
            <a:r>
              <a:rPr lang="en-DE" dirty="0"/>
              <a:t> </a:t>
            </a:r>
            <a:r>
              <a:rPr lang="en-DE" dirty="0" err="1"/>
              <a:t>effizientere</a:t>
            </a:r>
            <a:r>
              <a:rPr lang="en-DE" dirty="0"/>
              <a:t> </a:t>
            </a:r>
            <a:r>
              <a:rPr lang="en-DE" dirty="0" err="1"/>
              <a:t>Konvergenz</a:t>
            </a:r>
            <a:r>
              <a:rPr lang="en-DE" dirty="0"/>
              <a:t> </a:t>
            </a:r>
            <a:endParaRPr lang="en-US" dirty="0"/>
          </a:p>
          <a:p>
            <a:r>
              <a:rPr lang="en-DE" b="1" dirty="0"/>
              <a:t>Kein DFL: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/>
              <a:t>Bounding Boxes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direkt</a:t>
            </a:r>
            <a:r>
              <a:rPr lang="en-DE" dirty="0"/>
              <a:t> </a:t>
            </a:r>
            <a:r>
              <a:rPr lang="en-DE" dirty="0" err="1"/>
              <a:t>regressiert</a:t>
            </a:r>
            <a:r>
              <a:rPr lang="en-DE" dirty="0"/>
              <a:t> 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DE" dirty="0" err="1"/>
              <a:t>Dadurch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der </a:t>
            </a:r>
            <a:r>
              <a:rPr lang="en-DE" dirty="0" err="1"/>
              <a:t>Vorhersage</a:t>
            </a:r>
            <a:r>
              <a:rPr lang="en-DE" dirty="0"/>
              <a:t>-Head </a:t>
            </a:r>
            <a:r>
              <a:rPr lang="en-DE" dirty="0" err="1"/>
              <a:t>einfacher</a:t>
            </a:r>
            <a:r>
              <a:rPr lang="en-DE" dirty="0"/>
              <a:t> und der </a:t>
            </a:r>
            <a:r>
              <a:rPr lang="en-DE" dirty="0" err="1"/>
              <a:t>Rechenaufwand</a:t>
            </a:r>
            <a:r>
              <a:rPr lang="en-DE" dirty="0"/>
              <a:t> </a:t>
            </a:r>
            <a:r>
              <a:rPr lang="en-DE" dirty="0" err="1"/>
              <a:t>reduziert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8046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7C9C-F82D-5167-D20F-8B732A2A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BDC19-4FC3-9522-EC15-CDA5F1685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698A25-E25B-7988-5A27-E1923B7592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90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B41D9-8009-7533-2B64-7A65FBCB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8DD05-96ED-1E21-8D46-CFEEF273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ECEE-4651-DF06-5BFB-A1179E15B1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 err="1"/>
              <a:t>Warum</a:t>
            </a:r>
            <a:r>
              <a:rPr lang="en-DE" dirty="0"/>
              <a:t> </a:t>
            </a:r>
            <a:r>
              <a:rPr lang="en-DE" dirty="0" err="1"/>
              <a:t>funktioniert</a:t>
            </a:r>
            <a:r>
              <a:rPr lang="en-DE" dirty="0"/>
              <a:t> es? </a:t>
            </a:r>
            <a:br>
              <a:rPr lang="en-DE" dirty="0"/>
            </a:br>
            <a:r>
              <a:rPr lang="en-DE" dirty="0"/>
              <a:t>	• </a:t>
            </a:r>
            <a:r>
              <a:rPr lang="en-DE" dirty="0" err="1"/>
              <a:t>Hierarchische</a:t>
            </a:r>
            <a:r>
              <a:rPr lang="en-DE" dirty="0"/>
              <a:t> </a:t>
            </a:r>
            <a:r>
              <a:rPr lang="en-DE" dirty="0" err="1"/>
              <a:t>Merkmalsextraktion</a:t>
            </a:r>
            <a:r>
              <a:rPr lang="en-DE" dirty="0"/>
              <a:t>: </a:t>
            </a:r>
            <a:r>
              <a:rPr lang="en-DE" dirty="0" err="1"/>
              <a:t>frühe</a:t>
            </a:r>
            <a:r>
              <a:rPr lang="en-DE" dirty="0"/>
              <a:t> </a:t>
            </a:r>
            <a:r>
              <a:rPr lang="en-DE" dirty="0" err="1"/>
              <a:t>Schichten</a:t>
            </a:r>
            <a:r>
              <a:rPr lang="en-DE" dirty="0"/>
              <a:t> </a:t>
            </a:r>
            <a:r>
              <a:rPr lang="en-DE" dirty="0" err="1"/>
              <a:t>lernen</a:t>
            </a:r>
            <a:r>
              <a:rPr lang="en-DE" dirty="0"/>
              <a:t> Kanten &amp; </a:t>
            </a:r>
            <a:r>
              <a:rPr lang="en-DE" dirty="0" err="1"/>
              <a:t>Konturen</a:t>
            </a:r>
            <a:r>
              <a:rPr lang="en-DE" dirty="0"/>
              <a:t>, </a:t>
            </a:r>
            <a:r>
              <a:rPr lang="en-DE" dirty="0" err="1"/>
              <a:t>tiefe</a:t>
            </a:r>
            <a:r>
              <a:rPr lang="en-DE" dirty="0"/>
              <a:t> </a:t>
            </a:r>
            <a:r>
              <a:rPr lang="en-DE" dirty="0" err="1"/>
              <a:t>Schichten</a:t>
            </a:r>
            <a:r>
              <a:rPr lang="en-DE" dirty="0"/>
              <a:t> </a:t>
            </a:r>
            <a:r>
              <a:rPr lang="en-DE" dirty="0" err="1"/>
              <a:t>abstrakte</a:t>
            </a:r>
            <a:r>
              <a:rPr lang="en-DE" dirty="0"/>
              <a:t> </a:t>
            </a:r>
            <a:r>
              <a:rPr lang="en-DE" dirty="0" err="1"/>
              <a:t>Körperteil-Repräsentationen</a:t>
            </a:r>
            <a:br>
              <a:rPr lang="en-DE" dirty="0"/>
            </a:br>
            <a:r>
              <a:rPr lang="en-DE" dirty="0"/>
              <a:t>	• Multi-</a:t>
            </a:r>
            <a:r>
              <a:rPr lang="en-DE" dirty="0" err="1"/>
              <a:t>Skalen</a:t>
            </a:r>
            <a:r>
              <a:rPr lang="en-DE" dirty="0"/>
              <a:t>-Fusion </a:t>
            </a:r>
            <a:r>
              <a:rPr lang="en-DE" dirty="0" err="1"/>
              <a:t>im</a:t>
            </a:r>
            <a:r>
              <a:rPr lang="en-DE" dirty="0"/>
              <a:t> Neck: </a:t>
            </a:r>
            <a:r>
              <a:rPr lang="en-DE" dirty="0" err="1"/>
              <a:t>kombiniert</a:t>
            </a:r>
            <a:r>
              <a:rPr lang="en-DE" dirty="0"/>
              <a:t> </a:t>
            </a:r>
            <a:r>
              <a:rPr lang="en-DE" dirty="0" err="1"/>
              <a:t>feine</a:t>
            </a:r>
            <a:r>
              <a:rPr lang="en-DE" dirty="0"/>
              <a:t> </a:t>
            </a:r>
            <a:r>
              <a:rPr lang="en-DE" dirty="0" err="1"/>
              <a:t>räumliche</a:t>
            </a:r>
            <a:r>
              <a:rPr lang="en-DE" dirty="0"/>
              <a:t> Details (P3) </a:t>
            </a:r>
            <a:r>
              <a:rPr lang="en-DE" dirty="0" err="1"/>
              <a:t>mit</a:t>
            </a:r>
            <a:r>
              <a:rPr lang="en-DE" dirty="0"/>
              <a:t> </a:t>
            </a:r>
            <a:r>
              <a:rPr lang="en-DE" dirty="0" err="1"/>
              <a:t>semantisch</a:t>
            </a:r>
            <a:r>
              <a:rPr lang="en-DE" dirty="0"/>
              <a:t> starken </a:t>
            </a:r>
            <a:r>
              <a:rPr lang="en-DE" dirty="0" err="1"/>
              <a:t>Merkmalen</a:t>
            </a:r>
            <a:r>
              <a:rPr lang="en-DE" dirty="0"/>
              <a:t> (P5) → </a:t>
            </a:r>
            <a:r>
              <a:rPr lang="en-DE" dirty="0" err="1"/>
              <a:t>Personen</a:t>
            </a:r>
            <a:r>
              <a:rPr lang="en-DE" dirty="0"/>
              <a:t> </a:t>
            </a:r>
            <a:r>
              <a:rPr lang="en-DE" dirty="0" err="1"/>
              <a:t>aller</a:t>
            </a:r>
            <a:r>
              <a:rPr lang="en-DE" dirty="0"/>
              <a:t> </a:t>
            </a:r>
            <a:r>
              <a:rPr lang="en-DE" dirty="0" err="1"/>
              <a:t>Größen</a:t>
            </a:r>
            <a:r>
              <a:rPr lang="en-DE" dirty="0"/>
              <a:t> </a:t>
            </a:r>
            <a:r>
              <a:rPr lang="en-DE" dirty="0" err="1"/>
              <a:t>erkennbar</a:t>
            </a:r>
            <a:br>
              <a:rPr lang="en-DE" dirty="0"/>
            </a:br>
            <a:r>
              <a:rPr lang="en-DE" dirty="0"/>
              <a:t>	• Attention (C2PSA): </a:t>
            </a:r>
            <a:r>
              <a:rPr lang="en-DE" dirty="0" err="1"/>
              <a:t>gewichtet</a:t>
            </a:r>
            <a:r>
              <a:rPr lang="en-DE" dirty="0"/>
              <a:t> </a:t>
            </a:r>
            <a:r>
              <a:rPr lang="en-DE" dirty="0" err="1"/>
              <a:t>Bildbereiche</a:t>
            </a:r>
            <a:r>
              <a:rPr lang="en-DE" dirty="0"/>
              <a:t> </a:t>
            </a:r>
            <a:r>
              <a:rPr lang="en-DE" dirty="0" err="1"/>
              <a:t>kontextabhängig</a:t>
            </a:r>
            <a:r>
              <a:rPr lang="en-DE" dirty="0"/>
              <a:t> → </a:t>
            </a:r>
            <a:r>
              <a:rPr lang="en-DE" dirty="0" err="1"/>
              <a:t>relevante</a:t>
            </a:r>
            <a:r>
              <a:rPr lang="en-DE" dirty="0"/>
              <a:t> </a:t>
            </a:r>
            <a:r>
              <a:rPr lang="en-DE" dirty="0" err="1"/>
              <a:t>Körperregionen</a:t>
            </a:r>
            <a:r>
              <a:rPr lang="en-DE" dirty="0"/>
              <a:t>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verstärkt</a:t>
            </a:r>
            <a:br>
              <a:rPr lang="en-DE" dirty="0"/>
            </a:br>
            <a:r>
              <a:rPr lang="en-DE" dirty="0"/>
              <a:t>	• </a:t>
            </a:r>
            <a:r>
              <a:rPr lang="en-DE" dirty="0" err="1"/>
              <a:t>Gemeinsames</a:t>
            </a:r>
            <a:r>
              <a:rPr lang="en-DE" dirty="0"/>
              <a:t> Training von </a:t>
            </a:r>
            <a:r>
              <a:rPr lang="en-DE" dirty="0" err="1"/>
              <a:t>Detektion</a:t>
            </a:r>
            <a:r>
              <a:rPr lang="en-DE" dirty="0"/>
              <a:t> + </a:t>
            </a:r>
            <a:r>
              <a:rPr lang="en-DE" dirty="0" err="1"/>
              <a:t>Keypoints</a:t>
            </a:r>
            <a:r>
              <a:rPr lang="en-DE" dirty="0"/>
              <a:t>: Box </a:t>
            </a:r>
            <a:r>
              <a:rPr lang="en-DE" dirty="0" err="1"/>
              <a:t>liefert</a:t>
            </a:r>
            <a:r>
              <a:rPr lang="en-DE" dirty="0"/>
              <a:t> </a:t>
            </a:r>
            <a:r>
              <a:rPr lang="en-DE" dirty="0" err="1"/>
              <a:t>räumlichen</a:t>
            </a:r>
            <a:r>
              <a:rPr lang="en-DE" dirty="0"/>
              <a:t> Anker, </a:t>
            </a:r>
            <a:r>
              <a:rPr lang="en-DE" dirty="0" err="1"/>
              <a:t>Keypoints</a:t>
            </a:r>
            <a:r>
              <a:rPr lang="en-DE" dirty="0"/>
              <a:t> </a:t>
            </a:r>
            <a:r>
              <a:rPr lang="en-DE" dirty="0" err="1"/>
              <a:t>werden</a:t>
            </a:r>
            <a:r>
              <a:rPr lang="en-DE" dirty="0"/>
              <a:t> </a:t>
            </a:r>
            <a:r>
              <a:rPr lang="en-DE" dirty="0" err="1"/>
              <a:t>relativ</a:t>
            </a:r>
            <a:r>
              <a:rPr lang="en-DE" dirty="0"/>
              <a:t> </a:t>
            </a:r>
            <a:r>
              <a:rPr lang="en-DE" dirty="0" err="1"/>
              <a:t>dazu</a:t>
            </a:r>
            <a:r>
              <a:rPr lang="en-DE" dirty="0"/>
              <a:t> </a:t>
            </a:r>
            <a:r>
              <a:rPr lang="en-DE" dirty="0" err="1"/>
              <a:t>regressiert</a:t>
            </a:r>
            <a:br>
              <a:rPr lang="en-DE" dirty="0"/>
            </a:br>
            <a:r>
              <a:rPr lang="en-DE" dirty="0"/>
              <a:t>NMS-Ersatz </a:t>
            </a:r>
            <a:r>
              <a:rPr lang="en-DE" dirty="0" err="1"/>
              <a:t>durch</a:t>
            </a:r>
            <a:r>
              <a:rPr lang="en-DE" dirty="0"/>
              <a:t> Training: One-to-One-</a:t>
            </a:r>
            <a:r>
              <a:rPr lang="en-DE" dirty="0" err="1"/>
              <a:t>Zuordnung</a:t>
            </a:r>
            <a:r>
              <a:rPr lang="en-DE" dirty="0"/>
              <a:t> </a:t>
            </a:r>
            <a:r>
              <a:rPr lang="en-DE" dirty="0" err="1"/>
              <a:t>wird</a:t>
            </a:r>
            <a:r>
              <a:rPr lang="en-DE" dirty="0"/>
              <a:t> </a:t>
            </a:r>
            <a:r>
              <a:rPr lang="en-DE" dirty="0" err="1"/>
              <a:t>gelernt</a:t>
            </a:r>
            <a:r>
              <a:rPr lang="en-DE" dirty="0"/>
              <a:t> </a:t>
            </a:r>
            <a:r>
              <a:rPr lang="en-DE" dirty="0" err="1"/>
              <a:t>statt</a:t>
            </a:r>
            <a:r>
              <a:rPr lang="en-DE" dirty="0"/>
              <a:t> </a:t>
            </a:r>
            <a:r>
              <a:rPr lang="en-DE" dirty="0" err="1"/>
              <a:t>nachträglich</a:t>
            </a:r>
            <a:r>
              <a:rPr lang="en-DE" dirty="0"/>
              <a:t> </a:t>
            </a:r>
            <a:r>
              <a:rPr lang="en-DE" dirty="0" err="1"/>
              <a:t>gefiltert</a:t>
            </a:r>
            <a:r>
              <a:rPr lang="en-DE" dirty="0"/>
              <a:t> → </a:t>
            </a:r>
            <a:r>
              <a:rPr lang="en-DE" dirty="0" err="1"/>
              <a:t>durchgängig</a:t>
            </a:r>
            <a:r>
              <a:rPr lang="en-DE" dirty="0"/>
              <a:t> </a:t>
            </a:r>
            <a:r>
              <a:rPr lang="en-DE" dirty="0" err="1"/>
              <a:t>differenzierbare</a:t>
            </a:r>
            <a:r>
              <a:rPr lang="en-DE" dirty="0"/>
              <a:t> End-to-End-Kette</a:t>
            </a:r>
          </a:p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90695-7CA6-428C-F4E7-CE7EBD6F3B7C}"/>
              </a:ext>
            </a:extLst>
          </p:cNvPr>
          <p:cNvSpPr txBox="1"/>
          <p:nvPr/>
        </p:nvSpPr>
        <p:spPr>
          <a:xfrm>
            <a:off x="9288764" y="5852616"/>
            <a:ext cx="782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2175271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2D94D-DC87-8E94-3457-7CDBA9CF5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E1BB95-FD58-5C72-89CC-35E3F595B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3 </a:t>
            </a:r>
            <a:r>
              <a:rPr lang="de-DE" dirty="0" err="1"/>
              <a:t>detection</a:t>
            </a:r>
            <a:r>
              <a:rPr lang="de-DE" dirty="0"/>
              <a:t> Heads</a:t>
            </a:r>
          </a:p>
          <a:p>
            <a:r>
              <a:rPr lang="de-DE" dirty="0"/>
              <a:t>-klein </a:t>
            </a:r>
          </a:p>
          <a:p>
            <a:r>
              <a:rPr lang="de-DE" dirty="0"/>
              <a:t>-mittel </a:t>
            </a:r>
          </a:p>
          <a:p>
            <a:r>
              <a:rPr lang="de-DE" dirty="0"/>
              <a:t>-groß</a:t>
            </a:r>
          </a:p>
          <a:p>
            <a:r>
              <a:rPr lang="de-DE" dirty="0"/>
              <a:t>Backbone: feature </a:t>
            </a:r>
            <a:r>
              <a:rPr lang="de-DE" dirty="0" err="1"/>
              <a:t>extraction</a:t>
            </a:r>
            <a:endParaRPr lang="de-DE" dirty="0"/>
          </a:p>
          <a:p>
            <a:r>
              <a:rPr lang="de-DE" dirty="0"/>
              <a:t>Neck: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260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4483-2322-82ED-61EA-EA29DFE4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9228C-B55B-7624-DD87-0D29F48CC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3FEB4-C2D6-2DD6-712E-3426339E5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86645-5DD5-7D39-9999-22E9BE785C83}"/>
              </a:ext>
            </a:extLst>
          </p:cNvPr>
          <p:cNvSpPr txBox="1"/>
          <p:nvPr/>
        </p:nvSpPr>
        <p:spPr>
          <a:xfrm>
            <a:off x="9288764" y="5852616"/>
            <a:ext cx="782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[1]</a:t>
            </a:r>
          </a:p>
        </p:txBody>
      </p:sp>
    </p:spTree>
    <p:extLst>
      <p:ext uri="{BB962C8B-B14F-4D97-AF65-F5344CB8AC3E}">
        <p14:creationId xmlns:p14="http://schemas.microsoft.com/office/powerpoint/2010/main" val="5701524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08D8AD-2C47-D557-2BBF-D86D9E0D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632298"/>
            <a:ext cx="11033761" cy="5814221"/>
          </a:xfrm>
        </p:spPr>
        <p:txBody>
          <a:bodyPr/>
          <a:lstStyle/>
          <a:p>
            <a:r>
              <a:rPr lang="de-DE" sz="1800" dirty="0"/>
              <a:t>[1] Ranjan </a:t>
            </a:r>
            <a:r>
              <a:rPr lang="de-DE" sz="1800" dirty="0" err="1"/>
              <a:t>Sapkota</a:t>
            </a:r>
            <a:r>
              <a:rPr lang="de-DE" sz="1800" dirty="0"/>
              <a:t>, Rahul </a:t>
            </a:r>
            <a:r>
              <a:rPr lang="de-DE" sz="1800" dirty="0" err="1"/>
              <a:t>Harsha</a:t>
            </a:r>
            <a:r>
              <a:rPr lang="de-DE" sz="1800" dirty="0"/>
              <a:t> </a:t>
            </a:r>
            <a:r>
              <a:rPr lang="de-DE" sz="1800" dirty="0" err="1"/>
              <a:t>Cheppally</a:t>
            </a:r>
            <a:r>
              <a:rPr lang="de-DE" sz="1800" dirty="0"/>
              <a:t>, Ajay </a:t>
            </a:r>
            <a:r>
              <a:rPr lang="de-DE" sz="1800" dirty="0" err="1"/>
              <a:t>Sharda</a:t>
            </a:r>
            <a:r>
              <a:rPr lang="de-DE" sz="1800" dirty="0"/>
              <a:t>, </a:t>
            </a:r>
            <a:r>
              <a:rPr lang="de-DE" sz="1800" dirty="0" err="1"/>
              <a:t>Manoj</a:t>
            </a:r>
            <a:r>
              <a:rPr lang="de-DE" sz="1800" dirty="0"/>
              <a:t> </a:t>
            </a:r>
            <a:r>
              <a:rPr lang="de-DE" sz="1800" dirty="0" err="1"/>
              <a:t>Karkee</a:t>
            </a:r>
            <a:r>
              <a:rPr lang="de-DE" sz="1800" dirty="0"/>
              <a:t>. YOLO26: Key </a:t>
            </a:r>
            <a:r>
              <a:rPr lang="de-DE" sz="1800" dirty="0" err="1"/>
              <a:t>Architectural</a:t>
            </a:r>
            <a:r>
              <a:rPr lang="de-DE" sz="1800" dirty="0"/>
              <a:t> Enhancements </a:t>
            </a:r>
            <a:r>
              <a:rPr lang="de-DE" sz="1800" dirty="0" err="1"/>
              <a:t>andPerformance</a:t>
            </a:r>
            <a:r>
              <a:rPr lang="de-DE" sz="1800" dirty="0"/>
              <a:t> Benchmarking </a:t>
            </a:r>
            <a:r>
              <a:rPr lang="de-DE" sz="1800" dirty="0" err="1"/>
              <a:t>for</a:t>
            </a:r>
            <a:r>
              <a:rPr lang="de-DE" sz="1800" dirty="0"/>
              <a:t> Real-Time </a:t>
            </a:r>
            <a:r>
              <a:rPr lang="de-DE" sz="1800" dirty="0" err="1"/>
              <a:t>ObjectDetection</a:t>
            </a:r>
            <a:r>
              <a:rPr lang="de-DE" sz="1800" dirty="0"/>
              <a:t>. In </a:t>
            </a:r>
            <a:r>
              <a:rPr lang="de-DE" sz="1800" dirty="0" err="1"/>
              <a:t>ArXiv</a:t>
            </a:r>
            <a:r>
              <a:rPr lang="de-DE" sz="1800" dirty="0"/>
              <a:t>, 2026. https://arxiv.org/abs/2509.25164 (abgerufen am 10.03.26) </a:t>
            </a:r>
          </a:p>
          <a:p>
            <a:r>
              <a:rPr lang="en-US" sz="1800" dirty="0"/>
              <a:t>[2] </a:t>
            </a:r>
            <a:r>
              <a:rPr lang="en-DE" sz="1800" dirty="0"/>
              <a:t>Glenn </a:t>
            </a:r>
            <a:r>
              <a:rPr lang="en-DE" sz="1800" dirty="0" err="1"/>
              <a:t>Jocher</a:t>
            </a:r>
            <a:r>
              <a:rPr lang="en-DE" sz="1800" dirty="0"/>
              <a:t>, Jing Qiu, </a:t>
            </a:r>
            <a:r>
              <a:rPr lang="en-DE" sz="1800" dirty="0" err="1"/>
              <a:t>Mengyu</a:t>
            </a:r>
            <a:r>
              <a:rPr lang="en-DE" sz="1800" dirty="0"/>
              <a:t> Liu, Shuai Lyu, Fatih Cagatay </a:t>
            </a:r>
            <a:r>
              <a:rPr lang="en-DE" sz="1800" dirty="0" err="1"/>
              <a:t>Akyon</a:t>
            </a:r>
            <a:r>
              <a:rPr lang="en-DE" sz="1800" dirty="0"/>
              <a:t>, Muhammet Esat </a:t>
            </a:r>
            <a:r>
              <a:rPr lang="en-DE" sz="1800" dirty="0" err="1"/>
              <a:t>Kalfaoglu</a:t>
            </a:r>
            <a:r>
              <a:rPr lang="en-DE" sz="1800" dirty="0"/>
              <a:t>: “</a:t>
            </a:r>
            <a:r>
              <a:rPr lang="en-DE" sz="1800" dirty="0" err="1"/>
              <a:t>Ultralytics</a:t>
            </a:r>
            <a:r>
              <a:rPr lang="en-DE" sz="1800" dirty="0"/>
              <a:t> YOLO26: Unified Real-Time End-to-End Vision Models”. </a:t>
            </a:r>
            <a:r>
              <a:rPr lang="en-DE" sz="1800" dirty="0" err="1"/>
              <a:t>arXiv</a:t>
            </a:r>
            <a:r>
              <a:rPr lang="en-DE" sz="1800" dirty="0"/>
              <a:t> preprint arXiv:2606.03748, June 2026 (Internet source </a:t>
            </a:r>
            <a:r>
              <a:rPr lang="en-DE" sz="1800" dirty="0">
                <a:hlinkClick r:id="rId2"/>
              </a:rPr>
              <a:t>https://arxiv.org/pdf/2606.03748</a:t>
            </a:r>
            <a:r>
              <a:rPr lang="en-DE" sz="1800" dirty="0"/>
              <a:t>, accessed on 11.07.2026)</a:t>
            </a:r>
            <a:endParaRPr lang="de-DE" sz="1800" dirty="0"/>
          </a:p>
          <a:p>
            <a:endParaRPr lang="en-US" sz="1800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753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7E57-D73D-4355-E4AC-0BFFCA2E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6DDA2B-AF75-73F5-DE86-7D090730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Vielen Dank für Ihre Aufmerksamkeit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5B03E4D-FD6B-0E8F-83A9-2043DECC0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2340424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Zwischenseiten mit Shape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hne Fusszeile - Bilder randabfallend">
  <a:themeElements>
    <a:clrScheme name="TUD-2025__Test_GRK2250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BC1589"/>
      </a:accent4>
      <a:accent5>
        <a:srgbClr val="C85000"/>
      </a:accent5>
      <a:accent6>
        <a:srgbClr val="007D4B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1241</Words>
  <Application>Microsoft Office PowerPoint</Application>
  <PresentationFormat>Widescreen</PresentationFormat>
  <Paragraphs>155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Arial</vt:lpstr>
      <vt:lpstr>Calibri</vt:lpstr>
      <vt:lpstr>Cambria Math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Zwischenseiten mit Shape</vt:lpstr>
      <vt:lpstr>ohne Fusszeile - Bilder randabfallend</vt:lpstr>
      <vt:lpstr>YOLO26: Bestimmung von Objekt-Posen in Bildern</vt:lpstr>
      <vt:lpstr>Motivation</vt:lpstr>
      <vt:lpstr>PowerPoint Presentation</vt:lpstr>
      <vt:lpstr>Netzarchitektur</vt:lpstr>
      <vt:lpstr>Netzarchitektur</vt:lpstr>
      <vt:lpstr>Bausteine</vt:lpstr>
      <vt:lpstr>Trainingsprozess</vt:lpstr>
      <vt:lpstr>Verlustfunktionen</vt:lpstr>
      <vt:lpstr>Dual-Head-Training und Zuordnung</vt:lpstr>
      <vt:lpstr>Optimierung und Vereinfachung</vt:lpstr>
      <vt:lpstr>Test</vt:lpstr>
      <vt:lpstr>PowerPoint Presentation</vt:lpstr>
      <vt:lpstr>PowerPoint Presentation</vt:lpstr>
      <vt:lpstr>PowerPoint Presentation</vt:lpstr>
      <vt:lpstr>PowerPoint Presentation</vt:lpstr>
      <vt:lpstr>Vielen Dank für Ihre Aufmerksamkeit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250805_TUD-Präsentationsvorlage</dc:title>
  <dc:creator>Corporate Design</dc:creator>
  <cp:lastModifiedBy>Duc Hai Nguyen</cp:lastModifiedBy>
  <cp:revision>189</cp:revision>
  <dcterms:created xsi:type="dcterms:W3CDTF">2025-06-02T21:07:03Z</dcterms:created>
  <dcterms:modified xsi:type="dcterms:W3CDTF">2026-07-19T20:11:11Z</dcterms:modified>
</cp:coreProperties>
</file>